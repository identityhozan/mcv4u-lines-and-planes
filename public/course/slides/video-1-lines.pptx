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78ec45012d48db" /><Relationship Type="http://schemas.openxmlformats.org/officeDocument/2006/relationships/extended-properties" Target="/docProps/app.xml" Id="Re5c23e9028c747fe" /><Relationship Type="http://schemas.openxmlformats.org/officeDocument/2006/relationships/officeDocument" Target="/ppt/presentation.xml" Id="R345b9c4147154bb5" /></Relationships>
</file>

<file path=ppt/presentation.xml><?xml version="1.0" encoding="utf-8"?>
<p:presentation xmlns:p="http://schemas.openxmlformats.org/presentationml/2006/main">
  <p:sldMasterIdLst>
    <p:sldMasterId xmlns:r="http://schemas.openxmlformats.org/officeDocument/2006/relationships" id="2147483648" r:id="R9c7cf9a26ad744ca"/>
  </p:sldMasterIdLst>
  <p:notesMasterIdLst>
    <p:notesMasterId xmlns:r="http://schemas.openxmlformats.org/officeDocument/2006/relationships" r:id="R81fdb4c0d2d54606"/>
  </p:notesMasterIdLst>
  <p:sldIdLst>
    <p:sldId xmlns:r="http://schemas.openxmlformats.org/officeDocument/2006/relationships" id="256" r:id="R248d80418f1a40ec"/>
    <p:sldId xmlns:r="http://schemas.openxmlformats.org/officeDocument/2006/relationships" id="257" r:id="Rf10c02b3fceb448c"/>
    <p:sldId xmlns:r="http://schemas.openxmlformats.org/officeDocument/2006/relationships" id="258" r:id="R02b2a2169e4e479c"/>
    <p:sldId xmlns:r="http://schemas.openxmlformats.org/officeDocument/2006/relationships" id="259" r:id="R3402e55563744b0f"/>
    <p:sldId xmlns:r="http://schemas.openxmlformats.org/officeDocument/2006/relationships" id="260" r:id="R23b67d7efd7947c0"/>
    <p:sldId xmlns:r="http://schemas.openxmlformats.org/officeDocument/2006/relationships" id="261" r:id="R40845dbe79dd4921"/>
    <p:sldId xmlns:r="http://schemas.openxmlformats.org/officeDocument/2006/relationships" id="262" r:id="R8b1bcd6bb89e46ed"/>
    <p:sldId xmlns:r="http://schemas.openxmlformats.org/officeDocument/2006/relationships" id="263" r:id="R9b53c1d7ee17498e"/>
    <p:sldId xmlns:r="http://schemas.openxmlformats.org/officeDocument/2006/relationships" id="264" r:id="R089d8cddf2cc497d"/>
    <p:sldId xmlns:r="http://schemas.openxmlformats.org/officeDocument/2006/relationships" id="265" r:id="R6e0b75a2a6d94c27"/>
    <p:sldId xmlns:r="http://schemas.openxmlformats.org/officeDocument/2006/relationships" id="266" r:id="R25f5f8948b7d4c29"/>
    <p:sldId xmlns:r="http://schemas.openxmlformats.org/officeDocument/2006/relationships" id="267" r:id="R11331b47643042dc"/>
    <p:sldId xmlns:r="http://schemas.openxmlformats.org/officeDocument/2006/relationships" id="268" r:id="R4ae5918754094b90"/>
    <p:sldId xmlns:r="http://schemas.openxmlformats.org/officeDocument/2006/relationships" id="269" r:id="R0ef0406a0e92483d"/>
    <p:sldId xmlns:r="http://schemas.openxmlformats.org/officeDocument/2006/relationships" id="270" r:id="R48834061eaa543c5"/>
    <p:sldId xmlns:r="http://schemas.openxmlformats.org/officeDocument/2006/relationships" id="271" r:id="R11d3d0d854a045c2"/>
    <p:sldId xmlns:r="http://schemas.openxmlformats.org/officeDocument/2006/relationships" id="272" r:id="R93956b9b99714962"/>
    <p:sldId xmlns:r="http://schemas.openxmlformats.org/officeDocument/2006/relationships" id="273" r:id="R4740c3f51fdd4e68"/>
    <p:sldId xmlns:r="http://schemas.openxmlformats.org/officeDocument/2006/relationships" id="274" r:id="R469a31f167e5467c"/>
    <p:sldId xmlns:r="http://schemas.openxmlformats.org/officeDocument/2006/relationships" id="275" r:id="R6a24bf2dc29548cb"/>
    <p:sldId xmlns:r="http://schemas.openxmlformats.org/officeDocument/2006/relationships" id="276" r:id="Rb689d1f82a14479c"/>
    <p:sldId xmlns:r="http://schemas.openxmlformats.org/officeDocument/2006/relationships" id="277" r:id="Re2008ddc7f1f42ff"/>
    <p:sldId xmlns:r="http://schemas.openxmlformats.org/officeDocument/2006/relationships" id="278" r:id="R74b5c75d27ba4cd1"/>
    <p:sldId xmlns:r="http://schemas.openxmlformats.org/officeDocument/2006/relationships" id="279" r:id="R72bf3d8fd75340b8"/>
    <p:sldId xmlns:r="http://schemas.openxmlformats.org/officeDocument/2006/relationships" id="280" r:id="Rf67a06fad4d243c2"/>
    <p:sldId xmlns:r="http://schemas.openxmlformats.org/officeDocument/2006/relationships" id="281" r:id="R518e47e9aed946f0"/>
    <p:sldId xmlns:r="http://schemas.openxmlformats.org/officeDocument/2006/relationships" id="282" r:id="Rba3484784e9d47a0"/>
    <p:sldId xmlns:r="http://schemas.openxmlformats.org/officeDocument/2006/relationships" id="283" r:id="Rf2012fa5057c4fe7"/>
    <p:sldId xmlns:r="http://schemas.openxmlformats.org/officeDocument/2006/relationships" id="284" r:id="Rf6612d98cd98452c"/>
    <p:sldId xmlns:r="http://schemas.openxmlformats.org/officeDocument/2006/relationships" id="285" r:id="Rb3580d9ee975488a"/>
    <p:sldId xmlns:r="http://schemas.openxmlformats.org/officeDocument/2006/relationships" id="286" r:id="Ra913993198034de4"/>
    <p:sldId xmlns:r="http://schemas.openxmlformats.org/officeDocument/2006/relationships" id="287" r:id="R0cda13cc47d34ae0"/>
    <p:sldId xmlns:r="http://schemas.openxmlformats.org/officeDocument/2006/relationships" id="288" r:id="R3bb27c92d5b1401a"/>
    <p:sldId xmlns:r="http://schemas.openxmlformats.org/officeDocument/2006/relationships" id="289" r:id="R25e3b3df460a4f56"/>
    <p:sldId xmlns:r="http://schemas.openxmlformats.org/officeDocument/2006/relationships" id="290" r:id="Rfbfd2d44e766429e"/>
    <p:sldId xmlns:r="http://schemas.openxmlformats.org/officeDocument/2006/relationships" id="291" r:id="Re18b4dc5e8584f70"/>
    <p:sldId xmlns:r="http://schemas.openxmlformats.org/officeDocument/2006/relationships" id="292" r:id="Rb1af3535bafd49fc"/>
    <p:sldId xmlns:r="http://schemas.openxmlformats.org/officeDocument/2006/relationships" id="293" r:id="R34a65174d8844370"/>
    <p:sldId xmlns:r="http://schemas.openxmlformats.org/officeDocument/2006/relationships" id="294" r:id="Rffa4cc4454194b2b"/>
    <p:sldId xmlns:r="http://schemas.openxmlformats.org/officeDocument/2006/relationships" id="295" r:id="Rf59bff9df6694c70"/>
    <p:sldId xmlns:r="http://schemas.openxmlformats.org/officeDocument/2006/relationships" id="296" r:id="Rfb30d9ab13a140a3"/>
    <p:sldId xmlns:r="http://schemas.openxmlformats.org/officeDocument/2006/relationships" id="297" r:id="R606ebf4d295d4905"/>
    <p:sldId xmlns:r="http://schemas.openxmlformats.org/officeDocument/2006/relationships" id="298" r:id="Re7e3235516d549fc"/>
    <p:sldId xmlns:r="http://schemas.openxmlformats.org/officeDocument/2006/relationships" id="299" r:id="R0e68f397b00d4753"/>
    <p:sldId xmlns:r="http://schemas.openxmlformats.org/officeDocument/2006/relationships" id="300" r:id="R09e55801b43e4633"/>
    <p:sldId xmlns:r="http://schemas.openxmlformats.org/officeDocument/2006/relationships" id="301" r:id="R992d2f22c6d74c3c"/>
    <p:sldId xmlns:r="http://schemas.openxmlformats.org/officeDocument/2006/relationships" id="302" r:id="R854bf107f5a242fe"/>
    <p:sldId xmlns:r="http://schemas.openxmlformats.org/officeDocument/2006/relationships" id="303" r:id="R90aa07eda6ca4d0a"/>
    <p:sldId xmlns:r="http://schemas.openxmlformats.org/officeDocument/2006/relationships" id="304" r:id="R08497c6c00a34d47"/>
    <p:sldId xmlns:r="http://schemas.openxmlformats.org/officeDocument/2006/relationships" id="305" r:id="R9a41333f510f4152"/>
    <p:sldId xmlns:r="http://schemas.openxmlformats.org/officeDocument/2006/relationships" id="306" r:id="R031db1db66b64cf2"/>
    <p:sldId xmlns:r="http://schemas.openxmlformats.org/officeDocument/2006/relationships" id="307" r:id="Ra65170710e154253"/>
    <p:sldId xmlns:r="http://schemas.openxmlformats.org/officeDocument/2006/relationships" id="308" r:id="Raec52a8b002d46b3"/>
    <p:sldId xmlns:r="http://schemas.openxmlformats.org/officeDocument/2006/relationships" id="309" r:id="R38892ffeab84402d"/>
    <p:sldId xmlns:r="http://schemas.openxmlformats.org/officeDocument/2006/relationships" id="310" r:id="Rc6fb3912c6ea4ea8"/>
    <p:sldId xmlns:r="http://schemas.openxmlformats.org/officeDocument/2006/relationships" id="311" r:id="R5de3cad65e5a4123"/>
    <p:sldId xmlns:r="http://schemas.openxmlformats.org/officeDocument/2006/relationships" id="312" r:id="Reafac2b53ecc4b83"/>
    <p:sldId xmlns:r="http://schemas.openxmlformats.org/officeDocument/2006/relationships" id="313" r:id="R9a913658d90748db"/>
    <p:sldId xmlns:r="http://schemas.openxmlformats.org/officeDocument/2006/relationships" id="314" r:id="R69487ab5bbeb4bc8"/>
    <p:sldId xmlns:r="http://schemas.openxmlformats.org/officeDocument/2006/relationships" id="315" r:id="Rba4f1a3d82444344"/>
    <p:sldId xmlns:r="http://schemas.openxmlformats.org/officeDocument/2006/relationships" id="316" r:id="R662b44c90dba48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2ab62d2597464f" /><Relationship Type="http://schemas.openxmlformats.org/officeDocument/2006/relationships/slideMaster" Target="/ppt/slideMasters/slideMaster1.xml" Id="R9c7cf9a26ad744ca" /><Relationship Type="http://schemas.openxmlformats.org/officeDocument/2006/relationships/notesMaster" Target="/ppt/notesMasters/notesMaster1.xml" Id="R81fdb4c0d2d54606" /><Relationship Type="http://schemas.openxmlformats.org/officeDocument/2006/relationships/presProps" Target="/ppt/presProps.xml" Id="R0613ee99cdda4a0c" /><Relationship Type="http://schemas.openxmlformats.org/officeDocument/2006/relationships/tableStyles" Target="/ppt/tableStyles.xml" Id="Rc428831631204297" /><Relationship Type="http://schemas.openxmlformats.org/officeDocument/2006/relationships/slide" Target="/ppt/slides/slide1.xml" Id="R248d80418f1a40ec" /><Relationship Type="http://schemas.openxmlformats.org/officeDocument/2006/relationships/slide" Target="/ppt/slides/slide2.xml" Id="Rf10c02b3fceb448c" /><Relationship Type="http://schemas.openxmlformats.org/officeDocument/2006/relationships/slide" Target="/ppt/slides/slide3.xml" Id="R02b2a2169e4e479c" /><Relationship Type="http://schemas.openxmlformats.org/officeDocument/2006/relationships/slide" Target="/ppt/slides/slide4.xml" Id="R3402e55563744b0f" /><Relationship Type="http://schemas.openxmlformats.org/officeDocument/2006/relationships/slide" Target="/ppt/slides/slide5.xml" Id="R23b67d7efd7947c0" /><Relationship Type="http://schemas.openxmlformats.org/officeDocument/2006/relationships/slide" Target="/ppt/slides/slide6.xml" Id="R40845dbe79dd4921" /><Relationship Type="http://schemas.openxmlformats.org/officeDocument/2006/relationships/slide" Target="/ppt/slides/slide7.xml" Id="R8b1bcd6bb89e46ed" /><Relationship Type="http://schemas.openxmlformats.org/officeDocument/2006/relationships/slide" Target="/ppt/slides/slide8.xml" Id="R9b53c1d7ee17498e" /><Relationship Type="http://schemas.openxmlformats.org/officeDocument/2006/relationships/slide" Target="/ppt/slides/slide9.xml" Id="R089d8cddf2cc497d" /><Relationship Type="http://schemas.openxmlformats.org/officeDocument/2006/relationships/slide" Target="/ppt/slides/slide10.xml" Id="R6e0b75a2a6d94c27" /><Relationship Type="http://schemas.openxmlformats.org/officeDocument/2006/relationships/slide" Target="/ppt/slides/slide11.xml" Id="R25f5f8948b7d4c29" /><Relationship Type="http://schemas.openxmlformats.org/officeDocument/2006/relationships/slide" Target="/ppt/slides/slide12.xml" Id="R11331b47643042dc" /><Relationship Type="http://schemas.openxmlformats.org/officeDocument/2006/relationships/slide" Target="/ppt/slides/slide13.xml" Id="R4ae5918754094b90" /><Relationship Type="http://schemas.openxmlformats.org/officeDocument/2006/relationships/slide" Target="/ppt/slides/slide14.xml" Id="R0ef0406a0e92483d" /><Relationship Type="http://schemas.openxmlformats.org/officeDocument/2006/relationships/slide" Target="/ppt/slides/slide15.xml" Id="R48834061eaa543c5" /><Relationship Type="http://schemas.openxmlformats.org/officeDocument/2006/relationships/slide" Target="/ppt/slides/slide16.xml" Id="R11d3d0d854a045c2" /><Relationship Type="http://schemas.openxmlformats.org/officeDocument/2006/relationships/slide" Target="/ppt/slides/slide17.xml" Id="R93956b9b99714962" /><Relationship Type="http://schemas.openxmlformats.org/officeDocument/2006/relationships/slide" Target="/ppt/slides/slide18.xml" Id="R4740c3f51fdd4e68" /><Relationship Type="http://schemas.openxmlformats.org/officeDocument/2006/relationships/slide" Target="/ppt/slides/slide19.xml" Id="R469a31f167e5467c" /><Relationship Type="http://schemas.openxmlformats.org/officeDocument/2006/relationships/slide" Target="/ppt/slides/slide20.xml" Id="R6a24bf2dc29548cb" /><Relationship Type="http://schemas.openxmlformats.org/officeDocument/2006/relationships/slide" Target="/ppt/slides/slide21.xml" Id="Rb689d1f82a14479c" /><Relationship Type="http://schemas.openxmlformats.org/officeDocument/2006/relationships/slide" Target="/ppt/slides/slide22.xml" Id="Re2008ddc7f1f42ff" /><Relationship Type="http://schemas.openxmlformats.org/officeDocument/2006/relationships/slide" Target="/ppt/slides/slide23.xml" Id="R74b5c75d27ba4cd1" /><Relationship Type="http://schemas.openxmlformats.org/officeDocument/2006/relationships/slide" Target="/ppt/slides/slide24.xml" Id="R72bf3d8fd75340b8" /><Relationship Type="http://schemas.openxmlformats.org/officeDocument/2006/relationships/slide" Target="/ppt/slides/slide25.xml" Id="Rf67a06fad4d243c2" /><Relationship Type="http://schemas.openxmlformats.org/officeDocument/2006/relationships/slide" Target="/ppt/slides/slide26.xml" Id="R518e47e9aed946f0" /><Relationship Type="http://schemas.openxmlformats.org/officeDocument/2006/relationships/slide" Target="/ppt/slides/slide27.xml" Id="Rba3484784e9d47a0" /><Relationship Type="http://schemas.openxmlformats.org/officeDocument/2006/relationships/slide" Target="/ppt/slides/slide28.xml" Id="Rf2012fa5057c4fe7" /><Relationship Type="http://schemas.openxmlformats.org/officeDocument/2006/relationships/slide" Target="/ppt/slides/slide29.xml" Id="Rf6612d98cd98452c" /><Relationship Type="http://schemas.openxmlformats.org/officeDocument/2006/relationships/slide" Target="/ppt/slides/slide30.xml" Id="Rb3580d9ee975488a" /><Relationship Type="http://schemas.openxmlformats.org/officeDocument/2006/relationships/slide" Target="/ppt/slides/slide31.xml" Id="Ra913993198034de4" /><Relationship Type="http://schemas.openxmlformats.org/officeDocument/2006/relationships/slide" Target="/ppt/slides/slide32.xml" Id="R0cda13cc47d34ae0" /><Relationship Type="http://schemas.openxmlformats.org/officeDocument/2006/relationships/slide" Target="/ppt/slides/slide33.xml" Id="R3bb27c92d5b1401a" /><Relationship Type="http://schemas.openxmlformats.org/officeDocument/2006/relationships/slide" Target="/ppt/slides/slide34.xml" Id="R25e3b3df460a4f56" /><Relationship Type="http://schemas.openxmlformats.org/officeDocument/2006/relationships/slide" Target="/ppt/slides/slide35.xml" Id="Rfbfd2d44e766429e" /><Relationship Type="http://schemas.openxmlformats.org/officeDocument/2006/relationships/slide" Target="/ppt/slides/slide36.xml" Id="Re18b4dc5e8584f70" /><Relationship Type="http://schemas.openxmlformats.org/officeDocument/2006/relationships/slide" Target="/ppt/slides/slide37.xml" Id="Rb1af3535bafd49fc" /><Relationship Type="http://schemas.openxmlformats.org/officeDocument/2006/relationships/slide" Target="/ppt/slides/slide38.xml" Id="R34a65174d8844370" /><Relationship Type="http://schemas.openxmlformats.org/officeDocument/2006/relationships/slide" Target="/ppt/slides/slide39.xml" Id="Rffa4cc4454194b2b" /><Relationship Type="http://schemas.openxmlformats.org/officeDocument/2006/relationships/slide" Target="/ppt/slides/slide40.xml" Id="Rf59bff9df6694c70" /><Relationship Type="http://schemas.openxmlformats.org/officeDocument/2006/relationships/slide" Target="/ppt/slides/slide41.xml" Id="Rfb30d9ab13a140a3" /><Relationship Type="http://schemas.openxmlformats.org/officeDocument/2006/relationships/slide" Target="/ppt/slides/slide42.xml" Id="R606ebf4d295d4905" /><Relationship Type="http://schemas.openxmlformats.org/officeDocument/2006/relationships/slide" Target="/ppt/slides/slide43.xml" Id="Re7e3235516d549fc" /><Relationship Type="http://schemas.openxmlformats.org/officeDocument/2006/relationships/slide" Target="/ppt/slides/slide44.xml" Id="R0e68f397b00d4753" /><Relationship Type="http://schemas.openxmlformats.org/officeDocument/2006/relationships/slide" Target="/ppt/slides/slide45.xml" Id="R09e55801b43e4633" /><Relationship Type="http://schemas.openxmlformats.org/officeDocument/2006/relationships/slide" Target="/ppt/slides/slide46.xml" Id="R992d2f22c6d74c3c" /><Relationship Type="http://schemas.openxmlformats.org/officeDocument/2006/relationships/slide" Target="/ppt/slides/slide47.xml" Id="R854bf107f5a242fe" /><Relationship Type="http://schemas.openxmlformats.org/officeDocument/2006/relationships/slide" Target="/ppt/slides/slide48.xml" Id="R90aa07eda6ca4d0a" /><Relationship Type="http://schemas.openxmlformats.org/officeDocument/2006/relationships/slide" Target="/ppt/slides/slide49.xml" Id="R08497c6c00a34d47" /><Relationship Type="http://schemas.openxmlformats.org/officeDocument/2006/relationships/slide" Target="/ppt/slides/slide50.xml" Id="R9a41333f510f4152" /><Relationship Type="http://schemas.openxmlformats.org/officeDocument/2006/relationships/slide" Target="/ppt/slides/slide51.xml" Id="R031db1db66b64cf2" /><Relationship Type="http://schemas.openxmlformats.org/officeDocument/2006/relationships/slide" Target="/ppt/slides/slide52.xml" Id="Ra65170710e154253" /><Relationship Type="http://schemas.openxmlformats.org/officeDocument/2006/relationships/slide" Target="/ppt/slides/slide53.xml" Id="Raec52a8b002d46b3" /><Relationship Type="http://schemas.openxmlformats.org/officeDocument/2006/relationships/slide" Target="/ppt/slides/slide54.xml" Id="R38892ffeab84402d" /><Relationship Type="http://schemas.openxmlformats.org/officeDocument/2006/relationships/slide" Target="/ppt/slides/slide55.xml" Id="Rc6fb3912c6ea4ea8" /><Relationship Type="http://schemas.openxmlformats.org/officeDocument/2006/relationships/slide" Target="/ppt/slides/slide56.xml" Id="R5de3cad65e5a4123" /><Relationship Type="http://schemas.openxmlformats.org/officeDocument/2006/relationships/slide" Target="/ppt/slides/slide57.xml" Id="Reafac2b53ecc4b83" /><Relationship Type="http://schemas.openxmlformats.org/officeDocument/2006/relationships/slide" Target="/ppt/slides/slide58.xml" Id="R9a913658d90748db" /><Relationship Type="http://schemas.openxmlformats.org/officeDocument/2006/relationships/slide" Target="/ppt/slides/slide59.xml" Id="R69487ab5bbeb4bc8" /><Relationship Type="http://schemas.openxmlformats.org/officeDocument/2006/relationships/slide" Target="/ppt/slides/slide60.xml" Id="Rba4f1a3d82444344" /><Relationship Type="http://schemas.openxmlformats.org/officeDocument/2006/relationships/slide" Target="/ppt/slides/slide61.xml" Id="R662b44c90dba48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af7f9c388f49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2d3baf75d943fb" /><Relationship Type="http://schemas.openxmlformats.org/officeDocument/2006/relationships/notesMaster" Target="/ppt/notesMasters/notesMaster1.xml" Id="Rddb1e6e4050642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c4e3a22cd342be" /><Relationship Type="http://schemas.openxmlformats.org/officeDocument/2006/relationships/notesMaster" Target="/ppt/notesMasters/notesMaster1.xml" Id="Rf3eccb1693c74b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bebcff1dfd4c4d" /><Relationship Type="http://schemas.openxmlformats.org/officeDocument/2006/relationships/notesMaster" Target="/ppt/notesMasters/notesMaster1.xml" Id="R86bfb04ffe1f47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743335e6df4cb6" /><Relationship Type="http://schemas.openxmlformats.org/officeDocument/2006/relationships/notesMaster" Target="/ppt/notesMasters/notesMaster1.xml" Id="R43356c26a0b14c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652f0815534fb9" /><Relationship Type="http://schemas.openxmlformats.org/officeDocument/2006/relationships/notesMaster" Target="/ppt/notesMasters/notesMaster1.xml" Id="R7cdb210adb994c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428dbbc3f64148" /><Relationship Type="http://schemas.openxmlformats.org/officeDocument/2006/relationships/notesMaster" Target="/ppt/notesMasters/notesMaster1.xml" Id="R46c1890f243847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22542be2d34392" /><Relationship Type="http://schemas.openxmlformats.org/officeDocument/2006/relationships/notesMaster" Target="/ppt/notesMasters/notesMaster1.xml" Id="R8ad7a530274148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5ace5143cf4896" /><Relationship Type="http://schemas.openxmlformats.org/officeDocument/2006/relationships/notesMaster" Target="/ppt/notesMasters/notesMaster1.xml" Id="Rea7c8c1e97f546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c158440deb483b" /><Relationship Type="http://schemas.openxmlformats.org/officeDocument/2006/relationships/notesMaster" Target="/ppt/notesMasters/notesMaster1.xml" Id="R7cfde0fe5cc849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da01d069a24349" /><Relationship Type="http://schemas.openxmlformats.org/officeDocument/2006/relationships/notesMaster" Target="/ppt/notesMasters/notesMaster1.xml" Id="R9da1c991bc8b4a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e44a9887b04afe" /><Relationship Type="http://schemas.openxmlformats.org/officeDocument/2006/relationships/notesMaster" Target="/ppt/notesMasters/notesMaster1.xml" Id="R7263194a7e4646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87e352b5e24e8f" /><Relationship Type="http://schemas.openxmlformats.org/officeDocument/2006/relationships/notesMaster" Target="/ppt/notesMasters/notesMaster1.xml" Id="Rbdfa94632eaf4e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2478f1e6794ee2" /><Relationship Type="http://schemas.openxmlformats.org/officeDocument/2006/relationships/notesMaster" Target="/ppt/notesMasters/notesMaster1.xml" Id="R4df539956a0c4a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1831c9b0e74f9d" /><Relationship Type="http://schemas.openxmlformats.org/officeDocument/2006/relationships/notesMaster" Target="/ppt/notesMasters/notesMaster1.xml" Id="R88858191211040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a86454b68a4202" /><Relationship Type="http://schemas.openxmlformats.org/officeDocument/2006/relationships/notesMaster" Target="/ppt/notesMasters/notesMaster1.xml" Id="Rb60c939acb144a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4f76b16ef14e30" /><Relationship Type="http://schemas.openxmlformats.org/officeDocument/2006/relationships/notesMaster" Target="/ppt/notesMasters/notesMaster1.xml" Id="Rca48ac5011ac4c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968f59dd394620" /><Relationship Type="http://schemas.openxmlformats.org/officeDocument/2006/relationships/notesMaster" Target="/ppt/notesMasters/notesMaster1.xml" Id="R004732f0d17248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043ea263784f70" /><Relationship Type="http://schemas.openxmlformats.org/officeDocument/2006/relationships/notesMaster" Target="/ppt/notesMasters/notesMaster1.xml" Id="Ra1d08bb07b2445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84adc9b49314c7b" /><Relationship Type="http://schemas.openxmlformats.org/officeDocument/2006/relationships/notesMaster" Target="/ppt/notesMasters/notesMaster1.xml" Id="R491d6a3a633140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da6fdbeaa14834" /><Relationship Type="http://schemas.openxmlformats.org/officeDocument/2006/relationships/notesMaster" Target="/ppt/notesMasters/notesMaster1.xml" Id="Rc3bd2ac3f0a14be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0a43f655e3a42a0" /><Relationship Type="http://schemas.openxmlformats.org/officeDocument/2006/relationships/notesMaster" Target="/ppt/notesMasters/notesMaster1.xml" Id="Rf483201fe0854db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2880a1690f94100" /><Relationship Type="http://schemas.openxmlformats.org/officeDocument/2006/relationships/notesMaster" Target="/ppt/notesMasters/notesMaster1.xml" Id="Re03a8725c501419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28d012f9c1483e" /><Relationship Type="http://schemas.openxmlformats.org/officeDocument/2006/relationships/notesMaster" Target="/ppt/notesMasters/notesMaster1.xml" Id="Ra2283782df0b47e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0628d9a3bf4a76" /><Relationship Type="http://schemas.openxmlformats.org/officeDocument/2006/relationships/notesMaster" Target="/ppt/notesMasters/notesMaster1.xml" Id="Rf0d41d88eed841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b32cfec6a4d4462" /><Relationship Type="http://schemas.openxmlformats.org/officeDocument/2006/relationships/notesMaster" Target="/ppt/notesMasters/notesMaster1.xml" Id="Ra025664c44e24f1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e132e5fd71249b3" /><Relationship Type="http://schemas.openxmlformats.org/officeDocument/2006/relationships/notesMaster" Target="/ppt/notesMasters/notesMaster1.xml" Id="Rfd9106ef3b244c2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b6ad78ca1794f66" /><Relationship Type="http://schemas.openxmlformats.org/officeDocument/2006/relationships/notesMaster" Target="/ppt/notesMasters/notesMaster1.xml" Id="R016a724949fd4a5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df360b7d0594d36" /><Relationship Type="http://schemas.openxmlformats.org/officeDocument/2006/relationships/notesMaster" Target="/ppt/notesMasters/notesMaster1.xml" Id="R297b7b12a73a430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977b152edb42e4" /><Relationship Type="http://schemas.openxmlformats.org/officeDocument/2006/relationships/notesMaster" Target="/ppt/notesMasters/notesMaster1.xml" Id="Ra85683b18eff438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b20ae185acd4c01" /><Relationship Type="http://schemas.openxmlformats.org/officeDocument/2006/relationships/notesMaster" Target="/ppt/notesMasters/notesMaster1.xml" Id="R0b272402cd3e423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87bc36a84b9406d" /><Relationship Type="http://schemas.openxmlformats.org/officeDocument/2006/relationships/notesMaster" Target="/ppt/notesMasters/notesMaster1.xml" Id="R3dae300009ab46c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e69c90e6a184277" /><Relationship Type="http://schemas.openxmlformats.org/officeDocument/2006/relationships/notesMaster" Target="/ppt/notesMasters/notesMaster1.xml" Id="R466757e83114450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2322c734c094371" /><Relationship Type="http://schemas.openxmlformats.org/officeDocument/2006/relationships/notesMaster" Target="/ppt/notesMasters/notesMaster1.xml" Id="Rc8ca43ceb80944f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94506548f894b15" /><Relationship Type="http://schemas.openxmlformats.org/officeDocument/2006/relationships/notesMaster" Target="/ppt/notesMasters/notesMaster1.xml" Id="R7ef5e914b0bb4cf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0823e7e7b49413c" /><Relationship Type="http://schemas.openxmlformats.org/officeDocument/2006/relationships/notesMaster" Target="/ppt/notesMasters/notesMaster1.xml" Id="Reed9eba666ce41c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74440dc1c924fa6" /><Relationship Type="http://schemas.openxmlformats.org/officeDocument/2006/relationships/notesMaster" Target="/ppt/notesMasters/notesMaster1.xml" Id="R2787e54cec5e425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9d6d611688e440b" /><Relationship Type="http://schemas.openxmlformats.org/officeDocument/2006/relationships/notesMaster" Target="/ppt/notesMasters/notesMaster1.xml" Id="R86f26147328444d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3590b6c37584a33" /><Relationship Type="http://schemas.openxmlformats.org/officeDocument/2006/relationships/notesMaster" Target="/ppt/notesMasters/notesMaster1.xml" Id="Rdc900eeab146466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4265a06e0d4414b" /><Relationship Type="http://schemas.openxmlformats.org/officeDocument/2006/relationships/notesMaster" Target="/ppt/notesMasters/notesMaster1.xml" Id="R64349600822c426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c103459ef714395" /><Relationship Type="http://schemas.openxmlformats.org/officeDocument/2006/relationships/notesMaster" Target="/ppt/notesMasters/notesMaster1.xml" Id="Ra72347dae2b34b6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27c9b4edc7444c3" /><Relationship Type="http://schemas.openxmlformats.org/officeDocument/2006/relationships/notesMaster" Target="/ppt/notesMasters/notesMaster1.xml" Id="R717e196f9231469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9e05d03ce44436b" /><Relationship Type="http://schemas.openxmlformats.org/officeDocument/2006/relationships/notesMaster" Target="/ppt/notesMasters/notesMaster1.xml" Id="R117305c5f5534f5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0502c3e59e644bc" /><Relationship Type="http://schemas.openxmlformats.org/officeDocument/2006/relationships/notesMaster" Target="/ppt/notesMasters/notesMaster1.xml" Id="Rfab0c8a9714a47e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02cda6a0c4249b4" /><Relationship Type="http://schemas.openxmlformats.org/officeDocument/2006/relationships/notesMaster" Target="/ppt/notesMasters/notesMaster1.xml" Id="Rbd537f4391b3494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f01134793b04be6" /><Relationship Type="http://schemas.openxmlformats.org/officeDocument/2006/relationships/notesMaster" Target="/ppt/notesMasters/notesMaster1.xml" Id="R1b78a265a7784c2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f222fec3ebb4563" /><Relationship Type="http://schemas.openxmlformats.org/officeDocument/2006/relationships/notesMaster" Target="/ppt/notesMasters/notesMaster1.xml" Id="R44f2323fc736435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2800f3e44694da0" /><Relationship Type="http://schemas.openxmlformats.org/officeDocument/2006/relationships/notesMaster" Target="/ppt/notesMasters/notesMaster1.xml" Id="R9276d4e2714843a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d6583d546714c64" /><Relationship Type="http://schemas.openxmlformats.org/officeDocument/2006/relationships/notesMaster" Target="/ppt/notesMasters/notesMaster1.xml" Id="R85033e8e4d0e4c4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c36eefde61341f5" /><Relationship Type="http://schemas.openxmlformats.org/officeDocument/2006/relationships/notesMaster" Target="/ppt/notesMasters/notesMaster1.xml" Id="Ree333c247e2a4b0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7cd150a9cf84000" /><Relationship Type="http://schemas.openxmlformats.org/officeDocument/2006/relationships/notesMaster" Target="/ppt/notesMasters/notesMaster1.xml" Id="R85f86eebc7e14b2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84d6991caee41da" /><Relationship Type="http://schemas.openxmlformats.org/officeDocument/2006/relationships/notesMaster" Target="/ppt/notesMasters/notesMaster1.xml" Id="Ra2466f02abba4f5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7b0fdf005e84c89" /><Relationship Type="http://schemas.openxmlformats.org/officeDocument/2006/relationships/notesMaster" Target="/ppt/notesMasters/notesMaster1.xml" Id="R8b1ea932e817447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50c1eb2262e431b" /><Relationship Type="http://schemas.openxmlformats.org/officeDocument/2006/relationships/notesMaster" Target="/ppt/notesMasters/notesMaster1.xml" Id="Re54f4544e16148d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97ff6a0f82642a4" /><Relationship Type="http://schemas.openxmlformats.org/officeDocument/2006/relationships/notesMaster" Target="/ppt/notesMasters/notesMaster1.xml" Id="Rc84cdb2c239d44b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001f9f4680743ed" /><Relationship Type="http://schemas.openxmlformats.org/officeDocument/2006/relationships/notesMaster" Target="/ppt/notesMasters/notesMaster1.xml" Id="Redf8c9d9d639424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6656f39f9924819" /><Relationship Type="http://schemas.openxmlformats.org/officeDocument/2006/relationships/notesMaster" Target="/ppt/notesMasters/notesMaster1.xml" Id="R24930596166a432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0137f019b364d12" /><Relationship Type="http://schemas.openxmlformats.org/officeDocument/2006/relationships/notesMaster" Target="/ppt/notesMasters/notesMaster1.xml" Id="R8f4161230f4144f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576936ab3d24636" /><Relationship Type="http://schemas.openxmlformats.org/officeDocument/2006/relationships/notesMaster" Target="/ppt/notesMasters/notesMaster1.xml" Id="Re765fc0395c443f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af7ef5a88254545" /><Relationship Type="http://schemas.openxmlformats.org/officeDocument/2006/relationships/notesMaster" Target="/ppt/notesMasters/notesMaster1.xml" Id="R414d58e694d14a0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d1ad8a0341c4bf5" /><Relationship Type="http://schemas.openxmlformats.org/officeDocument/2006/relationships/notesMaster" Target="/ppt/notesMasters/notesMaster1.xml" Id="R71ea681219fd420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e7847961d7f4f2a" /><Relationship Type="http://schemas.openxmlformats.org/officeDocument/2006/relationships/notesMaster" Target="/ppt/notesMasters/notesMaster1.xml" Id="Rd3f44898eedc40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Let's say we have a line L, and we know one point on it. We'll call that point P zero. We also have a nonzero vector m that runs parallel to the line. We want an equation that gives us any point on this line. So we need a place to start and a direction to move in. P zero gives us the starting place. M gives us the direction.</a:t>
            </a:r>
          </a:p>
          <a:p xmlns:a="http://schemas.openxmlformats.org/drawingml/2006/main">
            <a:r>
              <a:t/>
            </a:r>
          </a:p>
          <a:p xmlns:a="http://schemas.openxmlformats.org/drawingml/2006/main">
            <a:r>
              <a:t>POINTER OR DRAWING</a:t>
            </a:r>
          </a:p>
          <a:p xmlns:a="http://schemas.openxmlformats.org/drawingml/2006/main">
            <a:r>
              <a:t>Point to P₀, then to the separate direction arrow. Follow the line in both directions.</a:t>
            </a:r>
          </a:p>
          <a:p xmlns:a="http://schemas.openxmlformats.org/drawingml/2006/main">
            <a:r>
              <a:t/>
            </a:r>
          </a:p>
          <a:p xmlns:a="http://schemas.openxmlformats.org/drawingml/2006/main">
            <a:r>
              <a:t>EQUATIONS IN LATEX</a:t>
            </a:r>
          </a:p>
          <a:p xmlns:a="http://schemas.openxmlformats.org/drawingml/2006/main">
            <a:r>
              <a:t>P_0(x_0,y_0),\qquad \vec m\parallel L,\quad\vec m\ne\vec0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Start with the blue arrow. It goes from the origin to our known point, P zero. This is r zero, the position vector of P zero. Its components are just the coordinates of that point.</a:t>
            </a:r>
          </a:p>
          <a:p xmlns:a="http://schemas.openxmlformats.org/drawingml/2006/main">
            <a:r>
              <a:t/>
            </a:r>
          </a:p>
          <a:p xmlns:a="http://schemas.openxmlformats.org/drawingml/2006/main">
            <a:r>
              <a:t>CLICK 1</a:t>
            </a:r>
          </a:p>
          <a:p xmlns:a="http://schemas.openxmlformats.org/drawingml/2006/main">
            <a:r>
              <a:t>Now choose any point P on the line. The purple arrow goes from the origin to P. We call that position vector r. P is the point. R is the vector that gets us there from the origin.</a:t>
            </a:r>
          </a:p>
          <a:p xmlns:a="http://schemas.openxmlformats.org/drawingml/2006/main">
            <a:r>
              <a:t/>
            </a:r>
          </a:p>
          <a:p xmlns:a="http://schemas.openxmlformats.org/drawingml/2006/main">
            <a:r>
              <a:t>POINTER OR DRAWING</a:t>
            </a:r>
          </a:p>
          <a:p xmlns:a="http://schemas.openxmlformats.org/drawingml/2006/main">
            <a:r>
              <a:t>Trace O to P₀ in blue, then O to P in purple. Match each arrow to its equation.</a:t>
            </a:r>
          </a:p>
          <a:p xmlns:a="http://schemas.openxmlformats.org/drawingml/2006/main">
            <a:r>
              <a:t/>
            </a:r>
          </a:p>
          <a:p xmlns:a="http://schemas.openxmlformats.org/drawingml/2006/main">
            <a:r>
              <a:t>EQUATIONS IN LATEX</a:t>
            </a:r>
          </a:p>
          <a:p xmlns:a="http://schemas.openxmlformats.org/drawingml/2006/main">
            <a:r>
              <a:t>\vec r_0=\overrightarrow{OP_0}=[x_0,y_0]</a:t>
            </a:r>
          </a:p>
          <a:p xmlns:a="http://schemas.openxmlformats.org/drawingml/2006/main">
            <a:r>
              <a:t>\vec r=\overrightarrow{OP}=[x,y]</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How can we get from O to P? We can go directly along the purple arrow. Or we can go to P zero first, then follow the green arrow to P. Both routes finish at the same point, so their total displacement is the same.</a:t>
            </a:r>
          </a:p>
          <a:p xmlns:a="http://schemas.openxmlformats.org/drawingml/2006/main">
            <a:r>
              <a:t/>
            </a:r>
          </a:p>
          <a:p xmlns:a="http://schemas.openxmlformats.org/drawingml/2006/main">
            <a:r>
              <a:t>CLICK 1</a:t>
            </a:r>
          </a:p>
          <a:p xmlns:a="http://schemas.openxmlformats.org/drawingml/2006/main">
            <a:r>
              <a:t>Replace the two position arrows with r and r zero. We get r equals r zero plus the displacement from P zero to P. We know where to start. Now we need a way to describe that last movement.</a:t>
            </a:r>
          </a:p>
          <a:p xmlns:a="http://schemas.openxmlformats.org/drawingml/2006/main">
            <a:r>
              <a:t/>
            </a:r>
          </a:p>
          <a:p xmlns:a="http://schemas.openxmlformats.org/drawingml/2006/main">
            <a:r>
              <a:t>POINTER OR DRAWING</a:t>
            </a:r>
          </a:p>
          <a:p xmlns:a="http://schemas.openxmlformats.org/drawingml/2006/main">
            <a:r>
              <a:t>Trace the blue arrow followed by the green arrow. Compare this with the direct purple arrow.</a:t>
            </a:r>
          </a:p>
          <a:p xmlns:a="http://schemas.openxmlformats.org/drawingml/2006/main">
            <a:r>
              <a:t/>
            </a:r>
          </a:p>
          <a:p xmlns:a="http://schemas.openxmlformats.org/drawingml/2006/main">
            <a:r>
              <a:t>EQUATIONS IN LATEX</a:t>
            </a:r>
          </a:p>
          <a:p xmlns:a="http://schemas.openxmlformats.org/drawingml/2006/main">
            <a:r>
              <a:t>\overrightarrow{OP}=\overrightarrow{OP_0}+\overrightarrow{P_0P}</a:t>
            </a:r>
          </a:p>
          <a:p xmlns:a="http://schemas.openxmlformats.org/drawingml/2006/main">
            <a:r>
              <a:t>\vec r=\vec r_0+\overrightarrow{P_0P}</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Here is the relationship we just found. The position of P is our starting position plus a movement along the line. How do we write that movement using m?</a:t>
            </a:r>
          </a:p>
          <a:p xmlns:a="http://schemas.openxmlformats.org/drawingml/2006/main">
            <a:r>
              <a:t/>
            </a:r>
          </a:p>
          <a:p xmlns:a="http://schemas.openxmlformats.org/drawingml/2006/main">
            <a:r>
              <a:t>CLICK 1</a:t>
            </a:r>
          </a:p>
          <a:p xmlns:a="http://schemas.openxmlformats.org/drawingml/2006/main">
            <a:r>
              <a:t>The movement is parallel to m, so it is a scalar multiple of m. Two copies would move us twice as far. Half a copy would move us half as far. A negative multiple would move us the other way. We call that multiplier t.</a:t>
            </a:r>
          </a:p>
          <a:p xmlns:a="http://schemas.openxmlformats.org/drawingml/2006/main">
            <a:r>
              <a:t/>
            </a:r>
          </a:p>
          <a:p xmlns:a="http://schemas.openxmlformats.org/drawingml/2006/main">
            <a:r>
              <a:t>CLICK 2</a:t>
            </a:r>
          </a:p>
          <a:p xmlns:a="http://schemas.openxmlformats.org/drawingml/2006/main">
            <a:r>
              <a:t>Substitute t m for the displacement. That gives the vector equation of a line. R zero tells us where to start. M gives the direction. T tells us how much of that direction to use. Allow every real value of t, and we get the whole line.</a:t>
            </a:r>
          </a:p>
          <a:p xmlns:a="http://schemas.openxmlformats.org/drawingml/2006/main">
            <a:r>
              <a:t/>
            </a:r>
          </a:p>
          <a:p xmlns:a="http://schemas.openxmlformats.org/drawingml/2006/main">
            <a:r>
              <a:t>POINTER OR DRAWING</a:t>
            </a:r>
          </a:p>
          <a:p xmlns:a="http://schemas.openxmlformats.org/drawingml/2006/main">
            <a:r>
              <a:t>Point from the green displacement to t times m, then to the final equation.</a:t>
            </a:r>
          </a:p>
          <a:p xmlns:a="http://schemas.openxmlformats.org/drawingml/2006/main">
            <a:r>
              <a:t/>
            </a:r>
          </a:p>
          <a:p xmlns:a="http://schemas.openxmlformats.org/drawingml/2006/main">
            <a:r>
              <a:t>EQUATIONS IN LATEX</a:t>
            </a:r>
          </a:p>
          <a:p xmlns:a="http://schemas.openxmlformats.org/drawingml/2006/main">
            <a:r>
              <a:t>\vec r=\vec r_0+\overrightarrow{P_0P}</a:t>
            </a:r>
          </a:p>
          <a:p xmlns:a="http://schemas.openxmlformats.org/drawingml/2006/main">
            <a:r>
              <a:t>\overrightarrow{P_0P}=t\vec m</a:t>
            </a:r>
          </a:p>
          <a:p xmlns:a="http://schemas.openxmlformats.org/drawingml/2006/main">
            <a:r>
              <a:t>\vec r=\vec r_0+t\vec m,\qquad t\in\mathbb R</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Here is the method we will use in the questions. First, identify a point that is on the line. Write its coordinates as the components of the starting position vector.</a:t>
            </a:r>
          </a:p>
          <a:p xmlns:a="http://schemas.openxmlformats.org/drawingml/2006/main">
            <a:r>
              <a:t/>
            </a:r>
          </a:p>
          <a:p xmlns:a="http://schemas.openxmlformats.org/drawingml/2006/main">
            <a:r>
              <a:t>CLICK 1</a:t>
            </a:r>
          </a:p>
          <a:p xmlns:a="http://schemas.openxmlformats.org/drawingml/2006/main">
            <a:r>
              <a:t>Next, identify a nonzero vector parallel to the line. If the question gives two points, their displacement can supply this direction.</a:t>
            </a:r>
          </a:p>
          <a:p xmlns:a="http://schemas.openxmlformats.org/drawingml/2006/main">
            <a:r>
              <a:t/>
            </a:r>
          </a:p>
          <a:p xmlns:a="http://schemas.openxmlformats.org/drawingml/2006/main">
            <a:r>
              <a:t>CLICK 2</a:t>
            </a:r>
          </a:p>
          <a:p xmlns:a="http://schemas.openxmlformats.org/drawingml/2006/main">
            <a:r>
              <a:t>Put the starting position first, then add t times the direction. Allow t to be any real number so we get the entire line.</a:t>
            </a:r>
          </a:p>
          <a:p xmlns:a="http://schemas.openxmlformats.org/drawingml/2006/main">
            <a:r>
              <a:t/>
            </a:r>
          </a:p>
          <a:p xmlns:a="http://schemas.openxmlformats.org/drawingml/2006/main">
            <a:r>
              <a:t>CLICK 3</a:t>
            </a:r>
          </a:p>
          <a:p xmlns:a="http://schemas.openxmlformats.org/drawingml/2006/main">
            <a:r>
              <a:t>Check the starting point by setting t to zero. The direction must also match the one required by the question. Once those two pieces are correct, we have the correct line.</a:t>
            </a:r>
          </a:p>
          <a:p xmlns:a="http://schemas.openxmlformats.org/drawingml/2006/main">
            <a:r>
              <a:t/>
            </a:r>
          </a:p>
          <a:p xmlns:a="http://schemas.openxmlformats.org/drawingml/2006/main">
            <a:r>
              <a:t>POINTER OR DRAWING</a:t>
            </a:r>
          </a:p>
          <a:p xmlns:a="http://schemas.openxmlformats.org/drawingml/2006/main">
            <a:r>
              <a:t>Read the four steps in order. Keep this method available during the first sample.</a:t>
            </a:r>
          </a:p>
          <a:p xmlns:a="http://schemas.openxmlformats.org/drawingml/2006/main">
            <a:r>
              <a:t/>
            </a:r>
          </a:p>
          <a:p xmlns:a="http://schemas.openxmlformats.org/drawingml/2006/main">
            <a:r>
              <a:t>EQUATIONS IN LATEX</a:t>
            </a:r>
          </a:p>
          <a:p xmlns:a="http://schemas.openxmlformats.org/drawingml/2006/main">
            <a:r>
              <a:t>\text{1 Choose a point }P_0:\quad\vec r_0=\overrightarrow{OP_0}</a:t>
            </a:r>
          </a:p>
          <a:p xmlns:a="http://schemas.openxmlformats.org/drawingml/2006/main">
            <a:r>
              <a:t>\text{2 Choose a direction }\vec m\parallel L,\quad\vec m\ne\vec0</a:t>
            </a:r>
          </a:p>
          <a:p xmlns:a="http://schemas.openxmlformats.org/drawingml/2006/main">
            <a:r>
              <a:t>\text{3 Write }\vec r=\vec r_0+t\vec m,\quad t\in\mathbb R</a:t>
            </a:r>
          </a:p>
          <a:p xmlns:a="http://schemas.openxmlformats.org/drawingml/2006/main">
            <a:r>
              <a:t>\text{4 Check }t=0:\quad\vec r=\vec r_0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Let's see what the parameter does. When t is negative one, we subtract one copy of m. We move from P zero in the opposite direction.</a:t>
            </a:r>
          </a:p>
          <a:p xmlns:a="http://schemas.openxmlformats.org/drawingml/2006/main">
            <a:r>
              <a:t/>
            </a:r>
          </a:p>
          <a:p xmlns:a="http://schemas.openxmlformats.org/drawingml/2006/main">
            <a:r>
              <a:t>CLICK 1</a:t>
            </a:r>
          </a:p>
          <a:p xmlns:a="http://schemas.openxmlformats.org/drawingml/2006/main">
            <a:r>
              <a:t>When t is zero, we add nothing. So we stay at P zero. This is a useful check: zero should return the starting point in that particular equation.</a:t>
            </a:r>
          </a:p>
          <a:p xmlns:a="http://schemas.openxmlformats.org/drawingml/2006/main">
            <a:r>
              <a:t/>
            </a:r>
          </a:p>
          <a:p xmlns:a="http://schemas.openxmlformats.org/drawingml/2006/main">
            <a:r>
              <a:t>CLICK 2</a:t>
            </a:r>
          </a:p>
          <a:p xmlns:a="http://schemas.openxmlformats.org/drawingml/2006/main">
            <a:r>
              <a:t>When t is one, we add one copy of m. We can choose any real number, including fractions. Changing t moves the point along the line. It does not change which line we are describing.</a:t>
            </a:r>
          </a:p>
          <a:p xmlns:a="http://schemas.openxmlformats.org/drawingml/2006/main">
            <a:r>
              <a:t/>
            </a:r>
          </a:p>
          <a:p xmlns:a="http://schemas.openxmlformats.org/drawingml/2006/main">
            <a:r>
              <a:t>POINTER OR DRAWING</a:t>
            </a:r>
          </a:p>
          <a:p xmlns:a="http://schemas.openxmlformats.org/drawingml/2006/main">
            <a:r>
              <a:t>Compare the three diagrams for t = −1, 0, and 1.</a:t>
            </a:r>
          </a:p>
          <a:p xmlns:a="http://schemas.openxmlformats.org/drawingml/2006/main">
            <a:r>
              <a:t/>
            </a:r>
          </a:p>
          <a:p xmlns:a="http://schemas.openxmlformats.org/drawingml/2006/main">
            <a:r>
              <a:t>EQUATIONS IN LATEX</a:t>
            </a:r>
          </a:p>
          <a:p xmlns:a="http://schemas.openxmlformats.org/drawingml/2006/main">
            <a:r>
              <a:t>t=-1:\quad\vec r=\vec r_0-\vec m</a:t>
            </a:r>
          </a:p>
          <a:p xmlns:a="http://schemas.openxmlformats.org/drawingml/2006/main">
            <a:r>
              <a:t>t=0:\quad\vec r=\vec r_0</a:t>
            </a:r>
          </a:p>
          <a:p xmlns:a="http://schemas.openxmlformats.org/drawingml/2006/main">
            <a:r>
              <a:t>t=1:\quad\vec r=\vec r_0+\vec m</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PowerPoint</a:t>
            </a:r>
          </a:p>
          <a:p xmlns:a="http://schemas.openxmlformats.org/drawingml/2006/main">
            <a:r>
              <a:t>Section 8.1 Vector and parametric lines</a:t>
            </a:r>
          </a:p>
          <a:p xmlns:a="http://schemas.openxmlformats.org/drawingml/2006/main">
            <a:r>
              <a:t/>
            </a:r>
          </a:p>
          <a:p xmlns:a="http://schemas.openxmlformats.org/drawingml/2006/main">
            <a:r>
              <a:t>ON ARRIVAL</a:t>
            </a:r>
          </a:p>
          <a:p xmlns:a="http://schemas.openxmlformats.org/drawingml/2006/main">
            <a:r>
              <a:t>A line continues forever in both directions. It has a particular location in the coordinate plane. Two lines pointing the same way can still be in different places.</a:t>
            </a:r>
          </a:p>
          <a:p xmlns:a="http://schemas.openxmlformats.org/drawingml/2006/main">
            <a:r>
              <a:t/>
            </a:r>
          </a:p>
          <a:p xmlns:a="http://schemas.openxmlformats.org/drawingml/2006/main">
            <a:r>
              <a:t>CLICK 1</a:t>
            </a:r>
          </a:p>
          <a:p xmlns:a="http://schemas.openxmlformats.org/drawingml/2006/main">
            <a:r>
              <a:t>A vector has a magnitude and a direction. We may translate a free vector without changing it. Two equal vectors have the same magnitude and direction, even if we draw them in different places.</a:t>
            </a:r>
          </a:p>
          <a:p xmlns:a="http://schemas.openxmlformats.org/drawingml/2006/main">
            <a:r>
              <a:t/>
            </a:r>
          </a:p>
          <a:p xmlns:a="http://schemas.openxmlformats.org/drawingml/2006/main">
            <a:r>
              <a:t>CLICK 2</a:t>
            </a:r>
          </a:p>
          <a:p xmlns:a="http://schemas.openxmlformats.org/drawingml/2006/main">
            <a:r>
              <a:t>The starting position fixes the location of our line. The nonzero direction vector supplies the movement. Every real value of t gives the whole line. Restricting t can give only part of it, such as a segment.</a:t>
            </a:r>
          </a:p>
          <a:p xmlns:a="http://schemas.openxmlformats.org/drawingml/2006/main">
            <a:r>
              <a:t/>
            </a:r>
          </a:p>
          <a:p xmlns:a="http://schemas.openxmlformats.org/drawingml/2006/main">
            <a:r>
              <a:t>CLICK 3</a:t>
            </a:r>
          </a:p>
          <a:p xmlns:a="http://schemas.openxmlformats.org/drawingml/2006/main">
            <a:r>
              <a:t>Two lines coincide when their locations and directions agree. Their chosen direction vectors may have different lengths or opposite senses. That does not change the line.</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\text{Line: infinite in both directions, with a fixed location}</a:t>
            </a:r>
          </a:p>
          <a:p xmlns:a="http://schemas.openxmlformats.org/drawingml/2006/main">
            <a:r>
              <a:t>\text{Vector: a direction and a finite magnitude}</a:t>
            </a:r>
          </a:p>
          <a:p xmlns:a="http://schemas.openxmlformats.org/drawingml/2006/main">
            <a:r>
              <a:t>\vec r=\vec r_0+t\vec m,\quad t\in\mathbb R</a:t>
            </a:r>
          </a:p>
          <a:p xmlns:a="http://schemas.openxmlformats.org/drawingml/2006/main">
            <a:r>
              <a:t>\text{Same line: same location and parallel directions}</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In two dimensions, our point has two coordinates and our direction has two components. The rule is still starting position plus a multiple of the direction.</a:t>
            </a:r>
          </a:p>
          <a:p xmlns:a="http://schemas.openxmlformats.org/drawingml/2006/main">
            <a:r>
              <a:t/>
            </a:r>
          </a:p>
          <a:p xmlns:a="http://schemas.openxmlformats.org/drawingml/2006/main">
            <a:r>
              <a:t>CLICK 1</a:t>
            </a:r>
          </a:p>
          <a:p xmlns:a="http://schemas.openxmlformats.org/drawingml/2006/main">
            <a:r>
              <a:t>In three dimensions, add the z-coordinate and the third direction component. The idea is exactly the same. A line still uses one parameter, because we move in one fixed direction.</a:t>
            </a:r>
          </a:p>
          <a:p xmlns:a="http://schemas.openxmlformats.org/drawingml/2006/main">
            <a:r>
              <a:t/>
            </a:r>
          </a:p>
          <a:p xmlns:a="http://schemas.openxmlformats.org/drawingml/2006/main">
            <a:r>
              <a:t>POINTER OR DRAWING</a:t>
            </a:r>
          </a:p>
          <a:p xmlns:a="http://schemas.openxmlformats.org/drawingml/2006/main">
            <a:r>
              <a:t>Compare corresponding components side by side verbally. Emphasise that an extra coordinate does not introduce another parameter.</a:t>
            </a:r>
          </a:p>
          <a:p xmlns:a="http://schemas.openxmlformats.org/drawingml/2006/main">
            <a:r>
              <a:t/>
            </a:r>
          </a:p>
          <a:p xmlns:a="http://schemas.openxmlformats.org/drawingml/2006/main">
            <a:r>
              <a:t>EQUATIONS IN LATEX</a:t>
            </a:r>
          </a:p>
          <a:p xmlns:a="http://schemas.openxmlformats.org/drawingml/2006/main">
            <a:r>
              <a:t>\mathbb R^2:\quad[x,y]=[x_0,y_0]+t[m_1,m_2]</a:t>
            </a:r>
          </a:p>
          <a:p xmlns:a="http://schemas.openxmlformats.org/drawingml/2006/main">
            <a:r>
              <a:t>\mathbb R^3:\quad[x,y,z]=[x_0,y_0,z_0]+t[m_1,m_2,m_3]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Let's use the point five comma seven and direction six comma eleven. Put the point into the starting vector, then add t times the direction. That gives the equation shown here.</a:t>
            </a:r>
          </a:p>
          <a:p xmlns:a="http://schemas.openxmlformats.org/drawingml/2006/main">
            <a:r>
              <a:t/>
            </a:r>
          </a:p>
          <a:p xmlns:a="http://schemas.openxmlformats.org/drawingml/2006/main">
            <a:r>
              <a:t>CLICK 1</a:t>
            </a:r>
          </a:p>
          <a:p xmlns:a="http://schemas.openxmlformats.org/drawingml/2006/main">
            <a:r>
              <a:t>Now choose a value of t and use it in both components. At one, we get eleven comma eighteen. At three, we get twenty-three comma forty. At negative one, we get negative one comma negative four. The round brackets describe a point. The square brackets describe its position vector.</a:t>
            </a:r>
          </a:p>
          <a:p xmlns:a="http://schemas.openxmlformats.org/drawingml/2006/main">
            <a:r>
              <a:t/>
            </a:r>
          </a:p>
          <a:p xmlns:a="http://schemas.openxmlformats.org/drawingml/2006/main">
            <a:r>
              <a:t>POINTER OR DRAWING</a:t>
            </a:r>
          </a:p>
          <a:p xmlns:a="http://schemas.openxmlformats.org/drawingml/2006/main">
            <a:r>
              <a:t>Read each table row from left to right. Explain the difference between the point and position-vector columns.</a:t>
            </a:r>
          </a:p>
          <a:p xmlns:a="http://schemas.openxmlformats.org/drawingml/2006/main">
            <a:r>
              <a:t/>
            </a:r>
          </a:p>
          <a:p xmlns:a="http://schemas.openxmlformats.org/drawingml/2006/main">
            <a:r>
              <a:t>EQUATIONS IN LATEX</a:t>
            </a:r>
          </a:p>
          <a:p xmlns:a="http://schemas.openxmlformats.org/drawingml/2006/main">
            <a:r>
              <a:t>\vec r=[5,7]+t[6,11]</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PowerPoint</a:t>
            </a:r>
          </a:p>
          <a:p xmlns:a="http://schemas.openxmlformats.org/drawingml/2006/main">
            <a:r>
              <a:t>Section 8.1 Vector and parametric lines</a:t>
            </a:r>
          </a:p>
          <a:p xmlns:a="http://schemas.openxmlformats.org/drawingml/2006/main">
            <a:r>
              <a:t/>
            </a:r>
          </a:p>
          <a:p xmlns:a="http://schemas.openxmlformats.org/drawingml/2006/main">
            <a:r>
              <a:t>ON ARRIVAL</a:t>
            </a:r>
          </a:p>
          <a:p xmlns:a="http://schemas.openxmlformats.org/drawingml/2006/main">
            <a:r>
              <a:t>Here is the first sketching example from the notes. Plot the given point four comma three. A direction of negative seven comma one means seven left and one up.</a:t>
            </a:r>
          </a:p>
          <a:p xmlns:a="http://schemas.openxmlformats.org/drawingml/2006/main">
            <a:r>
              <a:t/>
            </a:r>
          </a:p>
          <a:p xmlns:a="http://schemas.openxmlformats.org/drawingml/2006/main">
            <a:r>
              <a:t>CLICK 1</a:t>
            </a:r>
          </a:p>
          <a:p xmlns:a="http://schemas.openxmlformats.org/drawingml/2006/main">
            <a:r>
              <a:t>Write the starting position plus t times that direction. That gives a vector equation for the required line.</a:t>
            </a:r>
          </a:p>
          <a:p xmlns:a="http://schemas.openxmlformats.org/drawingml/2006/main">
            <a:r>
              <a:t/>
            </a:r>
          </a:p>
          <a:p xmlns:a="http://schemas.openxmlformats.org/drawingml/2006/main">
            <a:r>
              <a:t>CLICK 2</a:t>
            </a:r>
          </a:p>
          <a:p xmlns:a="http://schemas.openxmlformats.org/drawingml/2006/main">
            <a:r>
              <a:t>At t equals one, move seven left and one up. This gives negative three comma four. Plot that second point and draw a straight line through both points, extending it in both directions.</a:t>
            </a:r>
          </a:p>
          <a:p xmlns:a="http://schemas.openxmlformats.org/drawingml/2006/main">
            <a:r>
              <a:t/>
            </a:r>
          </a:p>
          <a:p xmlns:a="http://schemas.openxmlformats.org/drawingml/2006/main">
            <a:r>
              <a:t>CLICK 3</a:t>
            </a:r>
          </a:p>
          <a:p xmlns:a="http://schemas.openxmlformats.org/drawingml/2006/main">
            <a:r>
              <a:t>At t equals negative one, move the opposite way. We reach eleven comma two. This point gives another check on the same line.</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P(4,3),\quad\vec m=[-7,1]</a:t>
            </a:r>
          </a:p>
          <a:p xmlns:a="http://schemas.openxmlformats.org/drawingml/2006/main">
            <a:r>
              <a:t>\vec r=[4,3]+t[-7,1]</a:t>
            </a:r>
          </a:p>
          <a:p xmlns:a="http://schemas.openxmlformats.org/drawingml/2006/main">
            <a:r>
              <a:t>t=1:\quad Q(-3,4)</a:t>
            </a:r>
          </a:p>
          <a:p xmlns:a="http://schemas.openxmlformats.org/drawingml/2006/main">
            <a:r>
              <a:t>t=-1:\quad R(11,2)</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Try this one. The known point is two comma negative one, and the direction is three comma two. Write the vector equation, then find the point when t is negative two. That negative two multiplies both direction components. Pause the video and show your working.</a:t>
            </a:r>
          </a:p>
          <a:p xmlns:a="http://schemas.openxmlformats.org/drawingml/2006/main">
            <a:r>
              <a:t/>
            </a:r>
          </a:p>
          <a:p xmlns:a="http://schemas.openxmlformats.org/drawingml/2006/main">
            <a:r>
              <a:t>POINTER OR DRAWING</a:t>
            </a:r>
          </a:p>
          <a:p xmlns:a="http://schemas.openxmlformats.org/drawingml/2006/main">
            <a:r>
              <a:t>Pause on this question. Advance only when viewers have had time to try it.</a:t>
            </a:r>
          </a:p>
          <a:p xmlns:a="http://schemas.openxmlformats.org/drawingml/2006/main">
            <a:r>
              <a:t/>
            </a:r>
          </a:p>
          <a:p xmlns:a="http://schemas.openxmlformats.org/drawingml/2006/main">
            <a:r>
              <a:t>EQUATIONS IN LATEX</a:t>
            </a:r>
          </a:p>
          <a:p xmlns:a="http://schemas.openxmlformats.org/drawingml/2006/main">
            <a:r>
              <a:t>P_0(2,-1),\qquad\vec m=[3,2]</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iPad PAGE 1</a:t>
            </a:r>
          </a:p>
          <a:p xmlns:a="http://schemas.openxmlformats.org/drawingml/2006/main">
            <a:r>
              <a:t>Foundations and equation forms</a:t>
            </a:r>
          </a:p>
          <a:p xmlns:a="http://schemas.openxmlformats.org/drawingml/2006/main">
            <a:r>
              <a:t/>
            </a:r>
          </a:p>
          <a:p xmlns:a="http://schemas.openxmlformats.org/drawingml/2006/main">
            <a:r>
              <a:t>TRANSITION TO IPAD</a:t>
            </a:r>
          </a:p>
          <a:p xmlns:a="http://schemas.openxmlformats.org/drawingml/2006/main">
            <a:r>
              <a:t>Let’s write the next example out together. Keep the question at the top and add one step at a time.</a:t>
            </a:r>
          </a:p>
          <a:p xmlns:a="http://schemas.openxmlformats.org/drawingml/2006/main">
            <a:r>
              <a:t/>
            </a:r>
          </a:p>
          <a:p xmlns:a="http://schemas.openxmlformats.org/drawingml/2006/main">
            <a:r>
              <a:t>WRITE 1</a:t>
            </a:r>
          </a:p>
          <a:p xmlns:a="http://schemas.openxmlformats.org/drawingml/2006/main">
            <a:r>
              <a:t>We need a starting point and a direction. Put the position vector of the given point first, then add t times the direction.</a:t>
            </a:r>
          </a:p>
          <a:p xmlns:a="http://schemas.openxmlformats.org/drawingml/2006/main">
            <a:r>
              <a:t/>
            </a:r>
          </a:p>
          <a:p xmlns:a="http://schemas.openxmlformats.org/drawingml/2006/main">
            <a:r>
              <a:t>WRITE 2</a:t>
            </a:r>
          </a:p>
          <a:p xmlns:a="http://schemas.openxmlformats.org/drawingml/2006/main">
            <a:r>
              <a:t>Replace t with negative two. Keep the direction in brackets so it is clear that negative two multiplies the whole vector.</a:t>
            </a:r>
          </a:p>
          <a:p xmlns:a="http://schemas.openxmlformats.org/drawingml/2006/main">
            <a:r>
              <a:t/>
            </a:r>
          </a:p>
          <a:p xmlns:a="http://schemas.openxmlformats.org/drawingml/2006/main">
            <a:r>
              <a:t>WRITE 3</a:t>
            </a:r>
          </a:p>
          <a:p xmlns:a="http://schemas.openxmlformats.org/drawingml/2006/main">
            <a:r>
              <a:t>Negative two times three is negative six. Negative two times two is negative four. That gives the movement from our starting point.</a:t>
            </a:r>
          </a:p>
          <a:p xmlns:a="http://schemas.openxmlformats.org/drawingml/2006/main">
            <a:r>
              <a:t/>
            </a:r>
          </a:p>
          <a:p xmlns:a="http://schemas.openxmlformats.org/drawingml/2006/main">
            <a:r>
              <a:t>WRITE 4</a:t>
            </a:r>
          </a:p>
          <a:p xmlns:a="http://schemas.openxmlformats.org/drawingml/2006/main">
            <a:r>
              <a:t>Now add matching components. Two minus six is negative four. Negative one minus four is negative five.</a:t>
            </a:r>
          </a:p>
          <a:p xmlns:a="http://schemas.openxmlformats.org/drawingml/2006/main">
            <a:r>
              <a:t/>
            </a:r>
          </a:p>
          <a:p xmlns:a="http://schemas.openxmlformats.org/drawingml/2006/main">
            <a:r>
              <a:t>WRITE 5</a:t>
            </a:r>
          </a:p>
          <a:p xmlns:a="http://schemas.openxmlformats.org/drawingml/2006/main">
            <a:r>
              <a:t>The question asks for a point, so use round brackets. Our point is negative four comma negative five. We started at the given point, scaled the direction, and added.</a:t>
            </a:r>
          </a:p>
          <a:p xmlns:a="http://schemas.openxmlformats.org/drawingml/2006/main">
            <a:r>
              <a:t/>
            </a:r>
          </a:p>
          <a:p xmlns:a="http://schemas.openxmlformats.org/drawingml/2006/main">
            <a:r>
              <a:t>POINTER OR DRAWING</a:t>
            </a:r>
          </a:p>
          <a:p xmlns:a="http://schemas.openxmlformats.org/drawingml/2006/main">
            <a:r>
              <a:t>Point to the multiplication by −2, then to each coordinate of the final point.</a:t>
            </a:r>
          </a:p>
          <a:p xmlns:a="http://schemas.openxmlformats.org/drawingml/2006/main">
            <a:r>
              <a:t/>
            </a:r>
          </a:p>
          <a:p xmlns:a="http://schemas.openxmlformats.org/drawingml/2006/main">
            <a:r>
              <a:t>RETURN TO POWERPOINT</a:t>
            </a:r>
          </a:p>
          <a:p xmlns:a="http://schemas.openxmlformats.org/drawingml/2006/main">
            <a:r>
              <a:t>Let’s return to the slides for the next idea.</a:t>
            </a:r>
          </a:p>
          <a:p xmlns:a="http://schemas.openxmlformats.org/drawingml/2006/main">
            <a:r>
              <a:t/>
            </a:r>
          </a:p>
          <a:p xmlns:a="http://schemas.openxmlformats.org/drawingml/2006/main">
            <a:r>
              <a:t>EQUATIONS IN LATEX</a:t>
            </a:r>
          </a:p>
          <a:p xmlns:a="http://schemas.openxmlformats.org/drawingml/2006/main">
            <a:r>
              <a:t>\vec r=[2,-1]+t[3,2]</a:t>
            </a:r>
          </a:p>
          <a:p xmlns:a="http://schemas.openxmlformats.org/drawingml/2006/main">
            <a:r>
              <a:t>t=-2:\quad\vec r=[2,-1]-2[3,2]</a:t>
            </a:r>
          </a:p>
          <a:p xmlns:a="http://schemas.openxmlformats.org/drawingml/2006/main">
            <a:r>
              <a:t>\vec r=[2,-1]+[-6,-4]</a:t>
            </a:r>
          </a:p>
          <a:p xmlns:a="http://schemas.openxmlformats.org/drawingml/2006/main">
            <a:r>
              <a:t>\vec r=[2-6,-1-4]=[-4,-5]</a:t>
            </a:r>
          </a:p>
          <a:p xmlns:a="http://schemas.openxmlformats.org/drawingml/2006/main">
            <a:r>
              <a:t>P(-4,-5)</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Vector form puts the coordinates together. Let's separate them into an equation for x and an equation for y.</a:t>
            </a:r>
          </a:p>
          <a:p xmlns:a="http://schemas.openxmlformats.org/drawingml/2006/main">
            <a:r>
              <a:t/>
            </a:r>
          </a:p>
          <a:p xmlns:a="http://schemas.openxmlformats.org/drawingml/2006/main">
            <a:r>
              <a:t>CLICK 1</a:t>
            </a:r>
          </a:p>
          <a:p xmlns:a="http://schemas.openxmlformats.org/drawingml/2006/main">
            <a:r>
              <a:t>Multiply t into the direction vector, then add matching components. The first component becomes x zero plus t m one. The second becomes y zero plus t m two.</a:t>
            </a:r>
          </a:p>
          <a:p xmlns:a="http://schemas.openxmlformats.org/drawingml/2006/main">
            <a:r>
              <a:t/>
            </a:r>
          </a:p>
          <a:p xmlns:a="http://schemas.openxmlformats.org/drawingml/2006/main">
            <a:r>
              <a:t>CLICK 2</a:t>
            </a:r>
          </a:p>
          <a:p xmlns:a="http://schemas.openxmlformats.org/drawingml/2006/main">
            <a:r>
              <a:t>Equal vectors have equal corresponding components. Read the first components to get the x equation, then read the second components to get the y equation. These are the parametric equations.</a:t>
            </a:r>
          </a:p>
          <a:p xmlns:a="http://schemas.openxmlformats.org/drawingml/2006/main">
            <a:r>
              <a:t/>
            </a:r>
          </a:p>
          <a:p xmlns:a="http://schemas.openxmlformats.org/drawingml/2006/main">
            <a:r>
              <a:t>CLICK 3</a:t>
            </a:r>
          </a:p>
          <a:p xmlns:a="http://schemas.openxmlformats.org/drawingml/2006/main">
            <a:r>
              <a:t>For our numerical example, x is five plus six t, and y is seven plus eleven t. Use the same t in both equations because the two coordinates belong to one point.</a:t>
            </a:r>
          </a:p>
          <a:p xmlns:a="http://schemas.openxmlformats.org/drawingml/2006/main">
            <a:r>
              <a:t/>
            </a:r>
          </a:p>
          <a:p xmlns:a="http://schemas.openxmlformats.org/drawingml/2006/main">
            <a:r>
              <a:t>POINTER OR DRAWING</a:t>
            </a:r>
          </a:p>
          <a:p xmlns:a="http://schemas.openxmlformats.org/drawingml/2006/main">
            <a:r>
              <a:t>Read down the first components, then the second components. Emphasise the shared t.</a:t>
            </a:r>
          </a:p>
          <a:p xmlns:a="http://schemas.openxmlformats.org/drawingml/2006/main">
            <a:r>
              <a:t/>
            </a:r>
          </a:p>
          <a:p xmlns:a="http://schemas.openxmlformats.org/drawingml/2006/main">
            <a:r>
              <a:t>EQUATIONS IN LATEX</a:t>
            </a:r>
          </a:p>
          <a:p xmlns:a="http://schemas.openxmlformats.org/drawingml/2006/main">
            <a:r>
              <a:t>[x,y]=[x_0,y_0]+t[m_1,m_2]</a:t>
            </a:r>
          </a:p>
          <a:p xmlns:a="http://schemas.openxmlformats.org/drawingml/2006/main">
            <a:r>
              <a:t>[x,y]=[x_0+tm_1,\ y_0+tm_2]</a:t>
            </a:r>
          </a:p>
          <a:p xmlns:a="http://schemas.openxmlformats.org/drawingml/2006/main">
            <a:r>
              <a:t>x=x_0+tm_1,\qquad y=y_0+tm_2</a:t>
            </a:r>
          </a:p>
          <a:p xmlns:a="http://schemas.openxmlformats.org/drawingml/2006/main">
            <a:r>
              <a:t>x=5+6t,\qquad y=7+11t</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We just separated the vector equation into x and y in two dimensions. In space, we do the same thing with a third component.</a:t>
            </a:r>
          </a:p>
          <a:p xmlns:a="http://schemas.openxmlformats.org/drawingml/2006/main">
            <a:r>
              <a:t/>
            </a:r>
          </a:p>
          <a:p xmlns:a="http://schemas.openxmlformats.org/drawingml/2006/main">
            <a:r>
              <a:t>CLICK 1</a:t>
            </a:r>
          </a:p>
          <a:p xmlns:a="http://schemas.openxmlformats.org/drawingml/2006/main">
            <a:r>
              <a:t>The first components give the x equation. X starts at x zero and changes by t times m one.</a:t>
            </a:r>
          </a:p>
          <a:p xmlns:a="http://schemas.openxmlformats.org/drawingml/2006/main">
            <a:r>
              <a:t/>
            </a:r>
          </a:p>
          <a:p xmlns:a="http://schemas.openxmlformats.org/drawingml/2006/main">
            <a:r>
              <a:t>CLICK 2</a:t>
            </a:r>
          </a:p>
          <a:p xmlns:a="http://schemas.openxmlformats.org/drawingml/2006/main">
            <a:r>
              <a:t>The second components give the y equation. Keep the very same parameter t.</a:t>
            </a:r>
          </a:p>
          <a:p xmlns:a="http://schemas.openxmlformats.org/drawingml/2006/main">
            <a:r>
              <a:t/>
            </a:r>
          </a:p>
          <a:p xmlns:a="http://schemas.openxmlformats.org/drawingml/2006/main">
            <a:r>
              <a:t>CLICK 3</a:t>
            </a:r>
          </a:p>
          <a:p xmlns:a="http://schemas.openxmlformats.org/drawingml/2006/main">
            <a:r>
              <a:t>The third components give the z equation. These three values are the coordinates of one point, so one t must work in all three equations.</a:t>
            </a:r>
          </a:p>
          <a:p xmlns:a="http://schemas.openxmlformats.org/drawingml/2006/main">
            <a:r>
              <a:t/>
            </a:r>
          </a:p>
          <a:p xmlns:a="http://schemas.openxmlformats.org/drawingml/2006/main">
            <a:r>
              <a:t>POINTER OR DRAWING</a:t>
            </a:r>
          </a:p>
          <a:p xmlns:a="http://schemas.openxmlformats.org/drawingml/2006/main">
            <a:r>
              <a:t>Read the coordinates vertically. Keep one shared parameter visible.</a:t>
            </a:r>
          </a:p>
          <a:p xmlns:a="http://schemas.openxmlformats.org/drawingml/2006/main">
            <a:r>
              <a:t/>
            </a:r>
          </a:p>
          <a:p xmlns:a="http://schemas.openxmlformats.org/drawingml/2006/main">
            <a:r>
              <a:t>EQUATIONS IN LATEX</a:t>
            </a:r>
          </a:p>
          <a:p xmlns:a="http://schemas.openxmlformats.org/drawingml/2006/main">
            <a:r>
              <a:t>[x,y,z]=[x_0,y_0,z_0]+t[m_1,m_2,m_3]</a:t>
            </a:r>
          </a:p>
          <a:p xmlns:a="http://schemas.openxmlformats.org/drawingml/2006/main">
            <a:r>
              <a:t>x=x_0+tm_1</a:t>
            </a:r>
          </a:p>
          <a:p xmlns:a="http://schemas.openxmlformats.org/drawingml/2006/main">
            <a:r>
              <a:t>y=y_0+tm_2</a:t>
            </a:r>
          </a:p>
          <a:p xmlns:a="http://schemas.openxmlformats.org/drawingml/2006/main">
            <a:r>
              <a:t>z=z_0+tm_3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We can also remove t from the notation. Begin with the two parametric equations and rearrange each one to make t the subject.</a:t>
            </a:r>
          </a:p>
          <a:p xmlns:a="http://schemas.openxmlformats.org/drawingml/2006/main">
            <a:r>
              <a:t/>
            </a:r>
          </a:p>
          <a:p xmlns:a="http://schemas.openxmlformats.org/drawingml/2006/main">
            <a:r>
              <a:t>CLICK 1</a:t>
            </a:r>
          </a:p>
          <a:p xmlns:a="http://schemas.openxmlformats.org/drawingml/2006/main">
            <a:r>
              <a:t>Subtract the starting coordinate from each side. This leaves t multiplied by the relevant direction component.</a:t>
            </a:r>
          </a:p>
          <a:p xmlns:a="http://schemas.openxmlformats.org/drawingml/2006/main">
            <a:r>
              <a:t/>
            </a:r>
          </a:p>
          <a:p xmlns:a="http://schemas.openxmlformats.org/drawingml/2006/main">
            <a:r>
              <a:t>CLICK 2</a:t>
            </a:r>
          </a:p>
          <a:p xmlns:a="http://schemas.openxmlformats.org/drawingml/2006/main">
            <a:r>
              <a:t>Divide by that direction component. Each fraction now equals t. This division requires a nonzero component.</a:t>
            </a:r>
          </a:p>
          <a:p xmlns:a="http://schemas.openxmlformats.org/drawingml/2006/main">
            <a:r>
              <a:t/>
            </a:r>
          </a:p>
          <a:p xmlns:a="http://schemas.openxmlformats.org/drawingml/2006/main">
            <a:r>
              <a:t>CLICK 3</a:t>
            </a:r>
          </a:p>
          <a:p xmlns:a="http://schemas.openxmlformats.org/drawingml/2006/main">
            <a:r>
              <a:t>Since both fractions equal the same t, they equal each other. That is symmetric form. It describes the same line as our vector and parametric equations.</a:t>
            </a:r>
          </a:p>
          <a:p xmlns:a="http://schemas.openxmlformats.org/drawingml/2006/main">
            <a:r>
              <a:t/>
            </a:r>
          </a:p>
          <a:p xmlns:a="http://schemas.openxmlformats.org/drawingml/2006/main">
            <a:r>
              <a:t>CLICK 4</a:t>
            </a:r>
          </a:p>
          <a:p xmlns:a="http://schemas.openxmlformats.org/drawingml/2006/main">
            <a:r>
              <a:t>For our example, use five and seven as the starting coordinates, and six and eleven as the direction components. Later, we'll see how to write the answer when a direction component is zero.</a:t>
            </a:r>
          </a:p>
          <a:p xmlns:a="http://schemas.openxmlformats.org/drawingml/2006/main">
            <a:r>
              <a:t/>
            </a:r>
          </a:p>
          <a:p xmlns:a="http://schemas.openxmlformats.org/drawingml/2006/main">
            <a:r>
              <a:t>POINTER OR DRAWING</a:t>
            </a:r>
          </a:p>
          <a:p xmlns:a="http://schemas.openxmlformats.org/drawingml/2006/main">
            <a:r>
              <a:t>Match each denominator to its direction component. State the zero-component condition.</a:t>
            </a:r>
          </a:p>
          <a:p xmlns:a="http://schemas.openxmlformats.org/drawingml/2006/main">
            <a:r>
              <a:t/>
            </a:r>
          </a:p>
          <a:p xmlns:a="http://schemas.openxmlformats.org/drawingml/2006/main">
            <a:r>
              <a:t>EQUATIONS IN LATEX</a:t>
            </a:r>
          </a:p>
          <a:p xmlns:a="http://schemas.openxmlformats.org/drawingml/2006/main">
            <a:r>
              <a:t>x=x_0+tm_1,\qquad y=y_0+tm_2</a:t>
            </a:r>
          </a:p>
          <a:p xmlns:a="http://schemas.openxmlformats.org/drawingml/2006/main">
            <a:r>
              <a:t>x-x_0=tm_1,\qquad y-y_0=tm_2</a:t>
            </a:r>
          </a:p>
          <a:p xmlns:a="http://schemas.openxmlformats.org/drawingml/2006/main">
            <a:r>
              <a:t>\frac{x-x_0}{m_1}=t,\qquad\frac{y-y_0}{m_2}=t</a:t>
            </a:r>
          </a:p>
          <a:p xmlns:a="http://schemas.openxmlformats.org/drawingml/2006/main">
            <a:r>
              <a:t>\frac{x-x_0}{m_1}=\frac{y-y_0}{m_2}</a:t>
            </a:r>
          </a:p>
          <a:p xmlns:a="http://schemas.openxmlformats.org/drawingml/2006/main">
            <a:r>
              <a:t>\frac{x-5}{6}=\frac{y-7}{11}</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For this example, x is one plus two t, y is three minus five t, and z is six plus four t. Let's write symmetric form.</a:t>
            </a:r>
          </a:p>
          <a:p xmlns:a="http://schemas.openxmlformats.org/drawingml/2006/main">
            <a:r>
              <a:t/>
            </a:r>
          </a:p>
          <a:p xmlns:a="http://schemas.openxmlformats.org/drawingml/2006/main">
            <a:r>
              <a:t>CLICK 1</a:t>
            </a:r>
          </a:p>
          <a:p xmlns:a="http://schemas.openxmlformats.org/drawingml/2006/main">
            <a:r>
              <a:t>Subtract the starting coordinate from each equation. Keep the negative five attached to the y direction.</a:t>
            </a:r>
          </a:p>
          <a:p xmlns:a="http://schemas.openxmlformats.org/drawingml/2006/main">
            <a:r>
              <a:t/>
            </a:r>
          </a:p>
          <a:p xmlns:a="http://schemas.openxmlformats.org/drawingml/2006/main">
            <a:r>
              <a:t>CLICK 2</a:t>
            </a:r>
          </a:p>
          <a:p xmlns:a="http://schemas.openxmlformats.org/drawingml/2006/main">
            <a:r>
              <a:t>Divide by the matching nonzero direction component. Now each fraction equals t.</a:t>
            </a:r>
          </a:p>
          <a:p xmlns:a="http://schemas.openxmlformats.org/drawingml/2006/main">
            <a:r>
              <a:t/>
            </a:r>
          </a:p>
          <a:p xmlns:a="http://schemas.openxmlformats.org/drawingml/2006/main">
            <a:r>
              <a:t>CLICK 3</a:t>
            </a:r>
          </a:p>
          <a:p xmlns:a="http://schemas.openxmlformats.org/drawingml/2006/main">
            <a:r>
              <a:t>Set the three fractions equal to one another. This is symmetric form in space. The negative denominator records that y decreases as t increases.</a:t>
            </a:r>
          </a:p>
          <a:p xmlns:a="http://schemas.openxmlformats.org/drawingml/2006/main">
            <a:r>
              <a:t/>
            </a:r>
          </a:p>
          <a:p xmlns:a="http://schemas.openxmlformats.org/drawingml/2006/main">
            <a:r>
              <a:t>POINTER OR DRAWING</a:t>
            </a:r>
          </a:p>
          <a:p xmlns:a="http://schemas.openxmlformats.org/drawingml/2006/main">
            <a:r>
              <a:t>Read the sign of every direction component before writing the denominators.</a:t>
            </a:r>
          </a:p>
          <a:p xmlns:a="http://schemas.openxmlformats.org/drawingml/2006/main">
            <a:r>
              <a:t/>
            </a:r>
          </a:p>
          <a:p xmlns:a="http://schemas.openxmlformats.org/drawingml/2006/main">
            <a:r>
              <a:t>EQUATIONS IN LATEX</a:t>
            </a:r>
          </a:p>
          <a:p xmlns:a="http://schemas.openxmlformats.org/drawingml/2006/main">
            <a:r>
              <a:t>x=1+2t,\quad y=3-5t,\quad z=6+4t</a:t>
            </a:r>
          </a:p>
          <a:p xmlns:a="http://schemas.openxmlformats.org/drawingml/2006/main">
            <a:r>
              <a:t>x-1=2t,\quad y-3=-5t,\quad z-6=4t</a:t>
            </a:r>
          </a:p>
          <a:p xmlns:a="http://schemas.openxmlformats.org/drawingml/2006/main">
            <a:r>
              <a:t>t=\frac{x-1}{2},\quad t=\frac{y-3}{-5},\quad t=\frac{z-6}{4}</a:t>
            </a:r>
          </a:p>
          <a:p xmlns:a="http://schemas.openxmlformats.org/drawingml/2006/main">
            <a:r>
              <a:t>\frac{x-1}{2}=\frac{y-3}{-5}=\frac{z-6}{4}</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iPad PAGE 2</a:t>
            </a:r>
          </a:p>
          <a:p xmlns:a="http://schemas.openxmlformats.org/drawingml/2006/main">
            <a:r>
              <a:t>Foundations and equation forms</a:t>
            </a:r>
          </a:p>
          <a:p xmlns:a="http://schemas.openxmlformats.org/drawingml/2006/main">
            <a:r>
              <a:t/>
            </a:r>
          </a:p>
          <a:p xmlns:a="http://schemas.openxmlformats.org/drawingml/2006/main">
            <a:r>
              <a:t>TRANSITION TO IPAD</a:t>
            </a:r>
          </a:p>
          <a:p xmlns:a="http://schemas.openxmlformats.org/drawingml/2006/main">
            <a:r>
              <a:t>Let’s write the next example out together. Keep the question at the top and add one step at a time.</a:t>
            </a:r>
          </a:p>
          <a:p xmlns:a="http://schemas.openxmlformats.org/drawingml/2006/main">
            <a:r>
              <a:t/>
            </a:r>
          </a:p>
          <a:p xmlns:a="http://schemas.openxmlformats.org/drawingml/2006/main">
            <a:r>
              <a:t>WRITE 1</a:t>
            </a:r>
          </a:p>
          <a:p xmlns:a="http://schemas.openxmlformats.org/drawingml/2006/main">
            <a:r>
              <a:t>Now suppose we are given two points instead of a direction vector. We have A at one comma four and B at three comma one. We can use A as our starting point.</a:t>
            </a:r>
          </a:p>
          <a:p xmlns:a="http://schemas.openxmlformats.org/drawingml/2006/main">
            <a:r>
              <a:t/>
            </a:r>
          </a:p>
          <a:p xmlns:a="http://schemas.openxmlformats.org/drawingml/2006/main">
            <a:r>
              <a:t>WRITE 2</a:t>
            </a:r>
          </a:p>
          <a:p xmlns:a="http://schemas.openxmlformats.org/drawingml/2006/main">
            <a:r>
              <a:t>The movement from A to B gives a direction along the line. Subtract the starting position from the ending position, so use B minus A.</a:t>
            </a:r>
          </a:p>
          <a:p xmlns:a="http://schemas.openxmlformats.org/drawingml/2006/main">
            <a:r>
              <a:t/>
            </a:r>
          </a:p>
          <a:p xmlns:a="http://schemas.openxmlformats.org/drawingml/2006/main">
            <a:r>
              <a:t>WRITE 3</a:t>
            </a:r>
          </a:p>
          <a:p xmlns:a="http://schemas.openxmlformats.org/drawingml/2006/main">
            <a:r>
              <a:t>Three minus one gives two. One minus four gives negative three. Our direction is two comma negative three: two to the right and three down.</a:t>
            </a:r>
          </a:p>
          <a:p xmlns:a="http://schemas.openxmlformats.org/drawingml/2006/main">
            <a:r>
              <a:t/>
            </a:r>
          </a:p>
          <a:p xmlns:a="http://schemas.openxmlformats.org/drawingml/2006/main">
            <a:r>
              <a:t>WRITE 4</a:t>
            </a:r>
          </a:p>
          <a:p xmlns:a="http://schemas.openxmlformats.org/drawingml/2006/main">
            <a:r>
              <a:t>Put A and that direction into vector form. As a check, set t to one. One full movement from A to B gives three comma one, which is B.</a:t>
            </a:r>
          </a:p>
          <a:p xmlns:a="http://schemas.openxmlformats.org/drawingml/2006/main">
            <a:r>
              <a:t/>
            </a:r>
          </a:p>
          <a:p xmlns:a="http://schemas.openxmlformats.org/drawingml/2006/main">
            <a:r>
              <a:t>POINTER OR DRAWING</a:t>
            </a:r>
          </a:p>
          <a:p xmlns:a="http://schemas.openxmlformats.org/drawingml/2006/main">
            <a:r>
              <a:t>Trace O to A, A to B, and O to B. Keep the negative sign in [2, −3].</a:t>
            </a:r>
          </a:p>
          <a:p xmlns:a="http://schemas.openxmlformats.org/drawingml/2006/main">
            <a:r>
              <a:t/>
            </a:r>
          </a:p>
          <a:p xmlns:a="http://schemas.openxmlformats.org/drawingml/2006/main">
            <a:r>
              <a:t>RETURN TO POWERPOINT</a:t>
            </a:r>
          </a:p>
          <a:p xmlns:a="http://schemas.openxmlformats.org/drawingml/2006/main">
            <a:r>
              <a:t>Let’s return to the slides for the next idea.</a:t>
            </a:r>
          </a:p>
          <a:p xmlns:a="http://schemas.openxmlformats.org/drawingml/2006/main">
            <a:r>
              <a:t/>
            </a:r>
          </a:p>
          <a:p xmlns:a="http://schemas.openxmlformats.org/drawingml/2006/main">
            <a:r>
              <a:t>EQUATIONS IN LATEX</a:t>
            </a:r>
          </a:p>
          <a:p xmlns:a="http://schemas.openxmlformats.org/drawingml/2006/main">
            <a:r>
              <a:t>A(1,4),\qquad B(3,1)</a:t>
            </a:r>
          </a:p>
          <a:p xmlns:a="http://schemas.openxmlformats.org/drawingml/2006/main">
            <a:r>
              <a:t>\vec m=\overrightarrow{AB}=\vec{OB}-\vec{OA}</a:t>
            </a:r>
          </a:p>
          <a:p xmlns:a="http://schemas.openxmlformats.org/drawingml/2006/main">
            <a:r>
              <a:t>\vec m=[3-1,1-4]=[2,-3]</a:t>
            </a:r>
          </a:p>
          <a:p xmlns:a="http://schemas.openxmlformats.org/drawingml/2006/main">
            <a:r>
              <a:t>\vec r=[1,4]+t[2,-3]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PowerPoint</a:t>
            </a:r>
          </a:p>
          <a:p xmlns:a="http://schemas.openxmlformats.org/drawingml/2006/main">
            <a:r>
              <a:t>Section 8.1 Vector and parametric lines</a:t>
            </a:r>
          </a:p>
          <a:p xmlns:a="http://schemas.openxmlformats.org/drawingml/2006/main">
            <a:r>
              <a:t/>
            </a:r>
          </a:p>
          <a:p xmlns:a="http://schemas.openxmlformats.org/drawingml/2006/main">
            <a:r>
              <a:t>ON ARRIVAL</a:t>
            </a:r>
          </a:p>
          <a:p xmlns:a="http://schemas.openxmlformats.org/drawingml/2006/main">
            <a:r>
              <a:t>The two points contain fractions. We still find a direction using the ending point minus the starting point.</a:t>
            </a:r>
          </a:p>
          <a:p xmlns:a="http://schemas.openxmlformats.org/drawingml/2006/main">
            <a:r>
              <a:t/>
            </a:r>
          </a:p>
          <a:p xmlns:a="http://schemas.openxmlformats.org/drawingml/2006/main">
            <a:r>
              <a:t>CLICK 1</a:t>
            </a:r>
          </a:p>
          <a:p xmlns:a="http://schemas.openxmlformats.org/drawingml/2006/main">
            <a:r>
              <a:t>Three quarters minus one half is one quarter. One half minus negative three is seven halves. This fractional vector is already a valid direction.</a:t>
            </a:r>
          </a:p>
          <a:p xmlns:a="http://schemas.openxmlformats.org/drawingml/2006/main">
            <a:r>
              <a:t/>
            </a:r>
          </a:p>
          <a:p xmlns:a="http://schemas.openxmlformats.org/drawingml/2006/main">
            <a:r>
              <a:t>CLICK 2</a:t>
            </a:r>
          </a:p>
          <a:p xmlns:a="http://schemas.openxmlformats.org/drawingml/2006/main">
            <a:r>
              <a:t>The question requests integer components, so multiply the whole direction by four. That gives one comma fourteen. Scaling the direction by a nonzero number preserves its parallel direction.</a:t>
            </a:r>
          </a:p>
          <a:p xmlns:a="http://schemas.openxmlformats.org/drawingml/2006/main">
            <a:r>
              <a:t/>
            </a:r>
          </a:p>
          <a:p xmlns:a="http://schemas.openxmlformats.org/drawingml/2006/main">
            <a:r>
              <a:t>CLICK 3</a:t>
            </a:r>
          </a:p>
          <a:p xmlns:a="http://schemas.openxmlformats.org/drawingml/2006/main">
            <a:r>
              <a:t>Use A as the starting point and the integer direction in the vector equation. B is reached at t equals one quarter, because our new direction is four times the original displacement.</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A(\tfrac12,-3),\qquad B(\tfrac34,\tfrac12)</a:t>
            </a:r>
          </a:p>
          <a:p xmlns:a="http://schemas.openxmlformats.org/drawingml/2006/main">
            <a:r>
              <a:t>\overrightarrow{AB}=[\tfrac34-\tfrac12,\tfrac12-(-3)]=[\tfrac14,\tfrac72]</a:t>
            </a:r>
          </a:p>
          <a:p xmlns:a="http://schemas.openxmlformats.org/drawingml/2006/main">
            <a:r>
              <a:t>4\overrightarrow{AB}=[1,14]</a:t>
            </a:r>
          </a:p>
          <a:p xmlns:a="http://schemas.openxmlformats.org/drawingml/2006/main">
            <a:r>
              <a:t>\vec r=[\tfrac12,-3]+t[1,14]</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iPad PAGE 3</a:t>
            </a:r>
          </a:p>
          <a:p xmlns:a="http://schemas.openxmlformats.org/drawingml/2006/main">
            <a:r>
              <a:t>Foundations and equation forms</a:t>
            </a:r>
          </a:p>
          <a:p xmlns:a="http://schemas.openxmlformats.org/drawingml/2006/main">
            <a:r>
              <a:t/>
            </a:r>
          </a:p>
          <a:p xmlns:a="http://schemas.openxmlformats.org/drawingml/2006/main">
            <a:r>
              <a:t>TRANSITION TO IPAD</a:t>
            </a:r>
          </a:p>
          <a:p xmlns:a="http://schemas.openxmlformats.org/drawingml/2006/main">
            <a:r>
              <a:t>Let’s write the next example out together. Keep the question at the top and add one step at a time.</a:t>
            </a:r>
          </a:p>
          <a:p xmlns:a="http://schemas.openxmlformats.org/drawingml/2006/main">
            <a:r>
              <a:t/>
            </a:r>
          </a:p>
          <a:p xmlns:a="http://schemas.openxmlformats.org/drawingml/2006/main">
            <a:r>
              <a:t>WRITE 1</a:t>
            </a:r>
          </a:p>
          <a:p xmlns:a="http://schemas.openxmlformats.org/drawingml/2006/main">
            <a:r>
              <a:t>Here is our equation through A and B. It uses A as the starting point and A B as the direction.</a:t>
            </a:r>
          </a:p>
          <a:p xmlns:a="http://schemas.openxmlformats.org/drawingml/2006/main">
            <a:r>
              <a:t/>
            </a:r>
          </a:p>
          <a:p xmlns:a="http://schemas.openxmlformats.org/drawingml/2006/main">
            <a:r>
              <a:t>WRITE 2</a:t>
            </a:r>
          </a:p>
          <a:p xmlns:a="http://schemas.openxmlformats.org/drawingml/2006/main">
            <a:r>
              <a:t>B also lies on the line, so we can start at B instead. This equation reaches A when u is negative one. A different starting point does not change the line if the direction stays parallel.</a:t>
            </a:r>
          </a:p>
          <a:p xmlns:a="http://schemas.openxmlformats.org/drawingml/2006/main">
            <a:r>
              <a:t/>
            </a:r>
          </a:p>
          <a:p xmlns:a="http://schemas.openxmlformats.org/drawingml/2006/main">
            <a:r>
              <a:t>WRITE 3</a:t>
            </a:r>
          </a:p>
          <a:p xmlns:a="http://schemas.openxmlformats.org/drawingml/2006/main">
            <a:r>
              <a:t>We can reverse the direction too. The new direction is negative one times the old direction. A line extends both ways, so this still reaches the same set of points.</a:t>
            </a:r>
          </a:p>
          <a:p xmlns:a="http://schemas.openxmlformats.org/drawingml/2006/main">
            <a:r>
              <a:t/>
            </a:r>
          </a:p>
          <a:p xmlns:a="http://schemas.openxmlformats.org/drawingml/2006/main">
            <a:r>
              <a:t>WRITE 4</a:t>
            </a:r>
          </a:p>
          <a:p xmlns:a="http://schemas.openxmlformats.org/drawingml/2006/main">
            <a:r>
              <a:t>Or double the direction. Each parameter step is now twice as large, but the line itself stays the same. The parameter reaching a particular point can change.</a:t>
            </a:r>
          </a:p>
          <a:p xmlns:a="http://schemas.openxmlformats.org/drawingml/2006/main">
            <a:r>
              <a:t/>
            </a:r>
          </a:p>
          <a:p xmlns:a="http://schemas.openxmlformats.org/drawingml/2006/main">
            <a:r>
              <a:t>WRITE 5</a:t>
            </a:r>
          </a:p>
          <a:p xmlns:a="http://schemas.openxmlformats.org/drawingml/2006/main">
            <a:r>
              <a:t>In general, choose any starting point on the line and any nonzero multiple of its direction. There are infinitely many choices. These are infinitely many equations describing one line.</a:t>
            </a:r>
          </a:p>
          <a:p xmlns:a="http://schemas.openxmlformats.org/drawingml/2006/main">
            <a:r>
              <a:t/>
            </a:r>
          </a:p>
          <a:p xmlns:a="http://schemas.openxmlformats.org/drawingml/2006/main">
            <a:r>
              <a:t>POINTER OR DRAWING</a:t>
            </a:r>
          </a:p>
          <a:p xmlns:a="http://schemas.openxmlformats.org/drawingml/2006/main">
            <a:r>
              <a:t>Use the A and B graph. Keep the same geometric line throughout. State that k cannot be zero.</a:t>
            </a:r>
          </a:p>
          <a:p xmlns:a="http://schemas.openxmlformats.org/drawingml/2006/main">
            <a:r>
              <a:t/>
            </a:r>
          </a:p>
          <a:p xmlns:a="http://schemas.openxmlformats.org/drawingml/2006/main">
            <a:r>
              <a:t>EQUATIONS IN LATEX</a:t>
            </a:r>
          </a:p>
          <a:p xmlns:a="http://schemas.openxmlformats.org/drawingml/2006/main">
            <a:r>
              <a:t>\vec r=[1,4]+t[2,-3]</a:t>
            </a:r>
          </a:p>
          <a:p xmlns:a="http://schemas.openxmlformats.org/drawingml/2006/main">
            <a:r>
              <a:t>\vec r=[3,1]+u[2,-3]</a:t>
            </a:r>
          </a:p>
          <a:p xmlns:a="http://schemas.openxmlformats.org/drawingml/2006/main">
            <a:r>
              <a:t>\vec r=[1,4]+v[-2,3]</a:t>
            </a:r>
          </a:p>
          <a:p xmlns:a="http://schemas.openxmlformats.org/drawingml/2006/main">
            <a:r>
              <a:t>\vec r=[1,4]+w[4,-6]</a:t>
            </a:r>
          </a:p>
          <a:p xmlns:a="http://schemas.openxmlformats.org/drawingml/2006/main">
            <a:r>
              <a:t>\vec r=([1,4]+a[2,-3])+s\bigl(k[2,-3]\bigr),\quad a\in\mathbb R,\ k\ne0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iPad PAGE 4</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Let's find three additional points. Use x equals one plus two t, and y equals four minus three t. Zero already gives A, and one already gives B, so choose other values.</a:t>
            </a:r>
          </a:p>
          <a:p xmlns:a="http://schemas.openxmlformats.org/drawingml/2006/main">
            <a:r>
              <a:t/>
            </a:r>
          </a:p>
          <a:p xmlns:a="http://schemas.openxmlformats.org/drawingml/2006/main">
            <a:r>
              <a:t>WRITE 2</a:t>
            </a:r>
          </a:p>
          <a:p xmlns:a="http://schemas.openxmlformats.org/drawingml/2006/main">
            <a:r>
              <a:t>At negative one, the point is negative one comma seven. At two, it is five comma negative two. At three, it is seven comma negative five. Plot these points. They all lie on the same straight line because we used one parameter consistently.</a:t>
            </a:r>
          </a:p>
          <a:p xmlns:a="http://schemas.openxmlformats.org/drawingml/2006/main">
            <a:r>
              <a:t/>
            </a:r>
          </a:p>
          <a:p xmlns:a="http://schemas.openxmlformats.org/drawingml/2006/main">
            <a:r>
              <a:t>POINTER OR DRAWING</a:t>
            </a:r>
          </a:p>
          <a:p xmlns:a="http://schemas.openxmlformats.org/drawingml/2006/main">
            <a:r>
              <a:t>Read the table, then point to the corresponding plotted points.</a:t>
            </a:r>
          </a:p>
          <a:p xmlns:a="http://schemas.openxmlformats.org/drawingml/2006/main">
            <a:r>
              <a:t/>
            </a:r>
          </a:p>
          <a:p xmlns:a="http://schemas.openxmlformats.org/drawingml/2006/main">
            <a:r>
              <a:t>EQUATIONS IN LATEX</a:t>
            </a:r>
          </a:p>
          <a:p xmlns:a="http://schemas.openxmlformats.org/drawingml/2006/main">
            <a:r>
              <a:t>x=1+2t,\qquad y=4-3t</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iPad PAGE 5</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Does Q, two comma three, lie on this line? Its coordinates are already fixed, so we need one value of t that produces both of them. Work out the t required by x, then compare it with the t required by y. Pause and try it.</a:t>
            </a:r>
          </a:p>
          <a:p xmlns:a="http://schemas.openxmlformats.org/drawingml/2006/main">
            <a:r>
              <a:t/>
            </a:r>
          </a:p>
          <a:p xmlns:a="http://schemas.openxmlformats.org/drawingml/2006/main">
            <a:r>
              <a:t>POINTER OR DRAWING</a:t>
            </a:r>
          </a:p>
          <a:p xmlns:a="http://schemas.openxmlformats.org/drawingml/2006/main">
            <a:r>
              <a:t>Leave the equation visible and pause. Do not reveal the answer until the next slide.</a:t>
            </a:r>
          </a:p>
          <a:p xmlns:a="http://schemas.openxmlformats.org/drawingml/2006/main">
            <a:r>
              <a:t/>
            </a:r>
          </a:p>
          <a:p xmlns:a="http://schemas.openxmlformats.org/drawingml/2006/main">
            <a:r>
              <a:t>EQUATIONS IN LATEX</a:t>
            </a:r>
          </a:p>
          <a:p xmlns:a="http://schemas.openxmlformats.org/drawingml/2006/main">
            <a:r>
              <a:t>\vec r=[1,4]+t[2,-3]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 iPad PAGE 6</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Write the coordinate equations separately. We are checking whether one t can make x equal two and y equal three at the same time.</a:t>
            </a:r>
          </a:p>
          <a:p xmlns:a="http://schemas.openxmlformats.org/drawingml/2006/main">
            <a:r>
              <a:t/>
            </a:r>
          </a:p>
          <a:p xmlns:a="http://schemas.openxmlformats.org/drawingml/2006/main">
            <a:r>
              <a:t>WRITE 2</a:t>
            </a:r>
          </a:p>
          <a:p xmlns:a="http://schemas.openxmlformats.org/drawingml/2006/main">
            <a:r>
              <a:t>Start with x. Two equals one plus two t. Subtract one and divide by two. This requires t to be one-half.</a:t>
            </a:r>
          </a:p>
          <a:p xmlns:a="http://schemas.openxmlformats.org/drawingml/2006/main">
            <a:r>
              <a:t/>
            </a:r>
          </a:p>
          <a:p xmlns:a="http://schemas.openxmlformats.org/drawingml/2006/main">
            <a:r>
              <a:t>WRITE 3</a:t>
            </a:r>
          </a:p>
          <a:p xmlns:a="http://schemas.openxmlformats.org/drawingml/2006/main">
            <a:r>
              <a:t>Now use y. Three equals four minus three t. Subtract four and divide by negative three. This requires t to be one-third.</a:t>
            </a:r>
          </a:p>
          <a:p xmlns:a="http://schemas.openxmlformats.org/drawingml/2006/main">
            <a:r>
              <a:t/>
            </a:r>
          </a:p>
          <a:p xmlns:a="http://schemas.openxmlformats.org/drawingml/2006/main">
            <a:r>
              <a:t>WRITE 4</a:t>
            </a:r>
          </a:p>
          <a:p xmlns:a="http://schemas.openxmlformats.org/drawingml/2006/main">
            <a:r>
              <a:t>Those values disagree. We can get the required x, or the required y, but not together at one parameter value. So Q is not on the line.</a:t>
            </a:r>
          </a:p>
          <a:p xmlns:a="http://schemas.openxmlformats.org/drawingml/2006/main">
            <a:r>
              <a:t/>
            </a:r>
          </a:p>
          <a:p xmlns:a="http://schemas.openxmlformats.org/drawingml/2006/main">
            <a:r>
              <a:t>POINTER OR DRAWING</a:t>
            </a:r>
          </a:p>
          <a:p xmlns:a="http://schemas.openxmlformats.org/drawingml/2006/main">
            <a:r>
              <a:t>Compare the two t values directly. State that one common value is required.</a:t>
            </a:r>
          </a:p>
          <a:p xmlns:a="http://schemas.openxmlformats.org/drawingml/2006/main">
            <a:r>
              <a:t/>
            </a:r>
          </a:p>
          <a:p xmlns:a="http://schemas.openxmlformats.org/drawingml/2006/main">
            <a:r>
              <a:t>EQUATIONS IN LATEX</a:t>
            </a:r>
          </a:p>
          <a:p xmlns:a="http://schemas.openxmlformats.org/drawingml/2006/main">
            <a:r>
              <a:t>x=1+2t,\qquad y=4-3t</a:t>
            </a:r>
          </a:p>
          <a:p xmlns:a="http://schemas.openxmlformats.org/drawingml/2006/main">
            <a:r>
              <a:t>x=2:\quad2=1+2t\quad\Longrightarrow\quad t=\frac12</a:t>
            </a:r>
          </a:p>
          <a:p xmlns:a="http://schemas.openxmlformats.org/drawingml/2006/main">
            <a:r>
              <a:t>y=3:\quad3=4-3t\quad\Longrightarrow\quad t=\frac13</a:t>
            </a:r>
          </a:p>
          <a:p xmlns:a="http://schemas.openxmlformats.org/drawingml/2006/main">
            <a:r>
              <a:t>\frac12\ne\frac13\quad\Longrightarrow\quad Q(2,3)\notin L</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 iPad PAGE 7</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Let’s convert the line through A and B between forms. Start with the vector equation. We already know its point and direction.</a:t>
            </a:r>
          </a:p>
          <a:p xmlns:a="http://schemas.openxmlformats.org/drawingml/2006/main">
            <a:r>
              <a:t/>
            </a:r>
          </a:p>
          <a:p xmlns:a="http://schemas.openxmlformats.org/drawingml/2006/main">
            <a:r>
              <a:t>WRITE 2</a:t>
            </a:r>
          </a:p>
          <a:p xmlns:a="http://schemas.openxmlformats.org/drawingml/2006/main">
            <a:r>
              <a:t>Read the first and second components separately. That gives the parametric equations.</a:t>
            </a:r>
          </a:p>
          <a:p xmlns:a="http://schemas.openxmlformats.org/drawingml/2006/main">
            <a:r>
              <a:t/>
            </a:r>
          </a:p>
          <a:p xmlns:a="http://schemas.openxmlformats.org/drawingml/2006/main">
            <a:r>
              <a:t>WRITE 3</a:t>
            </a:r>
          </a:p>
          <a:p xmlns:a="http://schemas.openxmlformats.org/drawingml/2006/main">
            <a:r>
              <a:t>Make t the subject in each equation. Subtract the starting coordinate, then divide by the nonzero direction component.</a:t>
            </a:r>
          </a:p>
          <a:p xmlns:a="http://schemas.openxmlformats.org/drawingml/2006/main">
            <a:r>
              <a:t/>
            </a:r>
          </a:p>
          <a:p xmlns:a="http://schemas.openxmlformats.org/drawingml/2006/main">
            <a:r>
              <a:t>WRITE 4</a:t>
            </a:r>
          </a:p>
          <a:p xmlns:a="http://schemas.openxmlformats.org/drawingml/2006/main">
            <a:r>
              <a:t>Both expressions equal t, so set them equal to each other. That gives symmetric form. The minus sign in the y denominator belongs to the direction.</a:t>
            </a:r>
          </a:p>
          <a:p xmlns:a="http://schemas.openxmlformats.org/drawingml/2006/main">
            <a:r>
              <a:t/>
            </a:r>
          </a:p>
          <a:p xmlns:a="http://schemas.openxmlformats.org/drawingml/2006/main">
            <a:r>
              <a:t>POINTER OR DRAWING</a:t>
            </a:r>
          </a:p>
          <a:p xmlns:a="http://schemas.openxmlformats.org/drawingml/2006/main">
            <a:r>
              <a:t>Keep the vector equation at the top and write each equivalent form underneath.</a:t>
            </a:r>
          </a:p>
          <a:p xmlns:a="http://schemas.openxmlformats.org/drawingml/2006/main">
            <a:r>
              <a:t/>
            </a:r>
          </a:p>
          <a:p xmlns:a="http://schemas.openxmlformats.org/drawingml/2006/main">
            <a:r>
              <a:t>EQUATIONS IN LATEX</a:t>
            </a:r>
          </a:p>
          <a:p xmlns:a="http://schemas.openxmlformats.org/drawingml/2006/main">
            <a:r>
              <a:t>\vec r=[1,4]+t[2,-3]</a:t>
            </a:r>
          </a:p>
          <a:p xmlns:a="http://schemas.openxmlformats.org/drawingml/2006/main">
            <a:r>
              <a:t>x=1+2t,\qquad y=4-3t</a:t>
            </a:r>
          </a:p>
          <a:p xmlns:a="http://schemas.openxmlformats.org/drawingml/2006/main">
            <a:r>
              <a:t>\frac{x-1}{2}=t,\qquad\frac{y-4}{-3}=t</a:t>
            </a:r>
          </a:p>
          <a:p xmlns:a="http://schemas.openxmlformats.org/drawingml/2006/main">
            <a:r>
              <a:t>\frac{x-1}{2}=\frac{y-4}{-3}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 iPad PAGE 8</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Now work backwards from symmetric form. We want to recover the coordinate equations and then vector form.</a:t>
            </a:r>
          </a:p>
          <a:p xmlns:a="http://schemas.openxmlformats.org/drawingml/2006/main">
            <a:r>
              <a:t/>
            </a:r>
          </a:p>
          <a:p xmlns:a="http://schemas.openxmlformats.org/drawingml/2006/main">
            <a:r>
              <a:t>WRITE 2</a:t>
            </a:r>
          </a:p>
          <a:p xmlns:a="http://schemas.openxmlformats.org/drawingml/2006/main">
            <a:r>
              <a:t>Call the common value s. Both fractions must equal that same value. The letter is just the name of our parameter.</a:t>
            </a:r>
          </a:p>
          <a:p xmlns:a="http://schemas.openxmlformats.org/drawingml/2006/main">
            <a:r>
              <a:t/>
            </a:r>
          </a:p>
          <a:p xmlns:a="http://schemas.openxmlformats.org/drawingml/2006/main">
            <a:r>
              <a:t>WRITE 3</a:t>
            </a:r>
          </a:p>
          <a:p xmlns:a="http://schemas.openxmlformats.org/drawingml/2006/main">
            <a:r>
              <a:t>Multiply by each denominator and add the starting coordinate. We get x equals one plus two s, and y equals four minus three s.</a:t>
            </a:r>
          </a:p>
          <a:p xmlns:a="http://schemas.openxmlformats.org/drawingml/2006/main">
            <a:r>
              <a:t/>
            </a:r>
          </a:p>
          <a:p xmlns:a="http://schemas.openxmlformats.org/drawingml/2006/main">
            <a:r>
              <a:t>WRITE 4</a:t>
            </a:r>
          </a:p>
          <a:p xmlns:a="http://schemas.openxmlformats.org/drawingml/2006/main">
            <a:r>
              <a:t>Group the constant components into a starting vector and the coefficients of s into the direction. We recover the same vector equation, with a different parameter name.</a:t>
            </a:r>
          </a:p>
          <a:p xmlns:a="http://schemas.openxmlformats.org/drawingml/2006/main">
            <a:r>
              <a:t/>
            </a:r>
          </a:p>
          <a:p xmlns:a="http://schemas.openxmlformats.org/drawingml/2006/main">
            <a:r>
              <a:t>POINTER OR DRAWING</a:t>
            </a:r>
          </a:p>
          <a:p xmlns:a="http://schemas.openxmlformats.org/drawingml/2006/main">
            <a:r>
              <a:t>Match the numerators to the starting coordinates and the denominators to the direction components.</a:t>
            </a:r>
          </a:p>
          <a:p xmlns:a="http://schemas.openxmlformats.org/drawingml/2006/main">
            <a:r>
              <a:t/>
            </a:r>
          </a:p>
          <a:p xmlns:a="http://schemas.openxmlformats.org/drawingml/2006/main">
            <a:r>
              <a:t>EQUATIONS IN LATEX</a:t>
            </a:r>
          </a:p>
          <a:p xmlns:a="http://schemas.openxmlformats.org/drawingml/2006/main">
            <a:r>
              <a:t>\frac{x-1}{2}=\frac{y-4}{-3}</a:t>
            </a:r>
          </a:p>
          <a:p xmlns:a="http://schemas.openxmlformats.org/drawingml/2006/main">
            <a:r>
              <a:t>\frac{x-1}{2}=s,\qquad\frac{y-4}{-3}=s</a:t>
            </a:r>
          </a:p>
          <a:p xmlns:a="http://schemas.openxmlformats.org/drawingml/2006/main">
            <a:r>
              <a:t>x=1+2s,\qquad y=4-3s</a:t>
            </a:r>
          </a:p>
          <a:p xmlns:a="http://schemas.openxmlformats.org/drawingml/2006/main">
            <a:r>
              <a:t>\vec r=[1,4]+s[2,-3]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 iPad PAGE 9</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These two points have the same x-coordinate. Let's see what that does to the direction vector. Subtract P from Q.</a:t>
            </a:r>
          </a:p>
          <a:p xmlns:a="http://schemas.openxmlformats.org/drawingml/2006/main">
            <a:r>
              <a:t/>
            </a:r>
          </a:p>
          <a:p xmlns:a="http://schemas.openxmlformats.org/drawingml/2006/main">
            <a:r>
              <a:t>WRITE 2</a:t>
            </a:r>
          </a:p>
          <a:p xmlns:a="http://schemas.openxmlformats.org/drawingml/2006/main">
            <a:r>
              <a:t>The direction is zero comma one comma negative six. The zero x-component comes from subtracting equal x-coordinates.</a:t>
            </a:r>
          </a:p>
          <a:p xmlns:a="http://schemas.openxmlformats.org/drawingml/2006/main">
            <a:r>
              <a:t/>
            </a:r>
          </a:p>
          <a:p xmlns:a="http://schemas.openxmlformats.org/drawingml/2006/main">
            <a:r>
              <a:t>WRITE 3</a:t>
            </a:r>
          </a:p>
          <a:p xmlns:a="http://schemas.openxmlformats.org/drawingml/2006/main">
            <a:r>
              <a:t>Use P as the starting point and add t times that direction.</a:t>
            </a:r>
          </a:p>
          <a:p xmlns:a="http://schemas.openxmlformats.org/drawingml/2006/main">
            <a:r>
              <a:t/>
            </a:r>
          </a:p>
          <a:p xmlns:a="http://schemas.openxmlformats.org/drawingml/2006/main">
            <a:r>
              <a:t>WRITE 4</a:t>
            </a:r>
          </a:p>
          <a:p xmlns:a="http://schemas.openxmlformats.org/drawingml/2006/main">
            <a:r>
              <a:t>Read the coordinate equations. X stays at negative two. Y and z change with t. A fixed coordinate still allows a line because the other coordinates can vary.</a:t>
            </a:r>
          </a:p>
          <a:p xmlns:a="http://schemas.openxmlformats.org/drawingml/2006/main">
            <a:r>
              <a:t/>
            </a:r>
          </a:p>
          <a:p xmlns:a="http://schemas.openxmlformats.org/drawingml/2006/main">
            <a:r>
              <a:t>POINTER OR DRAWING</a:t>
            </a:r>
          </a:p>
          <a:p xmlns:a="http://schemas.openxmlformats.org/drawingml/2006/main">
            <a:r>
              <a:t>Point to the identical x-coordinates, then to the zero in the direction vector.</a:t>
            </a:r>
          </a:p>
          <a:p xmlns:a="http://schemas.openxmlformats.org/drawingml/2006/main">
            <a:r>
              <a:t/>
            </a:r>
          </a:p>
          <a:p xmlns:a="http://schemas.openxmlformats.org/drawingml/2006/main">
            <a:r>
              <a:t>EQUATIONS IN LATEX</a:t>
            </a:r>
          </a:p>
          <a:p xmlns:a="http://schemas.openxmlformats.org/drawingml/2006/main">
            <a:r>
              <a:t>\overrightarrow{PQ}=[-2-(-2),4-3,-1-5]</a:t>
            </a:r>
          </a:p>
          <a:p xmlns:a="http://schemas.openxmlformats.org/drawingml/2006/main">
            <a:r>
              <a:t>\overrightarrow{PQ}=[0,1,-6]</a:t>
            </a:r>
          </a:p>
          <a:p xmlns:a="http://schemas.openxmlformats.org/drawingml/2006/main">
            <a:r>
              <a:t>\vec r=[-2,3,5]+t[0,1,-6]</a:t>
            </a:r>
          </a:p>
          <a:p xmlns:a="http://schemas.openxmlformats.org/drawingml/2006/main">
            <a:r>
              <a:t>x=-2+0t=-2,\quad y=3+t,\quad z=5-6t</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 iPad PAGE 10</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We want symmetric form, but the x direction is zero. Keep x equals negative two as its own equation.</a:t>
            </a:r>
          </a:p>
          <a:p xmlns:a="http://schemas.openxmlformats.org/drawingml/2006/main">
            <a:r>
              <a:t/>
            </a:r>
          </a:p>
          <a:p xmlns:a="http://schemas.openxmlformats.org/drawingml/2006/main">
            <a:r>
              <a:t>WRITE 2</a:t>
            </a:r>
          </a:p>
          <a:p xmlns:a="http://schemas.openxmlformats.org/drawingml/2006/main">
            <a:r>
              <a:t>Make t the subject of the y and z equations using their nonzero direction components.</a:t>
            </a:r>
          </a:p>
          <a:p xmlns:a="http://schemas.openxmlformats.org/drawingml/2006/main">
            <a:r>
              <a:t/>
            </a:r>
          </a:p>
          <a:p xmlns:a="http://schemas.openxmlformats.org/drawingml/2006/main">
            <a:r>
              <a:t>WRITE 3</a:t>
            </a:r>
          </a:p>
          <a:p xmlns:a="http://schemas.openxmlformats.org/drawingml/2006/main">
            <a:r>
              <a:t>Equate those expressions and retain the separate x condition. Every part belongs in the answer. Division by a zero direction component would be undefined.</a:t>
            </a:r>
          </a:p>
          <a:p xmlns:a="http://schemas.openxmlformats.org/drawingml/2006/main">
            <a:r>
              <a:t/>
            </a:r>
          </a:p>
          <a:p xmlns:a="http://schemas.openxmlformats.org/drawingml/2006/main">
            <a:r>
              <a:t>WRITE 4</a:t>
            </a:r>
          </a:p>
          <a:p xmlns:a="http://schemas.openxmlformats.org/drawingml/2006/main">
            <a:r>
              <a:t>Check t equals one. Starting at P and adding one direction vector returns Q. This confirms both the varying coordinates and the fixed x-coordinate.</a:t>
            </a:r>
          </a:p>
          <a:p xmlns:a="http://schemas.openxmlformats.org/drawingml/2006/main">
            <a:r>
              <a:t/>
            </a:r>
          </a:p>
          <a:p xmlns:a="http://schemas.openxmlformats.org/drawingml/2006/main">
            <a:r>
              <a:t>POINTER OR DRAWING</a:t>
            </a:r>
          </a:p>
          <a:p xmlns:a="http://schemas.openxmlformats.org/drawingml/2006/main">
            <a:r>
              <a:t>Point to x = −2 separately, then follow the t = 1 check from P to Q.</a:t>
            </a:r>
          </a:p>
          <a:p xmlns:a="http://schemas.openxmlformats.org/drawingml/2006/main">
            <a:r>
              <a:t/>
            </a:r>
          </a:p>
          <a:p xmlns:a="http://schemas.openxmlformats.org/drawingml/2006/main">
            <a:r>
              <a:t>RETURN TO POWERPOINT</a:t>
            </a:r>
          </a:p>
          <a:p xmlns:a="http://schemas.openxmlformats.org/drawingml/2006/main">
            <a:r>
              <a:t>Let’s return to the slides for the next idea.</a:t>
            </a:r>
          </a:p>
          <a:p xmlns:a="http://schemas.openxmlformats.org/drawingml/2006/main">
            <a:r>
              <a:t/>
            </a:r>
          </a:p>
          <a:p xmlns:a="http://schemas.openxmlformats.org/drawingml/2006/main">
            <a:r>
              <a:t>EQUATIONS IN LATEX</a:t>
            </a:r>
          </a:p>
          <a:p xmlns:a="http://schemas.openxmlformats.org/drawingml/2006/main">
            <a:r>
              <a:t>x=-2,\quad y=3+t,\quad z=5-6t</a:t>
            </a:r>
          </a:p>
          <a:p xmlns:a="http://schemas.openxmlformats.org/drawingml/2006/main">
            <a:r>
              <a:t>t=\frac{y-3}{1},\qquad t=\frac{z-5}{-6}</a:t>
            </a:r>
          </a:p>
          <a:p xmlns:a="http://schemas.openxmlformats.org/drawingml/2006/main">
            <a:r>
              <a:t>x=-2,\qquad\frac{y-3}{1}=\frac{z-5}{-6}</a:t>
            </a:r>
          </a:p>
          <a:p xmlns:a="http://schemas.openxmlformats.org/drawingml/2006/main">
            <a:r>
              <a:t>t=1:\quad[-2,3,5]+[0,1,-6]=[-2,4,-1]</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 PowerPoint</a:t>
            </a:r>
          </a:p>
          <a:p xmlns:a="http://schemas.openxmlformats.org/drawingml/2006/main">
            <a:r>
              <a:t>Section 8.3 Lines in three dimensions</a:t>
            </a:r>
          </a:p>
          <a:p xmlns:a="http://schemas.openxmlformats.org/drawingml/2006/main">
            <a:r>
              <a:t/>
            </a:r>
          </a:p>
          <a:p xmlns:a="http://schemas.openxmlformats.org/drawingml/2006/main">
            <a:r>
              <a:t>ON ARRIVAL</a:t>
            </a:r>
          </a:p>
          <a:p xmlns:a="http://schemas.openxmlformats.org/drawingml/2006/main">
            <a:r>
              <a:t>What if two direction components are zero? The direction zero comma zero comma four is still nonzero, so it defines a line.</a:t>
            </a:r>
          </a:p>
          <a:p xmlns:a="http://schemas.openxmlformats.org/drawingml/2006/main">
            <a:r>
              <a:t/>
            </a:r>
          </a:p>
          <a:p xmlns:a="http://schemas.openxmlformats.org/drawingml/2006/main">
            <a:r>
              <a:t>CLICK 1</a:t>
            </a:r>
          </a:p>
          <a:p xmlns:a="http://schemas.openxmlformats.org/drawingml/2006/main">
            <a:r>
              <a:t>X stays one and y stays two. Only z changes with the parameter.</a:t>
            </a:r>
          </a:p>
          <a:p xmlns:a="http://schemas.openxmlformats.org/drawingml/2006/main">
            <a:r>
              <a:t/>
            </a:r>
          </a:p>
          <a:p xmlns:a="http://schemas.openxmlformats.org/drawingml/2006/main">
            <a:r>
              <a:t>CLICK 2</a:t>
            </a:r>
          </a:p>
          <a:p xmlns:a="http://schemas.openxmlformats.org/drawingml/2006/main">
            <a:r>
              <a:t>When we remove the parameter, keep x equals one and y equals two together. Z is unrestricted. There is no fraction chain with zero denominators.</a:t>
            </a:r>
          </a:p>
          <a:p xmlns:a="http://schemas.openxmlformats.org/drawingml/2006/main">
            <a:r>
              <a:t/>
            </a:r>
          </a:p>
          <a:p xmlns:a="http://schemas.openxmlformats.org/drawingml/2006/main">
            <a:r>
              <a:t>CLICK 3</a:t>
            </a:r>
          </a:p>
          <a:p xmlns:a="http://schemas.openxmlformats.org/drawingml/2006/main">
            <a:r>
              <a:t>This is a line parallel to the z-axis. If all three direction components were zero, the equation would produce only one point instead of a line.</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\vec r=[1,2,3]+t[0,0,4]</a:t>
            </a:r>
          </a:p>
          <a:p xmlns:a="http://schemas.openxmlformats.org/drawingml/2006/main">
            <a:r>
              <a:t>x=1,\quad y=2,\quad z=3+4t</a:t>
            </a:r>
          </a:p>
          <a:p xmlns:a="http://schemas.openxmlformats.org/drawingml/2006/main">
            <a:r>
              <a:t>x=1,\quad y=2,\quad z\in\mathbb R</a:t>
            </a:r>
          </a:p>
          <a:p xmlns:a="http://schemas.openxmlformats.org/drawingml/2006/main">
            <a:r>
              <a:t>\text{One line parallel to the z-axis}</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 iPad PAGE 11</a:t>
            </a:r>
          </a:p>
          <a:p xmlns:a="http://schemas.openxmlformats.org/drawingml/2006/main">
            <a:r>
              <a:t>Foundations and equation forms</a:t>
            </a:r>
          </a:p>
          <a:p xmlns:a="http://schemas.openxmlformats.org/drawingml/2006/main">
            <a:r>
              <a:t/>
            </a:r>
          </a:p>
          <a:p xmlns:a="http://schemas.openxmlformats.org/drawingml/2006/main">
            <a:r>
              <a:t>TRANSITION TO IPAD</a:t>
            </a:r>
          </a:p>
          <a:p xmlns:a="http://schemas.openxmlformats.org/drawingml/2006/main">
            <a:r>
              <a:t>Let’s write the next example out together. Keep the question at the top and add one step at a time.</a:t>
            </a:r>
          </a:p>
          <a:p xmlns:a="http://schemas.openxmlformats.org/drawingml/2006/main">
            <a:r>
              <a:t/>
            </a:r>
          </a:p>
          <a:p xmlns:a="http://schemas.openxmlformats.org/drawingml/2006/main">
            <a:r>
              <a:t>WRITE 1</a:t>
            </a:r>
          </a:p>
          <a:p xmlns:a="http://schemas.openxmlformats.org/drawingml/2006/main">
            <a:r>
              <a:t>Try the three-dimensional version. The line passes through R and S. Find vector, parametric, and symmetric forms. Simplify the direction first, and watch for a fixed coordinate. Pause and attempt all three forms.</a:t>
            </a:r>
          </a:p>
          <a:p xmlns:a="http://schemas.openxmlformats.org/drawingml/2006/main">
            <a:r>
              <a:t/>
            </a:r>
          </a:p>
          <a:p xmlns:a="http://schemas.openxmlformats.org/drawingml/2006/main">
            <a:r>
              <a:t>POINTER OR DRAWING</a:t>
            </a:r>
          </a:p>
          <a:p xmlns:a="http://schemas.openxmlformats.org/drawingml/2006/main">
            <a:r>
              <a:t>Pause here. Ask viewers to check which coordinate will remain fixed.</a:t>
            </a:r>
          </a:p>
          <a:p xmlns:a="http://schemas.openxmlformats.org/drawingml/2006/main">
            <a:r>
              <a:t/>
            </a:r>
          </a:p>
          <a:p xmlns:a="http://schemas.openxmlformats.org/drawingml/2006/main">
            <a:r>
              <a:t>EQUATIONS IN LATEX</a:t>
            </a:r>
          </a:p>
          <a:p xmlns:a="http://schemas.openxmlformats.org/drawingml/2006/main">
            <a:r>
              <a:t>R(3,-1,2),\qquad S(3,2,-4)</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 iPad PAGE 12</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Subtract R from S. We get zero comma three comma negative six. Divide the direction by three to use zero comma one comma negative two. This keeps the same line direction.</a:t>
            </a:r>
          </a:p>
          <a:p xmlns:a="http://schemas.openxmlformats.org/drawingml/2006/main">
            <a:r>
              <a:t/>
            </a:r>
          </a:p>
          <a:p xmlns:a="http://schemas.openxmlformats.org/drawingml/2006/main">
            <a:r>
              <a:t>WRITE 2</a:t>
            </a:r>
          </a:p>
          <a:p xmlns:a="http://schemas.openxmlformats.org/drawingml/2006/main">
            <a:r>
              <a:t>Start at R and add t times that simpler direction.</a:t>
            </a:r>
          </a:p>
          <a:p xmlns:a="http://schemas.openxmlformats.org/drawingml/2006/main">
            <a:r>
              <a:t/>
            </a:r>
          </a:p>
          <a:p xmlns:a="http://schemas.openxmlformats.org/drawingml/2006/main">
            <a:r>
              <a:t>WRITE 3</a:t>
            </a:r>
          </a:p>
          <a:p xmlns:a="http://schemas.openxmlformats.org/drawingml/2006/main">
            <a:r>
              <a:t>Read the coordinate equations. X is three, y is negative one plus t, and z is two minus two t.</a:t>
            </a:r>
          </a:p>
          <a:p xmlns:a="http://schemas.openxmlformats.org/drawingml/2006/main">
            <a:r>
              <a:t/>
            </a:r>
          </a:p>
          <a:p xmlns:a="http://schemas.openxmlformats.org/drawingml/2006/main">
            <a:r>
              <a:t>WRITE 4</a:t>
            </a:r>
          </a:p>
          <a:p xmlns:a="http://schemas.openxmlformats.org/drawingml/2006/main">
            <a:r>
              <a:t>Keep x equals three separately in symmetric form. Equate the two expressions for t from y and z.</a:t>
            </a:r>
          </a:p>
          <a:p xmlns:a="http://schemas.openxmlformats.org/drawingml/2006/main">
            <a:r>
              <a:t/>
            </a:r>
          </a:p>
          <a:p xmlns:a="http://schemas.openxmlformats.org/drawingml/2006/main">
            <a:r>
              <a:t>WRITE 5</a:t>
            </a:r>
          </a:p>
          <a:p xmlns:a="http://schemas.openxmlformats.org/drawingml/2006/main">
            <a:r>
              <a:t>Check S using t equals three. Three smaller direction steps now reach S. Simplifying the direction changed the parameter assigned to S, while preserving the line.</a:t>
            </a:r>
          </a:p>
          <a:p xmlns:a="http://schemas.openxmlformats.org/drawingml/2006/main">
            <a:r>
              <a:t/>
            </a:r>
          </a:p>
          <a:p xmlns:a="http://schemas.openxmlformats.org/drawingml/2006/main">
            <a:r>
              <a:t>POINTER OR DRAWING</a:t>
            </a:r>
          </a:p>
          <a:p xmlns:a="http://schemas.openxmlformats.org/drawingml/2006/main">
            <a:r>
              <a:t>Check t = 3 in every coordinate. Explain why t = 1 no longer reaches S.</a:t>
            </a:r>
          </a:p>
          <a:p xmlns:a="http://schemas.openxmlformats.org/drawingml/2006/main">
            <a:r>
              <a:t/>
            </a:r>
          </a:p>
          <a:p xmlns:a="http://schemas.openxmlformats.org/drawingml/2006/main">
            <a:r>
              <a:t>RETURN TO POWERPOINT</a:t>
            </a:r>
          </a:p>
          <a:p xmlns:a="http://schemas.openxmlformats.org/drawingml/2006/main">
            <a:r>
              <a:t>Let’s return to the slides for the next idea.</a:t>
            </a:r>
          </a:p>
          <a:p xmlns:a="http://schemas.openxmlformats.org/drawingml/2006/main">
            <a:r>
              <a:t/>
            </a:r>
          </a:p>
          <a:p xmlns:a="http://schemas.openxmlformats.org/drawingml/2006/main">
            <a:r>
              <a:t>EQUATIONS IN LATEX</a:t>
            </a:r>
          </a:p>
          <a:p xmlns:a="http://schemas.openxmlformats.org/drawingml/2006/main">
            <a:r>
              <a:t>\overrightarrow{RS}=[3-3,2-(-1),-4-2]=[0,3,-6]=3[0,1,-2]</a:t>
            </a:r>
          </a:p>
          <a:p xmlns:a="http://schemas.openxmlformats.org/drawingml/2006/main">
            <a:r>
              <a:t>\vec r=[3,-1,2]+t[0,1,-2]</a:t>
            </a:r>
          </a:p>
          <a:p xmlns:a="http://schemas.openxmlformats.org/drawingml/2006/main">
            <a:r>
              <a:t>x=3,\qquad y=-1+t,\qquad z=2-2t</a:t>
            </a:r>
          </a:p>
          <a:p xmlns:a="http://schemas.openxmlformats.org/drawingml/2006/main">
            <a:r>
              <a:t>x=3,\qquad\frac{y+1}{1}=\frac{z-2}{-2}</a:t>
            </a:r>
          </a:p>
          <a:p xmlns:a="http://schemas.openxmlformats.org/drawingml/2006/main">
            <a:r>
              <a:t>t=3:\quad[3,-1,2]+3[0,1,-2]=[3,2,-4]</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 PowerPoint</a:t>
            </a:r>
          </a:p>
          <a:p xmlns:a="http://schemas.openxmlformats.org/drawingml/2006/main">
            <a:r>
              <a:t>Foundations and equation forms</a:t>
            </a:r>
          </a:p>
          <a:p xmlns:a="http://schemas.openxmlformats.org/drawingml/2006/main">
            <a:r>
              <a:t/>
            </a:r>
          </a:p>
          <a:p xmlns:a="http://schemas.openxmlformats.org/drawingml/2006/main">
            <a:r>
              <a:t>ON ARRIVAL</a:t>
            </a:r>
          </a:p>
          <a:p xmlns:a="http://schemas.openxmlformats.org/drawingml/2006/main">
            <a:r>
              <a:t>Two different-looking equations may describe the same line. First compare their directions. Nonzero scalar multiples give parallel directions.</a:t>
            </a:r>
          </a:p>
          <a:p xmlns:a="http://schemas.openxmlformats.org/drawingml/2006/main">
            <a:r>
              <a:t/>
            </a:r>
          </a:p>
          <a:p xmlns:a="http://schemas.openxmlformats.org/drawingml/2006/main">
            <a:r>
              <a:t>CLICK 1</a:t>
            </a:r>
          </a:p>
          <a:p xmlns:a="http://schemas.openxmlformats.org/drawingml/2006/main">
            <a:r>
              <a:t>If the lines also share a point, they coincide. They are one geometric line, so every point on one belongs to the other.</a:t>
            </a:r>
          </a:p>
          <a:p xmlns:a="http://schemas.openxmlformats.org/drawingml/2006/main">
            <a:r>
              <a:t/>
            </a:r>
          </a:p>
          <a:p xmlns:a="http://schemas.openxmlformats.org/drawingml/2006/main">
            <a:r>
              <a:t>CLICK 2</a:t>
            </a:r>
          </a:p>
          <a:p xmlns:a="http://schemas.openxmlformats.org/drawingml/2006/main">
            <a:r>
              <a:t>If the directions are parallel but a starting point fails the other line’s complete coordinate check, they are distinct parallel lines. Distinct simply means different. Nonparallel intersections and skew lines will be studied in the intersections video.</a:t>
            </a:r>
          </a:p>
          <a:p xmlns:a="http://schemas.openxmlformats.org/drawingml/2006/main">
            <a:r>
              <a:t/>
            </a:r>
          </a:p>
          <a:p xmlns:a="http://schemas.openxmlformats.org/drawingml/2006/main">
            <a:r>
              <a:t>POINTER OR DRAWING</a:t>
            </a:r>
          </a:p>
          <a:p xmlns:a="http://schemas.openxmlformats.org/drawingml/2006/main">
            <a:r>
              <a:t>Sketch one shared line and then two separate parallel lines. Keep the point test separate from the direction test.</a:t>
            </a:r>
          </a:p>
          <a:p xmlns:a="http://schemas.openxmlformats.org/drawingml/2006/main">
            <a:r>
              <a:t/>
            </a:r>
          </a:p>
          <a:p xmlns:a="http://schemas.openxmlformats.org/drawingml/2006/main">
            <a:r>
              <a:t>EQUATIONS IN LATEX</a:t>
            </a:r>
          </a:p>
          <a:p xmlns:a="http://schemas.openxmlformats.org/drawingml/2006/main">
            <a:r>
              <a:t>\vec m_2=k\vec m_1,\qquad k\ne0</a:t>
            </a:r>
          </a:p>
          <a:p xmlns:a="http://schemas.openxmlformats.org/drawingml/2006/main">
            <a:r>
              <a:t>\text{Parallel directions and a shared point: coincident lines}</a:t>
            </a:r>
          </a:p>
          <a:p xmlns:a="http://schemas.openxmlformats.org/drawingml/2006/main">
            <a:r>
              <a:t>\text{Parallel directions and no shared point: distinct parallel lines}</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 iPad PAGE 13</a:t>
            </a:r>
          </a:p>
          <a:p xmlns:a="http://schemas.openxmlformats.org/drawingml/2006/main">
            <a:r>
              <a:t>Foundations and equation forms</a:t>
            </a:r>
          </a:p>
          <a:p xmlns:a="http://schemas.openxmlformats.org/drawingml/2006/main">
            <a:r>
              <a:t/>
            </a:r>
          </a:p>
          <a:p xmlns:a="http://schemas.openxmlformats.org/drawingml/2006/main">
            <a:r>
              <a:t>TRANSITION TO IPAD</a:t>
            </a:r>
          </a:p>
          <a:p xmlns:a="http://schemas.openxmlformats.org/drawingml/2006/main">
            <a:r>
              <a:t>Let’s write the next example out together. Keep the question at the top and add one step at a time.</a:t>
            </a:r>
          </a:p>
          <a:p xmlns:a="http://schemas.openxmlformats.org/drawingml/2006/main">
            <a:r>
              <a:t/>
            </a:r>
          </a:p>
          <a:p xmlns:a="http://schemas.openxmlformats.org/drawingml/2006/main">
            <a:r>
              <a:t>WRITE 1</a:t>
            </a:r>
          </a:p>
          <a:p xmlns:a="http://schemas.openxmlformats.org/drawingml/2006/main">
            <a:r>
              <a:t>For this example, the line passes through E and F. First find a direction using F minus E. Six minus negative one gives seven, and eleven minus five gives six.</a:t>
            </a:r>
          </a:p>
          <a:p xmlns:a="http://schemas.openxmlformats.org/drawingml/2006/main">
            <a:r>
              <a:t/>
            </a:r>
          </a:p>
          <a:p xmlns:a="http://schemas.openxmlformats.org/drawingml/2006/main">
            <a:r>
              <a:t>WRITE 2</a:t>
            </a:r>
          </a:p>
          <a:p xmlns:a="http://schemas.openxmlformats.org/drawingml/2006/main">
            <a:r>
              <a:t>Use E as the starting point and read the coordinate equations. At an x-intercept, the point lies on the x-axis, so its y-coordinate is zero.</a:t>
            </a:r>
          </a:p>
          <a:p xmlns:a="http://schemas.openxmlformats.org/drawingml/2006/main">
            <a:r>
              <a:t/>
            </a:r>
          </a:p>
          <a:p xmlns:a="http://schemas.openxmlformats.org/drawingml/2006/main">
            <a:r>
              <a:t>WRITE 3</a:t>
            </a:r>
          </a:p>
          <a:p xmlns:a="http://schemas.openxmlformats.org/drawingml/2006/main">
            <a:r>
              <a:t>Set the y equation equal to zero. Subtract five, then divide by six. The parameter is negative five-sixths.</a:t>
            </a:r>
          </a:p>
          <a:p xmlns:a="http://schemas.openxmlformats.org/drawingml/2006/main">
            <a:r>
              <a:t/>
            </a:r>
          </a:p>
          <a:p xmlns:a="http://schemas.openxmlformats.org/drawingml/2006/main">
            <a:r>
              <a:t>WRITE 4</a:t>
            </a:r>
          </a:p>
          <a:p xmlns:a="http://schemas.openxmlformats.org/drawingml/2006/main">
            <a:r>
              <a:t>Use that same parameter in the x equation. Convert negative one to negative six over six, then combine the fractions. This gives negative forty-one over six.</a:t>
            </a:r>
          </a:p>
          <a:p xmlns:a="http://schemas.openxmlformats.org/drawingml/2006/main">
            <a:r>
              <a:t/>
            </a:r>
          </a:p>
          <a:p xmlns:a="http://schemas.openxmlformats.org/drawingml/2006/main">
            <a:r>
              <a:t>WRITE 5</a:t>
            </a:r>
          </a:p>
          <a:p xmlns:a="http://schemas.openxmlformats.org/drawingml/2006/main">
            <a:r>
              <a:t>So the x-intercept is negative forty-one over six comma zero. The zero y-coordinate is the check that it lies on the x-axis. Keep the exact fraction.</a:t>
            </a:r>
          </a:p>
          <a:p xmlns:a="http://schemas.openxmlformats.org/drawingml/2006/main">
            <a:r>
              <a:t/>
            </a:r>
          </a:p>
          <a:p xmlns:a="http://schemas.openxmlformats.org/drawingml/2006/main">
            <a:r>
              <a:t>POINTER OR DRAWING</a:t>
            </a:r>
          </a:p>
          <a:p xmlns:a="http://schemas.openxmlformats.org/drawingml/2006/main">
            <a:r>
              <a:t>Follow the y equation first, then substitute the resulting t into x.</a:t>
            </a:r>
          </a:p>
          <a:p xmlns:a="http://schemas.openxmlformats.org/drawingml/2006/main">
            <a:r>
              <a:t/>
            </a:r>
          </a:p>
          <a:p xmlns:a="http://schemas.openxmlformats.org/drawingml/2006/main">
            <a:r>
              <a:t>EQUATIONS IN LATEX</a:t>
            </a:r>
          </a:p>
          <a:p xmlns:a="http://schemas.openxmlformats.org/drawingml/2006/main">
            <a:r>
              <a:t>\overrightarrow{EF}=[6-(-1),11-5]=[7,6]</a:t>
            </a:r>
          </a:p>
          <a:p xmlns:a="http://schemas.openxmlformats.org/drawingml/2006/main">
            <a:r>
              <a:t>x=-1+7t,\qquad y=5+6t</a:t>
            </a:r>
          </a:p>
          <a:p xmlns:a="http://schemas.openxmlformats.org/drawingml/2006/main">
            <a:r>
              <a:t>0=5+6t\quad\Longrightarrow\quad-5=6t\quad\Longrightarrow\quad t=-\frac56</a:t>
            </a:r>
          </a:p>
          <a:p xmlns:a="http://schemas.openxmlformats.org/drawingml/2006/main">
            <a:r>
              <a:t>x=-1+7\left(-\frac56\right)=-\frac66-\frac{35}{6}=-\frac{41}{6}</a:t>
            </a:r>
          </a:p>
          <a:p xmlns:a="http://schemas.openxmlformats.org/drawingml/2006/main">
            <a:r>
              <a:t>\text{x-intercept}:\quad\left(-\frac{41}{6},0\right)</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 iPad PAGE 14</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Here is the line from the last example. Can a different-looking vector equation describe this same line?</a:t>
            </a:r>
          </a:p>
          <a:p xmlns:a="http://schemas.openxmlformats.org/drawingml/2006/main">
            <a:r>
              <a:t/>
            </a:r>
          </a:p>
          <a:p xmlns:a="http://schemas.openxmlformats.org/drawingml/2006/main">
            <a:r>
              <a:t>WRITE 2</a:t>
            </a:r>
          </a:p>
          <a:p xmlns:a="http://schemas.openxmlformats.org/drawingml/2006/main">
            <a:r>
              <a:t>The second equation has a different starting point and direction vector. Compare the directions first, then check whether the lines share a point.</a:t>
            </a:r>
          </a:p>
          <a:p xmlns:a="http://schemas.openxmlformats.org/drawingml/2006/main">
            <a:r>
              <a:t/>
            </a:r>
          </a:p>
          <a:p xmlns:a="http://schemas.openxmlformats.org/drawingml/2006/main">
            <a:r>
              <a:t>WRITE 3</a:t>
            </a:r>
          </a:p>
          <a:p xmlns:a="http://schemas.openxmlformats.org/drawingml/2006/main">
            <a:r>
              <a:t>The second direction is two-thirds of the first. That gives parallel directions. We still need to check their locations.</a:t>
            </a:r>
          </a:p>
          <a:p xmlns:a="http://schemas.openxmlformats.org/drawingml/2006/main">
            <a:r>
              <a:t/>
            </a:r>
          </a:p>
          <a:p xmlns:a="http://schemas.openxmlformats.org/drawingml/2006/main">
            <a:r>
              <a:t>WRITE 4</a:t>
            </a:r>
          </a:p>
          <a:p xmlns:a="http://schemas.openxmlformats.org/drawingml/2006/main">
            <a:r>
              <a:t>Test the second starting point in the first equation. Using x gives negative one plus seven t equals negative fifteen, so t is negative two.</a:t>
            </a:r>
          </a:p>
          <a:p xmlns:a="http://schemas.openxmlformats.org/drawingml/2006/main">
            <a:r>
              <a:t/>
            </a:r>
          </a:p>
          <a:p xmlns:a="http://schemas.openxmlformats.org/drawingml/2006/main">
            <a:r>
              <a:t>WRITE 5</a:t>
            </a:r>
          </a:p>
          <a:p xmlns:a="http://schemas.openxmlformats.org/drawingml/2006/main">
            <a:r>
              <a:t>Substitute negative two into both components. We get negative fifteen comma negative seven, exactly the second starting point. Parallel directions and a shared point show that these are the same line.</a:t>
            </a:r>
          </a:p>
          <a:p xmlns:a="http://schemas.openxmlformats.org/drawingml/2006/main">
            <a:r>
              <a:t/>
            </a:r>
          </a:p>
          <a:p xmlns:a="http://schemas.openxmlformats.org/drawingml/2006/main">
            <a:r>
              <a:t>POINTER OR DRAWING</a:t>
            </a:r>
          </a:p>
          <a:p xmlns:a="http://schemas.openxmlformats.org/drawingml/2006/main">
            <a:r>
              <a:t>Identify the scalar multiple, then identify the shared anchor.</a:t>
            </a:r>
          </a:p>
          <a:p xmlns:a="http://schemas.openxmlformats.org/drawingml/2006/main">
            <a:r>
              <a:t/>
            </a:r>
          </a:p>
          <a:p xmlns:a="http://schemas.openxmlformats.org/drawingml/2006/main">
            <a:r>
              <a:t>EQUATIONS IN LATEX</a:t>
            </a:r>
          </a:p>
          <a:p xmlns:a="http://schemas.openxmlformats.org/drawingml/2006/main">
            <a:r>
              <a:t>\vec r=[-1,5]+t[7,6]</a:t>
            </a:r>
          </a:p>
          <a:p xmlns:a="http://schemas.openxmlformats.org/drawingml/2006/main">
            <a:r>
              <a:t>\vec r=[-15,-7]+s\left[\frac{14}{3},4\right]</a:t>
            </a:r>
          </a:p>
          <a:p xmlns:a="http://schemas.openxmlformats.org/drawingml/2006/main">
            <a:r>
              <a:t>\left[\frac{14}{3},4\right]=\frac23[7,6]</a:t>
            </a:r>
          </a:p>
          <a:p xmlns:a="http://schemas.openxmlformats.org/drawingml/2006/main">
            <a:r>
              <a:t>-1+7t=-15\quad\Longrightarrow\quad t=-2</a:t>
            </a:r>
          </a:p>
          <a:p xmlns:a="http://schemas.openxmlformats.org/drawingml/2006/main">
            <a:r>
              <a:t>[-1,5]-2[7,6]=[-15,-7]\quad\Longrightarrow\quad\text{same line}</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 iPad PAGE 15</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Let's compare two lines in space. Begin with the first line and identify its starting point and direction.</a:t>
            </a:r>
          </a:p>
          <a:p xmlns:a="http://schemas.openxmlformats.org/drawingml/2006/main">
            <a:r>
              <a:t/>
            </a:r>
          </a:p>
          <a:p xmlns:a="http://schemas.openxmlformats.org/drawingml/2006/main">
            <a:r>
              <a:t>WRITE 2</a:t>
            </a:r>
          </a:p>
          <a:p xmlns:a="http://schemas.openxmlformats.org/drawingml/2006/main">
            <a:r>
              <a:t>Now look at the second line. As before, compare directions, then test a point. This time all three coordinates must agree.</a:t>
            </a:r>
          </a:p>
          <a:p xmlns:a="http://schemas.openxmlformats.org/drawingml/2006/main">
            <a:r>
              <a:t/>
            </a:r>
          </a:p>
          <a:p xmlns:a="http://schemas.openxmlformats.org/drawingml/2006/main">
            <a:r>
              <a:t>WRITE 3</a:t>
            </a:r>
          </a:p>
          <a:p xmlns:a="http://schemas.openxmlformats.org/drawingml/2006/main">
            <a:r>
              <a:t>The second direction is twice the first, so their directions are parallel.</a:t>
            </a:r>
          </a:p>
          <a:p xmlns:a="http://schemas.openxmlformats.org/drawingml/2006/main">
            <a:r>
              <a:t/>
            </a:r>
          </a:p>
          <a:p xmlns:a="http://schemas.openxmlformats.org/drawingml/2006/main">
            <a:r>
              <a:t>WRITE 4</a:t>
            </a:r>
          </a:p>
          <a:p xmlns:a="http://schemas.openxmlformats.org/drawingml/2006/main">
            <a:r>
              <a:t>Test the second starting point in the first line. The x equation gives negative one minus s equals four. So s is negative five.</a:t>
            </a:r>
          </a:p>
          <a:p xmlns:a="http://schemas.openxmlformats.org/drawingml/2006/main">
            <a:r>
              <a:t/>
            </a:r>
          </a:p>
          <a:p xmlns:a="http://schemas.openxmlformats.org/drawingml/2006/main">
            <a:r>
              <a:t>WRITE 5</a:t>
            </a:r>
          </a:p>
          <a:p xmlns:a="http://schemas.openxmlformats.org/drawingml/2006/main">
            <a:r>
              <a:t>Use negative five in every component. We get four comma negative ten comma negative twenty-one, exactly the second starting point. The lines have parallel directions and a shared point, so they coincide.</a:t>
            </a:r>
          </a:p>
          <a:p xmlns:a="http://schemas.openxmlformats.org/drawingml/2006/main">
            <a:r>
              <a:t/>
            </a:r>
          </a:p>
          <a:p xmlns:a="http://schemas.openxmlformats.org/drawingml/2006/main">
            <a:r>
              <a:t>POINTER OR DRAWING</a:t>
            </a:r>
          </a:p>
          <a:p xmlns:a="http://schemas.openxmlformats.org/drawingml/2006/main">
            <a:r>
              <a:t>Start with the x-coordinate and carry s = −5 through y and z.</a:t>
            </a:r>
          </a:p>
          <a:p xmlns:a="http://schemas.openxmlformats.org/drawingml/2006/main">
            <a:r>
              <a:t/>
            </a:r>
          </a:p>
          <a:p xmlns:a="http://schemas.openxmlformats.org/drawingml/2006/main">
            <a:r>
              <a:t>EQUATIONS IN LATEX</a:t>
            </a:r>
          </a:p>
          <a:p xmlns:a="http://schemas.openxmlformats.org/drawingml/2006/main">
            <a:r>
              <a:t>L_1:\vec r=[-1,0,4]+s[-1,2,5]</a:t>
            </a:r>
          </a:p>
          <a:p xmlns:a="http://schemas.openxmlformats.org/drawingml/2006/main">
            <a:r>
              <a:t>L_2:\vec r=[4,-10,-21]+u[-2,4,10]</a:t>
            </a:r>
          </a:p>
          <a:p xmlns:a="http://schemas.openxmlformats.org/drawingml/2006/main">
            <a:r>
              <a:t>[-2,4,10]=2[-1,2,5]</a:t>
            </a:r>
          </a:p>
          <a:p xmlns:a="http://schemas.openxmlformats.org/drawingml/2006/main">
            <a:r>
              <a:t>-1-s=4\quad\Longrightarrow\quad s=-5</a:t>
            </a:r>
          </a:p>
          <a:p xmlns:a="http://schemas.openxmlformats.org/drawingml/2006/main">
            <a:r>
              <a:t>[-1,0,4]-5[-1,2,5]=[4,-10,-21]\quad\Longrightarrow\quad L_1=L_2</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34 | iPad PAGE 16</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Are these lines the same, or are they separate parallel lines? Compare their directions, then test the second starting point in the first line. Carry one parameter through x, y, and z. Pause and give a reason for your conclusion.</a:t>
            </a:r>
          </a:p>
          <a:p xmlns:a="http://schemas.openxmlformats.org/drawingml/2006/main">
            <a:r>
              <a:t/>
            </a:r>
          </a:p>
          <a:p xmlns:a="http://schemas.openxmlformats.org/drawingml/2006/main">
            <a:r>
              <a:t>POINTER OR DRAWING</a:t>
            </a:r>
          </a:p>
          <a:p xmlns:a="http://schemas.openxmlformats.org/drawingml/2006/main">
            <a:r>
              <a:t>Pause before the next slide. Require a direction check and a point check.</a:t>
            </a:r>
          </a:p>
          <a:p xmlns:a="http://schemas.openxmlformats.org/drawingml/2006/main">
            <a:r>
              <a:t/>
            </a:r>
          </a:p>
          <a:p xmlns:a="http://schemas.openxmlformats.org/drawingml/2006/main">
            <a:r>
              <a:t>EQUATIONS IN LATEX</a:t>
            </a:r>
          </a:p>
          <a:p xmlns:a="http://schemas.openxmlformats.org/drawingml/2006/main">
            <a:r>
              <a:t>L_3:\vec r=[1,6,1]+t[-1,1,2]</a:t>
            </a:r>
          </a:p>
          <a:p xmlns:a="http://schemas.openxmlformats.org/drawingml/2006/main">
            <a:r>
              <a:t>L_4:\vec r=[-3,10,12]+k\left[\frac12,-\frac12,-1\right]</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35 | iPad PAGE 17</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The second direction is negative one-half of the first. So the directions are parallel, although they point opposite ways.</a:t>
            </a:r>
          </a:p>
          <a:p xmlns:a="http://schemas.openxmlformats.org/drawingml/2006/main">
            <a:r>
              <a:t/>
            </a:r>
          </a:p>
          <a:p xmlns:a="http://schemas.openxmlformats.org/drawingml/2006/main">
            <a:r>
              <a:t>WRITE 2</a:t>
            </a:r>
          </a:p>
          <a:p xmlns:a="http://schemas.openxmlformats.org/drawingml/2006/main">
            <a:r>
              <a:t>Test the second starting point using the first line. From x, one minus t equals negative three, so t is four.</a:t>
            </a:r>
          </a:p>
          <a:p xmlns:a="http://schemas.openxmlformats.org/drawingml/2006/main">
            <a:r>
              <a:t/>
            </a:r>
          </a:p>
          <a:p xmlns:a="http://schemas.openxmlformats.org/drawingml/2006/main">
            <a:r>
              <a:t>WRITE 3</a:t>
            </a:r>
          </a:p>
          <a:p xmlns:a="http://schemas.openxmlformats.org/drawingml/2006/main">
            <a:r>
              <a:t>Use four in y and z. Y becomes ten, which matches. Z becomes nine.</a:t>
            </a:r>
          </a:p>
          <a:p xmlns:a="http://schemas.openxmlformats.org/drawingml/2006/main">
            <a:r>
              <a:t/>
            </a:r>
          </a:p>
          <a:p xmlns:a="http://schemas.openxmlformats.org/drawingml/2006/main">
            <a:r>
              <a:t>WRITE 4</a:t>
            </a:r>
          </a:p>
          <a:p xmlns:a="http://schemas.openxmlformats.org/drawingml/2006/main">
            <a:r>
              <a:t>The required z-coordinate is twelve. The candidate point therefore fails the full point check.</a:t>
            </a:r>
          </a:p>
          <a:p xmlns:a="http://schemas.openxmlformats.org/drawingml/2006/main">
            <a:r>
              <a:t/>
            </a:r>
          </a:p>
          <a:p xmlns:a="http://schemas.openxmlformats.org/drawingml/2006/main">
            <a:r>
              <a:t>WRITE 5</a:t>
            </a:r>
          </a:p>
          <a:p xmlns:a="http://schemas.openxmlformats.org/drawingml/2006/main">
            <a:r>
              <a:t>So these are distinct parallel lines. Checking x and y alone would have produced the wrong conclusion.</a:t>
            </a:r>
          </a:p>
          <a:p xmlns:a="http://schemas.openxmlformats.org/drawingml/2006/main">
            <a:r>
              <a:t/>
            </a:r>
          </a:p>
          <a:p xmlns:a="http://schemas.openxmlformats.org/drawingml/2006/main">
            <a:r>
              <a:t>POINTER OR DRAWING</a:t>
            </a:r>
          </a:p>
          <a:p xmlns:a="http://schemas.openxmlformats.org/drawingml/2006/main">
            <a:r>
              <a:t>Compare the computed point with the required anchor, especially 9 versus 12.</a:t>
            </a:r>
          </a:p>
          <a:p xmlns:a="http://schemas.openxmlformats.org/drawingml/2006/main">
            <a:r>
              <a:t/>
            </a:r>
          </a:p>
          <a:p xmlns:a="http://schemas.openxmlformats.org/drawingml/2006/main">
            <a:r>
              <a:t>EQUATIONS IN LATEX</a:t>
            </a:r>
          </a:p>
          <a:p xmlns:a="http://schemas.openxmlformats.org/drawingml/2006/main">
            <a:r>
              <a:t>\left[\frac12,-\frac12,-1\right]=-\frac12[-1,1,2]</a:t>
            </a:r>
          </a:p>
          <a:p xmlns:a="http://schemas.openxmlformats.org/drawingml/2006/main">
            <a:r>
              <a:t>1-t=-3\quad\Longrightarrow\quad t=4</a:t>
            </a:r>
          </a:p>
          <a:p xmlns:a="http://schemas.openxmlformats.org/drawingml/2006/main">
            <a:r>
              <a:t>y=6+4=10,\qquad z=1+2(4)=9</a:t>
            </a:r>
          </a:p>
          <a:p xmlns:a="http://schemas.openxmlformats.org/drawingml/2006/main">
            <a:r>
              <a:t>[-3,10,9]\ne[-3,10,12]</a:t>
            </a:r>
          </a:p>
          <a:p xmlns:a="http://schemas.openxmlformats.org/drawingml/2006/main">
            <a:r>
              <a:t>\text{The lines are distinct and parallel.}</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36 | iPad PAGE 18</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Let's combine the ideas. First decide whether A, five comma zero comma eleven, lies on L. Then decide whether M describes that same line. Find one parameter that works in all three coordinates, and use the result in your line comparison. Pause and try both parts.</a:t>
            </a:r>
          </a:p>
          <a:p xmlns:a="http://schemas.openxmlformats.org/drawingml/2006/main">
            <a:r>
              <a:t/>
            </a:r>
          </a:p>
          <a:p xmlns:a="http://schemas.openxmlformats.org/drawingml/2006/main">
            <a:r>
              <a:t>POINTER OR DRAWING</a:t>
            </a:r>
          </a:p>
          <a:p xmlns:a="http://schemas.openxmlformats.org/drawingml/2006/main">
            <a:r>
              <a:t>Pause here. Keep the two parts separate in the explanation.</a:t>
            </a:r>
          </a:p>
          <a:p xmlns:a="http://schemas.openxmlformats.org/drawingml/2006/main">
            <a:r>
              <a:t/>
            </a:r>
          </a:p>
          <a:p xmlns:a="http://schemas.openxmlformats.org/drawingml/2006/main">
            <a:r>
              <a:t>EQUATIONS IN LATEX</a:t>
            </a:r>
          </a:p>
          <a:p xmlns:a="http://schemas.openxmlformats.org/drawingml/2006/main">
            <a:r>
              <a:t>L:\vec r=[1,2,3]+t[2,-1,4]</a:t>
            </a:r>
          </a:p>
          <a:p xmlns:a="http://schemas.openxmlformats.org/drawingml/2006/main">
            <a:r>
              <a:t>M:\vec r=[5,0,11]+s[-4,2,-8]</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37 | iPad PAGE 19</a:t>
            </a:r>
          </a:p>
          <a:p xmlns:a="http://schemas.openxmlformats.org/drawingml/2006/main">
            <a:r>
              <a:t>Foundations and equation forms</a:t>
            </a:r>
          </a:p>
          <a:p xmlns:a="http://schemas.openxmlformats.org/drawingml/2006/main">
            <a:r>
              <a:t/>
            </a:r>
          </a:p>
          <a:p xmlns:a="http://schemas.openxmlformats.org/drawingml/2006/main">
            <a:r>
              <a:t>WRITE 1</a:t>
            </a:r>
          </a:p>
          <a:p xmlns:a="http://schemas.openxmlformats.org/drawingml/2006/main">
            <a:r>
              <a:t>Use the x-coordinate of A. One plus two t equals five, so t is two.</a:t>
            </a:r>
          </a:p>
          <a:p xmlns:a="http://schemas.openxmlformats.org/drawingml/2006/main">
            <a:r>
              <a:t/>
            </a:r>
          </a:p>
          <a:p xmlns:a="http://schemas.openxmlformats.org/drawingml/2006/main">
            <a:r>
              <a:t>WRITE 2</a:t>
            </a:r>
          </a:p>
          <a:p xmlns:a="http://schemas.openxmlformats.org/drawingml/2006/main">
            <a:r>
              <a:t>Substitute two everywhere in L. The point is five comma zero comma eleven. All three coordinates agree, so A lies on L.</a:t>
            </a:r>
          </a:p>
          <a:p xmlns:a="http://schemas.openxmlformats.org/drawingml/2006/main">
            <a:r>
              <a:t/>
            </a:r>
          </a:p>
          <a:p xmlns:a="http://schemas.openxmlformats.org/drawingml/2006/main">
            <a:r>
              <a:t>WRITE 3</a:t>
            </a:r>
          </a:p>
          <a:p xmlns:a="http://schemas.openxmlformats.org/drawingml/2006/main">
            <a:r>
              <a:t>Compare the directions. The direction of M is negative two times the direction of L, so they are parallel.</a:t>
            </a:r>
          </a:p>
          <a:p xmlns:a="http://schemas.openxmlformats.org/drawingml/2006/main">
            <a:r>
              <a:t/>
            </a:r>
          </a:p>
          <a:p xmlns:a="http://schemas.openxmlformats.org/drawingml/2006/main">
            <a:r>
              <a:t>WRITE 4</a:t>
            </a:r>
          </a:p>
          <a:p xmlns:a="http://schemas.openxmlformats.org/drawingml/2006/main">
            <a:r>
              <a:t>M starts at A, and A lies on L. Therefore the two lines share a point and have parallel directions. They describe the same line.</a:t>
            </a:r>
          </a:p>
          <a:p xmlns:a="http://schemas.openxmlformats.org/drawingml/2006/main">
            <a:r>
              <a:t/>
            </a:r>
          </a:p>
          <a:p xmlns:a="http://schemas.openxmlformats.org/drawingml/2006/main">
            <a:r>
              <a:t>POINTER OR DRAWING</a:t>
            </a:r>
          </a:p>
          <a:p xmlns:a="http://schemas.openxmlformats.org/drawingml/2006/main">
            <a:r>
              <a:t>Use the first equation to confirm A, then compare the directions.</a:t>
            </a:r>
          </a:p>
          <a:p xmlns:a="http://schemas.openxmlformats.org/drawingml/2006/main">
            <a:r>
              <a:t/>
            </a:r>
          </a:p>
          <a:p xmlns:a="http://schemas.openxmlformats.org/drawingml/2006/main">
            <a:r>
              <a:t>RETURN TO POWERPOINT</a:t>
            </a:r>
          </a:p>
          <a:p xmlns:a="http://schemas.openxmlformats.org/drawingml/2006/main">
            <a:r>
              <a:t>Let’s return to the slides for the next idea.</a:t>
            </a:r>
          </a:p>
          <a:p xmlns:a="http://schemas.openxmlformats.org/drawingml/2006/main">
            <a:r>
              <a:t/>
            </a:r>
          </a:p>
          <a:p xmlns:a="http://schemas.openxmlformats.org/drawingml/2006/main">
            <a:r>
              <a:t>EQUATIONS IN LATEX</a:t>
            </a:r>
          </a:p>
          <a:p xmlns:a="http://schemas.openxmlformats.org/drawingml/2006/main">
            <a:r>
              <a:t>1+2t=5\quad\Longrightarrow\quad t=2</a:t>
            </a:r>
          </a:p>
          <a:p xmlns:a="http://schemas.openxmlformats.org/drawingml/2006/main">
            <a:r>
              <a:t>t=2:\quad[1,2,3]+2[2,-1,4]=[5,0,11]</a:t>
            </a:r>
          </a:p>
          <a:p xmlns:a="http://schemas.openxmlformats.org/drawingml/2006/main">
            <a:r>
              <a:t>[-4,2,-8]=-2[2,-1,4]</a:t>
            </a:r>
          </a:p>
          <a:p xmlns:a="http://schemas.openxmlformats.org/drawingml/2006/main">
            <a:r>
              <a:t>A\in L,\qquad M=L</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38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Begin Section eight point two by connecting the scalar forms you already know. Point-slope form uses a known point and a finite slope. Here m is the scalar slope, not the vector with an arrow.</a:t>
            </a:r>
          </a:p>
          <a:p xmlns:a="http://schemas.openxmlformats.org/drawingml/2006/main">
            <a:r>
              <a:t/>
            </a:r>
          </a:p>
          <a:p xmlns:a="http://schemas.openxmlformats.org/drawingml/2006/main">
            <a:r>
              <a:t>CLICK 1</a:t>
            </a:r>
          </a:p>
          <a:p xmlns:a="http://schemas.openxmlformats.org/drawingml/2006/main">
            <a:r>
              <a:t>For a line through five comma three with slope two, substitute those values into point-slope form.</a:t>
            </a:r>
          </a:p>
          <a:p xmlns:a="http://schemas.openxmlformats.org/drawingml/2006/main">
            <a:r>
              <a:t/>
            </a:r>
          </a:p>
          <a:p xmlns:a="http://schemas.openxmlformats.org/drawingml/2006/main">
            <a:r>
              <a:t>CLICK 2</a:t>
            </a:r>
          </a:p>
          <a:p xmlns:a="http://schemas.openxmlformats.org/drawingml/2006/main">
            <a:r>
              <a:t>Expand and rearrange. The slope-intercept equation is y equals two x minus seven.</a:t>
            </a:r>
          </a:p>
          <a:p xmlns:a="http://schemas.openxmlformats.org/drawingml/2006/main">
            <a:r>
              <a:t/>
            </a:r>
          </a:p>
          <a:p xmlns:a="http://schemas.openxmlformats.org/drawingml/2006/main">
            <a:r>
              <a:t>CLICK 3</a:t>
            </a:r>
          </a:p>
          <a:p xmlns:a="http://schemas.openxmlformats.org/drawingml/2006/main">
            <a:r>
              <a:t>Move every term to one side. We get two x minus y minus seven equals zero. This is Cartesian or standard form, A x plus B y plus C equals zero. A and B cannot both be zero.</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y-y_1=m(x-x_1)</a:t>
            </a:r>
          </a:p>
          <a:p xmlns:a="http://schemas.openxmlformats.org/drawingml/2006/main">
            <a:r>
              <a:t>y-3=2(x-5)</a:t>
            </a:r>
          </a:p>
          <a:p xmlns:a="http://schemas.openxmlformats.org/drawingml/2006/main">
            <a:r>
              <a:t>y=2x-7</a:t>
            </a:r>
          </a:p>
          <a:p xmlns:a="http://schemas.openxmlformats.org/drawingml/2006/main">
            <a:r>
              <a:t>2x-y-7=0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39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We are now moving into Section eight point two. A direction vector runs along a line. A normal vector points perpendicular to it. Their dot product is zero.</a:t>
            </a:r>
          </a:p>
          <a:p xmlns:a="http://schemas.openxmlformats.org/drawingml/2006/main">
            <a:r>
              <a:t/>
            </a:r>
          </a:p>
          <a:p xmlns:a="http://schemas.openxmlformats.org/drawingml/2006/main">
            <a:r>
              <a:t>CLICK 1</a:t>
            </a:r>
          </a:p>
          <a:p xmlns:a="http://schemas.openxmlformats.org/drawingml/2006/main">
            <a:r>
              <a:t>In two dimensions, we can get a normal by swapping the two direction components and changing the sign of one. The dot product cancels to zero. Any nonzero scalar multiple is also a valid normal.</a:t>
            </a:r>
          </a:p>
          <a:p xmlns:a="http://schemas.openxmlformats.org/drawingml/2006/main">
            <a:r>
              <a:t/>
            </a:r>
          </a:p>
          <a:p xmlns:a="http://schemas.openxmlformats.org/drawingml/2006/main">
            <a:r>
              <a:t>CLICK 2</a:t>
            </a:r>
          </a:p>
          <a:p xmlns:a="http://schemas.openxmlformats.org/drawingml/2006/main">
            <a:r>
              <a:t>For direction negative three comma two, we can use normal two comma three. The dot product is negative six plus six, which is zero. Later we will use the normal to build Cartesian equations and perpendicular lines.</a:t>
            </a:r>
          </a:p>
          <a:p xmlns:a="http://schemas.openxmlformats.org/drawingml/2006/main">
            <a:r>
              <a:t/>
            </a:r>
          </a:p>
          <a:p xmlns:a="http://schemas.openxmlformats.org/drawingml/2006/main">
            <a:r>
              <a:t>POINTER OR DRAWING</a:t>
            </a:r>
          </a:p>
          <a:p xmlns:a="http://schemas.openxmlformats.org/drawingml/2006/main">
            <a:r>
              <a:t>Use the perpendicular direction and normal diagram. Constructing a unique perpendicular line from one point and one given direction is a two dimensional argument here.</a:t>
            </a:r>
          </a:p>
          <a:p xmlns:a="http://schemas.openxmlformats.org/drawingml/2006/main">
            <a:r>
              <a:t/>
            </a:r>
          </a:p>
          <a:p xmlns:a="http://schemas.openxmlformats.org/drawingml/2006/main">
            <a:r>
              <a:t>EQUATIONS IN LATEX</a:t>
            </a:r>
          </a:p>
          <a:p xmlns:a="http://schemas.openxmlformats.org/drawingml/2006/main">
            <a:r>
              <a:t>\vec m\cdot\vec n=0</a:t>
            </a:r>
          </a:p>
          <a:p xmlns:a="http://schemas.openxmlformats.org/drawingml/2006/main">
            <a:r>
              <a:t>\vec m=[a,b]\quad\Rightarrow\quad\vec n=[b,-a]</a:t>
            </a:r>
          </a:p>
          <a:p xmlns:a="http://schemas.openxmlformats.org/drawingml/2006/main">
            <a:r>
              <a:t>[-3,2]\cdot[2,3]=-6+6=0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40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Let's connect a normal vector to Cartesian form. A normal is perpendicular to the line. Choose a known point P zero and any point P on the line. Their displacement lies along the line.</a:t>
            </a:r>
          </a:p>
          <a:p xmlns:a="http://schemas.openxmlformats.org/drawingml/2006/main">
            <a:r>
              <a:t/>
            </a:r>
          </a:p>
          <a:p xmlns:a="http://schemas.openxmlformats.org/drawingml/2006/main">
            <a:r>
              <a:t>CLICK 1</a:t>
            </a:r>
          </a:p>
          <a:p xmlns:a="http://schemas.openxmlformats.org/drawingml/2006/main">
            <a:r>
              <a:t>The normal and that displacement are perpendicular, so their dot product is zero. This is the reason behind the equation.</a:t>
            </a:r>
          </a:p>
          <a:p xmlns:a="http://schemas.openxmlformats.org/drawingml/2006/main">
            <a:r>
              <a:t/>
            </a:r>
          </a:p>
          <a:p xmlns:a="http://schemas.openxmlformats.org/drawingml/2006/main">
            <a:r>
              <a:t>CLICK 2</a:t>
            </a:r>
          </a:p>
          <a:p xmlns:a="http://schemas.openxmlformats.org/drawingml/2006/main">
            <a:r>
              <a:t>Expand the dot product one component at a time. A multiplies the change in x, and B multiplies the change in y.</a:t>
            </a:r>
          </a:p>
          <a:p xmlns:a="http://schemas.openxmlformats.org/drawingml/2006/main">
            <a:r>
              <a:t/>
            </a:r>
          </a:p>
          <a:p xmlns:a="http://schemas.openxmlformats.org/drawingml/2006/main">
            <a:r>
              <a:t>CLICK 3</a:t>
            </a:r>
          </a:p>
          <a:p xmlns:a="http://schemas.openxmlformats.org/drawingml/2006/main">
            <a:r>
              <a:t>Expand the brackets. Now the variable terms are A x and B y, and the remaining terms are constants.</a:t>
            </a:r>
          </a:p>
          <a:p xmlns:a="http://schemas.openxmlformats.org/drawingml/2006/main">
            <a:r>
              <a:t/>
            </a:r>
          </a:p>
          <a:p xmlns:a="http://schemas.openxmlformats.org/drawingml/2006/main">
            <a:r>
              <a:t>CLICK 4</a:t>
            </a:r>
          </a:p>
          <a:p xmlns:a="http://schemas.openxmlformats.org/drawingml/2006/main">
            <a:r>
              <a:t>Group those constants into C. We get A x plus B y plus C equals zero. That is why the coefficients A and B give a normal vector. They cannot both be zero.</a:t>
            </a:r>
          </a:p>
          <a:p xmlns:a="http://schemas.openxmlformats.org/drawingml/2006/main">
            <a:r>
              <a:t/>
            </a:r>
          </a:p>
          <a:p xmlns:a="http://schemas.openxmlformats.org/drawingml/2006/main">
            <a:r>
              <a:t>POINTER OR DRAWING</a:t>
            </a:r>
          </a:p>
          <a:p xmlns:a="http://schemas.openxmlformats.org/drawingml/2006/main">
            <a:r>
              <a:t>Follow the dot product, its component expansion, and the collection of constant terms.</a:t>
            </a:r>
          </a:p>
          <a:p xmlns:a="http://schemas.openxmlformats.org/drawingml/2006/main">
            <a:r>
              <a:t/>
            </a:r>
          </a:p>
          <a:p xmlns:a="http://schemas.openxmlformats.org/drawingml/2006/main">
            <a:r>
              <a:t>EQUATIONS IN LATEX</a:t>
            </a:r>
          </a:p>
          <a:p xmlns:a="http://schemas.openxmlformats.org/drawingml/2006/main">
            <a:r>
              <a:t>\vec n=[A,B],\qquad\overrightarrow{P_0P}=[x-x_0,y-y_0]</a:t>
            </a:r>
          </a:p>
          <a:p xmlns:a="http://schemas.openxmlformats.org/drawingml/2006/main">
            <a:r>
              <a:t>\vec n\cdot\overrightarrow{P_0P}=0</a:t>
            </a:r>
          </a:p>
          <a:p xmlns:a="http://schemas.openxmlformats.org/drawingml/2006/main">
            <a:r>
              <a:t>A(x-x_0)+B(y-y_0)=0</a:t>
            </a:r>
          </a:p>
          <a:p xmlns:a="http://schemas.openxmlformats.org/drawingml/2006/main">
            <a:r>
              <a:t>Ax+By-Ax_0-By_0=0</a:t>
            </a:r>
          </a:p>
          <a:p xmlns:a="http://schemas.openxmlformats.org/drawingml/2006/main">
            <a:r>
              <a:t>Ax+By+C=0,\quad C=-Ax_0-By_0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41 | iPad PAGE 20</a:t>
            </a:r>
          </a:p>
          <a:p xmlns:a="http://schemas.openxmlformats.org/drawingml/2006/main">
            <a:r>
              <a:t>Section 8.2 Cartesian lines in two dimensions</a:t>
            </a:r>
          </a:p>
          <a:p xmlns:a="http://schemas.openxmlformats.org/drawingml/2006/main">
            <a:r>
              <a:t/>
            </a:r>
          </a:p>
          <a:p xmlns:a="http://schemas.openxmlformats.org/drawingml/2006/main">
            <a:r>
              <a:t>TRANSITION TO IPAD</a:t>
            </a:r>
          </a:p>
          <a:p xmlns:a="http://schemas.openxmlformats.org/drawingml/2006/main">
            <a:r>
              <a:t>Let’s write the next example out together. Keep the question at the top and add one step at a time.</a:t>
            </a:r>
          </a:p>
          <a:p xmlns:a="http://schemas.openxmlformats.org/drawingml/2006/main">
            <a:r>
              <a:t/>
            </a:r>
          </a:p>
          <a:p xmlns:a="http://schemas.openxmlformats.org/drawingml/2006/main">
            <a:r>
              <a:t>WRITE 1</a:t>
            </a:r>
          </a:p>
          <a:p xmlns:a="http://schemas.openxmlformats.org/drawingml/2006/main">
            <a:r>
              <a:t>Let's use the point four comma negative two and normal five comma three. The normal tells us the coefficients of x and y.</a:t>
            </a:r>
          </a:p>
          <a:p xmlns:a="http://schemas.openxmlformats.org/drawingml/2006/main">
            <a:r>
              <a:t/>
            </a:r>
          </a:p>
          <a:p xmlns:a="http://schemas.openxmlformats.org/drawingml/2006/main">
            <a:r>
              <a:t>WRITE 2</a:t>
            </a:r>
          </a:p>
          <a:p xmlns:a="http://schemas.openxmlformats.org/drawingml/2006/main">
            <a:r>
              <a:t>Write five x plus three y plus C equals zero. The only unknown coefficient is C.</a:t>
            </a:r>
          </a:p>
          <a:p xmlns:a="http://schemas.openxmlformats.org/drawingml/2006/main">
            <a:r>
              <a:t/>
            </a:r>
          </a:p>
          <a:p xmlns:a="http://schemas.openxmlformats.org/drawingml/2006/main">
            <a:r>
              <a:t>WRITE 3</a:t>
            </a:r>
          </a:p>
          <a:p xmlns:a="http://schemas.openxmlformats.org/drawingml/2006/main">
            <a:r>
              <a:t>The given point lies on the line, so substitute its coordinates into that equation.</a:t>
            </a:r>
          </a:p>
          <a:p xmlns:a="http://schemas.openxmlformats.org/drawingml/2006/main">
            <a:r>
              <a:t/>
            </a:r>
          </a:p>
          <a:p xmlns:a="http://schemas.openxmlformats.org/drawingml/2006/main">
            <a:r>
              <a:t>WRITE 4</a:t>
            </a:r>
          </a:p>
          <a:p xmlns:a="http://schemas.openxmlformats.org/drawingml/2006/main">
            <a:r>
              <a:t>Twenty minus six is fourteen. To make the total zero, C must be negative fourteen.</a:t>
            </a:r>
          </a:p>
          <a:p xmlns:a="http://schemas.openxmlformats.org/drawingml/2006/main">
            <a:r>
              <a:t/>
            </a:r>
          </a:p>
          <a:p xmlns:a="http://schemas.openxmlformats.org/drawingml/2006/main">
            <a:r>
              <a:t>WRITE 5</a:t>
            </a:r>
          </a:p>
          <a:p xmlns:a="http://schemas.openxmlformats.org/drawingml/2006/main">
            <a:r>
              <a:t>Put that value back into the equation. We get five x plus three y minus fourteen equals zero. Substituting the original point gives zero, so the point check works.</a:t>
            </a:r>
          </a:p>
          <a:p xmlns:a="http://schemas.openxmlformats.org/drawingml/2006/main">
            <a:r>
              <a:t/>
            </a:r>
          </a:p>
          <a:p xmlns:a="http://schemas.openxmlformats.org/drawingml/2006/main">
            <a:r>
              <a:t>POINTER OR DRAWING</a:t>
            </a:r>
          </a:p>
          <a:p xmlns:a="http://schemas.openxmlformats.org/drawingml/2006/main">
            <a:r>
              <a:t>Point to the right-angle marker, then to the normal and the x and y coefficients.</a:t>
            </a:r>
          </a:p>
          <a:p xmlns:a="http://schemas.openxmlformats.org/drawingml/2006/main">
            <a:r>
              <a:t/>
            </a:r>
          </a:p>
          <a:p xmlns:a="http://schemas.openxmlformats.org/drawingml/2006/main">
            <a:r>
              <a:t>EQUATIONS IN LATEX</a:t>
            </a:r>
          </a:p>
          <a:p xmlns:a="http://schemas.openxmlformats.org/drawingml/2006/main">
            <a:r>
              <a:t>\vec n=[5,3],\qquad P_0(4,-2)</a:t>
            </a:r>
          </a:p>
          <a:p xmlns:a="http://schemas.openxmlformats.org/drawingml/2006/main">
            <a:r>
              <a:t>5x+3y+C=0</a:t>
            </a:r>
          </a:p>
          <a:p xmlns:a="http://schemas.openxmlformats.org/drawingml/2006/main">
            <a:r>
              <a:t>5(4)+3(-2)+C=0</a:t>
            </a:r>
          </a:p>
          <a:p xmlns:a="http://schemas.openxmlformats.org/drawingml/2006/main">
            <a:r>
              <a:t>20-6+C=0\quad\Longrightarrow\quad C=-14</a:t>
            </a:r>
          </a:p>
          <a:p xmlns:a="http://schemas.openxmlformats.org/drawingml/2006/main">
            <a:r>
              <a:t>5x+3y-14=0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42 | iPad PAGE 21</a:t>
            </a:r>
          </a:p>
          <a:p xmlns:a="http://schemas.openxmlformats.org/drawingml/2006/main">
            <a:r>
              <a:t>Section 8.2 Cartesian lines in two dimensions</a:t>
            </a:r>
          </a:p>
          <a:p xmlns:a="http://schemas.openxmlformats.org/drawingml/2006/main">
            <a:r>
              <a:t/>
            </a:r>
          </a:p>
          <a:p xmlns:a="http://schemas.openxmlformats.org/drawingml/2006/main">
            <a:r>
              <a:t>WRITE 1</a:t>
            </a:r>
          </a:p>
          <a:p xmlns:a="http://schemas.openxmlformats.org/drawingml/2006/main">
            <a:r>
              <a:t>Your turn. Find a Cartesian equation through one comma four with normal two comma negative three. Use the normal as the coefficients, then substitute the point to find the constant. Pause before checking the solution.</a:t>
            </a:r>
          </a:p>
          <a:p xmlns:a="http://schemas.openxmlformats.org/drawingml/2006/main">
            <a:r>
              <a:t/>
            </a:r>
          </a:p>
          <a:p xmlns:a="http://schemas.openxmlformats.org/drawingml/2006/main">
            <a:r>
              <a:t>POINTER OR DRAWING</a:t>
            </a:r>
          </a:p>
          <a:p xmlns:a="http://schemas.openxmlformats.org/drawingml/2006/main">
            <a:r>
              <a:t>Pause on the question. The solution follows on the next slide.</a:t>
            </a:r>
          </a:p>
          <a:p xmlns:a="http://schemas.openxmlformats.org/drawingml/2006/main">
            <a:r>
              <a:t/>
            </a:r>
          </a:p>
          <a:p xmlns:a="http://schemas.openxmlformats.org/drawingml/2006/main">
            <a:r>
              <a:t>EQUATIONS IN LATEX</a:t>
            </a:r>
          </a:p>
          <a:p xmlns:a="http://schemas.openxmlformats.org/drawingml/2006/main">
            <a:r>
              <a:t>P(1,4),\qquad\vec n=[2,-3]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43 | iPad PAGE 22</a:t>
            </a:r>
          </a:p>
          <a:p xmlns:a="http://schemas.openxmlformats.org/drawingml/2006/main">
            <a:r>
              <a:t>Section 8.2 Cartesian lines in two dimensions</a:t>
            </a:r>
          </a:p>
          <a:p xmlns:a="http://schemas.openxmlformats.org/drawingml/2006/main">
            <a:r>
              <a:t/>
            </a:r>
          </a:p>
          <a:p xmlns:a="http://schemas.openxmlformats.org/drawingml/2006/main">
            <a:r>
              <a:t>WRITE 1</a:t>
            </a:r>
          </a:p>
          <a:p xmlns:a="http://schemas.openxmlformats.org/drawingml/2006/main">
            <a:r>
              <a:t>The normal gives two x minus three y. Add an unknown constant C and set the expression equal to zero.</a:t>
            </a:r>
          </a:p>
          <a:p xmlns:a="http://schemas.openxmlformats.org/drawingml/2006/main">
            <a:r>
              <a:t/>
            </a:r>
          </a:p>
          <a:p xmlns:a="http://schemas.openxmlformats.org/drawingml/2006/main">
            <a:r>
              <a:t>WRITE 2</a:t>
            </a:r>
          </a:p>
          <a:p xmlns:a="http://schemas.openxmlformats.org/drawingml/2006/main">
            <a:r>
              <a:t>Substitute the given point. Two times one minus three times four plus C must be zero.</a:t>
            </a:r>
          </a:p>
          <a:p xmlns:a="http://schemas.openxmlformats.org/drawingml/2006/main">
            <a:r>
              <a:t/>
            </a:r>
          </a:p>
          <a:p xmlns:a="http://schemas.openxmlformats.org/drawingml/2006/main">
            <a:r>
              <a:t>WRITE 3</a:t>
            </a:r>
          </a:p>
          <a:p xmlns:a="http://schemas.openxmlformats.org/drawingml/2006/main">
            <a:r>
              <a:t>That gives negative ten plus C equals zero, so C is ten.</a:t>
            </a:r>
          </a:p>
          <a:p xmlns:a="http://schemas.openxmlformats.org/drawingml/2006/main">
            <a:r>
              <a:t/>
            </a:r>
          </a:p>
          <a:p xmlns:a="http://schemas.openxmlformats.org/drawingml/2006/main">
            <a:r>
              <a:t>WRITE 4</a:t>
            </a:r>
          </a:p>
          <a:p xmlns:a="http://schemas.openxmlformats.org/drawingml/2006/main">
            <a:r>
              <a:t>Our equation is two x minus three y plus ten equals zero.</a:t>
            </a:r>
          </a:p>
          <a:p xmlns:a="http://schemas.openxmlformats.org/drawingml/2006/main">
            <a:r>
              <a:t/>
            </a:r>
          </a:p>
          <a:p xmlns:a="http://schemas.openxmlformats.org/drawingml/2006/main">
            <a:r>
              <a:t>WRITE 5</a:t>
            </a:r>
          </a:p>
          <a:p xmlns:a="http://schemas.openxmlformats.org/drawingml/2006/main">
            <a:r>
              <a:t>Check the original point. Two minus twelve plus ten is zero. The equation has the required normal and passes through the required point.</a:t>
            </a:r>
          </a:p>
          <a:p xmlns:a="http://schemas.openxmlformats.org/drawingml/2006/main">
            <a:r>
              <a:t/>
            </a:r>
          </a:p>
          <a:p xmlns:a="http://schemas.openxmlformats.org/drawingml/2006/main">
            <a:r>
              <a:t>POINTER OR DRAWING</a:t>
            </a:r>
          </a:p>
          <a:p xmlns:a="http://schemas.openxmlformats.org/drawingml/2006/main">
            <a:r>
              <a:t>Check both the point substitution and the normal coefficients.</a:t>
            </a:r>
          </a:p>
          <a:p xmlns:a="http://schemas.openxmlformats.org/drawingml/2006/main">
            <a:r>
              <a:t/>
            </a:r>
          </a:p>
          <a:p xmlns:a="http://schemas.openxmlformats.org/drawingml/2006/main">
            <a:r>
              <a:t>EQUATIONS IN LATEX</a:t>
            </a:r>
          </a:p>
          <a:p xmlns:a="http://schemas.openxmlformats.org/drawingml/2006/main">
            <a:r>
              <a:t>2x-3y+C=0</a:t>
            </a:r>
          </a:p>
          <a:p xmlns:a="http://schemas.openxmlformats.org/drawingml/2006/main">
            <a:r>
              <a:t>2(1)-3(4)+C=0</a:t>
            </a:r>
          </a:p>
          <a:p xmlns:a="http://schemas.openxmlformats.org/drawingml/2006/main">
            <a:r>
              <a:t>-10+C=0\quad\Longrightarrow\quad C=10</a:t>
            </a:r>
          </a:p>
          <a:p xmlns:a="http://schemas.openxmlformats.org/drawingml/2006/main">
            <a:r>
              <a:t>2x-3y+10=0</a:t>
            </a:r>
          </a:p>
          <a:p xmlns:a="http://schemas.openxmlformats.org/drawingml/2006/main">
            <a:r>
              <a:t>2(1)-3(4)+10=0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44 | iPad PAGE 23</a:t>
            </a:r>
          </a:p>
          <a:p xmlns:a="http://schemas.openxmlformats.org/drawingml/2006/main">
            <a:r>
              <a:t>Section 8.2 Cartesian lines in two dimensions</a:t>
            </a:r>
          </a:p>
          <a:p xmlns:a="http://schemas.openxmlformats.org/drawingml/2006/main">
            <a:r>
              <a:t/>
            </a:r>
          </a:p>
          <a:p xmlns:a="http://schemas.openxmlformats.org/drawingml/2006/main">
            <a:r>
              <a:t>WRITE 1</a:t>
            </a:r>
          </a:p>
          <a:p xmlns:a="http://schemas.openxmlformats.org/drawingml/2006/main">
            <a:r>
              <a:t>We want a line through six comma five that is perpendicular to the given line. The given direction is negative three comma two. We need a direction perpendicular to that.</a:t>
            </a:r>
          </a:p>
          <a:p xmlns:a="http://schemas.openxmlformats.org/drawingml/2006/main">
            <a:r>
              <a:t/>
            </a:r>
          </a:p>
          <a:p xmlns:a="http://schemas.openxmlformats.org/drawingml/2006/main">
            <a:r>
              <a:t>WRITE 2</a:t>
            </a:r>
          </a:p>
          <a:p xmlns:a="http://schemas.openxmlformats.org/drawingml/2006/main">
            <a:r>
              <a:t>Call our new direction a comma b. Perpendicular directions have a zero dot product, so negative three a plus two b must equal zero.</a:t>
            </a:r>
          </a:p>
          <a:p xmlns:a="http://schemas.openxmlformats.org/drawingml/2006/main">
            <a:r>
              <a:t/>
            </a:r>
          </a:p>
          <a:p xmlns:a="http://schemas.openxmlformats.org/drawingml/2006/main">
            <a:r>
              <a:t>WRITE 3</a:t>
            </a:r>
          </a:p>
          <a:p xmlns:a="http://schemas.openxmlformats.org/drawingml/2006/main">
            <a:r>
              <a:t>A convenient choice is a equals two and b equals three. Check it: negative six plus six is zero.</a:t>
            </a:r>
          </a:p>
          <a:p xmlns:a="http://schemas.openxmlformats.org/drawingml/2006/main">
            <a:r>
              <a:t/>
            </a:r>
          </a:p>
          <a:p xmlns:a="http://schemas.openxmlformats.org/drawingml/2006/main">
            <a:r>
              <a:t>WRITE 4</a:t>
            </a:r>
          </a:p>
          <a:p xmlns:a="http://schemas.openxmlformats.org/drawingml/2006/main">
            <a:r>
              <a:t>Use the required point and the new direction. This gives the perpendicular line. We have checked its direction and used the correct point to fix its location.</a:t>
            </a:r>
          </a:p>
          <a:p xmlns:a="http://schemas.openxmlformats.org/drawingml/2006/main">
            <a:r>
              <a:t/>
            </a:r>
          </a:p>
          <a:p xmlns:a="http://schemas.openxmlformats.org/drawingml/2006/main">
            <a:r>
              <a:t>POINTER OR DRAWING</a:t>
            </a:r>
          </a:p>
          <a:p xmlns:a="http://schemas.openxmlformats.org/drawingml/2006/main">
            <a:r>
              <a:t>Point to the zero dot product before identifying the direction in the answer.</a:t>
            </a:r>
          </a:p>
          <a:p xmlns:a="http://schemas.openxmlformats.org/drawingml/2006/main">
            <a:r>
              <a:t/>
            </a:r>
          </a:p>
          <a:p xmlns:a="http://schemas.openxmlformats.org/drawingml/2006/main">
            <a:r>
              <a:t>RETURN TO POWERPOINT</a:t>
            </a:r>
          </a:p>
          <a:p xmlns:a="http://schemas.openxmlformats.org/drawingml/2006/main">
            <a:r>
              <a:t>Let’s return to the slides for the next idea.</a:t>
            </a:r>
          </a:p>
          <a:p xmlns:a="http://schemas.openxmlformats.org/drawingml/2006/main">
            <a:r>
              <a:t/>
            </a:r>
          </a:p>
          <a:p xmlns:a="http://schemas.openxmlformats.org/drawingml/2006/main">
            <a:r>
              <a:t>EQUATIONS IN LATEX</a:t>
            </a:r>
          </a:p>
          <a:p xmlns:a="http://schemas.openxmlformats.org/drawingml/2006/main">
            <a:r>
              <a:t>\vec r=[4,1]+s[-3,2]</a:t>
            </a:r>
          </a:p>
          <a:p xmlns:a="http://schemas.openxmlformats.org/drawingml/2006/main">
            <a:r>
              <a:t>[-3,2]\cdot[a,b]=-3a+2b=0</a:t>
            </a:r>
          </a:p>
          <a:p xmlns:a="http://schemas.openxmlformats.org/drawingml/2006/main">
            <a:r>
              <a:t>a=2,\quad b=3:\quad-3(2)+2(3)=0</a:t>
            </a:r>
          </a:p>
          <a:p xmlns:a="http://schemas.openxmlformats.org/drawingml/2006/main">
            <a:r>
              <a:t>\vec r=[6,5]+t[2,3]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45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Let’s convert directly from Cartesian form. The coefficients two and negative three give a normal vector. They are not the direction of the line.</a:t>
            </a:r>
          </a:p>
          <a:p xmlns:a="http://schemas.openxmlformats.org/drawingml/2006/main">
            <a:r>
              <a:t/>
            </a:r>
          </a:p>
          <a:p xmlns:a="http://schemas.openxmlformats.org/drawingml/2006/main">
            <a:r>
              <a:t>CLICK 1</a:t>
            </a:r>
          </a:p>
          <a:p xmlns:a="http://schemas.openxmlformats.org/drawingml/2006/main">
            <a:r>
              <a:t>Choose a direction perpendicular to that normal. Three comma two works because their dot product is six minus six, which is zero.</a:t>
            </a:r>
          </a:p>
          <a:p xmlns:a="http://schemas.openxmlformats.org/drawingml/2006/main">
            <a:r>
              <a:t/>
            </a:r>
          </a:p>
          <a:p xmlns:a="http://schemas.openxmlformats.org/drawingml/2006/main">
            <a:r>
              <a:t>CLICK 2</a:t>
            </a:r>
          </a:p>
          <a:p xmlns:a="http://schemas.openxmlformats.org/drawingml/2006/main">
            <a:r>
              <a:t>We also need a point. Set x to zero and solve. Y is two, so zero comma two is a convenient starting point.</a:t>
            </a:r>
          </a:p>
          <a:p xmlns:a="http://schemas.openxmlformats.org/drawingml/2006/main">
            <a:r>
              <a:t/>
            </a:r>
          </a:p>
          <a:p xmlns:a="http://schemas.openxmlformats.org/drawingml/2006/main">
            <a:r>
              <a:t>CLICK 3</a:t>
            </a:r>
          </a:p>
          <a:p xmlns:a="http://schemas.openxmlformats.org/drawingml/2006/main">
            <a:r>
              <a:t>Put the point and direction into vector form, then read the parametric equations.</a:t>
            </a:r>
          </a:p>
          <a:p xmlns:a="http://schemas.openxmlformats.org/drawingml/2006/main">
            <a:r>
              <a:t/>
            </a:r>
          </a:p>
          <a:p xmlns:a="http://schemas.openxmlformats.org/drawingml/2006/main">
            <a:r>
              <a:t>CLICK 4</a:t>
            </a:r>
          </a:p>
          <a:p xmlns:a="http://schemas.openxmlformats.org/drawingml/2006/main">
            <a:r>
              <a:t>Check by substituting the parametric equations into the original Cartesian equation. The t terms cancel and the constants cancel. Every point generated is on the original line.</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2x-3y+6=0:\quad\vec n=[2,-3]</a:t>
            </a:r>
          </a:p>
          <a:p xmlns:a="http://schemas.openxmlformats.org/drawingml/2006/main">
            <a:r>
              <a:t>\vec m=[3,2],\quad[2,-3]\cdot[3,2]=0</a:t>
            </a:r>
          </a:p>
          <a:p xmlns:a="http://schemas.openxmlformats.org/drawingml/2006/main">
            <a:r>
              <a:t>x=0:\quad-3y+6=0\quad\Rightarrow\quad P(0,2)</a:t>
            </a:r>
          </a:p>
          <a:p xmlns:a="http://schemas.openxmlformats.org/drawingml/2006/main">
            <a:r>
              <a:t>\vec r=[0,2]+t[3,2],\quad x=3t,\ y=2+2t</a:t>
            </a:r>
          </a:p>
          <a:p xmlns:a="http://schemas.openxmlformats.org/drawingml/2006/main">
            <a:r>
              <a:t>2(3t)-3(2+2t)+6=0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46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Now convert the other way. The vector equation gives a starting point and direction.</a:t>
            </a:r>
          </a:p>
          <a:p xmlns:a="http://schemas.openxmlformats.org/drawingml/2006/main">
            <a:r>
              <a:t/>
            </a:r>
          </a:p>
          <a:p xmlns:a="http://schemas.openxmlformats.org/drawingml/2006/main">
            <a:r>
              <a:t>CLICK 1</a:t>
            </a:r>
          </a:p>
          <a:p xmlns:a="http://schemas.openxmlformats.org/drawingml/2006/main">
            <a:r>
              <a:t>Read the component equations using the same parameter in x and y.</a:t>
            </a:r>
          </a:p>
          <a:p xmlns:a="http://schemas.openxmlformats.org/drawingml/2006/main">
            <a:r>
              <a:t/>
            </a:r>
          </a:p>
          <a:p xmlns:a="http://schemas.openxmlformats.org/drawingml/2006/main">
            <a:r>
              <a:t>CLICK 2</a:t>
            </a:r>
          </a:p>
          <a:p xmlns:a="http://schemas.openxmlformats.org/drawingml/2006/main">
            <a:r>
              <a:t>Make t the subject of each equation and set the results equal. Subtract two from x and add one to y before dividing.</a:t>
            </a:r>
          </a:p>
          <a:p xmlns:a="http://schemas.openxmlformats.org/drawingml/2006/main">
            <a:r>
              <a:t/>
            </a:r>
          </a:p>
          <a:p xmlns:a="http://schemas.openxmlformats.org/drawingml/2006/main">
            <a:r>
              <a:t>CLICK 3</a:t>
            </a:r>
          </a:p>
          <a:p xmlns:a="http://schemas.openxmlformats.org/drawingml/2006/main">
            <a:r>
              <a:t>Cross-multiply and expand. Two x minus four equals three y plus three, so the Cartesian equation is two x minus three y minus seven equals zero.</a:t>
            </a:r>
          </a:p>
          <a:p xmlns:a="http://schemas.openxmlformats.org/drawingml/2006/main">
            <a:r>
              <a:t/>
            </a:r>
          </a:p>
          <a:p xmlns:a="http://schemas.openxmlformats.org/drawingml/2006/main">
            <a:r>
              <a:t>CLICK 4</a:t>
            </a:r>
          </a:p>
          <a:p xmlns:a="http://schemas.openxmlformats.org/drawingml/2006/main">
            <a:r>
              <a:t>Read the normal from the Cartesian coefficients. Its dot product with the original direction is zero. The original point also satisfies the equation, so the direction and location checks both work.</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\vec r=[2,-1]+t[3,2]</a:t>
            </a:r>
          </a:p>
          <a:p xmlns:a="http://schemas.openxmlformats.org/drawingml/2006/main">
            <a:r>
              <a:t>x=2+3t,\quad y=-1+2t</a:t>
            </a:r>
          </a:p>
          <a:p xmlns:a="http://schemas.openxmlformats.org/drawingml/2006/main">
            <a:r>
              <a:t>\frac{x-2}{3}=\frac{y+1}{2}</a:t>
            </a:r>
          </a:p>
          <a:p xmlns:a="http://schemas.openxmlformats.org/drawingml/2006/main">
            <a:r>
              <a:t>2(x-2)=3(y+1)\quad\Rightarrow\quad2x-3y-7=0</a:t>
            </a:r>
          </a:p>
          <a:p xmlns:a="http://schemas.openxmlformats.org/drawingml/2006/main">
            <a:r>
              <a:t>\vec n=[2,-3],\quad\vec n\cdot[3,2]=0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47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Let's convert a familiar slope equation into vector form. We still need a point and a direction.</a:t>
            </a:r>
          </a:p>
          <a:p xmlns:a="http://schemas.openxmlformats.org/drawingml/2006/main">
            <a:r>
              <a:t/>
            </a:r>
          </a:p>
          <a:p xmlns:a="http://schemas.openxmlformats.org/drawingml/2006/main">
            <a:r>
              <a:t>CLICK 1</a:t>
            </a:r>
          </a:p>
          <a:p xmlns:a="http://schemas.openxmlformats.org/drawingml/2006/main">
            <a:r>
              <a:t>Slope is the change in y divided by the change in x. A rise of three and a run of four give direction four comma three. The x-component comes first.</a:t>
            </a:r>
          </a:p>
          <a:p xmlns:a="http://schemas.openxmlformats.org/drawingml/2006/main">
            <a:r>
              <a:t/>
            </a:r>
          </a:p>
          <a:p xmlns:a="http://schemas.openxmlformats.org/drawingml/2006/main">
            <a:r>
              <a:t>CLICK 2</a:t>
            </a:r>
          </a:p>
          <a:p xmlns:a="http://schemas.openxmlformats.org/drawingml/2006/main">
            <a:r>
              <a:t>Set x to zero to find an easy point. Then y is two, so we can start at zero comma two.</a:t>
            </a:r>
          </a:p>
          <a:p xmlns:a="http://schemas.openxmlformats.org/drawingml/2006/main">
            <a:r>
              <a:t/>
            </a:r>
          </a:p>
          <a:p xmlns:a="http://schemas.openxmlformats.org/drawingml/2006/main">
            <a:r>
              <a:t>CLICK 3</a:t>
            </a:r>
          </a:p>
          <a:p xmlns:a="http://schemas.openxmlformats.org/drawingml/2006/main">
            <a:r>
              <a:t>Use that point and the direction in vector form.</a:t>
            </a:r>
          </a:p>
          <a:p xmlns:a="http://schemas.openxmlformats.org/drawingml/2006/main">
            <a:r>
              <a:t/>
            </a:r>
          </a:p>
          <a:p xmlns:a="http://schemas.openxmlformats.org/drawingml/2006/main">
            <a:r>
              <a:t>CLICK 4</a:t>
            </a:r>
          </a:p>
          <a:p xmlns:a="http://schemas.openxmlformats.org/drawingml/2006/main">
            <a:r>
              <a:t>Reading the components gives x equals four t and y equals two plus three t. They describe the same line as the original slope equation.</a:t>
            </a:r>
          </a:p>
          <a:p xmlns:a="http://schemas.openxmlformats.org/drawingml/2006/main">
            <a:r>
              <a:t/>
            </a:r>
          </a:p>
          <a:p xmlns:a="http://schemas.openxmlformats.org/drawingml/2006/main">
            <a:r>
              <a:t>POINTER OR DRAWING</a:t>
            </a:r>
          </a:p>
          <a:p xmlns:a="http://schemas.openxmlformats.org/drawingml/2006/main">
            <a:r>
              <a:t>Match run 4 to the x-component and rise 3 to the y-component.</a:t>
            </a:r>
          </a:p>
          <a:p xmlns:a="http://schemas.openxmlformats.org/drawingml/2006/main">
            <a:r>
              <a:t/>
            </a:r>
          </a:p>
          <a:p xmlns:a="http://schemas.openxmlformats.org/drawingml/2006/main">
            <a:r>
              <a:t>EQUATIONS IN LATEX</a:t>
            </a:r>
          </a:p>
          <a:p xmlns:a="http://schemas.openxmlformats.org/drawingml/2006/main">
            <a:r>
              <a:t>y=\frac34x+2</a:t>
            </a:r>
          </a:p>
          <a:p xmlns:a="http://schemas.openxmlformats.org/drawingml/2006/main">
            <a:r>
              <a:t>\frac{\Delta y}{\Delta x}=\frac34\quad\Longrightarrow\quad\vec m=[4,3]</a:t>
            </a:r>
          </a:p>
          <a:p xmlns:a="http://schemas.openxmlformats.org/drawingml/2006/main">
            <a:r>
              <a:t>x=0\quad\Longrightarrow\quad y=2,\quad P_0(0,2)</a:t>
            </a:r>
          </a:p>
          <a:p xmlns:a="http://schemas.openxmlformats.org/drawingml/2006/main">
            <a:r>
              <a:t>\vec r=[0,2]+t[4,3]</a:t>
            </a:r>
          </a:p>
          <a:p xmlns:a="http://schemas.openxmlformats.org/drawingml/2006/main">
            <a:r>
              <a:t>x=4t,\qquad y=2+3t</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48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Now convert the other way. The given vector equation supplies a starting point and a direction.</a:t>
            </a:r>
          </a:p>
          <a:p xmlns:a="http://schemas.openxmlformats.org/drawingml/2006/main">
            <a:r>
              <a:t/>
            </a:r>
          </a:p>
          <a:p xmlns:a="http://schemas.openxmlformats.org/drawingml/2006/main">
            <a:r>
              <a:t>CLICK 1</a:t>
            </a:r>
          </a:p>
          <a:p xmlns:a="http://schemas.openxmlformats.org/drawingml/2006/main">
            <a:r>
              <a:t>Find the slope from the direction. The y-change is negative four and the x-change is negative one. Their ratio is four.</a:t>
            </a:r>
          </a:p>
          <a:p xmlns:a="http://schemas.openxmlformats.org/drawingml/2006/main">
            <a:r>
              <a:t/>
            </a:r>
          </a:p>
          <a:p xmlns:a="http://schemas.openxmlformats.org/drawingml/2006/main">
            <a:r>
              <a:t>CLICK 2</a:t>
            </a:r>
          </a:p>
          <a:p xmlns:a="http://schemas.openxmlformats.org/drawingml/2006/main">
            <a:r>
              <a:t>Write y equals four x plus b. We know the slope, so we just need the intercept.</a:t>
            </a:r>
          </a:p>
          <a:p xmlns:a="http://schemas.openxmlformats.org/drawingml/2006/main">
            <a:r>
              <a:t/>
            </a:r>
          </a:p>
          <a:p xmlns:a="http://schemas.openxmlformats.org/drawingml/2006/main">
            <a:r>
              <a:t>CLICK 3</a:t>
            </a:r>
          </a:p>
          <a:p xmlns:a="http://schemas.openxmlformats.org/drawingml/2006/main">
            <a:r>
              <a:t>Substitute the starting point, three comma negative six. Solving for b gives negative eighteen.</a:t>
            </a:r>
          </a:p>
          <a:p xmlns:a="http://schemas.openxmlformats.org/drawingml/2006/main">
            <a:r>
              <a:t/>
            </a:r>
          </a:p>
          <a:p xmlns:a="http://schemas.openxmlformats.org/drawingml/2006/main">
            <a:r>
              <a:t>CLICK 4</a:t>
            </a:r>
          </a:p>
          <a:p xmlns:a="http://schemas.openxmlformats.org/drawingml/2006/main">
            <a:r>
              <a:t>So the slope intercept equation is y equals four x minus eighteen. The direction determined the slope, and the known point determined the intercept.</a:t>
            </a:r>
          </a:p>
          <a:p xmlns:a="http://schemas.openxmlformats.org/drawingml/2006/main">
            <a:r>
              <a:t/>
            </a:r>
          </a:p>
          <a:p xmlns:a="http://schemas.openxmlformats.org/drawingml/2006/main">
            <a:r>
              <a:t>POINTER OR DRAWING</a:t>
            </a:r>
          </a:p>
          <a:p xmlns:a="http://schemas.openxmlformats.org/drawingml/2006/main">
            <a:r>
              <a:t>Read the direction components in rise-over-run order, then substitute the anchor.</a:t>
            </a:r>
          </a:p>
          <a:p xmlns:a="http://schemas.openxmlformats.org/drawingml/2006/main">
            <a:r>
              <a:t/>
            </a:r>
          </a:p>
          <a:p xmlns:a="http://schemas.openxmlformats.org/drawingml/2006/main">
            <a:r>
              <a:t>EQUATIONS IN LATEX</a:t>
            </a:r>
          </a:p>
          <a:p xmlns:a="http://schemas.openxmlformats.org/drawingml/2006/main">
            <a:r>
              <a:t>\vec r=[3,-6]+s[-1,-4]</a:t>
            </a:r>
          </a:p>
          <a:p xmlns:a="http://schemas.openxmlformats.org/drawingml/2006/main">
            <a:r>
              <a:t>\text{slope}=\frac{\Delta y}{\Delta x}=\frac{-4}{-1}=4</a:t>
            </a:r>
          </a:p>
          <a:p xmlns:a="http://schemas.openxmlformats.org/drawingml/2006/main">
            <a:r>
              <a:t>y=4x+b</a:t>
            </a:r>
          </a:p>
          <a:p xmlns:a="http://schemas.openxmlformats.org/drawingml/2006/main">
            <a:r>
              <a:t>-6=4(3)+b\quad\Longrightarrow\quad b=-6-12=-18</a:t>
            </a:r>
          </a:p>
          <a:p xmlns:a="http://schemas.openxmlformats.org/drawingml/2006/main">
            <a:r>
              <a:t>y=4x-18</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49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This line has direction zero comma two. What happens to x as the parameter changes?</a:t>
            </a:r>
          </a:p>
          <a:p xmlns:a="http://schemas.openxmlformats.org/drawingml/2006/main">
            <a:r>
              <a:t/>
            </a:r>
          </a:p>
          <a:p xmlns:a="http://schemas.openxmlformats.org/drawingml/2006/main">
            <a:r>
              <a:t>CLICK 1</a:t>
            </a:r>
          </a:p>
          <a:p xmlns:a="http://schemas.openxmlformats.org/drawingml/2006/main">
            <a:r>
              <a:t>X always equals one because zero times the parameter is zero. Y can change, so this is a vertical line.</a:t>
            </a:r>
          </a:p>
          <a:p xmlns:a="http://schemas.openxmlformats.org/drawingml/2006/main">
            <a:r>
              <a:t/>
            </a:r>
          </a:p>
          <a:p xmlns:a="http://schemas.openxmlformats.org/drawingml/2006/main">
            <a:r>
              <a:t>CLICK 2</a:t>
            </a:r>
          </a:p>
          <a:p xmlns:a="http://schemas.openxmlformats.org/drawingml/2006/main">
            <a:r>
              <a:t>A normal must be perpendicular to the direction. We can choose two comma zero. Its dot product with zero comma two is zero.</a:t>
            </a:r>
          </a:p>
          <a:p xmlns:a="http://schemas.openxmlformats.org/drawingml/2006/main">
            <a:r>
              <a:t/>
            </a:r>
          </a:p>
          <a:p xmlns:a="http://schemas.openxmlformats.org/drawingml/2006/main">
            <a:r>
              <a:t>CLICK 3</a:t>
            </a:r>
          </a:p>
          <a:p xmlns:a="http://schemas.openxmlformats.org/drawingml/2006/main">
            <a:r>
              <a:t>Use that normal as the Cartesian coefficients and substitute the known point. The constant is negative two.</a:t>
            </a:r>
          </a:p>
          <a:p xmlns:a="http://schemas.openxmlformats.org/drawingml/2006/main">
            <a:r>
              <a:t/>
            </a:r>
          </a:p>
          <a:p xmlns:a="http://schemas.openxmlformats.org/drawingml/2006/main">
            <a:r>
              <a:t>CLICK 4</a:t>
            </a:r>
          </a:p>
          <a:p xmlns:a="http://schemas.openxmlformats.org/drawingml/2006/main">
            <a:r>
              <a:t>Divide the equation by two. We get x minus one equals zero, or simply x equals one. This form handles the vertical line directly.</a:t>
            </a:r>
          </a:p>
          <a:p xmlns:a="http://schemas.openxmlformats.org/drawingml/2006/main">
            <a:r>
              <a:t/>
            </a:r>
          </a:p>
          <a:p xmlns:a="http://schemas.openxmlformats.org/drawingml/2006/main">
            <a:r>
              <a:t>POINTER OR DRAWING</a:t>
            </a:r>
          </a:p>
          <a:p xmlns:a="http://schemas.openxmlformats.org/drawingml/2006/main">
            <a:r>
              <a:t>Point to the zero x-component and then to the fixed equation x = 1.</a:t>
            </a:r>
          </a:p>
          <a:p xmlns:a="http://schemas.openxmlformats.org/drawingml/2006/main">
            <a:r>
              <a:t/>
            </a:r>
          </a:p>
          <a:p xmlns:a="http://schemas.openxmlformats.org/drawingml/2006/main">
            <a:r>
              <a:t>EQUATIONS IN LATEX</a:t>
            </a:r>
          </a:p>
          <a:p xmlns:a="http://schemas.openxmlformats.org/drawingml/2006/main">
            <a:r>
              <a:t>\vec r=[1,4]+s[0,2]</a:t>
            </a:r>
          </a:p>
          <a:p xmlns:a="http://schemas.openxmlformats.org/drawingml/2006/main">
            <a:r>
              <a:t>x=1+0s=1,\qquad y=4+2s</a:t>
            </a:r>
          </a:p>
          <a:p xmlns:a="http://schemas.openxmlformats.org/drawingml/2006/main">
            <a:r>
              <a:t>\vec n=[2,0],\qquad[2,0]\cdot[0,2]=0</a:t>
            </a:r>
          </a:p>
          <a:p xmlns:a="http://schemas.openxmlformats.org/drawingml/2006/main">
            <a:r>
              <a:t>2x+C=0,\quad2(1)+C=0\quad\Longrightarrow\quad C=-2</a:t>
            </a:r>
          </a:p>
          <a:p xmlns:a="http://schemas.openxmlformats.org/drawingml/2006/main">
            <a:r>
              <a:t>2x-2=0\quad\Longrightarrow\quad x-1=0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50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We have already seen a vertical line. Here the y-direction component is zero instead, so this is a horizontal line.</a:t>
            </a:r>
          </a:p>
          <a:p xmlns:a="http://schemas.openxmlformats.org/drawingml/2006/main">
            <a:r>
              <a:t/>
            </a:r>
          </a:p>
          <a:p xmlns:a="http://schemas.openxmlformats.org/drawingml/2006/main">
            <a:r>
              <a:t>CLICK 1</a:t>
            </a:r>
          </a:p>
          <a:p xmlns:a="http://schemas.openxmlformats.org/drawingml/2006/main">
            <a:r>
              <a:t>Read the coordinates. X varies with t, but y remains negative three. The direction is nonzero, so this is still a whole line.</a:t>
            </a:r>
          </a:p>
          <a:p xmlns:a="http://schemas.openxmlformats.org/drawingml/2006/main">
            <a:r>
              <a:t/>
            </a:r>
          </a:p>
          <a:p xmlns:a="http://schemas.openxmlformats.org/drawingml/2006/main">
            <a:r>
              <a:t>CLICK 2</a:t>
            </a:r>
          </a:p>
          <a:p xmlns:a="http://schemas.openxmlformats.org/drawingml/2006/main">
            <a:r>
              <a:t>The Cartesian equation is y plus three equals zero. Its normal is zero comma one, which points vertically and is perpendicular to the horizontal direction.</a:t>
            </a:r>
          </a:p>
          <a:p xmlns:a="http://schemas.openxmlformats.org/drawingml/2006/main">
            <a:r>
              <a:t/>
            </a:r>
          </a:p>
          <a:p xmlns:a="http://schemas.openxmlformats.org/drawingml/2006/main">
            <a:r>
              <a:t>CLICK 3</a:t>
            </a:r>
          </a:p>
          <a:p xmlns:a="http://schemas.openxmlformats.org/drawingml/2006/main">
            <a:r>
              <a:t>The horizontal slope is zero. A vertical slope is undefined because its run is zero. Vector and Cartesian equations handle both cases without dividing by zero.</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\vec r=[2,-3]+t[4,0]</a:t>
            </a:r>
          </a:p>
          <a:p xmlns:a="http://schemas.openxmlformats.org/drawingml/2006/main">
            <a:r>
              <a:t>x=2+4t,\quad y=-3</a:t>
            </a:r>
          </a:p>
          <a:p xmlns:a="http://schemas.openxmlformats.org/drawingml/2006/main">
            <a:r>
              <a:t>y+3=0,\quad\vec n=[0,1]</a:t>
            </a:r>
          </a:p>
          <a:p xmlns:a="http://schemas.openxmlformats.org/drawingml/2006/main">
            <a:r>
              <a:t>\text{Slope }0\qquad\text{Vertical lines have undefined slope}</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51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Let's compare these two Cartesian lines. Read a normal from the coefficients of x and y in each equation.</a:t>
            </a:r>
          </a:p>
          <a:p xmlns:a="http://schemas.openxmlformats.org/drawingml/2006/main">
            <a:r>
              <a:t/>
            </a:r>
          </a:p>
          <a:p xmlns:a="http://schemas.openxmlformats.org/drawingml/2006/main">
            <a:r>
              <a:t>CLICK 1</a:t>
            </a:r>
          </a:p>
          <a:p xmlns:a="http://schemas.openxmlformats.org/drawingml/2006/main">
            <a:r>
              <a:t>The second normal is twice the first. So the lines have parallel directions. We need a point check to decide whether they coincide.</a:t>
            </a:r>
          </a:p>
          <a:p xmlns:a="http://schemas.openxmlformats.org/drawingml/2006/main">
            <a:r>
              <a:t/>
            </a:r>
          </a:p>
          <a:p xmlns:a="http://schemas.openxmlformats.org/drawingml/2006/main">
            <a:r>
              <a:t>CLICK 2</a:t>
            </a:r>
          </a:p>
          <a:p xmlns:a="http://schemas.openxmlformats.org/drawingml/2006/main">
            <a:r>
              <a:t>Find an easy point on the first line by setting y to zero. This gives x equals two.</a:t>
            </a:r>
          </a:p>
          <a:p xmlns:a="http://schemas.openxmlformats.org/drawingml/2006/main">
            <a:r>
              <a:t/>
            </a:r>
          </a:p>
          <a:p xmlns:a="http://schemas.openxmlformats.org/drawingml/2006/main">
            <a:r>
              <a:t>CLICK 3</a:t>
            </a:r>
          </a:p>
          <a:p xmlns:a="http://schemas.openxmlformats.org/drawingml/2006/main">
            <a:r>
              <a:t>Substitute two comma zero into the second equation. The result is twenty-four, not zero, so that point is absent from the second line.</a:t>
            </a:r>
          </a:p>
          <a:p xmlns:a="http://schemas.openxmlformats.org/drawingml/2006/main">
            <a:r>
              <a:t/>
            </a:r>
          </a:p>
          <a:p xmlns:a="http://schemas.openxmlformats.org/drawingml/2006/main">
            <a:r>
              <a:t>CLICK 4</a:t>
            </a:r>
          </a:p>
          <a:p xmlns:a="http://schemas.openxmlformats.org/drawingml/2006/main">
            <a:r>
              <a:t>The lines are distinct and parallel. Matching normal directions alone would not have established coincidence.</a:t>
            </a:r>
          </a:p>
          <a:p xmlns:a="http://schemas.openxmlformats.org/drawingml/2006/main">
            <a:r>
              <a:t/>
            </a:r>
          </a:p>
          <a:p xmlns:a="http://schemas.openxmlformats.org/drawingml/2006/main">
            <a:r>
              <a:t>POINTER OR DRAWING</a:t>
            </a:r>
          </a:p>
          <a:p xmlns:a="http://schemas.openxmlformats.org/drawingml/2006/main">
            <a:r>
              <a:t>Compare the normals first. Then follow the same point through both substitutions.</a:t>
            </a:r>
          </a:p>
          <a:p xmlns:a="http://schemas.openxmlformats.org/drawingml/2006/main">
            <a:r>
              <a:t/>
            </a:r>
          </a:p>
          <a:p xmlns:a="http://schemas.openxmlformats.org/drawingml/2006/main">
            <a:r>
              <a:t>EQUATIONS IN LATEX</a:t>
            </a:r>
          </a:p>
          <a:p xmlns:a="http://schemas.openxmlformats.org/drawingml/2006/main">
            <a:r>
              <a:t>L_1:3x-4y-6=0,\quad L_2:6x-8y+12=0</a:t>
            </a:r>
          </a:p>
          <a:p xmlns:a="http://schemas.openxmlformats.org/drawingml/2006/main">
            <a:r>
              <a:t>\vec n_2=[6,-8]=2[3,-4]=2\vec n_1</a:t>
            </a:r>
          </a:p>
          <a:p xmlns:a="http://schemas.openxmlformats.org/drawingml/2006/main">
            <a:r>
              <a:t>y=0\text{ in }L_1:\quad3x-6=0\quad\Longrightarrow\quad x=2</a:t>
            </a:r>
          </a:p>
          <a:p xmlns:a="http://schemas.openxmlformats.org/drawingml/2006/main">
            <a:r>
              <a:t>6(2)-8(0)+12=24\ne0</a:t>
            </a:r>
          </a:p>
          <a:p xmlns:a="http://schemas.openxmlformats.org/drawingml/2006/main">
            <a:r>
              <a:t>(2,0)\notin L_2\quad\Longrightarrow\quad\text{distinct parallel lines}</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52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Here the first line contains an unknown coefficient k. We want the two lines to be perpendicular.</a:t>
            </a:r>
          </a:p>
          <a:p xmlns:a="http://schemas.openxmlformats.org/drawingml/2006/main">
            <a:r>
              <a:t/>
            </a:r>
          </a:p>
          <a:p xmlns:a="http://schemas.openxmlformats.org/drawingml/2006/main">
            <a:r>
              <a:t>CLICK 1</a:t>
            </a:r>
          </a:p>
          <a:p xmlns:a="http://schemas.openxmlformats.org/drawingml/2006/main">
            <a:r>
              <a:t>Read their normals as k comma four and three comma negative two. In two dimensions, perpendicular lines have perpendicular normals.</a:t>
            </a:r>
          </a:p>
          <a:p xmlns:a="http://schemas.openxmlformats.org/drawingml/2006/main">
            <a:r>
              <a:t/>
            </a:r>
          </a:p>
          <a:p xmlns:a="http://schemas.openxmlformats.org/drawingml/2006/main">
            <a:r>
              <a:t>CLICK 2</a:t>
            </a:r>
          </a:p>
          <a:p xmlns:a="http://schemas.openxmlformats.org/drawingml/2006/main">
            <a:r>
              <a:t>Set the dot product of these normals equal to zero.</a:t>
            </a:r>
          </a:p>
          <a:p xmlns:a="http://schemas.openxmlformats.org/drawingml/2006/main">
            <a:r>
              <a:t/>
            </a:r>
          </a:p>
          <a:p xmlns:a="http://schemas.openxmlformats.org/drawingml/2006/main">
            <a:r>
              <a:t>CLICK 3</a:t>
            </a:r>
          </a:p>
          <a:p xmlns:a="http://schemas.openxmlformats.org/drawingml/2006/main">
            <a:r>
              <a:t>Expand: three k minus eight equals zero. Add eight to both sides.</a:t>
            </a:r>
          </a:p>
          <a:p xmlns:a="http://schemas.openxmlformats.org/drawingml/2006/main">
            <a:r>
              <a:t/>
            </a:r>
          </a:p>
          <a:p xmlns:a="http://schemas.openxmlformats.org/drawingml/2006/main">
            <a:r>
              <a:t>CLICK 4</a:t>
            </a:r>
          </a:p>
          <a:p xmlns:a="http://schemas.openxmlformats.org/drawingml/2006/main">
            <a:r>
              <a:t>Divide by three. We need k equal to eight-thirds. Substituting this value makes the normal dot product zero.</a:t>
            </a:r>
          </a:p>
          <a:p xmlns:a="http://schemas.openxmlformats.org/drawingml/2006/main">
            <a:r>
              <a:t/>
            </a:r>
          </a:p>
          <a:p xmlns:a="http://schemas.openxmlformats.org/drawingml/2006/main">
            <a:r>
              <a:t>POINTER OR DRAWING</a:t>
            </a:r>
          </a:p>
          <a:p xmlns:a="http://schemas.openxmlformats.org/drawingml/2006/main">
            <a:r>
              <a:t>Identify both normals before expanding their dot product.</a:t>
            </a:r>
          </a:p>
          <a:p xmlns:a="http://schemas.openxmlformats.org/drawingml/2006/main">
            <a:r>
              <a:t/>
            </a:r>
          </a:p>
          <a:p xmlns:a="http://schemas.openxmlformats.org/drawingml/2006/main">
            <a:r>
              <a:t>EQUATIONS IN LATEX</a:t>
            </a:r>
          </a:p>
          <a:p xmlns:a="http://schemas.openxmlformats.org/drawingml/2006/main">
            <a:r>
              <a:t>L_3:kx+4y-4=0,\quad L_4:3x-2y-3=0</a:t>
            </a:r>
          </a:p>
          <a:p xmlns:a="http://schemas.openxmlformats.org/drawingml/2006/main">
            <a:r>
              <a:t>\vec n_3=[k,4],\qquad\vec n_4=[3,-2]</a:t>
            </a:r>
          </a:p>
          <a:p xmlns:a="http://schemas.openxmlformats.org/drawingml/2006/main">
            <a:r>
              <a:t>[k,4]\cdot[3,-2]=0</a:t>
            </a:r>
          </a:p>
          <a:p xmlns:a="http://schemas.openxmlformats.org/drawingml/2006/main">
            <a:r>
              <a:t>3k+4(-2)=0\quad\Longrightarrow\quad3k=8</a:t>
            </a:r>
          </a:p>
          <a:p xmlns:a="http://schemas.openxmlformats.org/drawingml/2006/main">
            <a:r>
              <a:t>k=\frac83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53 | PowerPoint</a:t>
            </a:r>
          </a:p>
          <a:p xmlns:a="http://schemas.openxmlformats.org/drawingml/2006/main">
            <a:r>
              <a:t>Section 8.2 Cartesian lines in two dimensions</a:t>
            </a:r>
          </a:p>
          <a:p xmlns:a="http://schemas.openxmlformats.org/drawingml/2006/main">
            <a:r>
              <a:t/>
            </a:r>
          </a:p>
          <a:p xmlns:a="http://schemas.openxmlformats.org/drawingml/2006/main">
            <a:r>
              <a:t>ON ARRIVAL</a:t>
            </a:r>
          </a:p>
          <a:p xmlns:a="http://schemas.openxmlformats.org/drawingml/2006/main">
            <a:r>
              <a:t>We want the acute angle between these two lines. Use their direction vectors and the absolute value in the dot-product formula.</a:t>
            </a:r>
          </a:p>
          <a:p xmlns:a="http://schemas.openxmlformats.org/drawingml/2006/main">
            <a:r>
              <a:t/>
            </a:r>
          </a:p>
          <a:p xmlns:a="http://schemas.openxmlformats.org/drawingml/2006/main">
            <a:r>
              <a:t>CLICK 1</a:t>
            </a:r>
          </a:p>
          <a:p xmlns:a="http://schemas.openxmlformats.org/drawingml/2006/main">
            <a:r>
              <a:t>First calculate the dot product. Negative one times three plus three times four gives nine.</a:t>
            </a:r>
          </a:p>
          <a:p xmlns:a="http://schemas.openxmlformats.org/drawingml/2006/main">
            <a:r>
              <a:t/>
            </a:r>
          </a:p>
          <a:p xmlns:a="http://schemas.openxmlformats.org/drawingml/2006/main">
            <a:r>
              <a:t>CLICK 2</a:t>
            </a:r>
          </a:p>
          <a:p xmlns:a="http://schemas.openxmlformats.org/drawingml/2006/main">
            <a:r>
              <a:t>Now find the magnitudes. The first is square root ten. The second is five. Keep these values exact.</a:t>
            </a:r>
          </a:p>
          <a:p xmlns:a="http://schemas.openxmlformats.org/drawingml/2006/main">
            <a:r>
              <a:t/>
            </a:r>
          </a:p>
          <a:p xmlns:a="http://schemas.openxmlformats.org/drawingml/2006/main">
            <a:r>
              <a:t>CLICK 3</a:t>
            </a:r>
          </a:p>
          <a:p xmlns:a="http://schemas.openxmlformats.org/drawingml/2006/main">
            <a:r>
              <a:t>Substitute into the cosine formula. We get nine over five square root ten. The absolute value makes us choose the smaller angle between the lines.</a:t>
            </a:r>
          </a:p>
          <a:p xmlns:a="http://schemas.openxmlformats.org/drawingml/2006/main">
            <a:r>
              <a:t/>
            </a:r>
          </a:p>
          <a:p xmlns:a="http://schemas.openxmlformats.org/drawingml/2006/main">
            <a:r>
              <a:t>CLICK 4</a:t>
            </a:r>
          </a:p>
          <a:p xmlns:a="http://schemas.openxmlformats.org/drawingml/2006/main">
            <a:r>
              <a:t>Use inverse cosine in degree mode. The angle is approximately fifty-five point three degrees. Keep the exact ratio until this final approximation.</a:t>
            </a:r>
          </a:p>
          <a:p xmlns:a="http://schemas.openxmlformats.org/drawingml/2006/main">
            <a:r>
              <a:t/>
            </a:r>
          </a:p>
          <a:p xmlns:a="http://schemas.openxmlformats.org/drawingml/2006/main">
            <a:r>
              <a:t>POINTER OR DRAWING</a:t>
            </a:r>
          </a:p>
          <a:p xmlns:a="http://schemas.openxmlformats.org/drawingml/2006/main">
            <a:r>
              <a:t>Explain the exact magnitudes before substituting. Use degree mode for the final angle.</a:t>
            </a:r>
          </a:p>
          <a:p xmlns:a="http://schemas.openxmlformats.org/drawingml/2006/main">
            <a:r>
              <a:t/>
            </a:r>
          </a:p>
          <a:p xmlns:a="http://schemas.openxmlformats.org/drawingml/2006/main">
            <a:r>
              <a:t>EQUATIONS IN LATEX</a:t>
            </a:r>
          </a:p>
          <a:p xmlns:a="http://schemas.openxmlformats.org/drawingml/2006/main">
            <a:r>
              <a:t>\vec m_1=[-1,3],\qquad\vec m_2=[3,4]</a:t>
            </a:r>
          </a:p>
          <a:p xmlns:a="http://schemas.openxmlformats.org/drawingml/2006/main">
            <a:r>
              <a:t>\vec m_1\cdot\vec m_2=(-1)(3)+(3)(4)=9</a:t>
            </a:r>
          </a:p>
          <a:p xmlns:a="http://schemas.openxmlformats.org/drawingml/2006/main">
            <a:r>
              <a:t>\lVert\vec m_1\rVert=\sqrt{(-1)^2+3^2}=\sqrt{10},\quad\lVert\vec m_2\rVert=\sqrt{3^2+4^2}=5</a:t>
            </a:r>
          </a:p>
          <a:p xmlns:a="http://schemas.openxmlformats.org/drawingml/2006/main">
            <a:r>
              <a:t>\cos\theta=\frac{|\vec m_1\cdot\vec m_2|}{\lVert\vec m_1\rVert\lVert\vec m_2\rVert}=\frac9{5\sqrt{10}}</a:t>
            </a:r>
          </a:p>
          <a:p xmlns:a="http://schemas.openxmlformats.org/drawingml/2006/main">
            <a:r>
              <a:t>\theta=\cos^{-1}\!\left(\frac9{5\sqrt{10}}\right)\approx55.3^\circ</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54 | PowerPoint</a:t>
            </a:r>
          </a:p>
          <a:p xmlns:a="http://schemas.openxmlformats.org/drawingml/2006/main">
            <a:r>
              <a:t>Section 8.3 Lines in three dimensions</a:t>
            </a:r>
          </a:p>
          <a:p xmlns:a="http://schemas.openxmlformats.org/drawingml/2006/main">
            <a:r>
              <a:t/>
            </a:r>
          </a:p>
          <a:p xmlns:a="http://schemas.openxmlformats.org/drawingml/2006/main">
            <a:r>
              <a:t>ON ARRIVAL</a:t>
            </a:r>
          </a:p>
          <a:p xmlns:a="http://schemas.openxmlformats.org/drawingml/2006/main">
            <a:r>
              <a:t>We are now consolidating Section eight point three. We introduced the three dimensional forms earlier so you could compare them with two dimensions. The same point and direction rule still applies. Let’s review the coordinates, then write simultaneous Cartesian conditions for a line.</a:t>
            </a:r>
          </a:p>
          <a:p xmlns:a="http://schemas.openxmlformats.org/drawingml/2006/main">
            <a:r>
              <a:t/>
            </a:r>
          </a:p>
          <a:p xmlns:a="http://schemas.openxmlformats.org/drawingml/2006/main">
            <a:r>
              <a:t>CLICK 1</a:t>
            </a:r>
          </a:p>
          <a:p xmlns:a="http://schemas.openxmlformats.org/drawingml/2006/main">
            <a:r>
              <a:t>Read the first components to get the x equation.</a:t>
            </a:r>
          </a:p>
          <a:p xmlns:a="http://schemas.openxmlformats.org/drawingml/2006/main">
            <a:r>
              <a:t/>
            </a:r>
          </a:p>
          <a:p xmlns:a="http://schemas.openxmlformats.org/drawingml/2006/main">
            <a:r>
              <a:t>CLICK 2</a:t>
            </a:r>
          </a:p>
          <a:p xmlns:a="http://schemas.openxmlformats.org/drawingml/2006/main">
            <a:r>
              <a:t>Read the second components to get the y equation.</a:t>
            </a:r>
          </a:p>
          <a:p xmlns:a="http://schemas.openxmlformats.org/drawingml/2006/main">
            <a:r>
              <a:t/>
            </a:r>
          </a:p>
          <a:p xmlns:a="http://schemas.openxmlformats.org/drawingml/2006/main">
            <a:r>
              <a:t>CLICK 3</a:t>
            </a:r>
          </a:p>
          <a:p xmlns:a="http://schemas.openxmlformats.org/drawingml/2006/main">
            <a:r>
              <a:t>Read the third components to get the z equation. All three use the same t because they describe one point in space.</a:t>
            </a:r>
          </a:p>
          <a:p xmlns:a="http://schemas.openxmlformats.org/drawingml/2006/main">
            <a:r>
              <a:t/>
            </a:r>
          </a:p>
          <a:p xmlns:a="http://schemas.openxmlformats.org/drawingml/2006/main">
            <a:r>
              <a:t>POINTER OR DRAWING</a:t>
            </a:r>
          </a:p>
          <a:p xmlns:a="http://schemas.openxmlformats.org/drawingml/2006/main">
            <a:r>
              <a:t>Point to all three axes and the line. Match each component to its parametric equation.</a:t>
            </a:r>
          </a:p>
          <a:p xmlns:a="http://schemas.openxmlformats.org/drawingml/2006/main">
            <a:r>
              <a:t/>
            </a:r>
          </a:p>
          <a:p xmlns:a="http://schemas.openxmlformats.org/drawingml/2006/main">
            <a:r>
              <a:t>EQUATIONS IN LATEX</a:t>
            </a:r>
          </a:p>
          <a:p xmlns:a="http://schemas.openxmlformats.org/drawingml/2006/main">
            <a:r>
              <a:t>[x,y,z]=[x_0,y_0,z_0]+t[m_1,m_2,m_3]</a:t>
            </a:r>
          </a:p>
          <a:p xmlns:a="http://schemas.openxmlformats.org/drawingml/2006/main">
            <a:r>
              <a:t>x=x_0+tm_1</a:t>
            </a:r>
          </a:p>
          <a:p xmlns:a="http://schemas.openxmlformats.org/drawingml/2006/main">
            <a:r>
              <a:t>y=y_0+tm_2</a:t>
            </a:r>
          </a:p>
          <a:p xmlns:a="http://schemas.openxmlformats.org/drawingml/2006/main">
            <a:r>
              <a:t>z=z_0+tm_3</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55 | PowerPoint</a:t>
            </a:r>
          </a:p>
          <a:p xmlns:a="http://schemas.openxmlformats.org/drawingml/2006/main">
            <a:r>
              <a:t>Section 8.3 Lines in three dimensions</a:t>
            </a:r>
          </a:p>
          <a:p xmlns:a="http://schemas.openxmlformats.org/drawingml/2006/main">
            <a:r>
              <a:t/>
            </a:r>
          </a:p>
          <a:p xmlns:a="http://schemas.openxmlformats.org/drawingml/2006/main">
            <a:r>
              <a:t>ON ARRIVAL</a:t>
            </a:r>
          </a:p>
          <a:p xmlns:a="http://schemas.openxmlformats.org/drawingml/2006/main">
            <a:r>
              <a:t>Take the first symmetric-form example from the notes. We know A and B, so subtract A from B to get a direction.</a:t>
            </a:r>
          </a:p>
          <a:p xmlns:a="http://schemas.openxmlformats.org/drawingml/2006/main">
            <a:r>
              <a:t/>
            </a:r>
          </a:p>
          <a:p xmlns:a="http://schemas.openxmlformats.org/drawingml/2006/main">
            <a:r>
              <a:t>CLICK 1</a:t>
            </a:r>
          </a:p>
          <a:p xmlns:a="http://schemas.openxmlformats.org/drawingml/2006/main">
            <a:r>
              <a:t>The differences are four, negative nine and one. All three components are nonzero.</a:t>
            </a:r>
          </a:p>
          <a:p xmlns:a="http://schemas.openxmlformats.org/drawingml/2006/main">
            <a:r>
              <a:t/>
            </a:r>
          </a:p>
          <a:p xmlns:a="http://schemas.openxmlformats.org/drawingml/2006/main">
            <a:r>
              <a:t>CLICK 2</a:t>
            </a:r>
          </a:p>
          <a:p xmlns:a="http://schemas.openxmlformats.org/drawingml/2006/main">
            <a:r>
              <a:t>Start at A and read the three parametric equations using one t. T equals one returns B.</a:t>
            </a:r>
          </a:p>
          <a:p xmlns:a="http://schemas.openxmlformats.org/drawingml/2006/main">
            <a:r>
              <a:t/>
            </a:r>
          </a:p>
          <a:p xmlns:a="http://schemas.openxmlformats.org/drawingml/2006/main">
            <a:r>
              <a:t>CLICK 3</a:t>
            </a:r>
          </a:p>
          <a:p xmlns:a="http://schemas.openxmlformats.org/drawingml/2006/main">
            <a:r>
              <a:t>Solve each coordinate equation for t and equate the results. Notice x plus one because the starting x-coordinate is negative one.</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A(-1,5,7),\quad B(3,-4,8)</a:t>
            </a:r>
          </a:p>
          <a:p xmlns:a="http://schemas.openxmlformats.org/drawingml/2006/main">
            <a:r>
              <a:t>\overrightarrow{AB}=[4,-9,1]</a:t>
            </a:r>
          </a:p>
          <a:p xmlns:a="http://schemas.openxmlformats.org/drawingml/2006/main">
            <a:r>
              <a:t>x=-1+4t,\quad y=5-9t,\quad z=7+t</a:t>
            </a:r>
          </a:p>
          <a:p xmlns:a="http://schemas.openxmlformats.org/drawingml/2006/main">
            <a:r>
              <a:t>\frac{x+1}{4}=\frac{y-5}{-9}=\frac{z-7}{1}</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56 | PowerPoint</a:t>
            </a:r>
          </a:p>
          <a:p xmlns:a="http://schemas.openxmlformats.org/drawingml/2006/main">
            <a:r>
              <a:t>Section 8.3 Lines in three dimensions</a:t>
            </a:r>
          </a:p>
          <a:p xmlns:a="http://schemas.openxmlformats.org/drawingml/2006/main">
            <a:r>
              <a:t/>
            </a:r>
          </a:p>
          <a:p xmlns:a="http://schemas.openxmlformats.org/drawingml/2006/main">
            <a:r>
              <a:t>ON ARRIVAL</a:t>
            </a:r>
          </a:p>
          <a:p xmlns:a="http://schemas.openxmlformats.org/drawingml/2006/main">
            <a:r>
              <a:t>For the second example, the points have the same y-coordinate. Expect a fixed y condition.</a:t>
            </a:r>
          </a:p>
          <a:p xmlns:a="http://schemas.openxmlformats.org/drawingml/2006/main">
            <a:r>
              <a:t/>
            </a:r>
          </a:p>
          <a:p xmlns:a="http://schemas.openxmlformats.org/drawingml/2006/main">
            <a:r>
              <a:t>CLICK 1</a:t>
            </a:r>
          </a:p>
          <a:p xmlns:a="http://schemas.openxmlformats.org/drawingml/2006/main">
            <a:r>
              <a:t>Subtract P from Q. Six comma zero comma negative six simplifies to one comma zero comma negative one.</a:t>
            </a:r>
          </a:p>
          <a:p xmlns:a="http://schemas.openxmlformats.org/drawingml/2006/main">
            <a:r>
              <a:t/>
            </a:r>
          </a:p>
          <a:p xmlns:a="http://schemas.openxmlformats.org/drawingml/2006/main">
            <a:r>
              <a:t>CLICK 2</a:t>
            </a:r>
          </a:p>
          <a:p xmlns:a="http://schemas.openxmlformats.org/drawingml/2006/main">
            <a:r>
              <a:t>Start at P. X increases with t, y stays three, and z decreases with t. The simpler direction reaches Q at t equals six.</a:t>
            </a:r>
          </a:p>
          <a:p xmlns:a="http://schemas.openxmlformats.org/drawingml/2006/main">
            <a:r>
              <a:t/>
            </a:r>
          </a:p>
          <a:p xmlns:a="http://schemas.openxmlformats.org/drawingml/2006/main">
            <a:r>
              <a:t>CLICK 3</a:t>
            </a:r>
          </a:p>
          <a:p xmlns:a="http://schemas.openxmlformats.org/drawingml/2006/main">
            <a:r>
              <a:t>Keep y equals three separately. Equate the x and z expressions for t. Do not divide the y equation by its zero direction component.</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P(-2,3,1),\quad Q(4,3,-5)</a:t>
            </a:r>
          </a:p>
          <a:p xmlns:a="http://schemas.openxmlformats.org/drawingml/2006/main">
            <a:r>
              <a:t>\overrightarrow{PQ}=[6,0,-6]=6[1,0,-1]</a:t>
            </a:r>
          </a:p>
          <a:p xmlns:a="http://schemas.openxmlformats.org/drawingml/2006/main">
            <a:r>
              <a:t>x=-2+t,\quad y=3,\quad z=1-t</a:t>
            </a:r>
          </a:p>
          <a:p xmlns:a="http://schemas.openxmlformats.org/drawingml/2006/main">
            <a:r>
              <a:t>y=3,\qquad\frac{x+2}{1}=\frac{z-1}{-1}</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57 | PowerPoint</a:t>
            </a:r>
          </a:p>
          <a:p xmlns:a="http://schemas.openxmlformats.org/drawingml/2006/main">
            <a:r>
              <a:t>Section 8.3 Lines in three dimensions</a:t>
            </a:r>
          </a:p>
          <a:p xmlns:a="http://schemas.openxmlformats.org/drawingml/2006/main">
            <a:r>
              <a:t/>
            </a:r>
          </a:p>
          <a:p xmlns:a="http://schemas.openxmlformats.org/drawingml/2006/main">
            <a:r>
              <a:t>ON ARRIVAL</a:t>
            </a:r>
          </a:p>
          <a:p xmlns:a="http://schemas.openxmlformats.org/drawingml/2006/main">
            <a:r>
              <a:t>In the third example, both points have x equal to negative one. That coordinate will remain fixed.</a:t>
            </a:r>
          </a:p>
          <a:p xmlns:a="http://schemas.openxmlformats.org/drawingml/2006/main">
            <a:r>
              <a:t/>
            </a:r>
          </a:p>
          <a:p xmlns:a="http://schemas.openxmlformats.org/drawingml/2006/main">
            <a:r>
              <a:t>CLICK 1</a:t>
            </a:r>
          </a:p>
          <a:p xmlns:a="http://schemas.openxmlformats.org/drawingml/2006/main">
            <a:r>
              <a:t>The direction from X to Y is zero comma one comma four.</a:t>
            </a:r>
          </a:p>
          <a:p xmlns:a="http://schemas.openxmlformats.org/drawingml/2006/main">
            <a:r>
              <a:t/>
            </a:r>
          </a:p>
          <a:p xmlns:a="http://schemas.openxmlformats.org/drawingml/2006/main">
            <a:r>
              <a:t>CLICK 2</a:t>
            </a:r>
          </a:p>
          <a:p xmlns:a="http://schemas.openxmlformats.org/drawingml/2006/main">
            <a:r>
              <a:t>Start at X and read the coordinate equations. One shared t must produce all three coordinates. T equals one gives Y.</a:t>
            </a:r>
          </a:p>
          <a:p xmlns:a="http://schemas.openxmlformats.org/drawingml/2006/main">
            <a:r>
              <a:t/>
            </a:r>
          </a:p>
          <a:p xmlns:a="http://schemas.openxmlformats.org/drawingml/2006/main">
            <a:r>
              <a:t>CLICK 3</a:t>
            </a:r>
          </a:p>
          <a:p xmlns:a="http://schemas.openxmlformats.org/drawingml/2006/main">
            <a:r>
              <a:t>Keep x equals negative one on its own. The y and z direction components are nonzero, so their expressions for t form the fraction equality.</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X(-1,2,5),\quad Y(-1,3,9)</a:t>
            </a:r>
          </a:p>
          <a:p xmlns:a="http://schemas.openxmlformats.org/drawingml/2006/main">
            <a:r>
              <a:t>\overrightarrow{XY}=[0,1,4]</a:t>
            </a:r>
          </a:p>
          <a:p xmlns:a="http://schemas.openxmlformats.org/drawingml/2006/main">
            <a:r>
              <a:t>x=-1,\quad y=2+t,\quad z=5+4t</a:t>
            </a:r>
          </a:p>
          <a:p xmlns:a="http://schemas.openxmlformats.org/drawingml/2006/main">
            <a:r>
              <a:t>x=-1,\qquad\frac{y-2}{1}=\frac{z-5}{4}</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58 | iPad PAGE 24</a:t>
            </a:r>
          </a:p>
          <a:p xmlns:a="http://schemas.openxmlformats.org/drawingml/2006/main">
            <a:r>
              <a:t>Section 8.3 Lines in three dimensions</a:t>
            </a:r>
          </a:p>
          <a:p xmlns:a="http://schemas.openxmlformats.org/drawingml/2006/main">
            <a:r>
              <a:t/>
            </a:r>
          </a:p>
          <a:p xmlns:a="http://schemas.openxmlformats.org/drawingml/2006/main">
            <a:r>
              <a:t>TRANSITION TO IPAD</a:t>
            </a:r>
          </a:p>
          <a:p xmlns:a="http://schemas.openxmlformats.org/drawingml/2006/main">
            <a:r>
              <a:t>Let’s write the next example out together. Keep the question at the top and add one step at a time.</a:t>
            </a:r>
          </a:p>
          <a:p xmlns:a="http://schemas.openxmlformats.org/drawingml/2006/main">
            <a:r>
              <a:t/>
            </a:r>
          </a:p>
          <a:p xmlns:a="http://schemas.openxmlformats.org/drawingml/2006/main">
            <a:r>
              <a:t>WRITE 1</a:t>
            </a:r>
          </a:p>
          <a:p xmlns:a="http://schemas.openxmlformats.org/drawingml/2006/main">
            <a:r>
              <a:t>Let's use this same line to get equations without the parameter. In three dimensions, we will keep two independent coordinate relationships.</a:t>
            </a:r>
          </a:p>
          <a:p xmlns:a="http://schemas.openxmlformats.org/drawingml/2006/main">
            <a:r>
              <a:t/>
            </a:r>
          </a:p>
          <a:p xmlns:a="http://schemas.openxmlformats.org/drawingml/2006/main">
            <a:r>
              <a:t>WRITE 2</a:t>
            </a:r>
          </a:p>
          <a:p xmlns:a="http://schemas.openxmlformats.org/drawingml/2006/main">
            <a:r>
              <a:t>Equate the expressions for t from x and y. Cross-multiply, then multiply both sides by negative one. This gives five times x minus one equals negative two times y minus three.</a:t>
            </a:r>
          </a:p>
          <a:p xmlns:a="http://schemas.openxmlformats.org/drawingml/2006/main">
            <a:r>
              <a:t/>
            </a:r>
          </a:p>
          <a:p xmlns:a="http://schemas.openxmlformats.org/drawingml/2006/main">
            <a:r>
              <a:t>WRITE 3</a:t>
            </a:r>
          </a:p>
          <a:p xmlns:a="http://schemas.openxmlformats.org/drawingml/2006/main">
            <a:r>
              <a:t>Now equate the x and z expressions for t. Cross-multiply and simplify. We get two times x minus one equals z minus six. Both relationships must hold for a point on the line.</a:t>
            </a:r>
          </a:p>
          <a:p xmlns:a="http://schemas.openxmlformats.org/drawingml/2006/main">
            <a:r>
              <a:t/>
            </a:r>
          </a:p>
          <a:p xmlns:a="http://schemas.openxmlformats.org/drawingml/2006/main">
            <a:r>
              <a:t>POINTER OR DRAWING</a:t>
            </a:r>
          </a:p>
          <a:p xmlns:a="http://schemas.openxmlformats.org/drawingml/2006/main">
            <a:r>
              <a:t>Use x with y first, then x with z. Keep the same starting equations visible.</a:t>
            </a:r>
          </a:p>
          <a:p xmlns:a="http://schemas.openxmlformats.org/drawingml/2006/main">
            <a:r>
              <a:t/>
            </a:r>
          </a:p>
          <a:p xmlns:a="http://schemas.openxmlformats.org/drawingml/2006/main">
            <a:r>
              <a:t>EQUATIONS IN LATEX</a:t>
            </a:r>
          </a:p>
          <a:p xmlns:a="http://schemas.openxmlformats.org/drawingml/2006/main">
            <a:r>
              <a:t>x=1+2t,\quad y=3-5t,\quad z=6+4t</a:t>
            </a:r>
          </a:p>
          <a:p xmlns:a="http://schemas.openxmlformats.org/drawingml/2006/main">
            <a:r>
              <a:t>\frac{x-1}{2}=\frac{y-3}{-5}\quad\Longrightarrow\quad5(x-1)=-2(y-3)</a:t>
            </a:r>
          </a:p>
          <a:p xmlns:a="http://schemas.openxmlformats.org/drawingml/2006/main">
            <a:r>
              <a:t>\frac{x-1}{2}=\frac{z-6}{4}\quad\Longrightarrow\quad2(x-1)=z-6</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59 | iPad PAGE 25</a:t>
            </a:r>
          </a:p>
          <a:p xmlns:a="http://schemas.openxmlformats.org/drawingml/2006/main">
            <a:r>
              <a:t>Section 8.3 Lines in three dimensions</a:t>
            </a:r>
          </a:p>
          <a:p xmlns:a="http://schemas.openxmlformats.org/drawingml/2006/main">
            <a:r>
              <a:t/>
            </a:r>
          </a:p>
          <a:p xmlns:a="http://schemas.openxmlformats.org/drawingml/2006/main">
            <a:r>
              <a:t>WRITE 1</a:t>
            </a:r>
          </a:p>
          <a:p xmlns:a="http://schemas.openxmlformats.org/drawingml/2006/main">
            <a:r>
              <a:t>Expand the first relationship and collect the terms on one side. This gives five x plus two y minus eleven equals zero.</a:t>
            </a:r>
          </a:p>
          <a:p xmlns:a="http://schemas.openxmlformats.org/drawingml/2006/main">
            <a:r>
              <a:t/>
            </a:r>
          </a:p>
          <a:p xmlns:a="http://schemas.openxmlformats.org/drawingml/2006/main">
            <a:r>
              <a:t>WRITE 2</a:t>
            </a:r>
          </a:p>
          <a:p xmlns:a="http://schemas.openxmlformats.org/drawingml/2006/main">
            <a:r>
              <a:t>Expand the second relationship. Rearranging gives two x minus z plus four equals zero.</a:t>
            </a:r>
          </a:p>
          <a:p xmlns:a="http://schemas.openxmlformats.org/drawingml/2006/main">
            <a:r>
              <a:t/>
            </a:r>
          </a:p>
          <a:p xmlns:a="http://schemas.openxmlformats.org/drawingml/2006/main">
            <a:r>
              <a:t>WRITE 3</a:t>
            </a:r>
          </a:p>
          <a:p xmlns:a="http://schemas.openxmlformats.org/drawingml/2006/main">
            <a:r>
              <a:t>Keep the equations together. Each one describes a plane, and satisfying both restricts us to their intersection line. One plane equation by itself would allow too many points.</a:t>
            </a:r>
          </a:p>
          <a:p xmlns:a="http://schemas.openxmlformats.org/drawingml/2006/main">
            <a:r>
              <a:t/>
            </a:r>
          </a:p>
          <a:p xmlns:a="http://schemas.openxmlformats.org/drawingml/2006/main">
            <a:r>
              <a:t>WRITE 4</a:t>
            </a:r>
          </a:p>
          <a:p xmlns:a="http://schemas.openxmlformats.org/drawingml/2006/main">
            <a:r>
              <a:t>Check the point three comma negative two comma ten. Substitute it into both equations. Each gives zero, so the point satisfies the complete Cartesian description.</a:t>
            </a:r>
          </a:p>
          <a:p xmlns:a="http://schemas.openxmlformats.org/drawingml/2006/main">
            <a:r>
              <a:t/>
            </a:r>
          </a:p>
          <a:p xmlns:a="http://schemas.openxmlformats.org/drawingml/2006/main">
            <a:r>
              <a:t>POINTER OR DRAWING</a:t>
            </a:r>
          </a:p>
          <a:p xmlns:a="http://schemas.openxmlformats.org/drawingml/2006/main">
            <a:r>
              <a:t>Expand each relation separately. Read the brace as both equations together, then check the point in both.</a:t>
            </a:r>
          </a:p>
          <a:p xmlns:a="http://schemas.openxmlformats.org/drawingml/2006/main">
            <a:r>
              <a:t/>
            </a:r>
          </a:p>
          <a:p xmlns:a="http://schemas.openxmlformats.org/drawingml/2006/main">
            <a:r>
              <a:t>RETURN TO POWERPOINT</a:t>
            </a:r>
          </a:p>
          <a:p xmlns:a="http://schemas.openxmlformats.org/drawingml/2006/main">
            <a:r>
              <a:t>Let’s return to the slides for the next idea.</a:t>
            </a:r>
          </a:p>
          <a:p xmlns:a="http://schemas.openxmlformats.org/drawingml/2006/main">
            <a:r>
              <a:t/>
            </a:r>
          </a:p>
          <a:p xmlns:a="http://schemas.openxmlformats.org/drawingml/2006/main">
            <a:r>
              <a:t>EQUATIONS IN LATEX</a:t>
            </a:r>
          </a:p>
          <a:p xmlns:a="http://schemas.openxmlformats.org/drawingml/2006/main">
            <a:r>
              <a:t>5x-5=-2y+6\quad\Longrightarrow\quad5x+2y-11=0</a:t>
            </a:r>
          </a:p>
          <a:p xmlns:a="http://schemas.openxmlformats.org/drawingml/2006/main">
            <a:r>
              <a:t>2x-2=z-6\quad\Longrightarrow\quad2x-z+4=0</a:t>
            </a:r>
          </a:p>
          <a:p xmlns:a="http://schemas.openxmlformats.org/drawingml/2006/main">
            <a:r>
              <a:t>\begin{cases}5x+2y-11=0\\2x-z+4=0\end{cases}</a:t>
            </a:r>
          </a:p>
          <a:p xmlns:a="http://schemas.openxmlformats.org/drawingml/2006/main">
            <a:r>
              <a:t>P(3,-2,10):\quad15-4-11=0,\quad6-10+4=0</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60 | PowerPoint</a:t>
            </a:r>
          </a:p>
          <a:p xmlns:a="http://schemas.openxmlformats.org/drawingml/2006/main">
            <a:r>
              <a:t>Homework and recap</a:t>
            </a:r>
          </a:p>
          <a:p xmlns:a="http://schemas.openxmlformats.org/drawingml/2006/main">
            <a:r>
              <a:t/>
            </a:r>
          </a:p>
          <a:p xmlns:a="http://schemas.openxmlformats.org/drawingml/2006/main">
            <a:r>
              <a:t>ON ARRIVAL</a:t>
            </a:r>
          </a:p>
          <a:p xmlns:a="http://schemas.openxmlformats.org/drawingml/2006/main">
            <a:r>
              <a:t>For Section eight point one, complete the assigned questions on textbook page four hundred thirty-three. Show the starting point, direction and parameter checks.</a:t>
            </a:r>
          </a:p>
          <a:p xmlns:a="http://schemas.openxmlformats.org/drawingml/2006/main">
            <a:r>
              <a:t/>
            </a:r>
          </a:p>
          <a:p xmlns:a="http://schemas.openxmlformats.org/drawingml/2006/main">
            <a:r>
              <a:t>CLICK 1</a:t>
            </a:r>
          </a:p>
          <a:p xmlns:a="http://schemas.openxmlformats.org/drawingml/2006/main">
            <a:r>
              <a:t>For Section eight point two, complete the listed questions on page four hundred forty-three. Practise conversions, normals and line relationships. Explain why each form describes the same line.</a:t>
            </a:r>
          </a:p>
          <a:p xmlns:a="http://schemas.openxmlformats.org/drawingml/2006/main">
            <a:r>
              <a:t/>
            </a:r>
          </a:p>
          <a:p xmlns:a="http://schemas.openxmlformats.org/drawingml/2006/main">
            <a:r>
              <a:t>CLICK 2</a:t>
            </a:r>
          </a:p>
          <a:p xmlns:a="http://schemas.openxmlformats.org/drawingml/2006/main">
            <a:r>
              <a:t>For Section eight point three, use page four hundred forty-nine. Keep the same parameter in all three coordinates, and retain any fixed-coordinate equations. Check your working against the typed solutions provided with our course materials.</a:t>
            </a:r>
          </a:p>
          <a:p xmlns:a="http://schemas.openxmlformats.org/drawingml/2006/main">
            <a:r>
              <a:t/>
            </a:r>
          </a:p>
          <a:p xmlns:a="http://schemas.openxmlformats.org/drawingml/2006/main">
            <a:r>
              <a:t>POINTER OR DRAWING</a:t>
            </a:r>
          </a:p>
          <a:p xmlns:a="http://schemas.openxmlformats.org/drawingml/2006/main">
            <a:r>
              <a:t>Reveal one line at a time. Explain the reason for each step and check the result.</a:t>
            </a:r>
          </a:p>
          <a:p xmlns:a="http://schemas.openxmlformats.org/drawingml/2006/main">
            <a:r>
              <a:t/>
            </a:r>
          </a:p>
          <a:p xmlns:a="http://schemas.openxmlformats.org/drawingml/2006/main">
            <a:r>
              <a:t>EQUATIONS IN LATEX</a:t>
            </a:r>
          </a:p>
          <a:p xmlns:a="http://schemas.openxmlformats.org/drawingml/2006/main">
            <a:r>
              <a:t>\text{8.1 Page 433: }2,3,4,5,8,9,10,13(a),14</a:t>
            </a:r>
          </a:p>
          <a:p xmlns:a="http://schemas.openxmlformats.org/drawingml/2006/main">
            <a:r>
              <a:t>\text{8.2 Page 443: }1(a,b,e),3,4,5,6,7,8,9(b),10(a,b),11(b)</a:t>
            </a:r>
          </a:p>
          <a:p xmlns:a="http://schemas.openxmlformats.org/drawingml/2006/main">
            <a:r>
              <a:t>\text{8.3 Page 449: }1(a,b,c),3,5(a,e,f),6,8(a),9,10(a,b),15</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61 | PowerPoint</a:t>
            </a:r>
          </a:p>
          <a:p xmlns:a="http://schemas.openxmlformats.org/drawingml/2006/main">
            <a:r>
              <a:t>Section 8.3 Lines in three dimensions</a:t>
            </a:r>
          </a:p>
          <a:p xmlns:a="http://schemas.openxmlformats.org/drawingml/2006/main">
            <a:r>
              <a:t/>
            </a:r>
          </a:p>
          <a:p xmlns:a="http://schemas.openxmlformats.org/drawingml/2006/main">
            <a:r>
              <a:t>ON ARRIVAL</a:t>
            </a:r>
          </a:p>
          <a:p xmlns:a="http://schemas.openxmlformats.org/drawingml/2006/main">
            <a:r>
              <a:t>Everything started with a point and a nonzero direction. That is why the vector equation is r equals r zero plus t m.</a:t>
            </a:r>
          </a:p>
          <a:p xmlns:a="http://schemas.openxmlformats.org/drawingml/2006/main">
            <a:r>
              <a:t/>
            </a:r>
          </a:p>
          <a:p xmlns:a="http://schemas.openxmlformats.org/drawingml/2006/main">
            <a:r>
              <a:t>CLICK 1</a:t>
            </a:r>
          </a:p>
          <a:p xmlns:a="http://schemas.openxmlformats.org/drawingml/2006/main">
            <a:r>
              <a:t>Vector form keeps the starting point and direction together.</a:t>
            </a:r>
          </a:p>
          <a:p xmlns:a="http://schemas.openxmlformats.org/drawingml/2006/main">
            <a:r>
              <a:t/>
            </a:r>
          </a:p>
          <a:p xmlns:a="http://schemas.openxmlformats.org/drawingml/2006/main">
            <a:r>
              <a:t>CLICK 2</a:t>
            </a:r>
          </a:p>
          <a:p xmlns:a="http://schemas.openxmlformats.org/drawingml/2006/main">
            <a:r>
              <a:t>Parametric form separates the coordinates while keeping one shared parameter.</a:t>
            </a:r>
          </a:p>
          <a:p xmlns:a="http://schemas.openxmlformats.org/drawingml/2006/main">
            <a:r>
              <a:t/>
            </a:r>
          </a:p>
          <a:p xmlns:a="http://schemas.openxmlformats.org/drawingml/2006/main">
            <a:r>
              <a:t>CLICK 3</a:t>
            </a:r>
          </a:p>
          <a:p xmlns:a="http://schemas.openxmlformats.org/drawingml/2006/main">
            <a:r>
              <a:t>Symmetric form equates the expressions for that parameter. Keep any fixed coordinate separately.</a:t>
            </a:r>
          </a:p>
          <a:p xmlns:a="http://schemas.openxmlformats.org/drawingml/2006/main">
            <a:r>
              <a:t/>
            </a:r>
          </a:p>
          <a:p xmlns:a="http://schemas.openxmlformats.org/drawingml/2006/main">
            <a:r>
              <a:t>CLICK 4</a:t>
            </a:r>
          </a:p>
          <a:p xmlns:a="http://schemas.openxmlformats.org/drawingml/2006/main">
            <a:r>
              <a:t>In two dimensions, Cartesian coefficients give a normal. We derived that from a zero dot product.</a:t>
            </a:r>
          </a:p>
          <a:p xmlns:a="http://schemas.openxmlformats.org/drawingml/2006/main">
            <a:r>
              <a:t/>
            </a:r>
          </a:p>
          <a:p xmlns:a="http://schemas.openxmlformats.org/drawingml/2006/main">
            <a:r>
              <a:t>CLICK 5</a:t>
            </a:r>
          </a:p>
          <a:p xmlns:a="http://schemas.openxmlformats.org/drawingml/2006/main">
            <a:r>
              <a:t>In three dimensions, our Cartesian description used two independent equations together. When checking points, use every coordinate. When comparing parallel lines, check their location as well as their directions. Try the matching homework next, and show the reasons for your steps.</a:t>
            </a:r>
          </a:p>
          <a:p xmlns:a="http://schemas.openxmlformats.org/drawingml/2006/main">
            <a:r>
              <a:t/>
            </a:r>
          </a:p>
          <a:p xmlns:a="http://schemas.openxmlformats.org/drawingml/2006/main">
            <a:r>
              <a:t>POINTER OR DRAWING</a:t>
            </a:r>
          </a:p>
          <a:p xmlns:a="http://schemas.openxmlformats.org/drawingml/2006/main">
            <a:r>
              <a:t>Return to the original vector equation and connect each form to its purpose.</a:t>
            </a:r>
          </a:p>
          <a:p xmlns:a="http://schemas.openxmlformats.org/drawingml/2006/main">
            <a:r>
              <a:t/>
            </a:r>
          </a:p>
          <a:p xmlns:a="http://schemas.openxmlformats.org/drawingml/2006/main">
            <a:r>
              <a:t>EQUATIONS IN LATEX</a:t>
            </a:r>
          </a:p>
          <a:p xmlns:a="http://schemas.openxmlformats.org/drawingml/2006/main">
            <a:r>
              <a:t>\vec r=\vec r_0+t\vec m</a:t>
            </a:r>
          </a:p>
          <a:p xmlns:a="http://schemas.openxmlformats.org/drawingml/2006/main">
            <a:r>
              <a:t/>
            </a:r>
          </a:p>
          <a:p xmlns:a="http://schemas.openxmlformats.org/drawingml/2006/main">
            <a:r>
              <a:t>SOURCE</a:t>
            </a:r>
          </a:p>
          <a:p xmlns:a="http://schemas.openxmlformats.org/drawingml/2006/main">
            <a:r>
              <a:t>Supplied handwritten Chapter 8 notes, including the eleven screenshots supplied 24 October 2026. Sections 8.1 to 8.3. Additional practice follows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92765e45bf47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430ac0590348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22bc13240448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34f21d1daf4b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c3f517a6f248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3fc824498f43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1AB36B-3E28-43EA-B20F-12EF5B857C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293786-E33E-4634-8418-8347025E0B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52A0E5-CFE2-47E2-AF7D-AC6BB43683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31EC60-C7A5-4AC0-A875-F2C074B2FC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7E33A1-3F9D-4382-A6E1-CE5EA40B59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D963B7-35F1-48BC-8690-BF215EECE9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130060-3C6D-4972-B865-9C9497D2D2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D57703-46C7-43D4-ADF7-A0A13DB32B0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8D2CB8-680C-4B4A-A786-FB319FC908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14029F-C71D-4254-B6AC-2C05888DBD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40f03b2a33413b" /><Relationship Type="http://schemas.openxmlformats.org/officeDocument/2006/relationships/slideLayout" Target="/ppt/slideLayouts/slideLayout1.xml" Id="Re7b2b74bf34c412d" /><Relationship Type="http://schemas.openxmlformats.org/officeDocument/2006/relationships/slideLayout" Target="/ppt/slideLayouts/slideLayout2.xml" Id="Rc5246112a16f4dd5" /><Relationship Type="http://schemas.openxmlformats.org/officeDocument/2006/relationships/slideLayout" Target="/ppt/slideLayouts/slideLayout3.xml" Id="Rf999f14b18d24a66" /><Relationship Type="http://schemas.openxmlformats.org/officeDocument/2006/relationships/slideLayout" Target="/ppt/slideLayouts/slideLayout4.xml" Id="Rdffe64f190d34bd1" /><Relationship Type="http://schemas.openxmlformats.org/officeDocument/2006/relationships/slideLayout" Target="/ppt/slideLayouts/slideLayout5.xml" Id="R0e11d372d6af4e40" /><Relationship Type="http://schemas.openxmlformats.org/officeDocument/2006/relationships/slideLayout" Target="/ppt/slideLayouts/slideLayout6.xml" Id="Rfde2dac13ab94b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b2b74bf34c412d"/>
    <p:sldLayoutId xmlns:r="http://schemas.openxmlformats.org/officeDocument/2006/relationships" id="2147483650" r:id="Rc5246112a16f4dd5"/>
    <p:sldLayoutId xmlns:r="http://schemas.openxmlformats.org/officeDocument/2006/relationships" id="2147483651" r:id="Rf999f14b18d24a66"/>
    <p:sldLayoutId xmlns:r="http://schemas.openxmlformats.org/officeDocument/2006/relationships" id="2147483652" r:id="Rdffe64f190d34bd1"/>
    <p:sldLayoutId xmlns:r="http://schemas.openxmlformats.org/officeDocument/2006/relationships" id="2147483653" r:id="R0e11d372d6af4e40"/>
    <p:sldLayoutId xmlns:r="http://schemas.openxmlformats.org/officeDocument/2006/relationships" id="2147483654" r:id="Rfde2dac13ab94b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358d8a9ecc4436" /><Relationship Type="http://schemas.openxmlformats.org/officeDocument/2006/relationships/image" Target="/ppt/media/image.png" Id="Rc19551591723420b" /><Relationship Type="http://schemas.openxmlformats.org/officeDocument/2006/relationships/image" Target="/ppt/media/image.svg" Id="R61d8447caa724516" /><Relationship Type="http://schemas.openxmlformats.org/officeDocument/2006/relationships/image" Target="/ppt/media/image2.png" Id="R771f392050074154" /><Relationship Type="http://schemas.openxmlformats.org/officeDocument/2006/relationships/image" Target="/ppt/media/image2.svg" Id="Rf484f8f290b4404f" /><Relationship Type="http://schemas.openxmlformats.org/officeDocument/2006/relationships/image" Target="/ppt/media/image3.png" Id="Rc7ae14708f4d4e64" /><Relationship Type="http://schemas.openxmlformats.org/officeDocument/2006/relationships/image" Target="/ppt/media/image3.svg" Id="Rde42cbc09b5444c8" /><Relationship Type="http://schemas.openxmlformats.org/officeDocument/2006/relationships/notesSlide" Target="/ppt/notesSlides/notesSlide1.xml" Id="R5974da5ffa5841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fe87cd634d47c8" /><Relationship Type="http://schemas.openxmlformats.org/officeDocument/2006/relationships/image" Target="/ppt/media/image4.png" Id="Rda8bccb2f43b4140" /><Relationship Type="http://schemas.openxmlformats.org/officeDocument/2006/relationships/image" Target="/ppt/media/image4.svg" Id="Ra636f340c7154dd9" /><Relationship Type="http://schemas.openxmlformats.org/officeDocument/2006/relationships/image" Target="/ppt/media/image5.png" Id="R0554e2c3c62e4865" /><Relationship Type="http://schemas.openxmlformats.org/officeDocument/2006/relationships/image" Target="/ppt/media/image5.svg" Id="Rac3a5aa0db2d453c" /><Relationship Type="http://schemas.openxmlformats.org/officeDocument/2006/relationships/image" Target="/ppt/media/image6.png" Id="R7d381ac620324e98" /><Relationship Type="http://schemas.openxmlformats.org/officeDocument/2006/relationships/image" Target="/ppt/media/image6.svg" Id="Rdc8ba87537b04257" /><Relationship Type="http://schemas.openxmlformats.org/officeDocument/2006/relationships/image" Target="/ppt/media/image7.png" Id="R4bfcca96f9504731" /><Relationship Type="http://schemas.openxmlformats.org/officeDocument/2006/relationships/image" Target="/ppt/media/image7.svg" Id="R0cd0c10ba5df47ca" /><Relationship Type="http://schemas.openxmlformats.org/officeDocument/2006/relationships/image" Target="/ppt/media/image8.png" Id="R1763bfa5a8b64d9e" /><Relationship Type="http://schemas.openxmlformats.org/officeDocument/2006/relationships/image" Target="/ppt/media/image8.svg" Id="R2f191dca9d2d4488" /><Relationship Type="http://schemas.openxmlformats.org/officeDocument/2006/relationships/image" Target="/ppt/media/image9.png" Id="R78814c561c3c473d" /><Relationship Type="http://schemas.openxmlformats.org/officeDocument/2006/relationships/image" Target="/ppt/media/image9.svg" Id="R5299858dfb6948ff" /><Relationship Type="http://schemas.openxmlformats.org/officeDocument/2006/relationships/image" Target="/ppt/media/image10.png" Id="R20a512a55b0c49c2" /><Relationship Type="http://schemas.openxmlformats.org/officeDocument/2006/relationships/image" Target="/ppt/media/image10.svg" Id="R510063f65d864c31" /><Relationship Type="http://schemas.openxmlformats.org/officeDocument/2006/relationships/notesSlide" Target="/ppt/notesSlides/notesSlide2.xml" Id="R59b27e471e484b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4004766f2774911" /><Relationship Type="http://schemas.openxmlformats.org/officeDocument/2006/relationships/image" Target="/ppt/media/image11.png" Id="Refdbda8e2ff7415e" /><Relationship Type="http://schemas.openxmlformats.org/officeDocument/2006/relationships/image" Target="/ppt/media/image11.svg" Id="Re3526e9a23494eb9" /><Relationship Type="http://schemas.openxmlformats.org/officeDocument/2006/relationships/image" Target="/ppt/media/image12.png" Id="Rb679cbefa981409b" /><Relationship Type="http://schemas.openxmlformats.org/officeDocument/2006/relationships/image" Target="/ppt/media/image12.svg" Id="R95b159b9531a4a1b" /><Relationship Type="http://schemas.openxmlformats.org/officeDocument/2006/relationships/image" Target="/ppt/media/image13.png" Id="Re3c34349f9114edb" /><Relationship Type="http://schemas.openxmlformats.org/officeDocument/2006/relationships/image" Target="/ppt/media/image13.svg" Id="R371a8d3a820a42e2" /><Relationship Type="http://schemas.openxmlformats.org/officeDocument/2006/relationships/image" Target="/ppt/media/image14.png" Id="Rfd5a823765d547cc" /><Relationship Type="http://schemas.openxmlformats.org/officeDocument/2006/relationships/image" Target="/ppt/media/image14.svg" Id="R9e30ab4778374d66" /><Relationship Type="http://schemas.openxmlformats.org/officeDocument/2006/relationships/image" Target="/ppt/media/image15.png" Id="R84fd5a4c84c246a5" /><Relationship Type="http://schemas.openxmlformats.org/officeDocument/2006/relationships/image" Target="/ppt/media/image15.svg" Id="R6fe45d006cf74da6" /><Relationship Type="http://schemas.openxmlformats.org/officeDocument/2006/relationships/image" Target="/ppt/media/image16.png" Id="Rbdbebb2d702644ec" /><Relationship Type="http://schemas.openxmlformats.org/officeDocument/2006/relationships/image" Target="/ppt/media/image16.svg" Id="R3ffdaa583b384f57" /><Relationship Type="http://schemas.openxmlformats.org/officeDocument/2006/relationships/image" Target="/ppt/media/image17.png" Id="R48bf988d0acf4aaf" /><Relationship Type="http://schemas.openxmlformats.org/officeDocument/2006/relationships/image" Target="/ppt/media/image17.svg" Id="R230ca9637f2740b4" /><Relationship Type="http://schemas.openxmlformats.org/officeDocument/2006/relationships/image" Target="/ppt/media/image18.png" Id="R80d883d69bc74509" /><Relationship Type="http://schemas.openxmlformats.org/officeDocument/2006/relationships/image" Target="/ppt/media/image18.svg" Id="Ref2a3b75bc514df6" /><Relationship Type="http://schemas.openxmlformats.org/officeDocument/2006/relationships/notesSlide" Target="/ppt/notesSlides/notesSlide3.xml" Id="R401b041772734a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477a1013b24ce9" /><Relationship Type="http://schemas.openxmlformats.org/officeDocument/2006/relationships/image" Target="/ppt/media/image19.png" Id="R1ab62a5d510d4f38" /><Relationship Type="http://schemas.openxmlformats.org/officeDocument/2006/relationships/image" Target="/ppt/media/image19.svg" Id="Rc97d233c10fa4c3d" /><Relationship Type="http://schemas.openxmlformats.org/officeDocument/2006/relationships/image" Target="/ppt/media/image20.png" Id="R56d48fed70aa4028" /><Relationship Type="http://schemas.openxmlformats.org/officeDocument/2006/relationships/image" Target="/ppt/media/image20.svg" Id="R23a828e4bca6439c" /><Relationship Type="http://schemas.openxmlformats.org/officeDocument/2006/relationships/image" Target="/ppt/media/image21.png" Id="Rfc9da29df9554b1d" /><Relationship Type="http://schemas.openxmlformats.org/officeDocument/2006/relationships/image" Target="/ppt/media/image21.svg" Id="R31f327b59b674c98" /><Relationship Type="http://schemas.openxmlformats.org/officeDocument/2006/relationships/image" Target="/ppt/media/image22.png" Id="Re9875a5adf864700" /><Relationship Type="http://schemas.openxmlformats.org/officeDocument/2006/relationships/image" Target="/ppt/media/image22.svg" Id="R5e2e479e0fd1476c" /><Relationship Type="http://schemas.openxmlformats.org/officeDocument/2006/relationships/image" Target="/ppt/media/image23.png" Id="R78fb323bb01d48fa" /><Relationship Type="http://schemas.openxmlformats.org/officeDocument/2006/relationships/image" Target="/ppt/media/image23.svg" Id="R2a5cbb02e7bc417e" /><Relationship Type="http://schemas.openxmlformats.org/officeDocument/2006/relationships/image" Target="/ppt/media/image24.png" Id="R6fcefd3f9a844773" /><Relationship Type="http://schemas.openxmlformats.org/officeDocument/2006/relationships/image" Target="/ppt/media/image24.svg" Id="Ra5493a42356e4d64" /><Relationship Type="http://schemas.openxmlformats.org/officeDocument/2006/relationships/image" Target="/ppt/media/image25.png" Id="Rab2fdedaf47e4f6f" /><Relationship Type="http://schemas.openxmlformats.org/officeDocument/2006/relationships/image" Target="/ppt/media/image25.svg" Id="R0d52d0ef09854649" /><Relationship Type="http://schemas.openxmlformats.org/officeDocument/2006/relationships/image" Target="/ppt/media/image26.png" Id="Rb17f7af1f0d14fc5" /><Relationship Type="http://schemas.openxmlformats.org/officeDocument/2006/relationships/image" Target="/ppt/media/image26.svg" Id="R9f54f116598c4fb3" /><Relationship Type="http://schemas.openxmlformats.org/officeDocument/2006/relationships/image" Target="/ppt/media/image27.png" Id="R3867719f70e64f62" /><Relationship Type="http://schemas.openxmlformats.org/officeDocument/2006/relationships/image" Target="/ppt/media/image27.svg" Id="Rde5247c8b5f444bc" /><Relationship Type="http://schemas.openxmlformats.org/officeDocument/2006/relationships/notesSlide" Target="/ppt/notesSlides/notesSlide4.xml" Id="R07ea4c2aa19147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a84ad77ded43af" /><Relationship Type="http://schemas.openxmlformats.org/officeDocument/2006/relationships/image" Target="/ppt/media/image28.png" Id="R08ecc1371f814c53" /><Relationship Type="http://schemas.openxmlformats.org/officeDocument/2006/relationships/image" Target="/ppt/media/image28.svg" Id="R9488023214514a86" /><Relationship Type="http://schemas.openxmlformats.org/officeDocument/2006/relationships/image" Target="/ppt/media/image29.png" Id="R3dd6079c3abc4949" /><Relationship Type="http://schemas.openxmlformats.org/officeDocument/2006/relationships/image" Target="/ppt/media/image29.svg" Id="R623d2a8ba8dd4bb5" /><Relationship Type="http://schemas.openxmlformats.org/officeDocument/2006/relationships/image" Target="/ppt/media/image30.png" Id="R9a01f28218054326" /><Relationship Type="http://schemas.openxmlformats.org/officeDocument/2006/relationships/image" Target="/ppt/media/image30.svg" Id="R48f85075988d4db3" /><Relationship Type="http://schemas.openxmlformats.org/officeDocument/2006/relationships/image" Target="/ppt/media/image31.png" Id="R106ba8a076ce4f3f" /><Relationship Type="http://schemas.openxmlformats.org/officeDocument/2006/relationships/image" Target="/ppt/media/image31.svg" Id="R419bcc5858ce4409" /><Relationship Type="http://schemas.openxmlformats.org/officeDocument/2006/relationships/notesSlide" Target="/ppt/notesSlides/notesSlide5.xml" Id="R2621c722c5624e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a480fbde4464874" /><Relationship Type="http://schemas.openxmlformats.org/officeDocument/2006/relationships/image" Target="/ppt/media/image32.png" Id="R9c2f4b3271944165" /><Relationship Type="http://schemas.openxmlformats.org/officeDocument/2006/relationships/image" Target="/ppt/media/image32.svg" Id="R99b86c031bda4cfc" /><Relationship Type="http://schemas.openxmlformats.org/officeDocument/2006/relationships/image" Target="/ppt/media/image33.png" Id="R9fc24868b9fa4980" /><Relationship Type="http://schemas.openxmlformats.org/officeDocument/2006/relationships/image" Target="/ppt/media/image33.svg" Id="Rf36da288f4514d4b" /><Relationship Type="http://schemas.openxmlformats.org/officeDocument/2006/relationships/image" Target="/ppt/media/image34.png" Id="R4e34bfce13134f53" /><Relationship Type="http://schemas.openxmlformats.org/officeDocument/2006/relationships/image" Target="/ppt/media/image34.svg" Id="Rf5d41c31e6da4d6b" /><Relationship Type="http://schemas.openxmlformats.org/officeDocument/2006/relationships/notesSlide" Target="/ppt/notesSlides/notesSlide6.xml" Id="R34824907ef1348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38cb07f1b4434a" /><Relationship Type="http://schemas.openxmlformats.org/officeDocument/2006/relationships/image" Target="/ppt/media/image35.png" Id="Rabd66b51478f4842" /><Relationship Type="http://schemas.openxmlformats.org/officeDocument/2006/relationships/image" Target="/ppt/media/image35.svg" Id="R6ba6ca2bf3ff44da" /><Relationship Type="http://schemas.openxmlformats.org/officeDocument/2006/relationships/image" Target="/ppt/media/image36.png" Id="R069039562d04439a" /><Relationship Type="http://schemas.openxmlformats.org/officeDocument/2006/relationships/image" Target="/ppt/media/image36.svg" Id="Reaffa5fe06e741ec" /><Relationship Type="http://schemas.openxmlformats.org/officeDocument/2006/relationships/image" Target="/ppt/media/image37.png" Id="Rfc31aa078b804e20" /><Relationship Type="http://schemas.openxmlformats.org/officeDocument/2006/relationships/image" Target="/ppt/media/image37.svg" Id="R7e2f5c9892314927" /><Relationship Type="http://schemas.openxmlformats.org/officeDocument/2006/relationships/image" Target="/ppt/media/image38.png" Id="R7ef2a0993ce54f24" /><Relationship Type="http://schemas.openxmlformats.org/officeDocument/2006/relationships/image" Target="/ppt/media/image38.svg" Id="R9219d5a4e44e48e5" /><Relationship Type="http://schemas.openxmlformats.org/officeDocument/2006/relationships/notesSlide" Target="/ppt/notesSlides/notesSlide7.xml" Id="R25d650a11c2945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a573f24d3d14787" /><Relationship Type="http://schemas.openxmlformats.org/officeDocument/2006/relationships/image" Target="/ppt/media/image39.png" Id="R97ba53a8685042c7" /><Relationship Type="http://schemas.openxmlformats.org/officeDocument/2006/relationships/image" Target="/ppt/media/image39.svg" Id="Rc2a2b7207d42490c" /><Relationship Type="http://schemas.openxmlformats.org/officeDocument/2006/relationships/image" Target="/ppt/media/image40.png" Id="R9e25832c6a134e4b" /><Relationship Type="http://schemas.openxmlformats.org/officeDocument/2006/relationships/image" Target="/ppt/media/image40.svg" Id="R23ca98b56a694743" /><Relationship Type="http://schemas.openxmlformats.org/officeDocument/2006/relationships/notesSlide" Target="/ppt/notesSlides/notesSlide8.xml" Id="R660795a2ebf84f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3e2c1a8c92347fa" /><Relationship Type="http://schemas.openxmlformats.org/officeDocument/2006/relationships/image" Target="/ppt/media/image41.png" Id="Rd97644968f8d4f31" /><Relationship Type="http://schemas.openxmlformats.org/officeDocument/2006/relationships/image" Target="/ppt/media/image41.svg" Id="R58646b7e0aae4419" /><Relationship Type="http://schemas.openxmlformats.org/officeDocument/2006/relationships/notesSlide" Target="/ppt/notesSlides/notesSlide9.xml" Id="R71e28fcd7e1d46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b508d2ae9d48b0" /><Relationship Type="http://schemas.openxmlformats.org/officeDocument/2006/relationships/image" Target="/ppt/media/image42.png" Id="R4ce14033dc004ec8" /><Relationship Type="http://schemas.openxmlformats.org/officeDocument/2006/relationships/image" Target="/ppt/media/image42.svg" Id="Rb1135e7c672646fe" /><Relationship Type="http://schemas.openxmlformats.org/officeDocument/2006/relationships/image" Target="/ppt/media/image43.png" Id="Rc58d5b9ba8204373" /><Relationship Type="http://schemas.openxmlformats.org/officeDocument/2006/relationships/image" Target="/ppt/media/image43.svg" Id="R35051a36a0744aff" /><Relationship Type="http://schemas.openxmlformats.org/officeDocument/2006/relationships/image" Target="/ppt/media/image44.png" Id="R8f08c159ad3a4b1b" /><Relationship Type="http://schemas.openxmlformats.org/officeDocument/2006/relationships/image" Target="/ppt/media/image44.svg" Id="R7b00c9440f8d4df7" /><Relationship Type="http://schemas.openxmlformats.org/officeDocument/2006/relationships/image" Target="/ppt/media/image45.png" Id="Rbefb7b7bbc9b47c2" /><Relationship Type="http://schemas.openxmlformats.org/officeDocument/2006/relationships/image" Target="/ppt/media/image45.svg" Id="Rf34287750b534b4a" /><Relationship Type="http://schemas.openxmlformats.org/officeDocument/2006/relationships/notesSlide" Target="/ppt/notesSlides/notesSlide10.xml" Id="R8a1bcbb853fd4a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31da72d436b495b" /><Relationship Type="http://schemas.openxmlformats.org/officeDocument/2006/relationships/image" Target="/ppt/media/image46.png" Id="R2fb6d711f51942f0" /><Relationship Type="http://schemas.openxmlformats.org/officeDocument/2006/relationships/image" Target="/ppt/media/image46.svg" Id="Rab2a74876dd8406b" /><Relationship Type="http://schemas.openxmlformats.org/officeDocument/2006/relationships/notesSlide" Target="/ppt/notesSlides/notesSlide11.xml" Id="Rd0ac5cf7e2554d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1708474f8c4d0a" /><Relationship Type="http://schemas.openxmlformats.org/officeDocument/2006/relationships/image" Target="/ppt/media/image47.png" Id="R4866742ec5e34d58" /><Relationship Type="http://schemas.openxmlformats.org/officeDocument/2006/relationships/image" Target="/ppt/media/image47.svg" Id="Rf1a2565afa5141a5" /><Relationship Type="http://schemas.openxmlformats.org/officeDocument/2006/relationships/image" Target="/ppt/media/image48.png" Id="Ra68607d933a846e3" /><Relationship Type="http://schemas.openxmlformats.org/officeDocument/2006/relationships/image" Target="/ppt/media/image48.svg" Id="Re0be5462d4cc44b2" /><Relationship Type="http://schemas.openxmlformats.org/officeDocument/2006/relationships/image" Target="/ppt/media/image49.png" Id="R4ef61ff45acd4179" /><Relationship Type="http://schemas.openxmlformats.org/officeDocument/2006/relationships/image" Target="/ppt/media/image49.svg" Id="Rfbdbdfc04e79475f" /><Relationship Type="http://schemas.openxmlformats.org/officeDocument/2006/relationships/image" Target="/ppt/media/image50.png" Id="R0a1211774d424f4b" /><Relationship Type="http://schemas.openxmlformats.org/officeDocument/2006/relationships/image" Target="/ppt/media/image50.svg" Id="R804bd80d183140f6" /><Relationship Type="http://schemas.openxmlformats.org/officeDocument/2006/relationships/image" Target="/ppt/media/image51.png" Id="R24dc59c940024baf" /><Relationship Type="http://schemas.openxmlformats.org/officeDocument/2006/relationships/image" Target="/ppt/media/image51.svg" Id="R6a2ebc1304e64ad3" /><Relationship Type="http://schemas.openxmlformats.org/officeDocument/2006/relationships/notesSlide" Target="/ppt/notesSlides/notesSlide12.xml" Id="R8cdd0532f16648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68b90f58dd04c12" /><Relationship Type="http://schemas.openxmlformats.org/officeDocument/2006/relationships/image" Target="/ppt/media/image52.png" Id="Rc89adba798e346bd" /><Relationship Type="http://schemas.openxmlformats.org/officeDocument/2006/relationships/image" Target="/ppt/media/image52.svg" Id="Rd366d2d430374098" /><Relationship Type="http://schemas.openxmlformats.org/officeDocument/2006/relationships/image" Target="/ppt/media/image53.png" Id="R5e08e554267d43ac" /><Relationship Type="http://schemas.openxmlformats.org/officeDocument/2006/relationships/image" Target="/ppt/media/image53.svg" Id="Raa44d859784d4dc4" /><Relationship Type="http://schemas.openxmlformats.org/officeDocument/2006/relationships/image" Target="/ppt/media/image54.png" Id="Rfcb7b17a1bd24d8a" /><Relationship Type="http://schemas.openxmlformats.org/officeDocument/2006/relationships/image" Target="/ppt/media/image54.svg" Id="Ra5540d953b55428b" /><Relationship Type="http://schemas.openxmlformats.org/officeDocument/2006/relationships/image" Target="/ppt/media/image55.png" Id="R14698149ee0f4775" /><Relationship Type="http://schemas.openxmlformats.org/officeDocument/2006/relationships/image" Target="/ppt/media/image55.svg" Id="Rd788359da8d7494a" /><Relationship Type="http://schemas.openxmlformats.org/officeDocument/2006/relationships/notesSlide" Target="/ppt/notesSlides/notesSlide13.xml" Id="Re6888d8338e246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efbed83a9f54048" /><Relationship Type="http://schemas.openxmlformats.org/officeDocument/2006/relationships/image" Target="/ppt/media/image56.png" Id="R200a99a5a52e45d9" /><Relationship Type="http://schemas.openxmlformats.org/officeDocument/2006/relationships/image" Target="/ppt/media/image56.svg" Id="R458c9e72696c463d" /><Relationship Type="http://schemas.openxmlformats.org/officeDocument/2006/relationships/image" Target="/ppt/media/image57.png" Id="Re882d816d4274529" /><Relationship Type="http://schemas.openxmlformats.org/officeDocument/2006/relationships/image" Target="/ppt/media/image57.svg" Id="R473e3125b5074212" /><Relationship Type="http://schemas.openxmlformats.org/officeDocument/2006/relationships/image" Target="/ppt/media/image58.png" Id="R6b6736702aa44a87" /><Relationship Type="http://schemas.openxmlformats.org/officeDocument/2006/relationships/image" Target="/ppt/media/image58.svg" Id="Rc4eb629169d94b53" /><Relationship Type="http://schemas.openxmlformats.org/officeDocument/2006/relationships/image" Target="/ppt/media/image59.png" Id="Rcd188c252ea34608" /><Relationship Type="http://schemas.openxmlformats.org/officeDocument/2006/relationships/image" Target="/ppt/media/image59.svg" Id="R81dcb881cb9347cf" /><Relationship Type="http://schemas.openxmlformats.org/officeDocument/2006/relationships/notesSlide" Target="/ppt/notesSlides/notesSlide14.xml" Id="R8b7b0ba8071045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ae09b83e5e4157" /><Relationship Type="http://schemas.openxmlformats.org/officeDocument/2006/relationships/image" Target="/ppt/media/image60.png" Id="R74dbfe01f1064414" /><Relationship Type="http://schemas.openxmlformats.org/officeDocument/2006/relationships/image" Target="/ppt/media/image60.svg" Id="R4a0eacad55b04d3e" /><Relationship Type="http://schemas.openxmlformats.org/officeDocument/2006/relationships/image" Target="/ppt/media/image61.png" Id="R7f72d57650a449c6" /><Relationship Type="http://schemas.openxmlformats.org/officeDocument/2006/relationships/image" Target="/ppt/media/image61.svg" Id="Rede4133d1c8a4da5" /><Relationship Type="http://schemas.openxmlformats.org/officeDocument/2006/relationships/image" Target="/ppt/media/image62.png" Id="Rbe6fbf61c2594fde" /><Relationship Type="http://schemas.openxmlformats.org/officeDocument/2006/relationships/image" Target="/ppt/media/image62.svg" Id="R7c60e8fbb610410d" /><Relationship Type="http://schemas.openxmlformats.org/officeDocument/2006/relationships/image" Target="/ppt/media/image63.png" Id="R141a05c2659147a3" /><Relationship Type="http://schemas.openxmlformats.org/officeDocument/2006/relationships/image" Target="/ppt/media/image63.svg" Id="R1080b2be211c420d" /><Relationship Type="http://schemas.openxmlformats.org/officeDocument/2006/relationships/image" Target="/ppt/media/image64.png" Id="R7b2e65781d67483d" /><Relationship Type="http://schemas.openxmlformats.org/officeDocument/2006/relationships/image" Target="/ppt/media/image64.svg" Id="Ra9d9553911f349c1" /><Relationship Type="http://schemas.openxmlformats.org/officeDocument/2006/relationships/notesSlide" Target="/ppt/notesSlides/notesSlide15.xml" Id="R94177d87351449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57b967821654dc2" /><Relationship Type="http://schemas.openxmlformats.org/officeDocument/2006/relationships/image" Target="/ppt/media/image65.png" Id="R34ab41ddc2f340da" /><Relationship Type="http://schemas.openxmlformats.org/officeDocument/2006/relationships/image" Target="/ppt/media/image65.svg" Id="R2051a78175954c42" /><Relationship Type="http://schemas.openxmlformats.org/officeDocument/2006/relationships/image" Target="/ppt/media/image66.png" Id="Rc5bc4895826e4483" /><Relationship Type="http://schemas.openxmlformats.org/officeDocument/2006/relationships/image" Target="/ppt/media/image66.svg" Id="Rea3392a648f54050" /><Relationship Type="http://schemas.openxmlformats.org/officeDocument/2006/relationships/image" Target="/ppt/media/image67.png" Id="R98b2442f7bbc4307" /><Relationship Type="http://schemas.openxmlformats.org/officeDocument/2006/relationships/image" Target="/ppt/media/image67.svg" Id="R5808ad275bf347b3" /><Relationship Type="http://schemas.openxmlformats.org/officeDocument/2006/relationships/image" Target="/ppt/media/image68.png" Id="R973ca08182644ac1" /><Relationship Type="http://schemas.openxmlformats.org/officeDocument/2006/relationships/image" Target="/ppt/media/image68.svg" Id="Rda8a3e91a7f54136" /><Relationship Type="http://schemas.openxmlformats.org/officeDocument/2006/relationships/notesSlide" Target="/ppt/notesSlides/notesSlide16.xml" Id="R898bcc3f1cfb46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d7e3556933249a2" /><Relationship Type="http://schemas.openxmlformats.org/officeDocument/2006/relationships/image" Target="/ppt/media/image69.png" Id="R7891b06dee934f49" /><Relationship Type="http://schemas.openxmlformats.org/officeDocument/2006/relationships/image" Target="/ppt/media/image69.svg" Id="Redb03cf1c8a44708" /><Relationship Type="http://schemas.openxmlformats.org/officeDocument/2006/relationships/image" Target="/ppt/media/image70.png" Id="Rf8cae959c83a40bd" /><Relationship Type="http://schemas.openxmlformats.org/officeDocument/2006/relationships/image" Target="/ppt/media/image70.svg" Id="R83eac1010353440b" /><Relationship Type="http://schemas.openxmlformats.org/officeDocument/2006/relationships/image" Target="/ppt/media/image71.png" Id="R5adb02d4be874fdb" /><Relationship Type="http://schemas.openxmlformats.org/officeDocument/2006/relationships/image" Target="/ppt/media/image71.svg" Id="R79fabe1658e2423b" /><Relationship Type="http://schemas.openxmlformats.org/officeDocument/2006/relationships/image" Target="/ppt/media/image72.png" Id="R0fd63bf7d8e6426d" /><Relationship Type="http://schemas.openxmlformats.org/officeDocument/2006/relationships/image" Target="/ppt/media/image72.svg" Id="R58cf8045f55d46d8" /><Relationship Type="http://schemas.openxmlformats.org/officeDocument/2006/relationships/notesSlide" Target="/ppt/notesSlides/notesSlide17.xml" Id="R978e605f1e804b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2abffed61c44b55" /><Relationship Type="http://schemas.openxmlformats.org/officeDocument/2006/relationships/image" Target="/ppt/media/image73.png" Id="R4f7fca6387e14424" /><Relationship Type="http://schemas.openxmlformats.org/officeDocument/2006/relationships/image" Target="/ppt/media/image73.svg" Id="R04887eac45ab4c0e" /><Relationship Type="http://schemas.openxmlformats.org/officeDocument/2006/relationships/image" Target="/ppt/media/image74.png" Id="Rdcd53c76de3b4660" /><Relationship Type="http://schemas.openxmlformats.org/officeDocument/2006/relationships/image" Target="/ppt/media/image74.svg" Id="R9efe1c0bda32427f" /><Relationship Type="http://schemas.openxmlformats.org/officeDocument/2006/relationships/image" Target="/ppt/media/image75.png" Id="R82a7b0a4fa134376" /><Relationship Type="http://schemas.openxmlformats.org/officeDocument/2006/relationships/image" Target="/ppt/media/image75.svg" Id="Rf5d8372732fe412e" /><Relationship Type="http://schemas.openxmlformats.org/officeDocument/2006/relationships/image" Target="/ppt/media/image76.png" Id="R88a4ede643094b3e" /><Relationship Type="http://schemas.openxmlformats.org/officeDocument/2006/relationships/image" Target="/ppt/media/image76.svg" Id="Rcf8155dfca8d4d9e" /><Relationship Type="http://schemas.openxmlformats.org/officeDocument/2006/relationships/notesSlide" Target="/ppt/notesSlides/notesSlide18.xml" Id="Rb874afda9db443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5d1a98db04d43fb" /><Relationship Type="http://schemas.openxmlformats.org/officeDocument/2006/relationships/image" Target="/ppt/media/image77.png" Id="R8cfbc32768374b5e" /><Relationship Type="http://schemas.openxmlformats.org/officeDocument/2006/relationships/image" Target="/ppt/media/image77.svg" Id="R69bb7c8c56ea4f17" /><Relationship Type="http://schemas.openxmlformats.org/officeDocument/2006/relationships/image" Target="/ppt/media/image78.png" Id="R87cf7eeb081d4a25" /><Relationship Type="http://schemas.openxmlformats.org/officeDocument/2006/relationships/image" Target="/ppt/media/image78.svg" Id="R948a25086fd9498d" /><Relationship Type="http://schemas.openxmlformats.org/officeDocument/2006/relationships/image" Target="/ppt/media/image79.png" Id="Rb0936c5ab78e4d34" /><Relationship Type="http://schemas.openxmlformats.org/officeDocument/2006/relationships/image" Target="/ppt/media/image79.svg" Id="R0567958c98c84585" /><Relationship Type="http://schemas.openxmlformats.org/officeDocument/2006/relationships/image" Target="/ppt/media/image80.png" Id="Rc374026546d54810" /><Relationship Type="http://schemas.openxmlformats.org/officeDocument/2006/relationships/image" Target="/ppt/media/image80.svg" Id="Rc47af38634e64cdc" /><Relationship Type="http://schemas.openxmlformats.org/officeDocument/2006/relationships/image" Target="/ppt/media/image81.png" Id="Ra258a2eb8d88473d" /><Relationship Type="http://schemas.openxmlformats.org/officeDocument/2006/relationships/image" Target="/ppt/media/image81.svg" Id="R5dd4418066df4c2e" /><Relationship Type="http://schemas.openxmlformats.org/officeDocument/2006/relationships/notesSlide" Target="/ppt/notesSlides/notesSlide19.xml" Id="Rbd4be03d774b4b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4b5fbee3f804598" /><Relationship Type="http://schemas.openxmlformats.org/officeDocument/2006/relationships/image" Target="/ppt/media/image82.png" Id="R837dab3c3f924877" /><Relationship Type="http://schemas.openxmlformats.org/officeDocument/2006/relationships/image" Target="/ppt/media/image82.svg" Id="R4b274ffae5ae4a78" /><Relationship Type="http://schemas.openxmlformats.org/officeDocument/2006/relationships/notesSlide" Target="/ppt/notesSlides/notesSlide20.xml" Id="Re281bf8319e047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c0c6d76d31f4831" /><Relationship Type="http://schemas.openxmlformats.org/officeDocument/2006/relationships/image" Target="/ppt/media/image83.png" Id="Ra9cd99f9080d42c8" /><Relationship Type="http://schemas.openxmlformats.org/officeDocument/2006/relationships/image" Target="/ppt/media/image83.svg" Id="Rb356b8cd0b5f4f0b" /><Relationship Type="http://schemas.openxmlformats.org/officeDocument/2006/relationships/notesSlide" Target="/ppt/notesSlides/notesSlide21.xml" Id="R6a175264f09349b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a19dd462ab249cc" /><Relationship Type="http://schemas.openxmlformats.org/officeDocument/2006/relationships/image" Target="/ppt/media/image84.png" Id="R8b1dd75ae9504985" /><Relationship Type="http://schemas.openxmlformats.org/officeDocument/2006/relationships/image" Target="/ppt/media/image84.svg" Id="Reb3f3c1695154a30" /><Relationship Type="http://schemas.openxmlformats.org/officeDocument/2006/relationships/image" Target="/ppt/media/image85.png" Id="R56e3e7645ad544a5" /><Relationship Type="http://schemas.openxmlformats.org/officeDocument/2006/relationships/image" Target="/ppt/media/image85.svg" Id="R05aaac8eabdb4797" /><Relationship Type="http://schemas.openxmlformats.org/officeDocument/2006/relationships/image" Target="/ppt/media/image86.png" Id="R8aec916dfe724348" /><Relationship Type="http://schemas.openxmlformats.org/officeDocument/2006/relationships/image" Target="/ppt/media/image86.svg" Id="R2dae4c03d5984b79" /><Relationship Type="http://schemas.openxmlformats.org/officeDocument/2006/relationships/image" Target="/ppt/media/image87.png" Id="Rb414cba4fba042c3" /><Relationship Type="http://schemas.openxmlformats.org/officeDocument/2006/relationships/image" Target="/ppt/media/image87.svg" Id="R17138555f0e84bf0" /><Relationship Type="http://schemas.openxmlformats.org/officeDocument/2006/relationships/notesSlide" Target="/ppt/notesSlides/notesSlide22.xml" Id="Rde298cec241f47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c25439f9c894111" /><Relationship Type="http://schemas.openxmlformats.org/officeDocument/2006/relationships/image" Target="/ppt/media/image88.png" Id="R67a9bcf50ab4489c" /><Relationship Type="http://schemas.openxmlformats.org/officeDocument/2006/relationships/image" Target="/ppt/media/image88.svg" Id="R8b54061932f9446e" /><Relationship Type="http://schemas.openxmlformats.org/officeDocument/2006/relationships/image" Target="/ppt/media/image89.png" Id="R198e4063f2e149db" /><Relationship Type="http://schemas.openxmlformats.org/officeDocument/2006/relationships/image" Target="/ppt/media/image89.svg" Id="R6166e2720e2742ff" /><Relationship Type="http://schemas.openxmlformats.org/officeDocument/2006/relationships/image" Target="/ppt/media/image90.png" Id="R1d08763078144533" /><Relationship Type="http://schemas.openxmlformats.org/officeDocument/2006/relationships/image" Target="/ppt/media/image90.svg" Id="Rb47e7203843244aa" /><Relationship Type="http://schemas.openxmlformats.org/officeDocument/2006/relationships/image" Target="/ppt/media/image91.png" Id="Rcb2ad5b8b2a34a08" /><Relationship Type="http://schemas.openxmlformats.org/officeDocument/2006/relationships/image" Target="/ppt/media/image91.svg" Id="R23acc8c620cc45e4" /><Relationship Type="http://schemas.openxmlformats.org/officeDocument/2006/relationships/notesSlide" Target="/ppt/notesSlides/notesSlide23.xml" Id="R4c0435174a88428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1165cf9d8d24316" /><Relationship Type="http://schemas.openxmlformats.org/officeDocument/2006/relationships/image" Target="/ppt/media/image92.png" Id="R024ddae456744e90" /><Relationship Type="http://schemas.openxmlformats.org/officeDocument/2006/relationships/image" Target="/ppt/media/image92.svg" Id="R86c916a2ff7043b7" /><Relationship Type="http://schemas.openxmlformats.org/officeDocument/2006/relationships/image" Target="/ppt/media/image93.png" Id="R3e104a6f9c114d65" /><Relationship Type="http://schemas.openxmlformats.org/officeDocument/2006/relationships/image" Target="/ppt/media/image93.svg" Id="Rb961d9129a524a87" /><Relationship Type="http://schemas.openxmlformats.org/officeDocument/2006/relationships/image" Target="/ppt/media/image94.png" Id="R4deb1ddbca314359" /><Relationship Type="http://schemas.openxmlformats.org/officeDocument/2006/relationships/image" Target="/ppt/media/image94.svg" Id="R733391f5ca174623" /><Relationship Type="http://schemas.openxmlformats.org/officeDocument/2006/relationships/image" Target="/ppt/media/image95.png" Id="R235387a58ad04e32" /><Relationship Type="http://schemas.openxmlformats.org/officeDocument/2006/relationships/image" Target="/ppt/media/image95.svg" Id="Reb50238f2d364b2f" /><Relationship Type="http://schemas.openxmlformats.org/officeDocument/2006/relationships/notesSlide" Target="/ppt/notesSlides/notesSlide24.xml" Id="R3cb650384a2846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e5a6da077e1451e" /><Relationship Type="http://schemas.openxmlformats.org/officeDocument/2006/relationships/image" Target="/ppt/media/image96.png" Id="Re0cda1f5165443de" /><Relationship Type="http://schemas.openxmlformats.org/officeDocument/2006/relationships/image" Target="/ppt/media/image96.svg" Id="Rea884866c7d140cc" /><Relationship Type="http://schemas.openxmlformats.org/officeDocument/2006/relationships/image" Target="/ppt/media/image97.png" Id="R086510f9ea2941d8" /><Relationship Type="http://schemas.openxmlformats.org/officeDocument/2006/relationships/image" Target="/ppt/media/image97.svg" Id="Ra074bee794254cf3" /><Relationship Type="http://schemas.openxmlformats.org/officeDocument/2006/relationships/image" Target="/ppt/media/image98.png" Id="R18b314a785e3485e" /><Relationship Type="http://schemas.openxmlformats.org/officeDocument/2006/relationships/image" Target="/ppt/media/image98.svg" Id="Rd9eab4a2010b45d5" /><Relationship Type="http://schemas.openxmlformats.org/officeDocument/2006/relationships/image" Target="/ppt/media/image99.png" Id="Rd2368894dc074a70" /><Relationship Type="http://schemas.openxmlformats.org/officeDocument/2006/relationships/image" Target="/ppt/media/image99.svg" Id="R60699fe676ba47e1" /><Relationship Type="http://schemas.openxmlformats.org/officeDocument/2006/relationships/notesSlide" Target="/ppt/notesSlides/notesSlide25.xml" Id="R55ebeb10f3f4471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a8b572bf98943de" /><Relationship Type="http://schemas.openxmlformats.org/officeDocument/2006/relationships/image" Target="/ppt/media/image100.png" Id="Rf086e05e6214420c" /><Relationship Type="http://schemas.openxmlformats.org/officeDocument/2006/relationships/image" Target="/ppt/media/image100.svg" Id="R2463ea2e3bb24ede" /><Relationship Type="http://schemas.openxmlformats.org/officeDocument/2006/relationships/image" Target="/ppt/media/image101.png" Id="R9c93513001c44afe" /><Relationship Type="http://schemas.openxmlformats.org/officeDocument/2006/relationships/image" Target="/ppt/media/image101.svg" Id="Rb5d67a0feee6408d" /><Relationship Type="http://schemas.openxmlformats.org/officeDocument/2006/relationships/image" Target="/ppt/media/image102.png" Id="R73a0d099c48f4875" /><Relationship Type="http://schemas.openxmlformats.org/officeDocument/2006/relationships/image" Target="/ppt/media/image102.svg" Id="R04a9af3f43f74008" /><Relationship Type="http://schemas.openxmlformats.org/officeDocument/2006/relationships/image" Target="/ppt/media/image103.png" Id="R0566c296f51d40ca" /><Relationship Type="http://schemas.openxmlformats.org/officeDocument/2006/relationships/image" Target="/ppt/media/image103.svg" Id="Rf9d56f7e34d64ab3" /><Relationship Type="http://schemas.openxmlformats.org/officeDocument/2006/relationships/notesSlide" Target="/ppt/notesSlides/notesSlide26.xml" Id="Ra1892febba2c4a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93adb9b96a84afe" /><Relationship Type="http://schemas.openxmlformats.org/officeDocument/2006/relationships/image" Target="/ppt/media/image104.png" Id="Rc36d8af37e194f13" /><Relationship Type="http://schemas.openxmlformats.org/officeDocument/2006/relationships/image" Target="/ppt/media/image104.svg" Id="R4745dc7f4d9049ef" /><Relationship Type="http://schemas.openxmlformats.org/officeDocument/2006/relationships/image" Target="/ppt/media/image105.png" Id="Re71c155527f348ec" /><Relationship Type="http://schemas.openxmlformats.org/officeDocument/2006/relationships/image" Target="/ppt/media/image105.svg" Id="Re1ae99297b374d38" /><Relationship Type="http://schemas.openxmlformats.org/officeDocument/2006/relationships/image" Target="/ppt/media/image106.png" Id="R5b1ab51d1adf4c1c" /><Relationship Type="http://schemas.openxmlformats.org/officeDocument/2006/relationships/image" Target="/ppt/media/image106.svg" Id="Ree6eade2debb45b3" /><Relationship Type="http://schemas.openxmlformats.org/officeDocument/2006/relationships/image" Target="/ppt/media/image107.png" Id="Ra648f0826eed494f" /><Relationship Type="http://schemas.openxmlformats.org/officeDocument/2006/relationships/image" Target="/ppt/media/image107.svg" Id="R946b260576004436" /><Relationship Type="http://schemas.openxmlformats.org/officeDocument/2006/relationships/notesSlide" Target="/ppt/notesSlides/notesSlide27.xml" Id="Rf70ccb2c01c74db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516b0ed25814073" /><Relationship Type="http://schemas.openxmlformats.org/officeDocument/2006/relationships/image" Target="/ppt/media/image108.png" Id="R98c9e7f1f63d4297" /><Relationship Type="http://schemas.openxmlformats.org/officeDocument/2006/relationships/image" Target="/ppt/media/image108.svg" Id="Ra3f356e675934d16" /><Relationship Type="http://schemas.openxmlformats.org/officeDocument/2006/relationships/notesSlide" Target="/ppt/notesSlides/notesSlide28.xml" Id="Ra5cb030908ee44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9311a6e60d3464f" /><Relationship Type="http://schemas.openxmlformats.org/officeDocument/2006/relationships/image" Target="/ppt/media/image109.png" Id="Rdad0a46e851141ec" /><Relationship Type="http://schemas.openxmlformats.org/officeDocument/2006/relationships/image" Target="/ppt/media/image109.svg" Id="R95b227e863bb4b3e" /><Relationship Type="http://schemas.openxmlformats.org/officeDocument/2006/relationships/image" Target="/ppt/media/image110.png" Id="Rad1ec2e4805d42ee" /><Relationship Type="http://schemas.openxmlformats.org/officeDocument/2006/relationships/image" Target="/ppt/media/image110.svg" Id="R2863aea303e44322" /><Relationship Type="http://schemas.openxmlformats.org/officeDocument/2006/relationships/image" Target="/ppt/media/image111.png" Id="R9516b6f03abe4aab" /><Relationship Type="http://schemas.openxmlformats.org/officeDocument/2006/relationships/image" Target="/ppt/media/image111.svg" Id="Rd7662399761d4f57" /><Relationship Type="http://schemas.openxmlformats.org/officeDocument/2006/relationships/image" Target="/ppt/media/image112.png" Id="Re7d43efad73b483d" /><Relationship Type="http://schemas.openxmlformats.org/officeDocument/2006/relationships/image" Target="/ppt/media/image112.svg" Id="Re9bf0eeb232246c9" /><Relationship Type="http://schemas.openxmlformats.org/officeDocument/2006/relationships/image" Target="/ppt/media/image113.png" Id="Ra826daa64a774c61" /><Relationship Type="http://schemas.openxmlformats.org/officeDocument/2006/relationships/image" Target="/ppt/media/image113.svg" Id="Rdf75f46731ac4350" /><Relationship Type="http://schemas.openxmlformats.org/officeDocument/2006/relationships/notesSlide" Target="/ppt/notesSlides/notesSlide29.xml" Id="R8767d50a34a142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abdf9d1f99b420d" /><Relationship Type="http://schemas.openxmlformats.org/officeDocument/2006/relationships/image" Target="/ppt/media/image114.png" Id="R472ff6b5f8804efa" /><Relationship Type="http://schemas.openxmlformats.org/officeDocument/2006/relationships/image" Target="/ppt/media/image114.svg" Id="R250342ca0a5f43f2" /><Relationship Type="http://schemas.openxmlformats.org/officeDocument/2006/relationships/image" Target="/ppt/media/image115.png" Id="Rc8cdaa548e154dd9" /><Relationship Type="http://schemas.openxmlformats.org/officeDocument/2006/relationships/image" Target="/ppt/media/image115.svg" Id="R33ab5c77c4554708" /><Relationship Type="http://schemas.openxmlformats.org/officeDocument/2006/relationships/image" Target="/ppt/media/image116.png" Id="R0c908ba52cf44537" /><Relationship Type="http://schemas.openxmlformats.org/officeDocument/2006/relationships/image" Target="/ppt/media/image116.svg" Id="Rfd3ece58645c4b7e" /><Relationship Type="http://schemas.openxmlformats.org/officeDocument/2006/relationships/notesSlide" Target="/ppt/notesSlides/notesSlide30.xml" Id="R058cb073d086492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df390797e834646" /><Relationship Type="http://schemas.openxmlformats.org/officeDocument/2006/relationships/image" Target="/ppt/media/image117.png" Id="R338d9318cecd4adc" /><Relationship Type="http://schemas.openxmlformats.org/officeDocument/2006/relationships/image" Target="/ppt/media/image117.svg" Id="R21d1d0bf226641fa" /><Relationship Type="http://schemas.openxmlformats.org/officeDocument/2006/relationships/image" Target="/ppt/media/image118.png" Id="Rb938facd76b949dd" /><Relationship Type="http://schemas.openxmlformats.org/officeDocument/2006/relationships/image" Target="/ppt/media/image118.svg" Id="R91ace5c527544cf2" /><Relationship Type="http://schemas.openxmlformats.org/officeDocument/2006/relationships/image" Target="/ppt/media/image119.png" Id="R58765fee41704a56" /><Relationship Type="http://schemas.openxmlformats.org/officeDocument/2006/relationships/image" Target="/ppt/media/image119.svg" Id="R4b3aa3d03047407e" /><Relationship Type="http://schemas.openxmlformats.org/officeDocument/2006/relationships/image" Target="/ppt/media/image120.png" Id="R37edb2b5f7c64f2f" /><Relationship Type="http://schemas.openxmlformats.org/officeDocument/2006/relationships/image" Target="/ppt/media/image120.svg" Id="Rb878115e90db4346" /><Relationship Type="http://schemas.openxmlformats.org/officeDocument/2006/relationships/image" Target="/ppt/media/image121.png" Id="R1cd6d87f642943af" /><Relationship Type="http://schemas.openxmlformats.org/officeDocument/2006/relationships/image" Target="/ppt/media/image121.svg" Id="Reabcdd108b8f491a" /><Relationship Type="http://schemas.openxmlformats.org/officeDocument/2006/relationships/notesSlide" Target="/ppt/notesSlides/notesSlide31.xml" Id="R99e2a6ce2c67441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0add6ce6fd24051" /><Relationship Type="http://schemas.openxmlformats.org/officeDocument/2006/relationships/image" Target="/ppt/media/image122.png" Id="Rf8d226772e024d31" /><Relationship Type="http://schemas.openxmlformats.org/officeDocument/2006/relationships/image" Target="/ppt/media/image122.svg" Id="R81a8aee14adf41a7" /><Relationship Type="http://schemas.openxmlformats.org/officeDocument/2006/relationships/image" Target="/ppt/media/image123.png" Id="R6f533e8c0e3b4018" /><Relationship Type="http://schemas.openxmlformats.org/officeDocument/2006/relationships/image" Target="/ppt/media/image123.svg" Id="R4a4d669cd58d4aa0" /><Relationship Type="http://schemas.openxmlformats.org/officeDocument/2006/relationships/image" Target="/ppt/media/image124.png" Id="R62b26953193f4aa2" /><Relationship Type="http://schemas.openxmlformats.org/officeDocument/2006/relationships/image" Target="/ppt/media/image124.svg" Id="R6eda78466f194954" /><Relationship Type="http://schemas.openxmlformats.org/officeDocument/2006/relationships/image" Target="/ppt/media/image125.png" Id="Rda74a2e5411648df" /><Relationship Type="http://schemas.openxmlformats.org/officeDocument/2006/relationships/image" Target="/ppt/media/image125.svg" Id="R3bc8968ed8e04837" /><Relationship Type="http://schemas.openxmlformats.org/officeDocument/2006/relationships/image" Target="/ppt/media/image126.png" Id="R290e8322849a4cfc" /><Relationship Type="http://schemas.openxmlformats.org/officeDocument/2006/relationships/image" Target="/ppt/media/image126.svg" Id="R0b710db137264ed7" /><Relationship Type="http://schemas.openxmlformats.org/officeDocument/2006/relationships/notesSlide" Target="/ppt/notesSlides/notesSlide32.xml" Id="R66110948a04e40d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9268edb01774c1e" /><Relationship Type="http://schemas.openxmlformats.org/officeDocument/2006/relationships/image" Target="/ppt/media/image127.png" Id="R932d48fc50ae4124" /><Relationship Type="http://schemas.openxmlformats.org/officeDocument/2006/relationships/image" Target="/ppt/media/image127.svg" Id="Rdaa9752850504ef7" /><Relationship Type="http://schemas.openxmlformats.org/officeDocument/2006/relationships/image" Target="/ppt/media/image128.png" Id="Rdd58f7c4e96a4c35" /><Relationship Type="http://schemas.openxmlformats.org/officeDocument/2006/relationships/image" Target="/ppt/media/image128.svg" Id="R86aa45bc897a4faf" /><Relationship Type="http://schemas.openxmlformats.org/officeDocument/2006/relationships/image" Target="/ppt/media/image129.png" Id="Ra3007fa6eca24a05" /><Relationship Type="http://schemas.openxmlformats.org/officeDocument/2006/relationships/image" Target="/ppt/media/image129.svg" Id="R636ca86bd50349fa" /><Relationship Type="http://schemas.openxmlformats.org/officeDocument/2006/relationships/image" Target="/ppt/media/image130.png" Id="R3f9ec383e83b4d18" /><Relationship Type="http://schemas.openxmlformats.org/officeDocument/2006/relationships/image" Target="/ppt/media/image130.svg" Id="R2158cebc5fb3418a" /><Relationship Type="http://schemas.openxmlformats.org/officeDocument/2006/relationships/image" Target="/ppt/media/image131.png" Id="R427d78ac0783424a" /><Relationship Type="http://schemas.openxmlformats.org/officeDocument/2006/relationships/image" Target="/ppt/media/image131.svg" Id="Rce6f2b93755b4525" /><Relationship Type="http://schemas.openxmlformats.org/officeDocument/2006/relationships/notesSlide" Target="/ppt/notesSlides/notesSlide33.xml" Id="R503fcbd2f4d84eb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1f7b548e7724a11" /><Relationship Type="http://schemas.openxmlformats.org/officeDocument/2006/relationships/image" Target="/ppt/media/image132.png" Id="Rfe95abb6fef64949" /><Relationship Type="http://schemas.openxmlformats.org/officeDocument/2006/relationships/image" Target="/ppt/media/image132.svg" Id="Rc3887b6f122c4064" /><Relationship Type="http://schemas.openxmlformats.org/officeDocument/2006/relationships/image" Target="/ppt/media/image133.png" Id="R75d8a616d7974195" /><Relationship Type="http://schemas.openxmlformats.org/officeDocument/2006/relationships/image" Target="/ppt/media/image133.svg" Id="Rb767b13fff3842c0" /><Relationship Type="http://schemas.openxmlformats.org/officeDocument/2006/relationships/notesSlide" Target="/ppt/notesSlides/notesSlide34.xml" Id="R0af8a34fc1bb4e3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cfb408ce0d948ce" /><Relationship Type="http://schemas.openxmlformats.org/officeDocument/2006/relationships/image" Target="/ppt/media/image134.png" Id="R37c222acfc4a4e37" /><Relationship Type="http://schemas.openxmlformats.org/officeDocument/2006/relationships/image" Target="/ppt/media/image134.svg" Id="Reb6c92365d074c74" /><Relationship Type="http://schemas.openxmlformats.org/officeDocument/2006/relationships/image" Target="/ppt/media/image135.png" Id="Rc1236848c9eb496b" /><Relationship Type="http://schemas.openxmlformats.org/officeDocument/2006/relationships/image" Target="/ppt/media/image135.svg" Id="Rc0afa35db8c04355" /><Relationship Type="http://schemas.openxmlformats.org/officeDocument/2006/relationships/image" Target="/ppt/media/image136.png" Id="R27b79ce7a69941b9" /><Relationship Type="http://schemas.openxmlformats.org/officeDocument/2006/relationships/image" Target="/ppt/media/image136.svg" Id="R203a145b62f749e7" /><Relationship Type="http://schemas.openxmlformats.org/officeDocument/2006/relationships/image" Target="/ppt/media/image137.png" Id="R7139f1a7ae7e4d6e" /><Relationship Type="http://schemas.openxmlformats.org/officeDocument/2006/relationships/image" Target="/ppt/media/image137.svg" Id="R0649b4018d5c4798" /><Relationship Type="http://schemas.openxmlformats.org/officeDocument/2006/relationships/image" Target="/ppt/media/image138.png" Id="R5c92d5620ec44d57" /><Relationship Type="http://schemas.openxmlformats.org/officeDocument/2006/relationships/image" Target="/ppt/media/image138.svg" Id="Rf7cb8c0b7d564007" /><Relationship Type="http://schemas.openxmlformats.org/officeDocument/2006/relationships/notesSlide" Target="/ppt/notesSlides/notesSlide35.xml" Id="Rdc8ce9f0114d49b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566f9b1903440ec" /><Relationship Type="http://schemas.openxmlformats.org/officeDocument/2006/relationships/image" Target="/ppt/media/image139.png" Id="Ra0e3c57e41344209" /><Relationship Type="http://schemas.openxmlformats.org/officeDocument/2006/relationships/image" Target="/ppt/media/image139.svg" Id="R252cb0c3a6ed4755" /><Relationship Type="http://schemas.openxmlformats.org/officeDocument/2006/relationships/image" Target="/ppt/media/image140.png" Id="R1a6b5698cf8b46d1" /><Relationship Type="http://schemas.openxmlformats.org/officeDocument/2006/relationships/image" Target="/ppt/media/image140.svg" Id="Raa0fb58e2b424d42" /><Relationship Type="http://schemas.openxmlformats.org/officeDocument/2006/relationships/notesSlide" Target="/ppt/notesSlides/notesSlide36.xml" Id="R60c95582b1d8446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7586a0dd0594c2c" /><Relationship Type="http://schemas.openxmlformats.org/officeDocument/2006/relationships/image" Target="/ppt/media/image141.png" Id="R5e0f61506b2f4983" /><Relationship Type="http://schemas.openxmlformats.org/officeDocument/2006/relationships/image" Target="/ppt/media/image141.svg" Id="R97567fb54c814a94" /><Relationship Type="http://schemas.openxmlformats.org/officeDocument/2006/relationships/image" Target="/ppt/media/image142.png" Id="R88ce144174d04a72" /><Relationship Type="http://schemas.openxmlformats.org/officeDocument/2006/relationships/image" Target="/ppt/media/image142.svg" Id="R2b2e724467264047" /><Relationship Type="http://schemas.openxmlformats.org/officeDocument/2006/relationships/image" Target="/ppt/media/image143.png" Id="R28c8a0fe9bee4c25" /><Relationship Type="http://schemas.openxmlformats.org/officeDocument/2006/relationships/image" Target="/ppt/media/image143.svg" Id="Re20fc59403d448fe" /><Relationship Type="http://schemas.openxmlformats.org/officeDocument/2006/relationships/image" Target="/ppt/media/image144.png" Id="R752aa5bfbe7d49af" /><Relationship Type="http://schemas.openxmlformats.org/officeDocument/2006/relationships/image" Target="/ppt/media/image144.svg" Id="R67fd4660dbd74684" /><Relationship Type="http://schemas.openxmlformats.org/officeDocument/2006/relationships/notesSlide" Target="/ppt/notesSlides/notesSlide37.xml" Id="Ref9786c481a845d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48bacab59154083" /><Relationship Type="http://schemas.openxmlformats.org/officeDocument/2006/relationships/image" Target="/ppt/media/image145.png" Id="Rea022a3f976d4e5d" /><Relationship Type="http://schemas.openxmlformats.org/officeDocument/2006/relationships/image" Target="/ppt/media/image145.svg" Id="R05d60ccea5ed4647" /><Relationship Type="http://schemas.openxmlformats.org/officeDocument/2006/relationships/image" Target="/ppt/media/image146.png" Id="Rf7fb02779e3d45fc" /><Relationship Type="http://schemas.openxmlformats.org/officeDocument/2006/relationships/image" Target="/ppt/media/image146.svg" Id="R8793a13965614adb" /><Relationship Type="http://schemas.openxmlformats.org/officeDocument/2006/relationships/image" Target="/ppt/media/image147.png" Id="R80f64aa0f2f34548" /><Relationship Type="http://schemas.openxmlformats.org/officeDocument/2006/relationships/image" Target="/ppt/media/image147.svg" Id="R198990f29b1441c1" /><Relationship Type="http://schemas.openxmlformats.org/officeDocument/2006/relationships/image" Target="/ppt/media/image148.png" Id="R25668d6c82de4f76" /><Relationship Type="http://schemas.openxmlformats.org/officeDocument/2006/relationships/image" Target="/ppt/media/image148.svg" Id="R94966c05540f47d6" /><Relationship Type="http://schemas.openxmlformats.org/officeDocument/2006/relationships/notesSlide" Target="/ppt/notesSlides/notesSlide38.xml" Id="Rc6ecfd2d30ea403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072d8f4d6744016" /><Relationship Type="http://schemas.openxmlformats.org/officeDocument/2006/relationships/image" Target="/ppt/media/image149.png" Id="Ra757c39f722942bb" /><Relationship Type="http://schemas.openxmlformats.org/officeDocument/2006/relationships/image" Target="/ppt/media/image149.svg" Id="Rf8b644e0076a4fdd" /><Relationship Type="http://schemas.openxmlformats.org/officeDocument/2006/relationships/image" Target="/ppt/media/image150.png" Id="R71fd621a6a554c6b" /><Relationship Type="http://schemas.openxmlformats.org/officeDocument/2006/relationships/image" Target="/ppt/media/image150.svg" Id="R2a3c4233c2f647fe" /><Relationship Type="http://schemas.openxmlformats.org/officeDocument/2006/relationships/image" Target="/ppt/media/image151.png" Id="Rde8e5ad6ac5f4a57" /><Relationship Type="http://schemas.openxmlformats.org/officeDocument/2006/relationships/image" Target="/ppt/media/image151.svg" Id="Re262199f900e48ae" /><Relationship Type="http://schemas.openxmlformats.org/officeDocument/2006/relationships/image" Target="/ppt/media/image152.png" Id="R42dfab6335a24067" /><Relationship Type="http://schemas.openxmlformats.org/officeDocument/2006/relationships/image" Target="/ppt/media/image152.svg" Id="R5c85316c03d9444f" /><Relationship Type="http://schemas.openxmlformats.org/officeDocument/2006/relationships/image" Target="/ppt/media/image153.png" Id="R48d068ee55884e9c" /><Relationship Type="http://schemas.openxmlformats.org/officeDocument/2006/relationships/image" Target="/ppt/media/image153.svg" Id="R9d417bc236004587" /><Relationship Type="http://schemas.openxmlformats.org/officeDocument/2006/relationships/notesSlide" Target="/ppt/notesSlides/notesSlide39.xml" Id="Rc2c96f3eef0242e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fa39903d1314c38" /><Relationship Type="http://schemas.openxmlformats.org/officeDocument/2006/relationships/image" Target="/ppt/media/image154.png" Id="Rc5296275608f43f3" /><Relationship Type="http://schemas.openxmlformats.org/officeDocument/2006/relationships/image" Target="/ppt/media/image154.svg" Id="R81300da0a0ea4835" /><Relationship Type="http://schemas.openxmlformats.org/officeDocument/2006/relationships/image" Target="/ppt/media/image155.png" Id="R56bdb4c3f6a64d7d" /><Relationship Type="http://schemas.openxmlformats.org/officeDocument/2006/relationships/image" Target="/ppt/media/image155.svg" Id="Rf4810d90b50243cc" /><Relationship Type="http://schemas.openxmlformats.org/officeDocument/2006/relationships/image" Target="/ppt/media/image156.png" Id="R1946d77816c24144" /><Relationship Type="http://schemas.openxmlformats.org/officeDocument/2006/relationships/image" Target="/ppt/media/image156.svg" Id="R72ea01d8484e4c08" /><Relationship Type="http://schemas.openxmlformats.org/officeDocument/2006/relationships/image" Target="/ppt/media/image157.png" Id="R135e84c10f7842d8" /><Relationship Type="http://schemas.openxmlformats.org/officeDocument/2006/relationships/image" Target="/ppt/media/image157.svg" Id="R4a50f1cd000342dd" /><Relationship Type="http://schemas.openxmlformats.org/officeDocument/2006/relationships/image" Target="/ppt/media/image158.png" Id="R3ba31ee0f013436e" /><Relationship Type="http://schemas.openxmlformats.org/officeDocument/2006/relationships/image" Target="/ppt/media/image158.svg" Id="R0b92aded90b94e6c" /><Relationship Type="http://schemas.openxmlformats.org/officeDocument/2006/relationships/notesSlide" Target="/ppt/notesSlides/notesSlide40.xml" Id="R8675cb3bdad44c7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fd6bdfe46344b4b" /><Relationship Type="http://schemas.openxmlformats.org/officeDocument/2006/relationships/image" Target="/ppt/media/image159.png" Id="R9298ac322f7a4d64" /><Relationship Type="http://schemas.openxmlformats.org/officeDocument/2006/relationships/image" Target="/ppt/media/image159.svg" Id="R0135132225d24811" /><Relationship Type="http://schemas.openxmlformats.org/officeDocument/2006/relationships/image" Target="/ppt/media/image160.png" Id="Ra27940c66e0843de" /><Relationship Type="http://schemas.openxmlformats.org/officeDocument/2006/relationships/image" Target="/ppt/media/image160.svg" Id="Rc59e1ad0b4974bb4" /><Relationship Type="http://schemas.openxmlformats.org/officeDocument/2006/relationships/image" Target="/ppt/media/image161.png" Id="R5cfc4751ad994d55" /><Relationship Type="http://schemas.openxmlformats.org/officeDocument/2006/relationships/image" Target="/ppt/media/image161.svg" Id="R5edb7221468d43ac" /><Relationship Type="http://schemas.openxmlformats.org/officeDocument/2006/relationships/image" Target="/ppt/media/image162.png" Id="Rf82e0eef4303485b" /><Relationship Type="http://schemas.openxmlformats.org/officeDocument/2006/relationships/image" Target="/ppt/media/image162.svg" Id="R567e7ae291904abc" /><Relationship Type="http://schemas.openxmlformats.org/officeDocument/2006/relationships/image" Target="/ppt/media/image163.png" Id="Rb5f16d6d72d0420c" /><Relationship Type="http://schemas.openxmlformats.org/officeDocument/2006/relationships/image" Target="/ppt/media/image163.svg" Id="Reddee70658a54c63" /><Relationship Type="http://schemas.openxmlformats.org/officeDocument/2006/relationships/image" Target="/ppt/media/image164.png" Id="R9b9fe6795015449b" /><Relationship Type="http://schemas.openxmlformats.org/officeDocument/2006/relationships/image" Target="/ppt/media/image164.svg" Id="R6c9dac26433f4539" /><Relationship Type="http://schemas.openxmlformats.org/officeDocument/2006/relationships/image" Target="/ppt/media/image165.png" Id="R15b7a0e1294740c2" /><Relationship Type="http://schemas.openxmlformats.org/officeDocument/2006/relationships/image" Target="/ppt/media/image165.svg" Id="Rd15e275b32f24190" /><Relationship Type="http://schemas.openxmlformats.org/officeDocument/2006/relationships/notesSlide" Target="/ppt/notesSlides/notesSlide41.xml" Id="R1e1a9494ff8c443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f5e23559eb1408d" /><Relationship Type="http://schemas.openxmlformats.org/officeDocument/2006/relationships/image" Target="/ppt/media/image166.png" Id="Rd8078aa25e614151" /><Relationship Type="http://schemas.openxmlformats.org/officeDocument/2006/relationships/image" Target="/ppt/media/image166.svg" Id="R5ed2b5114ac74dae" /><Relationship Type="http://schemas.openxmlformats.org/officeDocument/2006/relationships/notesSlide" Target="/ppt/notesSlides/notesSlide42.xml" Id="Re67d1f623a404a3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b63802ad7b94f63" /><Relationship Type="http://schemas.openxmlformats.org/officeDocument/2006/relationships/image" Target="/ppt/media/image167.png" Id="R47707b384780465f" /><Relationship Type="http://schemas.openxmlformats.org/officeDocument/2006/relationships/image" Target="/ppt/media/image167.svg" Id="R08c99db0d7bf45ee" /><Relationship Type="http://schemas.openxmlformats.org/officeDocument/2006/relationships/image" Target="/ppt/media/image168.png" Id="R307d9dcdba484627" /><Relationship Type="http://schemas.openxmlformats.org/officeDocument/2006/relationships/image" Target="/ppt/media/image168.svg" Id="Rd321cc7520884bd5" /><Relationship Type="http://schemas.openxmlformats.org/officeDocument/2006/relationships/image" Target="/ppt/media/image169.png" Id="Rf832627df80f4532" /><Relationship Type="http://schemas.openxmlformats.org/officeDocument/2006/relationships/image" Target="/ppt/media/image169.svg" Id="Rf44f91de0da74e06" /><Relationship Type="http://schemas.openxmlformats.org/officeDocument/2006/relationships/image" Target="/ppt/media/image170.png" Id="R9505af22802e476d" /><Relationship Type="http://schemas.openxmlformats.org/officeDocument/2006/relationships/image" Target="/ppt/media/image170.svg" Id="Ra27cbb8edaaf4c36" /><Relationship Type="http://schemas.openxmlformats.org/officeDocument/2006/relationships/image" Target="/ppt/media/image171.png" Id="R00a0b0adcb2646fc" /><Relationship Type="http://schemas.openxmlformats.org/officeDocument/2006/relationships/image" Target="/ppt/media/image171.svg" Id="Re140efef31ec4343" /><Relationship Type="http://schemas.openxmlformats.org/officeDocument/2006/relationships/notesSlide" Target="/ppt/notesSlides/notesSlide43.xml" Id="Ra1398e65c8c14a4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494485add724289" /><Relationship Type="http://schemas.openxmlformats.org/officeDocument/2006/relationships/image" Target="/ppt/media/image172.png" Id="Re3a3f10e8fd14295" /><Relationship Type="http://schemas.openxmlformats.org/officeDocument/2006/relationships/image" Target="/ppt/media/image172.svg" Id="Rb2d6484f1df442d9" /><Relationship Type="http://schemas.openxmlformats.org/officeDocument/2006/relationships/image" Target="/ppt/media/image173.png" Id="R14cc479b577f4c67" /><Relationship Type="http://schemas.openxmlformats.org/officeDocument/2006/relationships/image" Target="/ppt/media/image173.svg" Id="R0fbdfa1661d94419" /><Relationship Type="http://schemas.openxmlformats.org/officeDocument/2006/relationships/image" Target="/ppt/media/image174.png" Id="R95f56ebd2e404b9e" /><Relationship Type="http://schemas.openxmlformats.org/officeDocument/2006/relationships/image" Target="/ppt/media/image174.svg" Id="R8c4404a8ae3a473b" /><Relationship Type="http://schemas.openxmlformats.org/officeDocument/2006/relationships/image" Target="/ppt/media/image175.png" Id="Ree8537cb87c042af" /><Relationship Type="http://schemas.openxmlformats.org/officeDocument/2006/relationships/image" Target="/ppt/media/image175.svg" Id="Rfa1591f7fd814b98" /><Relationship Type="http://schemas.openxmlformats.org/officeDocument/2006/relationships/notesSlide" Target="/ppt/notesSlides/notesSlide44.xml" Id="R560caa15e90f4d6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f53e43ce825348e6" /><Relationship Type="http://schemas.openxmlformats.org/officeDocument/2006/relationships/image" Target="/ppt/media/image176.png" Id="R3e634573191745a8" /><Relationship Type="http://schemas.openxmlformats.org/officeDocument/2006/relationships/image" Target="/ppt/media/image176.svg" Id="Re6aaad224274471d" /><Relationship Type="http://schemas.openxmlformats.org/officeDocument/2006/relationships/image" Target="/ppt/media/image177.png" Id="R5746095a6d114007" /><Relationship Type="http://schemas.openxmlformats.org/officeDocument/2006/relationships/image" Target="/ppt/media/image177.svg" Id="Re213c59c7f8446a5" /><Relationship Type="http://schemas.openxmlformats.org/officeDocument/2006/relationships/image" Target="/ppt/media/image178.png" Id="R557d83af590e4ba6" /><Relationship Type="http://schemas.openxmlformats.org/officeDocument/2006/relationships/image" Target="/ppt/media/image178.svg" Id="R58b37ed729744825" /><Relationship Type="http://schemas.openxmlformats.org/officeDocument/2006/relationships/image" Target="/ppt/media/image179.png" Id="R1c65f0a581fe46ca" /><Relationship Type="http://schemas.openxmlformats.org/officeDocument/2006/relationships/image" Target="/ppt/media/image179.svg" Id="Re76bb4a9ae59472a" /><Relationship Type="http://schemas.openxmlformats.org/officeDocument/2006/relationships/image" Target="/ppt/media/image180.png" Id="Rf558914984244303" /><Relationship Type="http://schemas.openxmlformats.org/officeDocument/2006/relationships/image" Target="/ppt/media/image180.svg" Id="R65659dcf5feb40b4" /><Relationship Type="http://schemas.openxmlformats.org/officeDocument/2006/relationships/notesSlide" Target="/ppt/notesSlides/notesSlide45.xml" Id="Rc865e3ff6bf4464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d565f286fe6742c3" /><Relationship Type="http://schemas.openxmlformats.org/officeDocument/2006/relationships/image" Target="/ppt/media/image181.png" Id="Rfdebdf8b65c1440e" /><Relationship Type="http://schemas.openxmlformats.org/officeDocument/2006/relationships/image" Target="/ppt/media/image181.svg" Id="R8ed74c51ca954c25" /><Relationship Type="http://schemas.openxmlformats.org/officeDocument/2006/relationships/image" Target="/ppt/media/image182.png" Id="R781c9d67ab354f68" /><Relationship Type="http://schemas.openxmlformats.org/officeDocument/2006/relationships/image" Target="/ppt/media/image182.svg" Id="R4112290772574d6c" /><Relationship Type="http://schemas.openxmlformats.org/officeDocument/2006/relationships/image" Target="/ppt/media/image183.png" Id="Rb5608a5cabcd4ee9" /><Relationship Type="http://schemas.openxmlformats.org/officeDocument/2006/relationships/image" Target="/ppt/media/image183.svg" Id="R789d9f5867e24c3d" /><Relationship Type="http://schemas.openxmlformats.org/officeDocument/2006/relationships/image" Target="/ppt/media/image184.png" Id="Ra1c2b41c69514fbc" /><Relationship Type="http://schemas.openxmlformats.org/officeDocument/2006/relationships/image" Target="/ppt/media/image184.svg" Id="R0ebc2c7c2e3b4632" /><Relationship Type="http://schemas.openxmlformats.org/officeDocument/2006/relationships/image" Target="/ppt/media/image185.png" Id="R16786cc6514d474c" /><Relationship Type="http://schemas.openxmlformats.org/officeDocument/2006/relationships/image" Target="/ppt/media/image185.svg" Id="R6a33080522024c67" /><Relationship Type="http://schemas.openxmlformats.org/officeDocument/2006/relationships/notesSlide" Target="/ppt/notesSlides/notesSlide46.xml" Id="Rc8ce3631f57447a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71e6274913d4ebd" /><Relationship Type="http://schemas.openxmlformats.org/officeDocument/2006/relationships/image" Target="/ppt/media/image186.png" Id="Ra1f51c1d764d441b" /><Relationship Type="http://schemas.openxmlformats.org/officeDocument/2006/relationships/image" Target="/ppt/media/image186.svg" Id="R348b1b1b91a94630" /><Relationship Type="http://schemas.openxmlformats.org/officeDocument/2006/relationships/image" Target="/ppt/media/image187.png" Id="R95d10dc047b74858" /><Relationship Type="http://schemas.openxmlformats.org/officeDocument/2006/relationships/image" Target="/ppt/media/image187.svg" Id="Rd52ef7df153c4a05" /><Relationship Type="http://schemas.openxmlformats.org/officeDocument/2006/relationships/image" Target="/ppt/media/image188.png" Id="R427920ba985e4a9b" /><Relationship Type="http://schemas.openxmlformats.org/officeDocument/2006/relationships/image" Target="/ppt/media/image188.svg" Id="Rce5021ca424144ea" /><Relationship Type="http://schemas.openxmlformats.org/officeDocument/2006/relationships/image" Target="/ppt/media/image189.png" Id="R65b0ef30d7874d2d" /><Relationship Type="http://schemas.openxmlformats.org/officeDocument/2006/relationships/image" Target="/ppt/media/image189.svg" Id="R39551de8474b4b39" /><Relationship Type="http://schemas.openxmlformats.org/officeDocument/2006/relationships/image" Target="/ppt/media/image190.png" Id="R42b3756c12e3406e" /><Relationship Type="http://schemas.openxmlformats.org/officeDocument/2006/relationships/image" Target="/ppt/media/image190.svg" Id="R78fb78a7f7f94626" /><Relationship Type="http://schemas.openxmlformats.org/officeDocument/2006/relationships/notesSlide" Target="/ppt/notesSlides/notesSlide47.xml" Id="R1d09949250d642f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c3408083ef0464e" /><Relationship Type="http://schemas.openxmlformats.org/officeDocument/2006/relationships/image" Target="/ppt/media/image191.png" Id="Rdd7868f7430c46de" /><Relationship Type="http://schemas.openxmlformats.org/officeDocument/2006/relationships/image" Target="/ppt/media/image191.svg" Id="R09b9528801614ca1" /><Relationship Type="http://schemas.openxmlformats.org/officeDocument/2006/relationships/image" Target="/ppt/media/image192.png" Id="R203697fb0b354999" /><Relationship Type="http://schemas.openxmlformats.org/officeDocument/2006/relationships/image" Target="/ppt/media/image192.svg" Id="R8c18b8f1e6474d0a" /><Relationship Type="http://schemas.openxmlformats.org/officeDocument/2006/relationships/image" Target="/ppt/media/image193.png" Id="R4395f9ec0bb64ad0" /><Relationship Type="http://schemas.openxmlformats.org/officeDocument/2006/relationships/image" Target="/ppt/media/image193.svg" Id="R6b3556e2fa7a4dbe" /><Relationship Type="http://schemas.openxmlformats.org/officeDocument/2006/relationships/image" Target="/ppt/media/image194.png" Id="Ra1795b5c00a94b55" /><Relationship Type="http://schemas.openxmlformats.org/officeDocument/2006/relationships/image" Target="/ppt/media/image194.svg" Id="R5047d506ee9e4633" /><Relationship Type="http://schemas.openxmlformats.org/officeDocument/2006/relationships/image" Target="/ppt/media/image195.png" Id="Rc7b58bebbcf94d31" /><Relationship Type="http://schemas.openxmlformats.org/officeDocument/2006/relationships/image" Target="/ppt/media/image195.svg" Id="R1070ddb8cf6a437e" /><Relationship Type="http://schemas.openxmlformats.org/officeDocument/2006/relationships/notesSlide" Target="/ppt/notesSlides/notesSlide48.xml" Id="R8cf8eaac613a463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e59390d6dee4ea6" /><Relationship Type="http://schemas.openxmlformats.org/officeDocument/2006/relationships/image" Target="/ppt/media/image196.png" Id="Rc545c4f09e8647c8" /><Relationship Type="http://schemas.openxmlformats.org/officeDocument/2006/relationships/image" Target="/ppt/media/image196.svg" Id="R40c17a7a27cf4573" /><Relationship Type="http://schemas.openxmlformats.org/officeDocument/2006/relationships/image" Target="/ppt/media/image197.png" Id="Rc0c640f19c6743af" /><Relationship Type="http://schemas.openxmlformats.org/officeDocument/2006/relationships/image" Target="/ppt/media/image197.svg" Id="R978d6cb938d646c1" /><Relationship Type="http://schemas.openxmlformats.org/officeDocument/2006/relationships/image" Target="/ppt/media/image198.png" Id="R2390d5d0e18d4678" /><Relationship Type="http://schemas.openxmlformats.org/officeDocument/2006/relationships/image" Target="/ppt/media/image198.svg" Id="R9179acdd3228443d" /><Relationship Type="http://schemas.openxmlformats.org/officeDocument/2006/relationships/image" Target="/ppt/media/image199.png" Id="R83d909de2caf482a" /><Relationship Type="http://schemas.openxmlformats.org/officeDocument/2006/relationships/image" Target="/ppt/media/image199.svg" Id="R67fd8f99ba57455f" /><Relationship Type="http://schemas.openxmlformats.org/officeDocument/2006/relationships/image" Target="/ppt/media/image200.png" Id="R5a01b1eb112346e7" /><Relationship Type="http://schemas.openxmlformats.org/officeDocument/2006/relationships/image" Target="/ppt/media/image200.svg" Id="R37cfb87f172442b4" /><Relationship Type="http://schemas.openxmlformats.org/officeDocument/2006/relationships/notesSlide" Target="/ppt/notesSlides/notesSlide49.xml" Id="Rd05c3976101745b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2b70abe7142d4d78" /><Relationship Type="http://schemas.openxmlformats.org/officeDocument/2006/relationships/image" Target="/ppt/media/image201.png" Id="Ra564cf88bdf841cd" /><Relationship Type="http://schemas.openxmlformats.org/officeDocument/2006/relationships/image" Target="/ppt/media/image201.svg" Id="Rc4266a2fa53d48f8" /><Relationship Type="http://schemas.openxmlformats.org/officeDocument/2006/relationships/image" Target="/ppt/media/image202.png" Id="R286f1e6f10cc4b22" /><Relationship Type="http://schemas.openxmlformats.org/officeDocument/2006/relationships/image" Target="/ppt/media/image202.svg" Id="Rb68810115549422c" /><Relationship Type="http://schemas.openxmlformats.org/officeDocument/2006/relationships/image" Target="/ppt/media/image203.png" Id="R2846f9b66f8c4d3a" /><Relationship Type="http://schemas.openxmlformats.org/officeDocument/2006/relationships/image" Target="/ppt/media/image203.svg" Id="R5a007e8ae7014df0" /><Relationship Type="http://schemas.openxmlformats.org/officeDocument/2006/relationships/image" Target="/ppt/media/image204.png" Id="R3720e666d0414422" /><Relationship Type="http://schemas.openxmlformats.org/officeDocument/2006/relationships/image" Target="/ppt/media/image204.svg" Id="R236d2f459d5846d6" /><Relationship Type="http://schemas.openxmlformats.org/officeDocument/2006/relationships/notesSlide" Target="/ppt/notesSlides/notesSlide50.xml" Id="R90609006e5b249c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da49ce06da4b4ff4" /><Relationship Type="http://schemas.openxmlformats.org/officeDocument/2006/relationships/image" Target="/ppt/media/image205.png" Id="R6b47852ce1de4d57" /><Relationship Type="http://schemas.openxmlformats.org/officeDocument/2006/relationships/image" Target="/ppt/media/image205.svg" Id="R22b995604c784d93" /><Relationship Type="http://schemas.openxmlformats.org/officeDocument/2006/relationships/image" Target="/ppt/media/image206.png" Id="Rccfcff60395c4632" /><Relationship Type="http://schemas.openxmlformats.org/officeDocument/2006/relationships/image" Target="/ppt/media/image206.svg" Id="Rd5c8c96051eb45e4" /><Relationship Type="http://schemas.openxmlformats.org/officeDocument/2006/relationships/image" Target="/ppt/media/image207.png" Id="R1a295ef996eb4e6a" /><Relationship Type="http://schemas.openxmlformats.org/officeDocument/2006/relationships/image" Target="/ppt/media/image207.svg" Id="Rc20f6ad236c148e0" /><Relationship Type="http://schemas.openxmlformats.org/officeDocument/2006/relationships/image" Target="/ppt/media/image208.png" Id="R56d3902a78844b92" /><Relationship Type="http://schemas.openxmlformats.org/officeDocument/2006/relationships/image" Target="/ppt/media/image208.svg" Id="Rf4b3b1b7540742ba" /><Relationship Type="http://schemas.openxmlformats.org/officeDocument/2006/relationships/image" Target="/ppt/media/image209.png" Id="R048ae57f50924c1a" /><Relationship Type="http://schemas.openxmlformats.org/officeDocument/2006/relationships/image" Target="/ppt/media/image209.svg" Id="Re654755d6a884a6f" /><Relationship Type="http://schemas.openxmlformats.org/officeDocument/2006/relationships/notesSlide" Target="/ppt/notesSlides/notesSlide51.xml" Id="R2515572c2ff9456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d4f1d8c3b2614945" /><Relationship Type="http://schemas.openxmlformats.org/officeDocument/2006/relationships/image" Target="/ppt/media/image210.png" Id="R13bc689de6914aca" /><Relationship Type="http://schemas.openxmlformats.org/officeDocument/2006/relationships/image" Target="/ppt/media/image210.svg" Id="Re31741fe98704e5c" /><Relationship Type="http://schemas.openxmlformats.org/officeDocument/2006/relationships/image" Target="/ppt/media/image211.png" Id="R26086a676b9c4392" /><Relationship Type="http://schemas.openxmlformats.org/officeDocument/2006/relationships/image" Target="/ppt/media/image211.svg" Id="Rd2f96cf1158b440e" /><Relationship Type="http://schemas.openxmlformats.org/officeDocument/2006/relationships/image" Target="/ppt/media/image212.png" Id="R75ec87fa2bf64e51" /><Relationship Type="http://schemas.openxmlformats.org/officeDocument/2006/relationships/image" Target="/ppt/media/image212.svg" Id="Rca15ba85ada14671" /><Relationship Type="http://schemas.openxmlformats.org/officeDocument/2006/relationships/image" Target="/ppt/media/image213.png" Id="Rc84882eea1cc4429" /><Relationship Type="http://schemas.openxmlformats.org/officeDocument/2006/relationships/image" Target="/ppt/media/image213.svg" Id="R8108464eb3404b7a" /><Relationship Type="http://schemas.openxmlformats.org/officeDocument/2006/relationships/image" Target="/ppt/media/image214.png" Id="Rf8912d0d940f40f4" /><Relationship Type="http://schemas.openxmlformats.org/officeDocument/2006/relationships/image" Target="/ppt/media/image214.svg" Id="R8e2e767a6df6419a" /><Relationship Type="http://schemas.openxmlformats.org/officeDocument/2006/relationships/notesSlide" Target="/ppt/notesSlides/notesSlide52.xml" Id="Rbdecca7053ae4b3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d2070e85647744eb" /><Relationship Type="http://schemas.openxmlformats.org/officeDocument/2006/relationships/image" Target="/ppt/media/image215.png" Id="R0a61314063404fee" /><Relationship Type="http://schemas.openxmlformats.org/officeDocument/2006/relationships/image" Target="/ppt/media/image215.svg" Id="Rd53d94de815a4133" /><Relationship Type="http://schemas.openxmlformats.org/officeDocument/2006/relationships/image" Target="/ppt/media/image216.png" Id="Ra54bec06f8f74fb6" /><Relationship Type="http://schemas.openxmlformats.org/officeDocument/2006/relationships/image" Target="/ppt/media/image216.svg" Id="R16a9ec4a4cde42d1" /><Relationship Type="http://schemas.openxmlformats.org/officeDocument/2006/relationships/image" Target="/ppt/media/image217.png" Id="R7d5d053b84d5438b" /><Relationship Type="http://schemas.openxmlformats.org/officeDocument/2006/relationships/image" Target="/ppt/media/image217.svg" Id="R778462a8e4fb49ed" /><Relationship Type="http://schemas.openxmlformats.org/officeDocument/2006/relationships/image" Target="/ppt/media/image218.png" Id="R5df1228cf07d4ede" /><Relationship Type="http://schemas.openxmlformats.org/officeDocument/2006/relationships/image" Target="/ppt/media/image218.svg" Id="R2a53825ea9cf4e5a" /><Relationship Type="http://schemas.openxmlformats.org/officeDocument/2006/relationships/image" Target="/ppt/media/image219.png" Id="Rb6a4f9986f5f487a" /><Relationship Type="http://schemas.openxmlformats.org/officeDocument/2006/relationships/image" Target="/ppt/media/image219.svg" Id="R975f149e26eb41cf" /><Relationship Type="http://schemas.openxmlformats.org/officeDocument/2006/relationships/notesSlide" Target="/ppt/notesSlides/notesSlide53.xml" Id="R2aa30cc96f254d8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bd66c7a3ce434c06" /><Relationship Type="http://schemas.openxmlformats.org/officeDocument/2006/relationships/image" Target="/ppt/media/image220.png" Id="R269373deea9a4249" /><Relationship Type="http://schemas.openxmlformats.org/officeDocument/2006/relationships/image" Target="/ppt/media/image220.svg" Id="Ra9555a5109d143b0" /><Relationship Type="http://schemas.openxmlformats.org/officeDocument/2006/relationships/image" Target="/ppt/media/image221.png" Id="R62abb43c2e204f79" /><Relationship Type="http://schemas.openxmlformats.org/officeDocument/2006/relationships/image" Target="/ppt/media/image221.svg" Id="R831f7559955d4ad1" /><Relationship Type="http://schemas.openxmlformats.org/officeDocument/2006/relationships/image" Target="/ppt/media/image222.png" Id="R217c6261e47f47af" /><Relationship Type="http://schemas.openxmlformats.org/officeDocument/2006/relationships/image" Target="/ppt/media/image222.svg" Id="Re41cfe1757f340b1" /><Relationship Type="http://schemas.openxmlformats.org/officeDocument/2006/relationships/image" Target="/ppt/media/image223.png" Id="Rcc7abfc7f72c4099" /><Relationship Type="http://schemas.openxmlformats.org/officeDocument/2006/relationships/image" Target="/ppt/media/image223.svg" Id="R222de00bdddb4ad2" /><Relationship Type="http://schemas.openxmlformats.org/officeDocument/2006/relationships/notesSlide" Target="/ppt/notesSlides/notesSlide54.xml" Id="R071578ca9d68489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66bc158d091a4eb7" /><Relationship Type="http://schemas.openxmlformats.org/officeDocument/2006/relationships/image" Target="/ppt/media/image224.png" Id="Rf13d78604bef4b88" /><Relationship Type="http://schemas.openxmlformats.org/officeDocument/2006/relationships/image" Target="/ppt/media/image224.svg" Id="R89d4275e6ab34fb9" /><Relationship Type="http://schemas.openxmlformats.org/officeDocument/2006/relationships/image" Target="/ppt/media/image225.png" Id="R0f70f42b825e430b" /><Relationship Type="http://schemas.openxmlformats.org/officeDocument/2006/relationships/image" Target="/ppt/media/image225.svg" Id="R20b9bf6ca42648c6" /><Relationship Type="http://schemas.openxmlformats.org/officeDocument/2006/relationships/image" Target="/ppt/media/image226.png" Id="Ra68e79a50aa44deb" /><Relationship Type="http://schemas.openxmlformats.org/officeDocument/2006/relationships/image" Target="/ppt/media/image226.svg" Id="Rce230d2c8fac461a" /><Relationship Type="http://schemas.openxmlformats.org/officeDocument/2006/relationships/image" Target="/ppt/media/image227.png" Id="R0ee8782f219d45cd" /><Relationship Type="http://schemas.openxmlformats.org/officeDocument/2006/relationships/image" Target="/ppt/media/image227.svg" Id="R3ed6849d03054a47" /><Relationship Type="http://schemas.openxmlformats.org/officeDocument/2006/relationships/notesSlide" Target="/ppt/notesSlides/notesSlide55.xml" Id="R69a6e9b189eb451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d8461213d98d4b27" /><Relationship Type="http://schemas.openxmlformats.org/officeDocument/2006/relationships/image" Target="/ppt/media/image228.png" Id="Rce24cb6b249a440c" /><Relationship Type="http://schemas.openxmlformats.org/officeDocument/2006/relationships/image" Target="/ppt/media/image228.svg" Id="Rd339363010c444bf" /><Relationship Type="http://schemas.openxmlformats.org/officeDocument/2006/relationships/image" Target="/ppt/media/image229.png" Id="R1571a0f5db4c44cf" /><Relationship Type="http://schemas.openxmlformats.org/officeDocument/2006/relationships/image" Target="/ppt/media/image229.svg" Id="R1f62484ff0a24c8b" /><Relationship Type="http://schemas.openxmlformats.org/officeDocument/2006/relationships/image" Target="/ppt/media/image230.png" Id="R6132ed79c7ef4ad0" /><Relationship Type="http://schemas.openxmlformats.org/officeDocument/2006/relationships/image" Target="/ppt/media/image230.svg" Id="R6b43207b5da24755" /><Relationship Type="http://schemas.openxmlformats.org/officeDocument/2006/relationships/image" Target="/ppt/media/image231.png" Id="R9dcc4f73109f4e25" /><Relationship Type="http://schemas.openxmlformats.org/officeDocument/2006/relationships/image" Target="/ppt/media/image231.svg" Id="Rc35bb49336d4444e" /><Relationship Type="http://schemas.openxmlformats.org/officeDocument/2006/relationships/notesSlide" Target="/ppt/notesSlides/notesSlide56.xml" Id="R14214869cc8a420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5ea461634ad749db" /><Relationship Type="http://schemas.openxmlformats.org/officeDocument/2006/relationships/image" Target="/ppt/media/image232.png" Id="R35044738a38f4884" /><Relationship Type="http://schemas.openxmlformats.org/officeDocument/2006/relationships/image" Target="/ppt/media/image232.svg" Id="R49ec58982a314b44" /><Relationship Type="http://schemas.openxmlformats.org/officeDocument/2006/relationships/image" Target="/ppt/media/image233.png" Id="R5910d535d3354a34" /><Relationship Type="http://schemas.openxmlformats.org/officeDocument/2006/relationships/image" Target="/ppt/media/image233.svg" Id="R386e73299a4f4042" /><Relationship Type="http://schemas.openxmlformats.org/officeDocument/2006/relationships/image" Target="/ppt/media/image234.png" Id="R34fd00cde6f54b3e" /><Relationship Type="http://schemas.openxmlformats.org/officeDocument/2006/relationships/image" Target="/ppt/media/image234.svg" Id="Rf915ab49595e42a6" /><Relationship Type="http://schemas.openxmlformats.org/officeDocument/2006/relationships/image" Target="/ppt/media/image235.png" Id="R7952e43f50db4897" /><Relationship Type="http://schemas.openxmlformats.org/officeDocument/2006/relationships/image" Target="/ppt/media/image235.svg" Id="Racaf951cc12b424b" /><Relationship Type="http://schemas.openxmlformats.org/officeDocument/2006/relationships/notesSlide" Target="/ppt/notesSlides/notesSlide57.xml" Id="Race3dc817fb640b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5445d2524df84558" /><Relationship Type="http://schemas.openxmlformats.org/officeDocument/2006/relationships/image" Target="/ppt/media/image236.png" Id="R51bf2873f1ba4c99" /><Relationship Type="http://schemas.openxmlformats.org/officeDocument/2006/relationships/image" Target="/ppt/media/image236.svg" Id="Rbc98e7118b5a412c" /><Relationship Type="http://schemas.openxmlformats.org/officeDocument/2006/relationships/image" Target="/ppt/media/image237.png" Id="R8b96636bf6ef44df" /><Relationship Type="http://schemas.openxmlformats.org/officeDocument/2006/relationships/image" Target="/ppt/media/image237.svg" Id="R6586f31b5f7549f8" /><Relationship Type="http://schemas.openxmlformats.org/officeDocument/2006/relationships/image" Target="/ppt/media/image238.png" Id="R6facc05262fb461e" /><Relationship Type="http://schemas.openxmlformats.org/officeDocument/2006/relationships/image" Target="/ppt/media/image238.svg" Id="R0dbbe94cec5d4a06" /><Relationship Type="http://schemas.openxmlformats.org/officeDocument/2006/relationships/notesSlide" Target="/ppt/notesSlides/notesSlide58.xml" Id="R3a81dc7b5f094fc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95552cee881a4bda" /><Relationship Type="http://schemas.openxmlformats.org/officeDocument/2006/relationships/image" Target="/ppt/media/image239.png" Id="Rb0491aa65718453c" /><Relationship Type="http://schemas.openxmlformats.org/officeDocument/2006/relationships/image" Target="/ppt/media/image239.svg" Id="R674e7d2ace964b0c" /><Relationship Type="http://schemas.openxmlformats.org/officeDocument/2006/relationships/image" Target="/ppt/media/image240.png" Id="R5ee258646c974cda" /><Relationship Type="http://schemas.openxmlformats.org/officeDocument/2006/relationships/image" Target="/ppt/media/image240.svg" Id="R3038d698a3f740ea" /><Relationship Type="http://schemas.openxmlformats.org/officeDocument/2006/relationships/image" Target="/ppt/media/image241.png" Id="Rb625987bc91a4e97" /><Relationship Type="http://schemas.openxmlformats.org/officeDocument/2006/relationships/image" Target="/ppt/media/image241.svg" Id="R6ee8789fc98d49f2" /><Relationship Type="http://schemas.openxmlformats.org/officeDocument/2006/relationships/image" Target="/ppt/media/image242.png" Id="Rdd3ea3caf2e74ca8" /><Relationship Type="http://schemas.openxmlformats.org/officeDocument/2006/relationships/image" Target="/ppt/media/image242.svg" Id="Rd2684eaec9f44861" /><Relationship Type="http://schemas.openxmlformats.org/officeDocument/2006/relationships/notesSlide" Target="/ppt/notesSlides/notesSlide59.xml" Id="Rde0dfd6ad6ee4a0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58978899e79b4992" /><Relationship Type="http://schemas.openxmlformats.org/officeDocument/2006/relationships/image" Target="/ppt/media/image243.png" Id="Rfb39423d9f3745b8" /><Relationship Type="http://schemas.openxmlformats.org/officeDocument/2006/relationships/image" Target="/ppt/media/image243.svg" Id="R8cc855fed1b64ddc" /><Relationship Type="http://schemas.openxmlformats.org/officeDocument/2006/relationships/image" Target="/ppt/media/image244.png" Id="R4ad30ee452004599" /><Relationship Type="http://schemas.openxmlformats.org/officeDocument/2006/relationships/image" Target="/ppt/media/image244.svg" Id="R167039a65f17490e" /><Relationship Type="http://schemas.openxmlformats.org/officeDocument/2006/relationships/image" Target="/ppt/media/image245.png" Id="R3b0b69b0e739430c" /><Relationship Type="http://schemas.openxmlformats.org/officeDocument/2006/relationships/image" Target="/ppt/media/image245.svg" Id="R196ddef282aa47a5" /><Relationship Type="http://schemas.openxmlformats.org/officeDocument/2006/relationships/notesSlide" Target="/ppt/notesSlides/notesSlide60.xml" Id="R613c137901b0406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4af8329366624778" /><Relationship Type="http://schemas.openxmlformats.org/officeDocument/2006/relationships/image" Target="/ppt/media/image246.png" Id="Rb61dc49be7714f50" /><Relationship Type="http://schemas.openxmlformats.org/officeDocument/2006/relationships/image" Target="/ppt/media/image246.svg" Id="R001f01ca5d47406c" /><Relationship Type="http://schemas.openxmlformats.org/officeDocument/2006/relationships/notesSlide" Target="/ppt/notesSlides/notesSlide61.xml" Id="R23569b3d464147d4" /></Relationships>
</file>

<file path=ppt/slides/slide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50D06775-B95E-4D64-82F1-520CB4DF778A}"/>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point and a direction</a:t>
            </a:r>
          </a:p>
        </p:txBody>
      </p:sp>
      <p:sp>
        <p:nvSpPr>
          <p:cNvPr id="2" name="page-number">
            <a:extLst xmlns:a="http://schemas.openxmlformats.org/drawingml/2006/main">
              <a:ext uri="{FF2B5EF4-FFF2-40B4-BE49-F238E27FC236}">
                <a16:creationId xmlns:a16="http://schemas.microsoft.com/office/drawing/2014/main" id="{2FF657F4-FDCA-496C-9EC3-EA65FAAA51F9}"/>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01</a:t>
            </a:r>
          </a:p>
        </p:txBody>
      </p:sp>
      <p:sp>
        <p:nvSpPr>
          <p:cNvPr id="3" name="lead">
            <a:extLst xmlns:a="http://schemas.openxmlformats.org/drawingml/2006/main">
              <a:ext uri="{FF2B5EF4-FFF2-40B4-BE49-F238E27FC236}">
                <a16:creationId xmlns:a16="http://schemas.microsoft.com/office/drawing/2014/main" id="{097600D9-E3BC-457F-BDFE-2417069AB5E6}"/>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known point and a nonzero direction determine one line.</a:t>
            </a:r>
          </a:p>
        </p:txBody>
      </p:sp>
      <p:pic>
        <p:nvPicPr>
          <p:cNvPr id="4" name="equation-0" descr="LaTeX: P_0(x_0,y_0),\qquad \vec m\parallel L,\quad\vec m\ne\vec0">
            <a:extLst xmlns:a="http://schemas.openxmlformats.org/drawingml/2006/main">
              <a:ext uri="{FF2B5EF4-FFF2-40B4-BE49-F238E27FC236}">
                <a16:creationId xmlns:a16="http://schemas.microsoft.com/office/drawing/2014/main" id="{60E86143-2BDB-49F1-B73E-54726A528C41}"/>
              </a:ext>
            </a:extLst>
          </p:cNvPr>
          <p:cNvPicPr>
            <a:picLocks xmlns:a="http://schemas.openxmlformats.org/drawingml/2006/main" noChangeAspect="1"/>
          </p:cNvPicPr>
          <p:nvPr/>
        </p:nvPicPr>
        <p:blipFill>
          <a:blip xmlns:r="http://schemas.openxmlformats.org/officeDocument/2006/relationships" xmlns:a="http://schemas.openxmlformats.org/drawingml/2006/main" r:embed="Rc19551591723420b">
            <a:extLst>
              <a:ext uri="{96DAC541-7B7A-43D3-8B79-37D633B846F1}">
                <asvg:svgBlip xmlns:asvg="http://schemas.microsoft.com/office/drawing/2016/SVG/main" r:embed="R61d8447caa724516"/>
              </a:ext>
            </a:extLst>
          </a:blip>
          <a:stretch xmlns:a="http://schemas.openxmlformats.org/drawingml/2006/main"/>
        </p:blipFill>
        <p:spPr>
          <a:xfrm xmlns:a="http://schemas.openxmlformats.org/drawingml/2006/main">
            <a:off x="685800" y="2571750"/>
            <a:ext cx="4282465" cy="435909"/>
          </a:xfrm>
          <a:prstGeom xmlns:a="http://schemas.openxmlformats.org/drawingml/2006/main" prst="rect">
            <a:avLst/>
          </a:prstGeom>
        </p:spPr>
      </p:pic>
      <p:cxnSp>
        <p:nvCxnSpPr>
          <p:cNvPr id="5" name="line-L">
            <a:extLst xmlns:a="http://schemas.openxmlformats.org/drawingml/2006/main">
              <a:ext uri="{FF2B5EF4-FFF2-40B4-BE49-F238E27FC236}">
                <a16:creationId xmlns:a16="http://schemas.microsoft.com/office/drawing/2014/main" id="{D575801C-BC6C-4B90-A46A-7A2F3A2B26B5}"/>
              </a:ext>
            </a:extLst>
          </p:cNvPr>
          <p:cNvCxnSpPr/>
          <p:nvPr/>
        </p:nvCxnSpPr>
        <p:spPr>
          <a:xfrm xmlns:a="http://schemas.openxmlformats.org/drawingml/2006/main" rot="-1593903">
            <a:off x="7243838" y="3274219"/>
            <a:ext cx="4419449" cy="0"/>
          </a:xfrm>
          <a:prstGeom xmlns:a="http://schemas.openxmlformats.org/drawingml/2006/main" prst="straightConnector1">
            <a:avLst/>
          </a:prstGeom>
          <a:ln xmlns:a="http://schemas.openxmlformats.org/drawingml/2006/main" w="23813">
            <a:solidFill>
              <a:srgbClr val="F5F5F5"/>
            </a:solidFill>
            <a:prstDash val="solid"/>
          </a:ln>
        </p:spPr>
      </p:cxnSp>
      <p:sp>
        <p:nvSpPr>
          <p:cNvPr id="6" name="known-point">
            <a:extLst xmlns:a="http://schemas.openxmlformats.org/drawingml/2006/main">
              <a:ext uri="{FF2B5EF4-FFF2-40B4-BE49-F238E27FC236}">
                <a16:creationId xmlns:a16="http://schemas.microsoft.com/office/drawing/2014/main" id="{F50AB1B2-58F0-43FD-AB17-B2C5B7193333}"/>
              </a:ext>
            </a:extLst>
          </p:cNvPr>
          <p:cNvSpPr>
            <a:spLocks xmlns:a="http://schemas.openxmlformats.org/drawingml/2006/main" noGrp="1"/>
          </p:cNvSpPr>
          <p:nvPr/>
        </p:nvSpPr>
        <p:spPr>
          <a:xfrm xmlns:a="http://schemas.openxmlformats.org/drawingml/2006/main">
            <a:off x="8153400" y="38671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pic>
        <p:nvPicPr>
          <p:cNvPr id="7" name="P0-label" descr="LaTeX: P_0(x_0,y_0)">
            <a:extLst xmlns:a="http://schemas.openxmlformats.org/drawingml/2006/main">
              <a:ext uri="{FF2B5EF4-FFF2-40B4-BE49-F238E27FC236}">
                <a16:creationId xmlns:a16="http://schemas.microsoft.com/office/drawing/2014/main" id="{92D74021-8E85-4313-B30C-16605A6A4848}"/>
              </a:ext>
            </a:extLst>
          </p:cNvPr>
          <p:cNvPicPr>
            <a:picLocks xmlns:a="http://schemas.openxmlformats.org/drawingml/2006/main" noChangeAspect="1"/>
          </p:cNvPicPr>
          <p:nvPr/>
        </p:nvPicPr>
        <p:blipFill>
          <a:blip xmlns:r="http://schemas.openxmlformats.org/officeDocument/2006/relationships" xmlns:a="http://schemas.openxmlformats.org/drawingml/2006/main" r:embed="R771f392050074154">
            <a:extLst>
              <a:ext uri="{96DAC541-7B7A-43D3-8B79-37D633B846F1}">
                <asvg:svgBlip xmlns:asvg="http://schemas.microsoft.com/office/drawing/2016/SVG/main" r:embed="Rf484f8f290b4404f"/>
              </a:ext>
            </a:extLst>
          </a:blip>
          <a:stretch xmlns:a="http://schemas.openxmlformats.org/drawingml/2006/main"/>
        </p:blipFill>
        <p:spPr>
          <a:xfrm xmlns:a="http://schemas.openxmlformats.org/drawingml/2006/main">
            <a:off x="7334250" y="3286125"/>
            <a:ext cx="1075607" cy="304796"/>
          </a:xfrm>
          <a:prstGeom xmlns:a="http://schemas.openxmlformats.org/drawingml/2006/main" prst="rect">
            <a:avLst/>
          </a:prstGeom>
        </p:spPr>
      </p:pic>
      <p:cxnSp>
        <p:nvCxnSpPr>
          <p:cNvPr id="8" name="direction">
            <a:extLst xmlns:a="http://schemas.openxmlformats.org/drawingml/2006/main">
              <a:ext uri="{FF2B5EF4-FFF2-40B4-BE49-F238E27FC236}">
                <a16:creationId xmlns:a16="http://schemas.microsoft.com/office/drawing/2014/main" id="{B399D263-05F0-4CA1-A4A2-1B51092FA3E9}"/>
              </a:ext>
            </a:extLst>
          </p:cNvPr>
          <p:cNvCxnSpPr/>
          <p:nvPr/>
        </p:nvCxnSpPr>
        <p:spPr>
          <a:xfrm xmlns:a="http://schemas.openxmlformats.org/drawingml/2006/main" rot="-1593903">
            <a:off x="7779426" y="2286000"/>
            <a:ext cx="1490898" cy="0"/>
          </a:xfrm>
          <a:prstGeom xmlns:a="http://schemas.openxmlformats.org/drawingml/2006/main" prst="straightConnector1">
            <a:avLst/>
          </a:prstGeom>
          <a:ln xmlns:a="http://schemas.openxmlformats.org/drawingml/2006/main" w="28575">
            <a:solidFill>
              <a:srgbClr val="FDA4AF"/>
            </a:solidFill>
            <a:prstDash val="solid"/>
            <a:tailEnd type="triangle" w="med" len="med"/>
          </a:ln>
        </p:spPr>
      </p:cxnSp>
      <p:pic>
        <p:nvPicPr>
          <p:cNvPr id="9" name="m-label" descr="LaTeX: \vec m">
            <a:extLst xmlns:a="http://schemas.openxmlformats.org/drawingml/2006/main">
              <a:ext uri="{FF2B5EF4-FFF2-40B4-BE49-F238E27FC236}">
                <a16:creationId xmlns:a16="http://schemas.microsoft.com/office/drawing/2014/main" id="{D39EBF62-6F77-4D77-9D66-ECEE967F76B0}"/>
              </a:ext>
            </a:extLst>
          </p:cNvPr>
          <p:cNvPicPr>
            <a:picLocks xmlns:a="http://schemas.openxmlformats.org/drawingml/2006/main" noChangeAspect="1"/>
          </p:cNvPicPr>
          <p:nvPr/>
        </p:nvPicPr>
        <p:blipFill>
          <a:blip xmlns:r="http://schemas.openxmlformats.org/officeDocument/2006/relationships" xmlns:a="http://schemas.openxmlformats.org/drawingml/2006/main" r:embed="Rc7ae14708f4d4e64">
            <a:extLst>
              <a:ext uri="{96DAC541-7B7A-43D3-8B79-37D633B846F1}">
                <asvg:svgBlip xmlns:asvg="http://schemas.microsoft.com/office/drawing/2016/SVG/main" r:embed="Rde42cbc09b5444c8"/>
              </a:ext>
            </a:extLst>
          </a:blip>
          <a:stretch xmlns:a="http://schemas.openxmlformats.org/drawingml/2006/main"/>
        </p:blipFill>
        <p:spPr>
          <a:xfrm xmlns:a="http://schemas.openxmlformats.org/drawingml/2006/main">
            <a:off x="8096250" y="2143125"/>
            <a:ext cx="301654" cy="257286"/>
          </a:xfrm>
          <a:prstGeom xmlns:a="http://schemas.openxmlformats.org/drawingml/2006/main" prst="rect">
            <a:avLst/>
          </a:prstGeom>
        </p:spPr>
      </p:pic>
      <p:sp>
        <p:nvSpPr>
          <p:cNvPr id="10" name="L-label">
            <a:extLst xmlns:a="http://schemas.openxmlformats.org/drawingml/2006/main">
              <a:ext uri="{FF2B5EF4-FFF2-40B4-BE49-F238E27FC236}">
                <a16:creationId xmlns:a16="http://schemas.microsoft.com/office/drawing/2014/main" id="{8B51F13F-1975-475B-89FB-9F86D88624FE}"/>
              </a:ext>
            </a:extLst>
          </p:cNvPr>
          <p:cNvSpPr>
            <a:spLocks xmlns:a="http://schemas.openxmlformats.org/drawingml/2006/main" noGrp="1"/>
          </p:cNvSpPr>
          <p:nvPr/>
        </p:nvSpPr>
        <p:spPr>
          <a:xfrm xmlns:a="http://schemas.openxmlformats.org/drawingml/2006/main">
            <a:off x="11382375" y="2333625"/>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75" b="0">
                <a:solidFill>
                  <a:srgbClr val="F5F5F5"/>
                </a:solidFill>
                <a:latin typeface="DejaVu Sans"/>
                <a:ea typeface="DejaVu Sans"/>
                <a:cs typeface="DejaVu Sans"/>
              </a:defRPr>
            </a:defPPr>
            <a:lvl1pPr>
              <a:buNone/>
              <a:defRPr sz="2175" b="0">
                <a:solidFill>
                  <a:srgbClr val="F5F5F5"/>
                </a:solidFill>
                <a:latin typeface="DejaVu Sans"/>
                <a:ea typeface="DejaVu Sans"/>
                <a:cs typeface="DejaVu Sans"/>
              </a:defRPr>
            </a:lvl1pPr>
            <a:lvl2pPr>
              <a:buNone/>
              <a:defRPr sz="2175" b="0">
                <a:solidFill>
                  <a:srgbClr val="F5F5F5"/>
                </a:solidFill>
                <a:latin typeface="DejaVu Sans"/>
                <a:ea typeface="DejaVu Sans"/>
                <a:cs typeface="DejaVu Sans"/>
              </a:defRPr>
            </a:lvl2pPr>
            <a:lvl3pPr>
              <a:buNone/>
              <a:defRPr sz="2175" b="0">
                <a:solidFill>
                  <a:srgbClr val="F5F5F5"/>
                </a:solidFill>
                <a:latin typeface="DejaVu Sans"/>
                <a:ea typeface="DejaVu Sans"/>
                <a:cs typeface="DejaVu Sans"/>
              </a:defRPr>
            </a:lvl3pPr>
            <a:lvl4pPr>
              <a:buNone/>
              <a:defRPr sz="2175" b="0">
                <a:solidFill>
                  <a:srgbClr val="F5F5F5"/>
                </a:solidFill>
                <a:latin typeface="DejaVu Sans"/>
                <a:ea typeface="DejaVu Sans"/>
                <a:cs typeface="DejaVu Sans"/>
              </a:defRPr>
            </a:lvl4pPr>
            <a:lvl5pPr>
              <a:buNone/>
              <a:defRPr sz="2175" b="0">
                <a:solidFill>
                  <a:srgbClr val="F5F5F5"/>
                </a:solidFill>
                <a:latin typeface="DejaVu Sans"/>
                <a:ea typeface="DejaVu Sans"/>
                <a:cs typeface="DejaVu Sans"/>
              </a:defRPr>
            </a:lvl5pPr>
            <a:lvl6pPr>
              <a:buNone/>
              <a:defRPr sz="2175" b="0">
                <a:solidFill>
                  <a:srgbClr val="F5F5F5"/>
                </a:solidFill>
                <a:latin typeface="DejaVu Sans"/>
                <a:ea typeface="DejaVu Sans"/>
                <a:cs typeface="DejaVu Sans"/>
              </a:defRPr>
            </a:lvl6pPr>
            <a:lvl7pPr>
              <a:buNone/>
              <a:defRPr sz="2175" b="0">
                <a:solidFill>
                  <a:srgbClr val="F5F5F5"/>
                </a:solidFill>
                <a:latin typeface="DejaVu Sans"/>
                <a:ea typeface="DejaVu Sans"/>
                <a:cs typeface="DejaVu Sans"/>
              </a:defRPr>
            </a:lvl7pPr>
            <a:lvl8pPr>
              <a:buNone/>
              <a:defRPr sz="2175" b="0">
                <a:solidFill>
                  <a:srgbClr val="F5F5F5"/>
                </a:solidFill>
                <a:latin typeface="DejaVu Sans"/>
                <a:ea typeface="DejaVu Sans"/>
                <a:cs typeface="DejaVu Sans"/>
              </a:defRPr>
            </a:lvl8pPr>
            <a:lvl9pPr>
              <a:buNone/>
              <a:defRPr sz="2175" b="0">
                <a:solidFill>
                  <a:srgbClr val="F5F5F5"/>
                </a:solidFill>
                <a:latin typeface="DejaVu Sans"/>
                <a:ea typeface="DejaVu Sans"/>
                <a:cs typeface="DejaVu Sans"/>
              </a:defRPr>
            </a:lvl9pPr>
          </a:lstStyle>
          <a:p xmlns:a="http://schemas.openxmlformats.org/drawingml/2006/main">
            <a:pPr>
              <a:buNone/>
              <a:defRPr sz="2175" b="0">
                <a:solidFill>
                  <a:srgbClr val="F5F5F5"/>
                </a:solidFill>
                <a:latin typeface="DejaVu Sans"/>
                <a:ea typeface="DejaVu Sans"/>
                <a:cs typeface="DejaVu Sans"/>
              </a:defRPr>
            </a:pPr>
            <a:r>
              <a:rPr sz="2175" b="0">
                <a:solidFill>
                  <a:srgbClr val="F5F5F5"/>
                </a:solidFill>
                <a:latin typeface="DejaVu Sans"/>
                <a:ea typeface="DejaVu Sans"/>
                <a:cs typeface="DejaVu Sans"/>
              </a:rPr>
              <a:t>L</a:t>
            </a:r>
          </a:p>
        </p:txBody>
      </p:sp>
      <p:sp>
        <p:nvSpPr>
          <p:cNvPr id="11" name="takeaway">
            <a:extLst xmlns:a="http://schemas.openxmlformats.org/drawingml/2006/main">
              <a:ext uri="{FF2B5EF4-FFF2-40B4-BE49-F238E27FC236}">
                <a16:creationId xmlns:a16="http://schemas.microsoft.com/office/drawing/2014/main" id="{F143B141-FA41-4FBE-B175-75909345C4E3}"/>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A point fixes the location. A nonzero vector fixes the direction.</a:t>
            </a:r>
          </a:p>
        </p:txBody>
      </p:sp>
    </p:spTree>
    <p:extLst>
      <p:ext uri="{BB962C8B-B14F-4D97-AF65-F5344CB8AC3E}">
        <p14:creationId xmlns:p14="http://schemas.microsoft.com/office/powerpoint/2010/main" val="850281499"/>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3F11DC2D-23AC-44A6-807F-2CD88A6B4EC1}"/>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Position vectors</a:t>
            </a:r>
          </a:p>
        </p:txBody>
      </p:sp>
      <p:sp>
        <p:nvSpPr>
          <p:cNvPr id="2" name="page-number">
            <a:extLst xmlns:a="http://schemas.openxmlformats.org/drawingml/2006/main">
              <a:ext uri="{FF2B5EF4-FFF2-40B4-BE49-F238E27FC236}">
                <a16:creationId xmlns:a16="http://schemas.microsoft.com/office/drawing/2014/main" id="{3F661567-E30B-4F25-92E0-E8F11A09E25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02</a:t>
            </a:r>
          </a:p>
        </p:txBody>
      </p:sp>
      <p:sp>
        <p:nvSpPr>
          <p:cNvPr id="3" name="lead">
            <a:extLst xmlns:a="http://schemas.openxmlformats.org/drawingml/2006/main">
              <a:ext uri="{FF2B5EF4-FFF2-40B4-BE49-F238E27FC236}">
                <a16:creationId xmlns:a16="http://schemas.microsoft.com/office/drawing/2014/main" id="{74AE1F28-6833-417F-9C5D-BBB586E092DD}"/>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P₀ is known. P is any point on the line.</a:t>
            </a:r>
          </a:p>
        </p:txBody>
      </p:sp>
      <p:pic>
        <p:nvPicPr>
          <p:cNvPr id="4" name="equation-0" descr="LaTeX: \vec r_0=\overrightarrow{OP_0}=[x_0,y_0]">
            <a:extLst xmlns:a="http://schemas.openxmlformats.org/drawingml/2006/main">
              <a:ext uri="{FF2B5EF4-FFF2-40B4-BE49-F238E27FC236}">
                <a16:creationId xmlns:a16="http://schemas.microsoft.com/office/drawing/2014/main" id="{8E697056-0AAF-4955-9EC1-770C06B01A0C}"/>
              </a:ext>
            </a:extLst>
          </p:cNvPr>
          <p:cNvPicPr>
            <a:picLocks xmlns:a="http://schemas.openxmlformats.org/drawingml/2006/main" noChangeAspect="1"/>
          </p:cNvPicPr>
          <p:nvPr/>
        </p:nvPicPr>
        <p:blipFill>
          <a:blip xmlns:r="http://schemas.openxmlformats.org/officeDocument/2006/relationships" xmlns:a="http://schemas.openxmlformats.org/drawingml/2006/main" r:embed="Rda8bccb2f43b4140">
            <a:extLst>
              <a:ext uri="{96DAC541-7B7A-43D3-8B79-37D633B846F1}">
                <asvg:svgBlip xmlns:asvg="http://schemas.microsoft.com/office/drawing/2016/SVG/main" r:embed="Ra636f340c7154dd9"/>
              </a:ext>
            </a:extLst>
          </a:blip>
          <a:stretch xmlns:a="http://schemas.openxmlformats.org/drawingml/2006/main"/>
        </p:blipFill>
        <p:spPr>
          <a:xfrm xmlns:a="http://schemas.openxmlformats.org/drawingml/2006/main">
            <a:off x="685800" y="2571750"/>
            <a:ext cx="2635963" cy="477075"/>
          </a:xfrm>
          <a:prstGeom xmlns:a="http://schemas.openxmlformats.org/drawingml/2006/main" prst="rect">
            <a:avLst/>
          </a:prstGeom>
        </p:spPr>
      </p:pic>
      <p:pic>
        <p:nvPicPr>
          <p:cNvPr id="5" name="equation-1" descr="LaTeX: \vec r=\overrightarrow{OP}=[x,y]">
            <a:extLst xmlns:a="http://schemas.openxmlformats.org/drawingml/2006/main">
              <a:ext uri="{FF2B5EF4-FFF2-40B4-BE49-F238E27FC236}">
                <a16:creationId xmlns:a16="http://schemas.microsoft.com/office/drawing/2014/main" id="{D6249895-4353-473C-A3B1-A239759400E7}"/>
              </a:ext>
            </a:extLst>
          </p:cNvPr>
          <p:cNvPicPr>
            <a:picLocks xmlns:a="http://schemas.openxmlformats.org/drawingml/2006/main" noChangeAspect="1"/>
          </p:cNvPicPr>
          <p:nvPr/>
        </p:nvPicPr>
        <p:blipFill>
          <a:blip xmlns:r="http://schemas.openxmlformats.org/officeDocument/2006/relationships" xmlns:a="http://schemas.openxmlformats.org/drawingml/2006/main" r:embed="R0554e2c3c62e4865">
            <a:extLst>
              <a:ext uri="{96DAC541-7B7A-43D3-8B79-37D633B846F1}">
                <asvg:svgBlip xmlns:asvg="http://schemas.microsoft.com/office/drawing/2016/SVG/main" r:embed="Rac3a5aa0db2d453c"/>
              </a:ext>
            </a:extLst>
          </a:blip>
          <a:stretch xmlns:a="http://schemas.openxmlformats.org/drawingml/2006/main"/>
        </p:blipFill>
        <p:spPr>
          <a:xfrm xmlns:a="http://schemas.openxmlformats.org/drawingml/2006/main">
            <a:off x="685800" y="3334575"/>
            <a:ext cx="2247767" cy="477075"/>
          </a:xfrm>
          <a:prstGeom xmlns:a="http://schemas.openxmlformats.org/drawingml/2006/main" prst="rect">
            <a:avLst/>
          </a:prstGeom>
        </p:spPr>
      </p:pic>
      <p:cxnSp>
        <p:nvCxnSpPr>
          <p:cNvPr id="6" name="line-L">
            <a:extLst xmlns:a="http://schemas.openxmlformats.org/drawingml/2006/main">
              <a:ext uri="{FF2B5EF4-FFF2-40B4-BE49-F238E27FC236}">
                <a16:creationId xmlns:a16="http://schemas.microsoft.com/office/drawing/2014/main" id="{D321EA79-0D12-4A46-A89D-7F0BCBE1E59B}"/>
              </a:ext>
            </a:extLst>
          </p:cNvPr>
          <p:cNvCxnSpPr/>
          <p:nvPr/>
        </p:nvCxnSpPr>
        <p:spPr>
          <a:xfrm xmlns:a="http://schemas.openxmlformats.org/drawingml/2006/main" rot="-1593903">
            <a:off x="7243838" y="3274219"/>
            <a:ext cx="4419449" cy="0"/>
          </a:xfrm>
          <a:prstGeom xmlns:a="http://schemas.openxmlformats.org/drawingml/2006/main" prst="straightConnector1">
            <a:avLst/>
          </a:prstGeom>
          <a:ln xmlns:a="http://schemas.openxmlformats.org/drawingml/2006/main" w="23813">
            <a:solidFill>
              <a:srgbClr val="F5F5F5"/>
            </a:solidFill>
            <a:prstDash val="solid"/>
          </a:ln>
        </p:spPr>
      </p:cxnSp>
      <p:sp>
        <p:nvSpPr>
          <p:cNvPr id="7" name="known-point">
            <a:extLst xmlns:a="http://schemas.openxmlformats.org/drawingml/2006/main">
              <a:ext uri="{FF2B5EF4-FFF2-40B4-BE49-F238E27FC236}">
                <a16:creationId xmlns:a16="http://schemas.microsoft.com/office/drawing/2014/main" id="{41415766-BFE4-468C-A82D-F413B31D777E}"/>
              </a:ext>
            </a:extLst>
          </p:cNvPr>
          <p:cNvSpPr>
            <a:spLocks xmlns:a="http://schemas.openxmlformats.org/drawingml/2006/main" noGrp="1"/>
          </p:cNvSpPr>
          <p:nvPr/>
        </p:nvSpPr>
        <p:spPr>
          <a:xfrm xmlns:a="http://schemas.openxmlformats.org/drawingml/2006/main">
            <a:off x="8153400" y="38671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pic>
        <p:nvPicPr>
          <p:cNvPr id="8" name="P0-label" descr="LaTeX: P_0(x_0,y_0)">
            <a:extLst xmlns:a="http://schemas.openxmlformats.org/drawingml/2006/main">
              <a:ext uri="{FF2B5EF4-FFF2-40B4-BE49-F238E27FC236}">
                <a16:creationId xmlns:a16="http://schemas.microsoft.com/office/drawing/2014/main" id="{DA2B9162-43DB-4C1C-AF00-F76777CC8489}"/>
              </a:ext>
            </a:extLst>
          </p:cNvPr>
          <p:cNvPicPr>
            <a:picLocks xmlns:a="http://schemas.openxmlformats.org/drawingml/2006/main" noChangeAspect="1"/>
          </p:cNvPicPr>
          <p:nvPr/>
        </p:nvPicPr>
        <p:blipFill>
          <a:blip xmlns:r="http://schemas.openxmlformats.org/officeDocument/2006/relationships" xmlns:a="http://schemas.openxmlformats.org/drawingml/2006/main" r:embed="R7d381ac620324e98">
            <a:extLst>
              <a:ext uri="{96DAC541-7B7A-43D3-8B79-37D633B846F1}">
                <asvg:svgBlip xmlns:asvg="http://schemas.microsoft.com/office/drawing/2016/SVG/main" r:embed="Rdc8ba87537b04257"/>
              </a:ext>
            </a:extLst>
          </a:blip>
          <a:stretch xmlns:a="http://schemas.openxmlformats.org/drawingml/2006/main"/>
        </p:blipFill>
        <p:spPr>
          <a:xfrm xmlns:a="http://schemas.openxmlformats.org/drawingml/2006/main">
            <a:off x="7334250" y="3286125"/>
            <a:ext cx="1075607" cy="304796"/>
          </a:xfrm>
          <a:prstGeom xmlns:a="http://schemas.openxmlformats.org/drawingml/2006/main" prst="rect">
            <a:avLst/>
          </a:prstGeom>
        </p:spPr>
      </p:pic>
      <p:cxnSp>
        <p:nvCxnSpPr>
          <p:cNvPr id="9" name="direction">
            <a:extLst xmlns:a="http://schemas.openxmlformats.org/drawingml/2006/main">
              <a:ext uri="{FF2B5EF4-FFF2-40B4-BE49-F238E27FC236}">
                <a16:creationId xmlns:a16="http://schemas.microsoft.com/office/drawing/2014/main" id="{0D271B97-CE29-42CD-BAB9-9C22321B4185}"/>
              </a:ext>
            </a:extLst>
          </p:cNvPr>
          <p:cNvCxnSpPr/>
          <p:nvPr/>
        </p:nvCxnSpPr>
        <p:spPr>
          <a:xfrm xmlns:a="http://schemas.openxmlformats.org/drawingml/2006/main" rot="-1593903">
            <a:off x="7779426" y="2286000"/>
            <a:ext cx="1490898" cy="0"/>
          </a:xfrm>
          <a:prstGeom xmlns:a="http://schemas.openxmlformats.org/drawingml/2006/main" prst="straightConnector1">
            <a:avLst/>
          </a:prstGeom>
          <a:ln xmlns:a="http://schemas.openxmlformats.org/drawingml/2006/main" w="28575">
            <a:solidFill>
              <a:srgbClr val="FDA4AF"/>
            </a:solidFill>
            <a:prstDash val="solid"/>
            <a:tailEnd type="triangle" w="med" len="med"/>
          </a:ln>
        </p:spPr>
      </p:cxnSp>
      <p:pic>
        <p:nvPicPr>
          <p:cNvPr id="10" name="m-label" descr="LaTeX: \vec m">
            <a:extLst xmlns:a="http://schemas.openxmlformats.org/drawingml/2006/main">
              <a:ext uri="{FF2B5EF4-FFF2-40B4-BE49-F238E27FC236}">
                <a16:creationId xmlns:a16="http://schemas.microsoft.com/office/drawing/2014/main" id="{B7CEB529-6138-4B66-BBB3-BCCC0EFBD1E9}"/>
              </a:ext>
            </a:extLst>
          </p:cNvPr>
          <p:cNvPicPr>
            <a:picLocks xmlns:a="http://schemas.openxmlformats.org/drawingml/2006/main" noChangeAspect="1"/>
          </p:cNvPicPr>
          <p:nvPr/>
        </p:nvPicPr>
        <p:blipFill>
          <a:blip xmlns:r="http://schemas.openxmlformats.org/officeDocument/2006/relationships" xmlns:a="http://schemas.openxmlformats.org/drawingml/2006/main" r:embed="R4bfcca96f9504731">
            <a:extLst>
              <a:ext uri="{96DAC541-7B7A-43D3-8B79-37D633B846F1}">
                <asvg:svgBlip xmlns:asvg="http://schemas.microsoft.com/office/drawing/2016/SVG/main" r:embed="R0cd0c10ba5df47ca"/>
              </a:ext>
            </a:extLst>
          </a:blip>
          <a:stretch xmlns:a="http://schemas.openxmlformats.org/drawingml/2006/main"/>
        </p:blipFill>
        <p:spPr>
          <a:xfrm xmlns:a="http://schemas.openxmlformats.org/drawingml/2006/main">
            <a:off x="8096250" y="2143125"/>
            <a:ext cx="301654" cy="257286"/>
          </a:xfrm>
          <a:prstGeom xmlns:a="http://schemas.openxmlformats.org/drawingml/2006/main" prst="rect">
            <a:avLst/>
          </a:prstGeom>
        </p:spPr>
      </p:pic>
      <p:sp>
        <p:nvSpPr>
          <p:cNvPr id="11" name="L-label">
            <a:extLst xmlns:a="http://schemas.openxmlformats.org/drawingml/2006/main">
              <a:ext uri="{FF2B5EF4-FFF2-40B4-BE49-F238E27FC236}">
                <a16:creationId xmlns:a16="http://schemas.microsoft.com/office/drawing/2014/main" id="{C46FA7B1-02EC-42FB-9725-F63029BD7AB1}"/>
              </a:ext>
            </a:extLst>
          </p:cNvPr>
          <p:cNvSpPr>
            <a:spLocks xmlns:a="http://schemas.openxmlformats.org/drawingml/2006/main" noGrp="1"/>
          </p:cNvSpPr>
          <p:nvPr/>
        </p:nvSpPr>
        <p:spPr>
          <a:xfrm xmlns:a="http://schemas.openxmlformats.org/drawingml/2006/main">
            <a:off x="11382375" y="2333625"/>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75" b="0">
                <a:solidFill>
                  <a:srgbClr val="F5F5F5"/>
                </a:solidFill>
                <a:latin typeface="DejaVu Sans"/>
                <a:ea typeface="DejaVu Sans"/>
                <a:cs typeface="DejaVu Sans"/>
              </a:defRPr>
            </a:defPPr>
            <a:lvl1pPr>
              <a:buNone/>
              <a:defRPr sz="2175" b="0">
                <a:solidFill>
                  <a:srgbClr val="F5F5F5"/>
                </a:solidFill>
                <a:latin typeface="DejaVu Sans"/>
                <a:ea typeface="DejaVu Sans"/>
                <a:cs typeface="DejaVu Sans"/>
              </a:defRPr>
            </a:lvl1pPr>
            <a:lvl2pPr>
              <a:buNone/>
              <a:defRPr sz="2175" b="0">
                <a:solidFill>
                  <a:srgbClr val="F5F5F5"/>
                </a:solidFill>
                <a:latin typeface="DejaVu Sans"/>
                <a:ea typeface="DejaVu Sans"/>
                <a:cs typeface="DejaVu Sans"/>
              </a:defRPr>
            </a:lvl2pPr>
            <a:lvl3pPr>
              <a:buNone/>
              <a:defRPr sz="2175" b="0">
                <a:solidFill>
                  <a:srgbClr val="F5F5F5"/>
                </a:solidFill>
                <a:latin typeface="DejaVu Sans"/>
                <a:ea typeface="DejaVu Sans"/>
                <a:cs typeface="DejaVu Sans"/>
              </a:defRPr>
            </a:lvl3pPr>
            <a:lvl4pPr>
              <a:buNone/>
              <a:defRPr sz="2175" b="0">
                <a:solidFill>
                  <a:srgbClr val="F5F5F5"/>
                </a:solidFill>
                <a:latin typeface="DejaVu Sans"/>
                <a:ea typeface="DejaVu Sans"/>
                <a:cs typeface="DejaVu Sans"/>
              </a:defRPr>
            </a:lvl4pPr>
            <a:lvl5pPr>
              <a:buNone/>
              <a:defRPr sz="2175" b="0">
                <a:solidFill>
                  <a:srgbClr val="F5F5F5"/>
                </a:solidFill>
                <a:latin typeface="DejaVu Sans"/>
                <a:ea typeface="DejaVu Sans"/>
                <a:cs typeface="DejaVu Sans"/>
              </a:defRPr>
            </a:lvl5pPr>
            <a:lvl6pPr>
              <a:buNone/>
              <a:defRPr sz="2175" b="0">
                <a:solidFill>
                  <a:srgbClr val="F5F5F5"/>
                </a:solidFill>
                <a:latin typeface="DejaVu Sans"/>
                <a:ea typeface="DejaVu Sans"/>
                <a:cs typeface="DejaVu Sans"/>
              </a:defRPr>
            </a:lvl6pPr>
            <a:lvl7pPr>
              <a:buNone/>
              <a:defRPr sz="2175" b="0">
                <a:solidFill>
                  <a:srgbClr val="F5F5F5"/>
                </a:solidFill>
                <a:latin typeface="DejaVu Sans"/>
                <a:ea typeface="DejaVu Sans"/>
                <a:cs typeface="DejaVu Sans"/>
              </a:defRPr>
            </a:lvl7pPr>
            <a:lvl8pPr>
              <a:buNone/>
              <a:defRPr sz="2175" b="0">
                <a:solidFill>
                  <a:srgbClr val="F5F5F5"/>
                </a:solidFill>
                <a:latin typeface="DejaVu Sans"/>
                <a:ea typeface="DejaVu Sans"/>
                <a:cs typeface="DejaVu Sans"/>
              </a:defRPr>
            </a:lvl8pPr>
            <a:lvl9pPr>
              <a:buNone/>
              <a:defRPr sz="2175" b="0">
                <a:solidFill>
                  <a:srgbClr val="F5F5F5"/>
                </a:solidFill>
                <a:latin typeface="DejaVu Sans"/>
                <a:ea typeface="DejaVu Sans"/>
                <a:cs typeface="DejaVu Sans"/>
              </a:defRPr>
            </a:lvl9pPr>
          </a:lstStyle>
          <a:p xmlns:a="http://schemas.openxmlformats.org/drawingml/2006/main">
            <a:pPr>
              <a:buNone/>
              <a:defRPr sz="2175" b="0">
                <a:solidFill>
                  <a:srgbClr val="F5F5F5"/>
                </a:solidFill>
                <a:latin typeface="DejaVu Sans"/>
                <a:ea typeface="DejaVu Sans"/>
                <a:cs typeface="DejaVu Sans"/>
              </a:defRPr>
            </a:pPr>
            <a:r>
              <a:rPr sz="2175" b="0">
                <a:solidFill>
                  <a:srgbClr val="F5F5F5"/>
                </a:solidFill>
                <a:latin typeface="DejaVu Sans"/>
                <a:ea typeface="DejaVu Sans"/>
                <a:cs typeface="DejaVu Sans"/>
              </a:rPr>
              <a:t>L</a:t>
            </a:r>
          </a:p>
        </p:txBody>
      </p:sp>
      <p:cxnSp>
        <p:nvCxnSpPr>
          <p:cNvPr id="12" name="x-axis">
            <a:extLst xmlns:a="http://schemas.openxmlformats.org/drawingml/2006/main">
              <a:ext uri="{FF2B5EF4-FFF2-40B4-BE49-F238E27FC236}">
                <a16:creationId xmlns:a16="http://schemas.microsoft.com/office/drawing/2014/main" id="{31AEB80A-C714-4ED6-81E3-3B9759C8FE3D}"/>
              </a:ext>
            </a:extLst>
          </p:cNvPr>
          <p:cNvCxnSpPr/>
          <p:nvPr/>
        </p:nvCxnSpPr>
        <p:spPr>
          <a:xfrm xmlns:a="http://schemas.openxmlformats.org/drawingml/2006/main" rot="0">
            <a:off x="6762750" y="5524500"/>
            <a:ext cx="4667250" cy="0"/>
          </a:xfrm>
          <a:prstGeom xmlns:a="http://schemas.openxmlformats.org/drawingml/2006/main" prst="straightConnector1">
            <a:avLst/>
          </a:prstGeom>
          <a:ln xmlns:a="http://schemas.openxmlformats.org/drawingml/2006/main" w="9525">
            <a:solidFill>
              <a:srgbClr val="50565E"/>
            </a:solidFill>
            <a:prstDash val="solid"/>
          </a:ln>
        </p:spPr>
      </p:cxnSp>
      <p:cxnSp>
        <p:nvCxnSpPr>
          <p:cNvPr id="13" name="y-axis">
            <a:extLst xmlns:a="http://schemas.openxmlformats.org/drawingml/2006/main">
              <a:ext uri="{FF2B5EF4-FFF2-40B4-BE49-F238E27FC236}">
                <a16:creationId xmlns:a16="http://schemas.microsoft.com/office/drawing/2014/main" id="{7FF19C9B-1672-4D88-A1E5-D0D43B6FA607}"/>
              </a:ext>
            </a:extLst>
          </p:cNvPr>
          <p:cNvCxnSpPr/>
          <p:nvPr/>
        </p:nvCxnSpPr>
        <p:spPr>
          <a:xfrm xmlns:a="http://schemas.openxmlformats.org/drawingml/2006/main" rot="-5400000">
            <a:off x="5191125" y="3905250"/>
            <a:ext cx="4095750" cy="0"/>
          </a:xfrm>
          <a:prstGeom xmlns:a="http://schemas.openxmlformats.org/drawingml/2006/main" prst="straightConnector1">
            <a:avLst/>
          </a:prstGeom>
          <a:ln xmlns:a="http://schemas.openxmlformats.org/drawingml/2006/main" w="9525">
            <a:solidFill>
              <a:srgbClr val="50565E"/>
            </a:solidFill>
            <a:prstDash val="solid"/>
          </a:ln>
        </p:spPr>
      </p:cxnSp>
      <p:sp>
        <p:nvSpPr>
          <p:cNvPr id="14" name="origin">
            <a:extLst xmlns:a="http://schemas.openxmlformats.org/drawingml/2006/main">
              <a:ext uri="{FF2B5EF4-FFF2-40B4-BE49-F238E27FC236}">
                <a16:creationId xmlns:a16="http://schemas.microsoft.com/office/drawing/2014/main" id="{C7F5DADB-14BE-49E1-B82A-2ECA33CDB538}"/>
              </a:ext>
            </a:extLst>
          </p:cNvPr>
          <p:cNvSpPr>
            <a:spLocks xmlns:a="http://schemas.openxmlformats.org/drawingml/2006/main" noGrp="1"/>
          </p:cNvSpPr>
          <p:nvPr/>
        </p:nvSpPr>
        <p:spPr>
          <a:xfrm xmlns:a="http://schemas.openxmlformats.org/drawingml/2006/main">
            <a:off x="6981825" y="5619750"/>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sp>
        <p:nvSpPr>
          <p:cNvPr id="15" name="x-axis-label">
            <a:extLst xmlns:a="http://schemas.openxmlformats.org/drawingml/2006/main">
              <a:ext uri="{FF2B5EF4-FFF2-40B4-BE49-F238E27FC236}">
                <a16:creationId xmlns:a16="http://schemas.microsoft.com/office/drawing/2014/main" id="{8367A6B5-7A23-41FB-A461-D73E7F032FB9}"/>
              </a:ext>
            </a:extLst>
          </p:cNvPr>
          <p:cNvSpPr>
            <a:spLocks xmlns:a="http://schemas.openxmlformats.org/drawingml/2006/main" noGrp="1"/>
          </p:cNvSpPr>
          <p:nvPr/>
        </p:nvSpPr>
        <p:spPr>
          <a:xfrm xmlns:a="http://schemas.openxmlformats.org/drawingml/2006/main">
            <a:off x="11201400" y="560070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16" name="y-axis-label">
            <a:extLst xmlns:a="http://schemas.openxmlformats.org/drawingml/2006/main">
              <a:ext uri="{FF2B5EF4-FFF2-40B4-BE49-F238E27FC236}">
                <a16:creationId xmlns:a16="http://schemas.microsoft.com/office/drawing/2014/main" id="{3B6CEFBD-FE84-4E0E-959B-AF35404BCFB0}"/>
              </a:ext>
            </a:extLst>
          </p:cNvPr>
          <p:cNvSpPr>
            <a:spLocks xmlns:a="http://schemas.openxmlformats.org/drawingml/2006/main" noGrp="1"/>
          </p:cNvSpPr>
          <p:nvPr/>
        </p:nvSpPr>
        <p:spPr>
          <a:xfrm xmlns:a="http://schemas.openxmlformats.org/drawingml/2006/main">
            <a:off x="6905625" y="171450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cxnSp>
        <p:nvCxnSpPr>
          <p:cNvPr id="17" name="known-position">
            <a:extLst xmlns:a="http://schemas.openxmlformats.org/drawingml/2006/main">
              <a:ext uri="{FF2B5EF4-FFF2-40B4-BE49-F238E27FC236}">
                <a16:creationId xmlns:a16="http://schemas.microsoft.com/office/drawing/2014/main" id="{AE2759F8-D4C9-4EC8-88A6-C5DD3915476F}"/>
              </a:ext>
            </a:extLst>
          </p:cNvPr>
          <p:cNvCxnSpPr/>
          <p:nvPr/>
        </p:nvCxnSpPr>
        <p:spPr>
          <a:xfrm xmlns:a="http://schemas.openxmlformats.org/drawingml/2006/main" rot="-3572067">
            <a:off x="6775938" y="4714875"/>
            <a:ext cx="1878624" cy="0"/>
          </a:xfrm>
          <a:prstGeom xmlns:a="http://schemas.openxmlformats.org/drawingml/2006/main" prst="straightConnector1">
            <a:avLst/>
          </a:prstGeom>
          <a:ln xmlns:a="http://schemas.openxmlformats.org/drawingml/2006/main" w="33338">
            <a:solidFill>
              <a:srgbClr val="7DD3FC"/>
            </a:solidFill>
            <a:prstDash val="solid"/>
            <a:tailEnd type="triangle" w="med" len="med"/>
          </a:ln>
        </p:spPr>
      </p:cxnSp>
      <p:cxnSp>
        <p:nvCxnSpPr>
          <p:cNvPr id="18" name="general-position">
            <a:extLst xmlns:a="http://schemas.openxmlformats.org/drawingml/2006/main">
              <a:ext uri="{FF2B5EF4-FFF2-40B4-BE49-F238E27FC236}">
                <a16:creationId xmlns:a16="http://schemas.microsoft.com/office/drawing/2014/main" id="{92A00655-A8D0-4E42-A80D-E69CF0CC542F}"/>
              </a:ext>
            </a:extLst>
          </p:cNvPr>
          <p:cNvCxnSpPr/>
          <p:nvPr/>
        </p:nvCxnSpPr>
        <p:spPr>
          <a:xfrm xmlns:a="http://schemas.openxmlformats.org/drawingml/2006/main" rot="-2352432">
            <a:off x="6713182" y="4048125"/>
            <a:ext cx="4671136" cy="0"/>
          </a:xfrm>
          <a:prstGeom xmlns:a="http://schemas.openxmlformats.org/drawingml/2006/main" prst="straightConnector1">
            <a:avLst/>
          </a:prstGeom>
          <a:ln xmlns:a="http://schemas.openxmlformats.org/drawingml/2006/main" w="33338">
            <a:solidFill>
              <a:srgbClr val="C4B5FD"/>
            </a:solidFill>
            <a:prstDash val="solid"/>
            <a:tailEnd type="triangle" w="med" len="med"/>
          </a:ln>
        </p:spPr>
      </p:cxnSp>
      <p:sp>
        <p:nvSpPr>
          <p:cNvPr id="19" name="general-point">
            <a:extLst xmlns:a="http://schemas.openxmlformats.org/drawingml/2006/main">
              <a:ext uri="{FF2B5EF4-FFF2-40B4-BE49-F238E27FC236}">
                <a16:creationId xmlns:a16="http://schemas.microsoft.com/office/drawing/2014/main" id="{9E1C6CBF-9DD7-43E9-B02F-A47CA2D29663}"/>
              </a:ext>
            </a:extLst>
          </p:cNvPr>
          <p:cNvSpPr>
            <a:spLocks xmlns:a="http://schemas.openxmlformats.org/drawingml/2006/main" noGrp="1"/>
          </p:cNvSpPr>
          <p:nvPr/>
        </p:nvSpPr>
        <p:spPr>
          <a:xfrm xmlns:a="http://schemas.openxmlformats.org/drawingml/2006/main">
            <a:off x="10820400" y="2533650"/>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pic>
        <p:nvPicPr>
          <p:cNvPr id="20" name="P-label" descr="LaTeX: P(x,y)">
            <a:extLst xmlns:a="http://schemas.openxmlformats.org/drawingml/2006/main">
              <a:ext uri="{FF2B5EF4-FFF2-40B4-BE49-F238E27FC236}">
                <a16:creationId xmlns:a16="http://schemas.microsoft.com/office/drawing/2014/main" id="{75116EAD-D43D-4664-835B-99574870B688}"/>
              </a:ext>
            </a:extLst>
          </p:cNvPr>
          <p:cNvPicPr>
            <a:picLocks xmlns:a="http://schemas.openxmlformats.org/drawingml/2006/main" noChangeAspect="1"/>
          </p:cNvPicPr>
          <p:nvPr/>
        </p:nvPicPr>
        <p:blipFill>
          <a:blip xmlns:r="http://schemas.openxmlformats.org/officeDocument/2006/relationships" xmlns:a="http://schemas.openxmlformats.org/drawingml/2006/main" r:embed="R1763bfa5a8b64d9e">
            <a:extLst>
              <a:ext uri="{96DAC541-7B7A-43D3-8B79-37D633B846F1}">
                <asvg:svgBlip xmlns:asvg="http://schemas.microsoft.com/office/drawing/2016/SVG/main" r:embed="R2f191dca9d2d4488"/>
              </a:ext>
            </a:extLst>
          </a:blip>
          <a:stretch xmlns:a="http://schemas.openxmlformats.org/drawingml/2006/main"/>
        </p:blipFill>
        <p:spPr>
          <a:xfrm xmlns:a="http://schemas.openxmlformats.org/drawingml/2006/main">
            <a:off x="10001250" y="1943100"/>
            <a:ext cx="817488" cy="294636"/>
          </a:xfrm>
          <a:prstGeom xmlns:a="http://schemas.openxmlformats.org/drawingml/2006/main" prst="rect">
            <a:avLst/>
          </a:prstGeom>
        </p:spPr>
      </p:pic>
      <p:pic>
        <p:nvPicPr>
          <p:cNvPr id="21" name="r0-label" descr="LaTeX: \vec r_0">
            <a:extLst xmlns:a="http://schemas.openxmlformats.org/drawingml/2006/main">
              <a:ext uri="{FF2B5EF4-FFF2-40B4-BE49-F238E27FC236}">
                <a16:creationId xmlns:a16="http://schemas.microsoft.com/office/drawing/2014/main" id="{9EE8C82E-B096-423D-A5F2-1988E412D521}"/>
              </a:ext>
            </a:extLst>
          </p:cNvPr>
          <p:cNvPicPr>
            <a:picLocks xmlns:a="http://schemas.openxmlformats.org/drawingml/2006/main" noChangeAspect="1"/>
          </p:cNvPicPr>
          <p:nvPr/>
        </p:nvPicPr>
        <p:blipFill>
          <a:blip xmlns:r="http://schemas.openxmlformats.org/officeDocument/2006/relationships" xmlns:a="http://schemas.openxmlformats.org/drawingml/2006/main" r:embed="R78814c561c3c473d">
            <a:extLst>
              <a:ext uri="{96DAC541-7B7A-43D3-8B79-37D633B846F1}">
                <asvg:svgBlip xmlns:asvg="http://schemas.microsoft.com/office/drawing/2016/SVG/main" r:embed="R5299858dfb6948ff"/>
              </a:ext>
            </a:extLst>
          </a:blip>
          <a:stretch xmlns:a="http://schemas.openxmlformats.org/drawingml/2006/main"/>
        </p:blipFill>
        <p:spPr>
          <a:xfrm xmlns:a="http://schemas.openxmlformats.org/drawingml/2006/main">
            <a:off x="7372350" y="4476750"/>
            <a:ext cx="261659" cy="285738"/>
          </a:xfrm>
          <a:prstGeom xmlns:a="http://schemas.openxmlformats.org/drawingml/2006/main" prst="rect">
            <a:avLst/>
          </a:prstGeom>
        </p:spPr>
      </p:pic>
      <p:pic>
        <p:nvPicPr>
          <p:cNvPr id="22" name="r-label" descr="LaTeX: \vec r">
            <a:extLst xmlns:a="http://schemas.openxmlformats.org/drawingml/2006/main">
              <a:ext uri="{FF2B5EF4-FFF2-40B4-BE49-F238E27FC236}">
                <a16:creationId xmlns:a16="http://schemas.microsoft.com/office/drawing/2014/main" id="{9BC6B329-5882-4646-9F37-EAAE0CD79968}"/>
              </a:ext>
            </a:extLst>
          </p:cNvPr>
          <p:cNvPicPr>
            <a:picLocks xmlns:a="http://schemas.openxmlformats.org/drawingml/2006/main" noChangeAspect="1"/>
          </p:cNvPicPr>
          <p:nvPr/>
        </p:nvPicPr>
        <p:blipFill>
          <a:blip xmlns:r="http://schemas.openxmlformats.org/officeDocument/2006/relationships" xmlns:a="http://schemas.openxmlformats.org/drawingml/2006/main" r:embed="R20a512a55b0c49c2">
            <a:extLst>
              <a:ext uri="{96DAC541-7B7A-43D3-8B79-37D633B846F1}">
                <asvg:svgBlip xmlns:asvg="http://schemas.microsoft.com/office/drawing/2016/SVG/main" r:embed="R510063f65d864c31"/>
              </a:ext>
            </a:extLst>
          </a:blip>
          <a:stretch xmlns:a="http://schemas.openxmlformats.org/drawingml/2006/main"/>
        </p:blipFill>
        <p:spPr>
          <a:xfrm xmlns:a="http://schemas.openxmlformats.org/drawingml/2006/main">
            <a:off x="9620250" y="4219575"/>
            <a:ext cx="171157" cy="242152"/>
          </a:xfrm>
          <a:prstGeom xmlns:a="http://schemas.openxmlformats.org/drawingml/2006/main" prst="rect">
            <a:avLst/>
          </a:prstGeom>
        </p:spPr>
      </p:pic>
      <p:sp>
        <p:nvSpPr>
          <p:cNvPr id="23" name="takeaway">
            <a:extLst xmlns:a="http://schemas.openxmlformats.org/drawingml/2006/main">
              <a:ext uri="{FF2B5EF4-FFF2-40B4-BE49-F238E27FC236}">
                <a16:creationId xmlns:a16="http://schemas.microsoft.com/office/drawing/2014/main" id="{8D3E41E3-BDE8-490B-88B6-2827641D97DA}"/>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The origin is the starting point of both position vectors.</a:t>
            </a:r>
          </a:p>
        </p:txBody>
      </p:sp>
    </p:spTree>
    <p:extLst>
      <p:ext uri="{BB962C8B-B14F-4D97-AF65-F5344CB8AC3E}">
        <p14:creationId xmlns:p14="http://schemas.microsoft.com/office/powerpoint/2010/main" val="163027088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0"/>
                                  </p:stCondLst>
                                  <p:childTnLst>
                                    <p:set>
                                      <p:cBhvr>
                                        <p:cTn id="9" dur="1" fill="hold"/>
                                        <p:tgtEl>
                                          <p:spTgt spid="18"/>
                                        </p:tgtEl>
                                        <p:attrNameLst>
                                          <p:attrName>style.visibility</p:attrName>
                                        </p:attrNameLst>
                                      </p:cBhvr>
                                      <p:to>
                                        <p:strVal val="visible"/>
                                      </p:to>
                                    </p:set>
                                    <p:animEffect transition="in" filter="fade">
                                      <p:cBhvr>
                                        <p:cTn id="10" dur="400" fill="hold"/>
                                        <p:tgtEl>
                                          <p:spTgt spid="18"/>
                                        </p:tgtEl>
                                      </p:cBhvr>
                                    </p:animEffect>
                                  </p:childTnLst>
                                </p:cTn>
                              </p:par>
                              <p:par>
                                <p:cTn id="11" presetID="10" presetClass="entr" presetSubtype="0" fill="hold" grpId="0" nodeType="withEffect">
                                  <p:stCondLst>
                                    <p:cond delay="0"/>
                                  </p:stCondLst>
                                  <p:childTnLst>
                                    <p:set>
                                      <p:cBhvr>
                                        <p:cTn id="12" dur="1" fill="hold"/>
                                        <p:tgtEl>
                                          <p:spTgt spid="19"/>
                                        </p:tgtEl>
                                        <p:attrNameLst>
                                          <p:attrName>style.visibility</p:attrName>
                                        </p:attrNameLst>
                                      </p:cBhvr>
                                      <p:to>
                                        <p:strVal val="visible"/>
                                      </p:to>
                                    </p:set>
                                    <p:animEffect transition="in" filter="fade">
                                      <p:cBhvr>
                                        <p:cTn id="13" dur="400" fill="hold"/>
                                        <p:tgtEl>
                                          <p:spTgt spid="19"/>
                                        </p:tgtEl>
                                      </p:cBhvr>
                                    </p:animEffect>
                                  </p:childTnLst>
                                </p:cTn>
                              </p:par>
                              <p:par>
                                <p:cTn id="14" presetID="10" presetClass="entr" presetSubtype="0" fill="hold" grpId="0" nodeType="withEffect">
                                  <p:stCondLst>
                                    <p:cond delay="0"/>
                                  </p:stCondLst>
                                  <p:childTnLst>
                                    <p:set>
                                      <p:cBhvr>
                                        <p:cTn id="15" dur="1" fill="hold"/>
                                        <p:tgtEl>
                                          <p:spTgt spid="20"/>
                                        </p:tgtEl>
                                        <p:attrNameLst>
                                          <p:attrName>style.visibility</p:attrName>
                                        </p:attrNameLst>
                                      </p:cBhvr>
                                      <p:to>
                                        <p:strVal val="visible"/>
                                      </p:to>
                                    </p:set>
                                    <p:animEffect transition="in" filter="fade">
                                      <p:cBhvr>
                                        <p:cTn id="16" dur="400" fill="hold"/>
                                        <p:tgtEl>
                                          <p:spTgt spid="20"/>
                                        </p:tgtEl>
                                      </p:cBhvr>
                                    </p:animEffect>
                                  </p:childTnLst>
                                </p:cTn>
                              </p:par>
                              <p:par>
                                <p:cTn id="17" presetID="10" presetClass="entr" presetSubtype="0" fill="hold" grpId="0" nodeType="withEffect">
                                  <p:stCondLst>
                                    <p:cond delay="0"/>
                                  </p:stCondLst>
                                  <p:childTnLst>
                                    <p:set>
                                      <p:cBhvr>
                                        <p:cTn id="18" dur="1" fill="hold"/>
                                        <p:tgtEl>
                                          <p:spTgt spid="22"/>
                                        </p:tgtEl>
                                        <p:attrNameLst>
                                          <p:attrName>style.visibility</p:attrName>
                                        </p:attrNameLst>
                                      </p:cBhvr>
                                      <p:to>
                                        <p:strVal val="visible"/>
                                      </p:to>
                                    </p:set>
                                    <p:animEffect transition="in" filter="fade">
                                      <p:cBhvr>
                                        <p:cTn id="19" dur="40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6" name="title">
            <a:extLst xmlns:a="http://schemas.openxmlformats.org/drawingml/2006/main">
              <a:ext uri="{FF2B5EF4-FFF2-40B4-BE49-F238E27FC236}">
                <a16:creationId xmlns:a16="http://schemas.microsoft.com/office/drawing/2014/main" id="{AB241060-9291-4D17-B28B-EB3AFFE725E9}"/>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The position vector triangle</a:t>
            </a:r>
          </a:p>
        </p:txBody>
      </p:sp>
      <p:sp>
        <p:nvSpPr>
          <p:cNvPr id="2" name="page-number">
            <a:extLst xmlns:a="http://schemas.openxmlformats.org/drawingml/2006/main">
              <a:ext uri="{FF2B5EF4-FFF2-40B4-BE49-F238E27FC236}">
                <a16:creationId xmlns:a16="http://schemas.microsoft.com/office/drawing/2014/main" id="{01B565FB-6A21-41D0-88E4-D1D7FDE2FB0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03</a:t>
            </a:r>
          </a:p>
        </p:txBody>
      </p:sp>
      <p:sp>
        <p:nvSpPr>
          <p:cNvPr id="3" name="lead">
            <a:extLst xmlns:a="http://schemas.openxmlformats.org/drawingml/2006/main">
              <a:ext uri="{FF2B5EF4-FFF2-40B4-BE49-F238E27FC236}">
                <a16:creationId xmlns:a16="http://schemas.microsoft.com/office/drawing/2014/main" id="{8C448906-98BC-4C3F-AA29-4C2E6E4C43A2}"/>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direct route and the route through P₀ have the same displacement.</a:t>
            </a:r>
          </a:p>
        </p:txBody>
      </p:sp>
      <p:pic>
        <p:nvPicPr>
          <p:cNvPr id="4" name="equation-0" descr="LaTeX: \overrightarrow{OP}=\overrightarrow{OP_0}+\overrightarrow{P_0P}">
            <a:extLst xmlns:a="http://schemas.openxmlformats.org/drawingml/2006/main">
              <a:ext uri="{FF2B5EF4-FFF2-40B4-BE49-F238E27FC236}">
                <a16:creationId xmlns:a16="http://schemas.microsoft.com/office/drawing/2014/main" id="{F5BBFD29-6D9A-43CB-8541-15430101B840}"/>
              </a:ext>
            </a:extLst>
          </p:cNvPr>
          <p:cNvPicPr>
            <a:picLocks xmlns:a="http://schemas.openxmlformats.org/drawingml/2006/main" noChangeAspect="1"/>
          </p:cNvPicPr>
          <p:nvPr/>
        </p:nvPicPr>
        <p:blipFill>
          <a:blip xmlns:r="http://schemas.openxmlformats.org/officeDocument/2006/relationships" xmlns:a="http://schemas.openxmlformats.org/drawingml/2006/main" r:embed="Refdbda8e2ff7415e">
            <a:extLst>
              <a:ext uri="{96DAC541-7B7A-43D3-8B79-37D633B846F1}">
                <asvg:svgBlip xmlns:asvg="http://schemas.microsoft.com/office/drawing/2016/SVG/main" r:embed="Re3526e9a23494eb9"/>
              </a:ext>
            </a:extLst>
          </a:blip>
          <a:stretch xmlns:a="http://schemas.openxmlformats.org/drawingml/2006/main"/>
        </p:blipFill>
        <p:spPr>
          <a:xfrm xmlns:a="http://schemas.openxmlformats.org/drawingml/2006/main">
            <a:off x="685800" y="2571750"/>
            <a:ext cx="2548439" cy="443757"/>
          </a:xfrm>
          <a:prstGeom xmlns:a="http://schemas.openxmlformats.org/drawingml/2006/main" prst="rect">
            <a:avLst/>
          </a:prstGeom>
        </p:spPr>
      </p:pic>
      <p:pic>
        <p:nvPicPr>
          <p:cNvPr id="5" name="equation-1" descr="LaTeX: \vec r=\vec r_0+\overrightarrow{P_0P}">
            <a:extLst xmlns:a="http://schemas.openxmlformats.org/drawingml/2006/main">
              <a:ext uri="{FF2B5EF4-FFF2-40B4-BE49-F238E27FC236}">
                <a16:creationId xmlns:a16="http://schemas.microsoft.com/office/drawing/2014/main" id="{E950AF07-5746-4F52-9B7A-B2B775B25B8E}"/>
              </a:ext>
            </a:extLst>
          </p:cNvPr>
          <p:cNvPicPr>
            <a:picLocks xmlns:a="http://schemas.openxmlformats.org/drawingml/2006/main" noChangeAspect="1"/>
          </p:cNvPicPr>
          <p:nvPr/>
        </p:nvPicPr>
        <p:blipFill>
          <a:blip xmlns:r="http://schemas.openxmlformats.org/officeDocument/2006/relationships" xmlns:a="http://schemas.openxmlformats.org/drawingml/2006/main" r:embed="Rb679cbefa981409b">
            <a:extLst>
              <a:ext uri="{96DAC541-7B7A-43D3-8B79-37D633B846F1}">
                <asvg:svgBlip xmlns:asvg="http://schemas.microsoft.com/office/drawing/2016/SVG/main" r:embed="R95b159b9531a4a1b"/>
              </a:ext>
            </a:extLst>
          </a:blip>
          <a:stretch xmlns:a="http://schemas.openxmlformats.org/drawingml/2006/main"/>
        </p:blipFill>
        <p:spPr>
          <a:xfrm xmlns:a="http://schemas.openxmlformats.org/drawingml/2006/main">
            <a:off x="685800" y="3301257"/>
            <a:ext cx="1863190" cy="443757"/>
          </a:xfrm>
          <a:prstGeom xmlns:a="http://schemas.openxmlformats.org/drawingml/2006/main" prst="rect">
            <a:avLst/>
          </a:prstGeom>
        </p:spPr>
      </p:pic>
      <p:cxnSp>
        <p:nvCxnSpPr>
          <p:cNvPr id="6" name="line-L">
            <a:extLst xmlns:a="http://schemas.openxmlformats.org/drawingml/2006/main">
              <a:ext uri="{FF2B5EF4-FFF2-40B4-BE49-F238E27FC236}">
                <a16:creationId xmlns:a16="http://schemas.microsoft.com/office/drawing/2014/main" id="{500C08DE-C895-42CF-9B85-3F2BF51D7F56}"/>
              </a:ext>
            </a:extLst>
          </p:cNvPr>
          <p:cNvCxnSpPr/>
          <p:nvPr/>
        </p:nvCxnSpPr>
        <p:spPr>
          <a:xfrm xmlns:a="http://schemas.openxmlformats.org/drawingml/2006/main" rot="-1593903">
            <a:off x="7243838" y="3274219"/>
            <a:ext cx="4419449" cy="0"/>
          </a:xfrm>
          <a:prstGeom xmlns:a="http://schemas.openxmlformats.org/drawingml/2006/main" prst="straightConnector1">
            <a:avLst/>
          </a:prstGeom>
          <a:ln xmlns:a="http://schemas.openxmlformats.org/drawingml/2006/main" w="23813">
            <a:solidFill>
              <a:srgbClr val="F5F5F5"/>
            </a:solidFill>
            <a:prstDash val="solid"/>
          </a:ln>
        </p:spPr>
      </p:cxnSp>
      <p:sp>
        <p:nvSpPr>
          <p:cNvPr id="7" name="known-point">
            <a:extLst xmlns:a="http://schemas.openxmlformats.org/drawingml/2006/main">
              <a:ext uri="{FF2B5EF4-FFF2-40B4-BE49-F238E27FC236}">
                <a16:creationId xmlns:a16="http://schemas.microsoft.com/office/drawing/2014/main" id="{23EE0FF1-1025-4075-87AE-7828A58188BB}"/>
              </a:ext>
            </a:extLst>
          </p:cNvPr>
          <p:cNvSpPr>
            <a:spLocks xmlns:a="http://schemas.openxmlformats.org/drawingml/2006/main" noGrp="1"/>
          </p:cNvSpPr>
          <p:nvPr/>
        </p:nvSpPr>
        <p:spPr>
          <a:xfrm xmlns:a="http://schemas.openxmlformats.org/drawingml/2006/main">
            <a:off x="8153400" y="38671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pic>
        <p:nvPicPr>
          <p:cNvPr id="8" name="P0-label" descr="LaTeX: P_0(x_0,y_0)">
            <a:extLst xmlns:a="http://schemas.openxmlformats.org/drawingml/2006/main">
              <a:ext uri="{FF2B5EF4-FFF2-40B4-BE49-F238E27FC236}">
                <a16:creationId xmlns:a16="http://schemas.microsoft.com/office/drawing/2014/main" id="{CC51A565-B867-4D26-AA40-388CCE7FC545}"/>
              </a:ext>
            </a:extLst>
          </p:cNvPr>
          <p:cNvPicPr>
            <a:picLocks xmlns:a="http://schemas.openxmlformats.org/drawingml/2006/main" noChangeAspect="1"/>
          </p:cNvPicPr>
          <p:nvPr/>
        </p:nvPicPr>
        <p:blipFill>
          <a:blip xmlns:r="http://schemas.openxmlformats.org/officeDocument/2006/relationships" xmlns:a="http://schemas.openxmlformats.org/drawingml/2006/main" r:embed="Re3c34349f9114edb">
            <a:extLst>
              <a:ext uri="{96DAC541-7B7A-43D3-8B79-37D633B846F1}">
                <asvg:svgBlip xmlns:asvg="http://schemas.microsoft.com/office/drawing/2016/SVG/main" r:embed="R371a8d3a820a42e2"/>
              </a:ext>
            </a:extLst>
          </a:blip>
          <a:stretch xmlns:a="http://schemas.openxmlformats.org/drawingml/2006/main"/>
        </p:blipFill>
        <p:spPr>
          <a:xfrm xmlns:a="http://schemas.openxmlformats.org/drawingml/2006/main">
            <a:off x="7334250" y="3286125"/>
            <a:ext cx="1075607" cy="304796"/>
          </a:xfrm>
          <a:prstGeom xmlns:a="http://schemas.openxmlformats.org/drawingml/2006/main" prst="rect">
            <a:avLst/>
          </a:prstGeom>
        </p:spPr>
      </p:pic>
      <p:cxnSp>
        <p:nvCxnSpPr>
          <p:cNvPr id="9" name="direction">
            <a:extLst xmlns:a="http://schemas.openxmlformats.org/drawingml/2006/main">
              <a:ext uri="{FF2B5EF4-FFF2-40B4-BE49-F238E27FC236}">
                <a16:creationId xmlns:a16="http://schemas.microsoft.com/office/drawing/2014/main" id="{2BCA9011-73CE-4785-AA0A-484C2BDE01BB}"/>
              </a:ext>
            </a:extLst>
          </p:cNvPr>
          <p:cNvCxnSpPr/>
          <p:nvPr/>
        </p:nvCxnSpPr>
        <p:spPr>
          <a:xfrm xmlns:a="http://schemas.openxmlformats.org/drawingml/2006/main" rot="-1593903">
            <a:off x="7779426" y="2286000"/>
            <a:ext cx="1490898" cy="0"/>
          </a:xfrm>
          <a:prstGeom xmlns:a="http://schemas.openxmlformats.org/drawingml/2006/main" prst="straightConnector1">
            <a:avLst/>
          </a:prstGeom>
          <a:ln xmlns:a="http://schemas.openxmlformats.org/drawingml/2006/main" w="28575">
            <a:solidFill>
              <a:srgbClr val="FDA4AF"/>
            </a:solidFill>
            <a:prstDash val="solid"/>
            <a:tailEnd type="triangle" w="med" len="med"/>
          </a:ln>
        </p:spPr>
      </p:cxnSp>
      <p:pic>
        <p:nvPicPr>
          <p:cNvPr id="10" name="m-label" descr="LaTeX: \vec m">
            <a:extLst xmlns:a="http://schemas.openxmlformats.org/drawingml/2006/main">
              <a:ext uri="{FF2B5EF4-FFF2-40B4-BE49-F238E27FC236}">
                <a16:creationId xmlns:a16="http://schemas.microsoft.com/office/drawing/2014/main" id="{1075330C-0AAB-4CE5-BA0A-A2B72773AD4F}"/>
              </a:ext>
            </a:extLst>
          </p:cNvPr>
          <p:cNvPicPr>
            <a:picLocks xmlns:a="http://schemas.openxmlformats.org/drawingml/2006/main" noChangeAspect="1"/>
          </p:cNvPicPr>
          <p:nvPr/>
        </p:nvPicPr>
        <p:blipFill>
          <a:blip xmlns:r="http://schemas.openxmlformats.org/officeDocument/2006/relationships" xmlns:a="http://schemas.openxmlformats.org/drawingml/2006/main" r:embed="Rfd5a823765d547cc">
            <a:extLst>
              <a:ext uri="{96DAC541-7B7A-43D3-8B79-37D633B846F1}">
                <asvg:svgBlip xmlns:asvg="http://schemas.microsoft.com/office/drawing/2016/SVG/main" r:embed="R9e30ab4778374d66"/>
              </a:ext>
            </a:extLst>
          </a:blip>
          <a:stretch xmlns:a="http://schemas.openxmlformats.org/drawingml/2006/main"/>
        </p:blipFill>
        <p:spPr>
          <a:xfrm xmlns:a="http://schemas.openxmlformats.org/drawingml/2006/main">
            <a:off x="8096250" y="2143125"/>
            <a:ext cx="301654" cy="257286"/>
          </a:xfrm>
          <a:prstGeom xmlns:a="http://schemas.openxmlformats.org/drawingml/2006/main" prst="rect">
            <a:avLst/>
          </a:prstGeom>
        </p:spPr>
      </p:pic>
      <p:sp>
        <p:nvSpPr>
          <p:cNvPr id="11" name="L-label">
            <a:extLst xmlns:a="http://schemas.openxmlformats.org/drawingml/2006/main">
              <a:ext uri="{FF2B5EF4-FFF2-40B4-BE49-F238E27FC236}">
                <a16:creationId xmlns:a16="http://schemas.microsoft.com/office/drawing/2014/main" id="{1A1C6286-5175-4C85-B98D-DD52938EE3C4}"/>
              </a:ext>
            </a:extLst>
          </p:cNvPr>
          <p:cNvSpPr>
            <a:spLocks xmlns:a="http://schemas.openxmlformats.org/drawingml/2006/main" noGrp="1"/>
          </p:cNvSpPr>
          <p:nvPr/>
        </p:nvSpPr>
        <p:spPr>
          <a:xfrm xmlns:a="http://schemas.openxmlformats.org/drawingml/2006/main">
            <a:off x="11382375" y="2333625"/>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75" b="0">
                <a:solidFill>
                  <a:srgbClr val="F5F5F5"/>
                </a:solidFill>
                <a:latin typeface="DejaVu Sans"/>
                <a:ea typeface="DejaVu Sans"/>
                <a:cs typeface="DejaVu Sans"/>
              </a:defRPr>
            </a:defPPr>
            <a:lvl1pPr>
              <a:buNone/>
              <a:defRPr sz="2175" b="0">
                <a:solidFill>
                  <a:srgbClr val="F5F5F5"/>
                </a:solidFill>
                <a:latin typeface="DejaVu Sans"/>
                <a:ea typeface="DejaVu Sans"/>
                <a:cs typeface="DejaVu Sans"/>
              </a:defRPr>
            </a:lvl1pPr>
            <a:lvl2pPr>
              <a:buNone/>
              <a:defRPr sz="2175" b="0">
                <a:solidFill>
                  <a:srgbClr val="F5F5F5"/>
                </a:solidFill>
                <a:latin typeface="DejaVu Sans"/>
                <a:ea typeface="DejaVu Sans"/>
                <a:cs typeface="DejaVu Sans"/>
              </a:defRPr>
            </a:lvl2pPr>
            <a:lvl3pPr>
              <a:buNone/>
              <a:defRPr sz="2175" b="0">
                <a:solidFill>
                  <a:srgbClr val="F5F5F5"/>
                </a:solidFill>
                <a:latin typeface="DejaVu Sans"/>
                <a:ea typeface="DejaVu Sans"/>
                <a:cs typeface="DejaVu Sans"/>
              </a:defRPr>
            </a:lvl3pPr>
            <a:lvl4pPr>
              <a:buNone/>
              <a:defRPr sz="2175" b="0">
                <a:solidFill>
                  <a:srgbClr val="F5F5F5"/>
                </a:solidFill>
                <a:latin typeface="DejaVu Sans"/>
                <a:ea typeface="DejaVu Sans"/>
                <a:cs typeface="DejaVu Sans"/>
              </a:defRPr>
            </a:lvl4pPr>
            <a:lvl5pPr>
              <a:buNone/>
              <a:defRPr sz="2175" b="0">
                <a:solidFill>
                  <a:srgbClr val="F5F5F5"/>
                </a:solidFill>
                <a:latin typeface="DejaVu Sans"/>
                <a:ea typeface="DejaVu Sans"/>
                <a:cs typeface="DejaVu Sans"/>
              </a:defRPr>
            </a:lvl5pPr>
            <a:lvl6pPr>
              <a:buNone/>
              <a:defRPr sz="2175" b="0">
                <a:solidFill>
                  <a:srgbClr val="F5F5F5"/>
                </a:solidFill>
                <a:latin typeface="DejaVu Sans"/>
                <a:ea typeface="DejaVu Sans"/>
                <a:cs typeface="DejaVu Sans"/>
              </a:defRPr>
            </a:lvl6pPr>
            <a:lvl7pPr>
              <a:buNone/>
              <a:defRPr sz="2175" b="0">
                <a:solidFill>
                  <a:srgbClr val="F5F5F5"/>
                </a:solidFill>
                <a:latin typeface="DejaVu Sans"/>
                <a:ea typeface="DejaVu Sans"/>
                <a:cs typeface="DejaVu Sans"/>
              </a:defRPr>
            </a:lvl7pPr>
            <a:lvl8pPr>
              <a:buNone/>
              <a:defRPr sz="2175" b="0">
                <a:solidFill>
                  <a:srgbClr val="F5F5F5"/>
                </a:solidFill>
                <a:latin typeface="DejaVu Sans"/>
                <a:ea typeface="DejaVu Sans"/>
                <a:cs typeface="DejaVu Sans"/>
              </a:defRPr>
            </a:lvl8pPr>
            <a:lvl9pPr>
              <a:buNone/>
              <a:defRPr sz="2175" b="0">
                <a:solidFill>
                  <a:srgbClr val="F5F5F5"/>
                </a:solidFill>
                <a:latin typeface="DejaVu Sans"/>
                <a:ea typeface="DejaVu Sans"/>
                <a:cs typeface="DejaVu Sans"/>
              </a:defRPr>
            </a:lvl9pPr>
          </a:lstStyle>
          <a:p xmlns:a="http://schemas.openxmlformats.org/drawingml/2006/main">
            <a:pPr>
              <a:buNone/>
              <a:defRPr sz="2175" b="0">
                <a:solidFill>
                  <a:srgbClr val="F5F5F5"/>
                </a:solidFill>
                <a:latin typeface="DejaVu Sans"/>
                <a:ea typeface="DejaVu Sans"/>
                <a:cs typeface="DejaVu Sans"/>
              </a:defRPr>
            </a:pPr>
            <a:r>
              <a:rPr sz="2175" b="0">
                <a:solidFill>
                  <a:srgbClr val="F5F5F5"/>
                </a:solidFill>
                <a:latin typeface="DejaVu Sans"/>
                <a:ea typeface="DejaVu Sans"/>
                <a:cs typeface="DejaVu Sans"/>
              </a:rPr>
              <a:t>L</a:t>
            </a:r>
          </a:p>
        </p:txBody>
      </p:sp>
      <p:cxnSp>
        <p:nvCxnSpPr>
          <p:cNvPr id="12" name="x-axis">
            <a:extLst xmlns:a="http://schemas.openxmlformats.org/drawingml/2006/main">
              <a:ext uri="{FF2B5EF4-FFF2-40B4-BE49-F238E27FC236}">
                <a16:creationId xmlns:a16="http://schemas.microsoft.com/office/drawing/2014/main" id="{EC5C79E0-6468-494F-8630-24EB67F4FE9E}"/>
              </a:ext>
            </a:extLst>
          </p:cNvPr>
          <p:cNvCxnSpPr/>
          <p:nvPr/>
        </p:nvCxnSpPr>
        <p:spPr>
          <a:xfrm xmlns:a="http://schemas.openxmlformats.org/drawingml/2006/main" rot="0">
            <a:off x="6762750" y="5524500"/>
            <a:ext cx="4667250" cy="0"/>
          </a:xfrm>
          <a:prstGeom xmlns:a="http://schemas.openxmlformats.org/drawingml/2006/main" prst="straightConnector1">
            <a:avLst/>
          </a:prstGeom>
          <a:ln xmlns:a="http://schemas.openxmlformats.org/drawingml/2006/main" w="9525">
            <a:solidFill>
              <a:srgbClr val="50565E"/>
            </a:solidFill>
            <a:prstDash val="solid"/>
          </a:ln>
        </p:spPr>
      </p:cxnSp>
      <p:cxnSp>
        <p:nvCxnSpPr>
          <p:cNvPr id="13" name="y-axis">
            <a:extLst xmlns:a="http://schemas.openxmlformats.org/drawingml/2006/main">
              <a:ext uri="{FF2B5EF4-FFF2-40B4-BE49-F238E27FC236}">
                <a16:creationId xmlns:a16="http://schemas.microsoft.com/office/drawing/2014/main" id="{FAB43BA5-99F1-4553-93D5-3506585EFA31}"/>
              </a:ext>
            </a:extLst>
          </p:cNvPr>
          <p:cNvCxnSpPr/>
          <p:nvPr/>
        </p:nvCxnSpPr>
        <p:spPr>
          <a:xfrm xmlns:a="http://schemas.openxmlformats.org/drawingml/2006/main" rot="-5400000">
            <a:off x="5191125" y="3905250"/>
            <a:ext cx="4095750" cy="0"/>
          </a:xfrm>
          <a:prstGeom xmlns:a="http://schemas.openxmlformats.org/drawingml/2006/main" prst="straightConnector1">
            <a:avLst/>
          </a:prstGeom>
          <a:ln xmlns:a="http://schemas.openxmlformats.org/drawingml/2006/main" w="9525">
            <a:solidFill>
              <a:srgbClr val="50565E"/>
            </a:solidFill>
            <a:prstDash val="solid"/>
          </a:ln>
        </p:spPr>
      </p:cxnSp>
      <p:sp>
        <p:nvSpPr>
          <p:cNvPr id="14" name="origin">
            <a:extLst xmlns:a="http://schemas.openxmlformats.org/drawingml/2006/main">
              <a:ext uri="{FF2B5EF4-FFF2-40B4-BE49-F238E27FC236}">
                <a16:creationId xmlns:a16="http://schemas.microsoft.com/office/drawing/2014/main" id="{293A2B3D-0CA0-484C-97BD-28B1DD290BB8}"/>
              </a:ext>
            </a:extLst>
          </p:cNvPr>
          <p:cNvSpPr>
            <a:spLocks xmlns:a="http://schemas.openxmlformats.org/drawingml/2006/main" noGrp="1"/>
          </p:cNvSpPr>
          <p:nvPr/>
        </p:nvSpPr>
        <p:spPr>
          <a:xfrm xmlns:a="http://schemas.openxmlformats.org/drawingml/2006/main">
            <a:off x="6981825" y="5619750"/>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sp>
        <p:nvSpPr>
          <p:cNvPr id="15" name="x-axis-label">
            <a:extLst xmlns:a="http://schemas.openxmlformats.org/drawingml/2006/main">
              <a:ext uri="{FF2B5EF4-FFF2-40B4-BE49-F238E27FC236}">
                <a16:creationId xmlns:a16="http://schemas.microsoft.com/office/drawing/2014/main" id="{C3E0577C-BD1D-4953-A61E-7E2DED29EE2A}"/>
              </a:ext>
            </a:extLst>
          </p:cNvPr>
          <p:cNvSpPr>
            <a:spLocks xmlns:a="http://schemas.openxmlformats.org/drawingml/2006/main" noGrp="1"/>
          </p:cNvSpPr>
          <p:nvPr/>
        </p:nvSpPr>
        <p:spPr>
          <a:xfrm xmlns:a="http://schemas.openxmlformats.org/drawingml/2006/main">
            <a:off x="11201400" y="560070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16" name="y-axis-label">
            <a:extLst xmlns:a="http://schemas.openxmlformats.org/drawingml/2006/main">
              <a:ext uri="{FF2B5EF4-FFF2-40B4-BE49-F238E27FC236}">
                <a16:creationId xmlns:a16="http://schemas.microsoft.com/office/drawing/2014/main" id="{16363D14-0D1A-494E-8BB0-FC43AB7B0FF5}"/>
              </a:ext>
            </a:extLst>
          </p:cNvPr>
          <p:cNvSpPr>
            <a:spLocks xmlns:a="http://schemas.openxmlformats.org/drawingml/2006/main" noGrp="1"/>
          </p:cNvSpPr>
          <p:nvPr/>
        </p:nvSpPr>
        <p:spPr>
          <a:xfrm xmlns:a="http://schemas.openxmlformats.org/drawingml/2006/main">
            <a:off x="6905625" y="171450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cxnSp>
        <p:nvCxnSpPr>
          <p:cNvPr id="17" name="known-position">
            <a:extLst xmlns:a="http://schemas.openxmlformats.org/drawingml/2006/main">
              <a:ext uri="{FF2B5EF4-FFF2-40B4-BE49-F238E27FC236}">
                <a16:creationId xmlns:a16="http://schemas.microsoft.com/office/drawing/2014/main" id="{7B06160C-C878-4D72-B31A-F54785B6043F}"/>
              </a:ext>
            </a:extLst>
          </p:cNvPr>
          <p:cNvCxnSpPr/>
          <p:nvPr/>
        </p:nvCxnSpPr>
        <p:spPr>
          <a:xfrm xmlns:a="http://schemas.openxmlformats.org/drawingml/2006/main" rot="-3572067">
            <a:off x="6775938" y="4714875"/>
            <a:ext cx="1878624" cy="0"/>
          </a:xfrm>
          <a:prstGeom xmlns:a="http://schemas.openxmlformats.org/drawingml/2006/main" prst="straightConnector1">
            <a:avLst/>
          </a:prstGeom>
          <a:ln xmlns:a="http://schemas.openxmlformats.org/drawingml/2006/main" w="33338">
            <a:solidFill>
              <a:srgbClr val="7DD3FC"/>
            </a:solidFill>
            <a:prstDash val="solid"/>
            <a:tailEnd type="triangle" w="med" len="med"/>
          </a:ln>
        </p:spPr>
      </p:cxnSp>
      <p:cxnSp>
        <p:nvCxnSpPr>
          <p:cNvPr id="18" name="general-position">
            <a:extLst xmlns:a="http://schemas.openxmlformats.org/drawingml/2006/main">
              <a:ext uri="{FF2B5EF4-FFF2-40B4-BE49-F238E27FC236}">
                <a16:creationId xmlns:a16="http://schemas.microsoft.com/office/drawing/2014/main" id="{A9570387-800D-490F-B0E4-F9C45A521B32}"/>
              </a:ext>
            </a:extLst>
          </p:cNvPr>
          <p:cNvCxnSpPr/>
          <p:nvPr/>
        </p:nvCxnSpPr>
        <p:spPr>
          <a:xfrm xmlns:a="http://schemas.openxmlformats.org/drawingml/2006/main" rot="-2352432">
            <a:off x="6713182" y="4048125"/>
            <a:ext cx="4671136" cy="0"/>
          </a:xfrm>
          <a:prstGeom xmlns:a="http://schemas.openxmlformats.org/drawingml/2006/main" prst="straightConnector1">
            <a:avLst/>
          </a:prstGeom>
          <a:ln xmlns:a="http://schemas.openxmlformats.org/drawingml/2006/main" w="33338">
            <a:solidFill>
              <a:srgbClr val="C4B5FD"/>
            </a:solidFill>
            <a:prstDash val="solid"/>
            <a:tailEnd type="triangle" w="med" len="med"/>
          </a:ln>
        </p:spPr>
      </p:cxnSp>
      <p:sp>
        <p:nvSpPr>
          <p:cNvPr id="19" name="general-point">
            <a:extLst xmlns:a="http://schemas.openxmlformats.org/drawingml/2006/main">
              <a:ext uri="{FF2B5EF4-FFF2-40B4-BE49-F238E27FC236}">
                <a16:creationId xmlns:a16="http://schemas.microsoft.com/office/drawing/2014/main" id="{B76376E7-06E1-4FF8-A9CE-37A4189F6B5B}"/>
              </a:ext>
            </a:extLst>
          </p:cNvPr>
          <p:cNvSpPr>
            <a:spLocks xmlns:a="http://schemas.openxmlformats.org/drawingml/2006/main" noGrp="1"/>
          </p:cNvSpPr>
          <p:nvPr/>
        </p:nvSpPr>
        <p:spPr>
          <a:xfrm xmlns:a="http://schemas.openxmlformats.org/drawingml/2006/main">
            <a:off x="10820400" y="2533650"/>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pic>
        <p:nvPicPr>
          <p:cNvPr id="20" name="P-label" descr="LaTeX: P(x,y)">
            <a:extLst xmlns:a="http://schemas.openxmlformats.org/drawingml/2006/main">
              <a:ext uri="{FF2B5EF4-FFF2-40B4-BE49-F238E27FC236}">
                <a16:creationId xmlns:a16="http://schemas.microsoft.com/office/drawing/2014/main" id="{40B51894-22FB-488B-9E96-926E9879F9A8}"/>
              </a:ext>
            </a:extLst>
          </p:cNvPr>
          <p:cNvPicPr>
            <a:picLocks xmlns:a="http://schemas.openxmlformats.org/drawingml/2006/main" noChangeAspect="1"/>
          </p:cNvPicPr>
          <p:nvPr/>
        </p:nvPicPr>
        <p:blipFill>
          <a:blip xmlns:r="http://schemas.openxmlformats.org/officeDocument/2006/relationships" xmlns:a="http://schemas.openxmlformats.org/drawingml/2006/main" r:embed="R84fd5a4c84c246a5">
            <a:extLst>
              <a:ext uri="{96DAC541-7B7A-43D3-8B79-37D633B846F1}">
                <asvg:svgBlip xmlns:asvg="http://schemas.microsoft.com/office/drawing/2016/SVG/main" r:embed="R6fe45d006cf74da6"/>
              </a:ext>
            </a:extLst>
          </a:blip>
          <a:stretch xmlns:a="http://schemas.openxmlformats.org/drawingml/2006/main"/>
        </p:blipFill>
        <p:spPr>
          <a:xfrm xmlns:a="http://schemas.openxmlformats.org/drawingml/2006/main">
            <a:off x="10001250" y="1943100"/>
            <a:ext cx="817488" cy="294636"/>
          </a:xfrm>
          <a:prstGeom xmlns:a="http://schemas.openxmlformats.org/drawingml/2006/main" prst="rect">
            <a:avLst/>
          </a:prstGeom>
        </p:spPr>
      </p:pic>
      <p:pic>
        <p:nvPicPr>
          <p:cNvPr id="21" name="r0-label" descr="LaTeX: \vec r_0">
            <a:extLst xmlns:a="http://schemas.openxmlformats.org/drawingml/2006/main">
              <a:ext uri="{FF2B5EF4-FFF2-40B4-BE49-F238E27FC236}">
                <a16:creationId xmlns:a16="http://schemas.microsoft.com/office/drawing/2014/main" id="{2AFFCAF5-C567-4A14-943D-9F4A99DA7BEA}"/>
              </a:ext>
            </a:extLst>
          </p:cNvPr>
          <p:cNvPicPr>
            <a:picLocks xmlns:a="http://schemas.openxmlformats.org/drawingml/2006/main" noChangeAspect="1"/>
          </p:cNvPicPr>
          <p:nvPr/>
        </p:nvPicPr>
        <p:blipFill>
          <a:blip xmlns:r="http://schemas.openxmlformats.org/officeDocument/2006/relationships" xmlns:a="http://schemas.openxmlformats.org/drawingml/2006/main" r:embed="Rbdbebb2d702644ec">
            <a:extLst>
              <a:ext uri="{96DAC541-7B7A-43D3-8B79-37D633B846F1}">
                <asvg:svgBlip xmlns:asvg="http://schemas.microsoft.com/office/drawing/2016/SVG/main" r:embed="R3ffdaa583b384f57"/>
              </a:ext>
            </a:extLst>
          </a:blip>
          <a:stretch xmlns:a="http://schemas.openxmlformats.org/drawingml/2006/main"/>
        </p:blipFill>
        <p:spPr>
          <a:xfrm xmlns:a="http://schemas.openxmlformats.org/drawingml/2006/main">
            <a:off x="7372350" y="4476750"/>
            <a:ext cx="261659" cy="285738"/>
          </a:xfrm>
          <a:prstGeom xmlns:a="http://schemas.openxmlformats.org/drawingml/2006/main" prst="rect">
            <a:avLst/>
          </a:prstGeom>
        </p:spPr>
      </p:pic>
      <p:pic>
        <p:nvPicPr>
          <p:cNvPr id="22" name="r-label" descr="LaTeX: \vec r">
            <a:extLst xmlns:a="http://schemas.openxmlformats.org/drawingml/2006/main">
              <a:ext uri="{FF2B5EF4-FFF2-40B4-BE49-F238E27FC236}">
                <a16:creationId xmlns:a16="http://schemas.microsoft.com/office/drawing/2014/main" id="{2C5315FE-5BEA-4939-A813-3F1D7993CBD7}"/>
              </a:ext>
            </a:extLst>
          </p:cNvPr>
          <p:cNvPicPr>
            <a:picLocks xmlns:a="http://schemas.openxmlformats.org/drawingml/2006/main" noChangeAspect="1"/>
          </p:cNvPicPr>
          <p:nvPr/>
        </p:nvPicPr>
        <p:blipFill>
          <a:blip xmlns:r="http://schemas.openxmlformats.org/officeDocument/2006/relationships" xmlns:a="http://schemas.openxmlformats.org/drawingml/2006/main" r:embed="R48bf988d0acf4aaf">
            <a:extLst>
              <a:ext uri="{96DAC541-7B7A-43D3-8B79-37D633B846F1}">
                <asvg:svgBlip xmlns:asvg="http://schemas.microsoft.com/office/drawing/2016/SVG/main" r:embed="R230ca9637f2740b4"/>
              </a:ext>
            </a:extLst>
          </a:blip>
          <a:stretch xmlns:a="http://schemas.openxmlformats.org/drawingml/2006/main"/>
        </p:blipFill>
        <p:spPr>
          <a:xfrm xmlns:a="http://schemas.openxmlformats.org/drawingml/2006/main">
            <a:off x="9620250" y="4219575"/>
            <a:ext cx="171157" cy="242152"/>
          </a:xfrm>
          <a:prstGeom xmlns:a="http://schemas.openxmlformats.org/drawingml/2006/main" prst="rect">
            <a:avLst/>
          </a:prstGeom>
        </p:spPr>
      </p:pic>
      <p:cxnSp>
        <p:nvCxnSpPr>
          <p:cNvPr id="23" name="displacement">
            <a:extLst xmlns:a="http://schemas.openxmlformats.org/drawingml/2006/main">
              <a:ext uri="{FF2B5EF4-FFF2-40B4-BE49-F238E27FC236}">
                <a16:creationId xmlns:a16="http://schemas.microsoft.com/office/drawing/2014/main" id="{57475F0C-8EDC-4EA4-904F-B4C2426A09D3}"/>
              </a:ext>
            </a:extLst>
          </p:cNvPr>
          <p:cNvCxnSpPr/>
          <p:nvPr/>
        </p:nvCxnSpPr>
        <p:spPr>
          <a:xfrm xmlns:a="http://schemas.openxmlformats.org/drawingml/2006/main" rot="-1593903">
            <a:off x="8034102" y="3238500"/>
            <a:ext cx="2981797"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pic>
        <p:nvPicPr>
          <p:cNvPr id="24" name="tm-label" descr="LaTeX: \overrightarrow{P_0P}">
            <a:extLst xmlns:a="http://schemas.openxmlformats.org/drawingml/2006/main">
              <a:ext uri="{FF2B5EF4-FFF2-40B4-BE49-F238E27FC236}">
                <a16:creationId xmlns:a16="http://schemas.microsoft.com/office/drawing/2014/main" id="{F79D68D7-B59C-4B7C-845C-3283E501ACE1}"/>
              </a:ext>
            </a:extLst>
          </p:cNvPr>
          <p:cNvPicPr>
            <a:picLocks xmlns:a="http://schemas.openxmlformats.org/drawingml/2006/main" noChangeAspect="1"/>
          </p:cNvPicPr>
          <p:nvPr/>
        </p:nvPicPr>
        <p:blipFill>
          <a:blip xmlns:r="http://schemas.openxmlformats.org/officeDocument/2006/relationships" xmlns:a="http://schemas.openxmlformats.org/drawingml/2006/main" r:embed="R80d883d69bc74509">
            <a:extLst>
              <a:ext uri="{96DAC541-7B7A-43D3-8B79-37D633B846F1}">
                <asvg:svgBlip xmlns:asvg="http://schemas.microsoft.com/office/drawing/2016/SVG/main" r:embed="Ref2a3b75bc514df6"/>
              </a:ext>
            </a:extLst>
          </a:blip>
          <a:stretch xmlns:a="http://schemas.openxmlformats.org/drawingml/2006/main"/>
        </p:blipFill>
        <p:spPr>
          <a:xfrm xmlns:a="http://schemas.openxmlformats.org/drawingml/2006/main">
            <a:off x="9477375" y="2809875"/>
            <a:ext cx="539742" cy="383790"/>
          </a:xfrm>
          <a:prstGeom xmlns:a="http://schemas.openxmlformats.org/drawingml/2006/main" prst="rect">
            <a:avLst/>
          </a:prstGeom>
        </p:spPr>
      </p:pic>
      <p:sp>
        <p:nvSpPr>
          <p:cNvPr id="25" name="takeaway">
            <a:extLst xmlns:a="http://schemas.openxmlformats.org/drawingml/2006/main">
              <a:ext uri="{FF2B5EF4-FFF2-40B4-BE49-F238E27FC236}">
                <a16:creationId xmlns:a16="http://schemas.microsoft.com/office/drawing/2014/main" id="{2362618C-CE6B-4374-A776-DC50C4A35E7A}"/>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The displacement along the line is the missing part of the equation.</a:t>
            </a:r>
          </a:p>
        </p:txBody>
      </p:sp>
    </p:spTree>
    <p:extLst>
      <p:ext uri="{BB962C8B-B14F-4D97-AF65-F5344CB8AC3E}">
        <p14:creationId xmlns:p14="http://schemas.microsoft.com/office/powerpoint/2010/main" val="178225291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7" name="title">
            <a:extLst xmlns:a="http://schemas.openxmlformats.org/drawingml/2006/main">
              <a:ext uri="{FF2B5EF4-FFF2-40B4-BE49-F238E27FC236}">
                <a16:creationId xmlns:a16="http://schemas.microsoft.com/office/drawing/2014/main" id="{71454889-D9C0-403F-A53C-6984F7BD8B73}"/>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The vector equation of a line</a:t>
            </a:r>
          </a:p>
        </p:txBody>
      </p:sp>
      <p:sp>
        <p:nvSpPr>
          <p:cNvPr id="2" name="page-number">
            <a:extLst xmlns:a="http://schemas.openxmlformats.org/drawingml/2006/main">
              <a:ext uri="{FF2B5EF4-FFF2-40B4-BE49-F238E27FC236}">
                <a16:creationId xmlns:a16="http://schemas.microsoft.com/office/drawing/2014/main" id="{3C800996-9E8F-4ABC-B8B8-6FBD8C3B335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04</a:t>
            </a:r>
          </a:p>
        </p:txBody>
      </p:sp>
      <p:sp>
        <p:nvSpPr>
          <p:cNvPr id="3" name="lead">
            <a:extLst xmlns:a="http://schemas.openxmlformats.org/drawingml/2006/main">
              <a:ext uri="{FF2B5EF4-FFF2-40B4-BE49-F238E27FC236}">
                <a16:creationId xmlns:a16="http://schemas.microsoft.com/office/drawing/2014/main" id="{63A2D409-8517-48B4-B345-029ED5BF33B7}"/>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displacement along the line is a scalar multiple of its direction.</a:t>
            </a:r>
          </a:p>
        </p:txBody>
      </p:sp>
      <p:pic>
        <p:nvPicPr>
          <p:cNvPr id="4" name="equation-0" descr="LaTeX: \vec r=\vec r_0+\overrightarrow{P_0P}">
            <a:extLst xmlns:a="http://schemas.openxmlformats.org/drawingml/2006/main">
              <a:ext uri="{FF2B5EF4-FFF2-40B4-BE49-F238E27FC236}">
                <a16:creationId xmlns:a16="http://schemas.microsoft.com/office/drawing/2014/main" id="{23930DE4-1763-4D7D-AA76-853EB5F1C864}"/>
              </a:ext>
            </a:extLst>
          </p:cNvPr>
          <p:cNvPicPr>
            <a:picLocks xmlns:a="http://schemas.openxmlformats.org/drawingml/2006/main" noChangeAspect="1"/>
          </p:cNvPicPr>
          <p:nvPr/>
        </p:nvPicPr>
        <p:blipFill>
          <a:blip xmlns:r="http://schemas.openxmlformats.org/officeDocument/2006/relationships" xmlns:a="http://schemas.openxmlformats.org/drawingml/2006/main" r:embed="R1ab62a5d510d4f38">
            <a:extLst>
              <a:ext uri="{96DAC541-7B7A-43D3-8B79-37D633B846F1}">
                <asvg:svgBlip xmlns:asvg="http://schemas.microsoft.com/office/drawing/2016/SVG/main" r:embed="Rc97d233c10fa4c3d"/>
              </a:ext>
            </a:extLst>
          </a:blip>
          <a:stretch xmlns:a="http://schemas.openxmlformats.org/drawingml/2006/main"/>
        </p:blipFill>
        <p:spPr>
          <a:xfrm xmlns:a="http://schemas.openxmlformats.org/drawingml/2006/main">
            <a:off x="685800" y="2571750"/>
            <a:ext cx="1863190" cy="443757"/>
          </a:xfrm>
          <a:prstGeom xmlns:a="http://schemas.openxmlformats.org/drawingml/2006/main" prst="rect">
            <a:avLst/>
          </a:prstGeom>
        </p:spPr>
      </p:pic>
      <p:pic>
        <p:nvPicPr>
          <p:cNvPr id="5" name="equation-1" descr="LaTeX: \overrightarrow{P_0P}=t\vec m">
            <a:extLst xmlns:a="http://schemas.openxmlformats.org/drawingml/2006/main">
              <a:ext uri="{FF2B5EF4-FFF2-40B4-BE49-F238E27FC236}">
                <a16:creationId xmlns:a16="http://schemas.microsoft.com/office/drawing/2014/main" id="{88DA869D-29FC-40BF-A623-5E2078FF3B41}"/>
              </a:ext>
            </a:extLst>
          </p:cNvPr>
          <p:cNvPicPr>
            <a:picLocks xmlns:a="http://schemas.openxmlformats.org/drawingml/2006/main" noChangeAspect="1"/>
          </p:cNvPicPr>
          <p:nvPr/>
        </p:nvPicPr>
        <p:blipFill>
          <a:blip xmlns:r="http://schemas.openxmlformats.org/officeDocument/2006/relationships" xmlns:a="http://schemas.openxmlformats.org/drawingml/2006/main" r:embed="R56d48fed70aa4028">
            <a:extLst>
              <a:ext uri="{96DAC541-7B7A-43D3-8B79-37D633B846F1}">
                <asvg:svgBlip xmlns:asvg="http://schemas.microsoft.com/office/drawing/2016/SVG/main" r:embed="R23a828e4bca6439c"/>
              </a:ext>
            </a:extLst>
          </a:blip>
          <a:stretch xmlns:a="http://schemas.openxmlformats.org/drawingml/2006/main"/>
        </p:blipFill>
        <p:spPr>
          <a:xfrm xmlns:a="http://schemas.openxmlformats.org/drawingml/2006/main">
            <a:off x="685800" y="3301257"/>
            <a:ext cx="1459148" cy="443757"/>
          </a:xfrm>
          <a:prstGeom xmlns:a="http://schemas.openxmlformats.org/drawingml/2006/main" prst="rect">
            <a:avLst/>
          </a:prstGeom>
        </p:spPr>
      </p:pic>
      <p:pic>
        <p:nvPicPr>
          <p:cNvPr id="6" name="equation-2" descr="LaTeX: \vec r=\vec r_0+t\vec m,\qquad t\in\mathbb R">
            <a:extLst xmlns:a="http://schemas.openxmlformats.org/drawingml/2006/main">
              <a:ext uri="{FF2B5EF4-FFF2-40B4-BE49-F238E27FC236}">
                <a16:creationId xmlns:a16="http://schemas.microsoft.com/office/drawing/2014/main" id="{60F1E431-8CA4-4BA6-8ACF-09F217A85963}"/>
              </a:ext>
            </a:extLst>
          </p:cNvPr>
          <p:cNvPicPr>
            <a:picLocks xmlns:a="http://schemas.openxmlformats.org/drawingml/2006/main" noChangeAspect="1"/>
          </p:cNvPicPr>
          <p:nvPr/>
        </p:nvPicPr>
        <p:blipFill>
          <a:blip xmlns:r="http://schemas.openxmlformats.org/officeDocument/2006/relationships" xmlns:a="http://schemas.openxmlformats.org/drawingml/2006/main" r:embed="Rfc9da29df9554b1d">
            <a:extLst>
              <a:ext uri="{96DAC541-7B7A-43D3-8B79-37D633B846F1}">
                <asvg:svgBlip xmlns:asvg="http://schemas.microsoft.com/office/drawing/2016/SVG/main" r:embed="R31f327b59b674c98"/>
              </a:ext>
            </a:extLst>
          </a:blip>
          <a:stretch xmlns:a="http://schemas.openxmlformats.org/drawingml/2006/main"/>
        </p:blipFill>
        <p:spPr>
          <a:xfrm xmlns:a="http://schemas.openxmlformats.org/drawingml/2006/main">
            <a:off x="685800" y="4030765"/>
            <a:ext cx="3232944" cy="347721"/>
          </a:xfrm>
          <a:prstGeom xmlns:a="http://schemas.openxmlformats.org/drawingml/2006/main" prst="rect">
            <a:avLst/>
          </a:prstGeom>
        </p:spPr>
      </p:pic>
      <p:cxnSp>
        <p:nvCxnSpPr>
          <p:cNvPr id="7" name="line-L">
            <a:extLst xmlns:a="http://schemas.openxmlformats.org/drawingml/2006/main">
              <a:ext uri="{FF2B5EF4-FFF2-40B4-BE49-F238E27FC236}">
                <a16:creationId xmlns:a16="http://schemas.microsoft.com/office/drawing/2014/main" id="{AE91360A-55D5-4008-9280-2343728B8155}"/>
              </a:ext>
            </a:extLst>
          </p:cNvPr>
          <p:cNvCxnSpPr/>
          <p:nvPr/>
        </p:nvCxnSpPr>
        <p:spPr>
          <a:xfrm xmlns:a="http://schemas.openxmlformats.org/drawingml/2006/main" rot="-1593903">
            <a:off x="7243838" y="3274219"/>
            <a:ext cx="4419449" cy="0"/>
          </a:xfrm>
          <a:prstGeom xmlns:a="http://schemas.openxmlformats.org/drawingml/2006/main" prst="straightConnector1">
            <a:avLst/>
          </a:prstGeom>
          <a:ln xmlns:a="http://schemas.openxmlformats.org/drawingml/2006/main" w="23813">
            <a:solidFill>
              <a:srgbClr val="F5F5F5"/>
            </a:solidFill>
            <a:prstDash val="solid"/>
          </a:ln>
        </p:spPr>
      </p:cxnSp>
      <p:sp>
        <p:nvSpPr>
          <p:cNvPr id="8" name="known-point">
            <a:extLst xmlns:a="http://schemas.openxmlformats.org/drawingml/2006/main">
              <a:ext uri="{FF2B5EF4-FFF2-40B4-BE49-F238E27FC236}">
                <a16:creationId xmlns:a16="http://schemas.microsoft.com/office/drawing/2014/main" id="{6A884062-7B05-4352-B8F1-3386B0EEA4C2}"/>
              </a:ext>
            </a:extLst>
          </p:cNvPr>
          <p:cNvSpPr>
            <a:spLocks xmlns:a="http://schemas.openxmlformats.org/drawingml/2006/main" noGrp="1"/>
          </p:cNvSpPr>
          <p:nvPr/>
        </p:nvSpPr>
        <p:spPr>
          <a:xfrm xmlns:a="http://schemas.openxmlformats.org/drawingml/2006/main">
            <a:off x="8153400" y="38671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pic>
        <p:nvPicPr>
          <p:cNvPr id="9" name="P0-label" descr="LaTeX: P_0(x_0,y_0)">
            <a:extLst xmlns:a="http://schemas.openxmlformats.org/drawingml/2006/main">
              <a:ext uri="{FF2B5EF4-FFF2-40B4-BE49-F238E27FC236}">
                <a16:creationId xmlns:a16="http://schemas.microsoft.com/office/drawing/2014/main" id="{D14A8288-3EF0-45BE-BB61-F4EE057F49C6}"/>
              </a:ext>
            </a:extLst>
          </p:cNvPr>
          <p:cNvPicPr>
            <a:picLocks xmlns:a="http://schemas.openxmlformats.org/drawingml/2006/main" noChangeAspect="1"/>
          </p:cNvPicPr>
          <p:nvPr/>
        </p:nvPicPr>
        <p:blipFill>
          <a:blip xmlns:r="http://schemas.openxmlformats.org/officeDocument/2006/relationships" xmlns:a="http://schemas.openxmlformats.org/drawingml/2006/main" r:embed="Re9875a5adf864700">
            <a:extLst>
              <a:ext uri="{96DAC541-7B7A-43D3-8B79-37D633B846F1}">
                <asvg:svgBlip xmlns:asvg="http://schemas.microsoft.com/office/drawing/2016/SVG/main" r:embed="R5e2e479e0fd1476c"/>
              </a:ext>
            </a:extLst>
          </a:blip>
          <a:stretch xmlns:a="http://schemas.openxmlformats.org/drawingml/2006/main"/>
        </p:blipFill>
        <p:spPr>
          <a:xfrm xmlns:a="http://schemas.openxmlformats.org/drawingml/2006/main">
            <a:off x="7334250" y="3286125"/>
            <a:ext cx="1075607" cy="304796"/>
          </a:xfrm>
          <a:prstGeom xmlns:a="http://schemas.openxmlformats.org/drawingml/2006/main" prst="rect">
            <a:avLst/>
          </a:prstGeom>
        </p:spPr>
      </p:pic>
      <p:cxnSp>
        <p:nvCxnSpPr>
          <p:cNvPr id="10" name="direction">
            <a:extLst xmlns:a="http://schemas.openxmlformats.org/drawingml/2006/main">
              <a:ext uri="{FF2B5EF4-FFF2-40B4-BE49-F238E27FC236}">
                <a16:creationId xmlns:a16="http://schemas.microsoft.com/office/drawing/2014/main" id="{44C70CAC-AC4A-4B8C-A923-6C1E74DC107A}"/>
              </a:ext>
            </a:extLst>
          </p:cNvPr>
          <p:cNvCxnSpPr/>
          <p:nvPr/>
        </p:nvCxnSpPr>
        <p:spPr>
          <a:xfrm xmlns:a="http://schemas.openxmlformats.org/drawingml/2006/main" rot="-1593903">
            <a:off x="7779426" y="2286000"/>
            <a:ext cx="1490898" cy="0"/>
          </a:xfrm>
          <a:prstGeom xmlns:a="http://schemas.openxmlformats.org/drawingml/2006/main" prst="straightConnector1">
            <a:avLst/>
          </a:prstGeom>
          <a:ln xmlns:a="http://schemas.openxmlformats.org/drawingml/2006/main" w="28575">
            <a:solidFill>
              <a:srgbClr val="FDA4AF"/>
            </a:solidFill>
            <a:prstDash val="solid"/>
            <a:tailEnd type="triangle" w="med" len="med"/>
          </a:ln>
        </p:spPr>
      </p:cxnSp>
      <p:pic>
        <p:nvPicPr>
          <p:cNvPr id="11" name="m-label" descr="LaTeX: \vec m">
            <a:extLst xmlns:a="http://schemas.openxmlformats.org/drawingml/2006/main">
              <a:ext uri="{FF2B5EF4-FFF2-40B4-BE49-F238E27FC236}">
                <a16:creationId xmlns:a16="http://schemas.microsoft.com/office/drawing/2014/main" id="{010E4297-B2A6-4529-95F6-1AE9530FB5C1}"/>
              </a:ext>
            </a:extLst>
          </p:cNvPr>
          <p:cNvPicPr>
            <a:picLocks xmlns:a="http://schemas.openxmlformats.org/drawingml/2006/main" noChangeAspect="1"/>
          </p:cNvPicPr>
          <p:nvPr/>
        </p:nvPicPr>
        <p:blipFill>
          <a:blip xmlns:r="http://schemas.openxmlformats.org/officeDocument/2006/relationships" xmlns:a="http://schemas.openxmlformats.org/drawingml/2006/main" r:embed="R78fb323bb01d48fa">
            <a:extLst>
              <a:ext uri="{96DAC541-7B7A-43D3-8B79-37D633B846F1}">
                <asvg:svgBlip xmlns:asvg="http://schemas.microsoft.com/office/drawing/2016/SVG/main" r:embed="R2a5cbb02e7bc417e"/>
              </a:ext>
            </a:extLst>
          </a:blip>
          <a:stretch xmlns:a="http://schemas.openxmlformats.org/drawingml/2006/main"/>
        </p:blipFill>
        <p:spPr>
          <a:xfrm xmlns:a="http://schemas.openxmlformats.org/drawingml/2006/main">
            <a:off x="8096250" y="2143125"/>
            <a:ext cx="301654" cy="257286"/>
          </a:xfrm>
          <a:prstGeom xmlns:a="http://schemas.openxmlformats.org/drawingml/2006/main" prst="rect">
            <a:avLst/>
          </a:prstGeom>
        </p:spPr>
      </p:pic>
      <p:sp>
        <p:nvSpPr>
          <p:cNvPr id="12" name="L-label">
            <a:extLst xmlns:a="http://schemas.openxmlformats.org/drawingml/2006/main">
              <a:ext uri="{FF2B5EF4-FFF2-40B4-BE49-F238E27FC236}">
                <a16:creationId xmlns:a16="http://schemas.microsoft.com/office/drawing/2014/main" id="{2CE7C80E-44B9-49E2-9CB0-869092B5CE2E}"/>
              </a:ext>
            </a:extLst>
          </p:cNvPr>
          <p:cNvSpPr>
            <a:spLocks xmlns:a="http://schemas.openxmlformats.org/drawingml/2006/main" noGrp="1"/>
          </p:cNvSpPr>
          <p:nvPr/>
        </p:nvSpPr>
        <p:spPr>
          <a:xfrm xmlns:a="http://schemas.openxmlformats.org/drawingml/2006/main">
            <a:off x="11382375" y="2333625"/>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75" b="0">
                <a:solidFill>
                  <a:srgbClr val="F5F5F5"/>
                </a:solidFill>
                <a:latin typeface="DejaVu Sans"/>
                <a:ea typeface="DejaVu Sans"/>
                <a:cs typeface="DejaVu Sans"/>
              </a:defRPr>
            </a:defPPr>
            <a:lvl1pPr>
              <a:buNone/>
              <a:defRPr sz="2175" b="0">
                <a:solidFill>
                  <a:srgbClr val="F5F5F5"/>
                </a:solidFill>
                <a:latin typeface="DejaVu Sans"/>
                <a:ea typeface="DejaVu Sans"/>
                <a:cs typeface="DejaVu Sans"/>
              </a:defRPr>
            </a:lvl1pPr>
            <a:lvl2pPr>
              <a:buNone/>
              <a:defRPr sz="2175" b="0">
                <a:solidFill>
                  <a:srgbClr val="F5F5F5"/>
                </a:solidFill>
                <a:latin typeface="DejaVu Sans"/>
                <a:ea typeface="DejaVu Sans"/>
                <a:cs typeface="DejaVu Sans"/>
              </a:defRPr>
            </a:lvl2pPr>
            <a:lvl3pPr>
              <a:buNone/>
              <a:defRPr sz="2175" b="0">
                <a:solidFill>
                  <a:srgbClr val="F5F5F5"/>
                </a:solidFill>
                <a:latin typeface="DejaVu Sans"/>
                <a:ea typeface="DejaVu Sans"/>
                <a:cs typeface="DejaVu Sans"/>
              </a:defRPr>
            </a:lvl3pPr>
            <a:lvl4pPr>
              <a:buNone/>
              <a:defRPr sz="2175" b="0">
                <a:solidFill>
                  <a:srgbClr val="F5F5F5"/>
                </a:solidFill>
                <a:latin typeface="DejaVu Sans"/>
                <a:ea typeface="DejaVu Sans"/>
                <a:cs typeface="DejaVu Sans"/>
              </a:defRPr>
            </a:lvl4pPr>
            <a:lvl5pPr>
              <a:buNone/>
              <a:defRPr sz="2175" b="0">
                <a:solidFill>
                  <a:srgbClr val="F5F5F5"/>
                </a:solidFill>
                <a:latin typeface="DejaVu Sans"/>
                <a:ea typeface="DejaVu Sans"/>
                <a:cs typeface="DejaVu Sans"/>
              </a:defRPr>
            </a:lvl5pPr>
            <a:lvl6pPr>
              <a:buNone/>
              <a:defRPr sz="2175" b="0">
                <a:solidFill>
                  <a:srgbClr val="F5F5F5"/>
                </a:solidFill>
                <a:latin typeface="DejaVu Sans"/>
                <a:ea typeface="DejaVu Sans"/>
                <a:cs typeface="DejaVu Sans"/>
              </a:defRPr>
            </a:lvl6pPr>
            <a:lvl7pPr>
              <a:buNone/>
              <a:defRPr sz="2175" b="0">
                <a:solidFill>
                  <a:srgbClr val="F5F5F5"/>
                </a:solidFill>
                <a:latin typeface="DejaVu Sans"/>
                <a:ea typeface="DejaVu Sans"/>
                <a:cs typeface="DejaVu Sans"/>
              </a:defRPr>
            </a:lvl7pPr>
            <a:lvl8pPr>
              <a:buNone/>
              <a:defRPr sz="2175" b="0">
                <a:solidFill>
                  <a:srgbClr val="F5F5F5"/>
                </a:solidFill>
                <a:latin typeface="DejaVu Sans"/>
                <a:ea typeface="DejaVu Sans"/>
                <a:cs typeface="DejaVu Sans"/>
              </a:defRPr>
            </a:lvl8pPr>
            <a:lvl9pPr>
              <a:buNone/>
              <a:defRPr sz="2175" b="0">
                <a:solidFill>
                  <a:srgbClr val="F5F5F5"/>
                </a:solidFill>
                <a:latin typeface="DejaVu Sans"/>
                <a:ea typeface="DejaVu Sans"/>
                <a:cs typeface="DejaVu Sans"/>
              </a:defRPr>
            </a:lvl9pPr>
          </a:lstStyle>
          <a:p xmlns:a="http://schemas.openxmlformats.org/drawingml/2006/main">
            <a:pPr>
              <a:buNone/>
              <a:defRPr sz="2175" b="0">
                <a:solidFill>
                  <a:srgbClr val="F5F5F5"/>
                </a:solidFill>
                <a:latin typeface="DejaVu Sans"/>
                <a:ea typeface="DejaVu Sans"/>
                <a:cs typeface="DejaVu Sans"/>
              </a:defRPr>
            </a:pPr>
            <a:r>
              <a:rPr sz="2175" b="0">
                <a:solidFill>
                  <a:srgbClr val="F5F5F5"/>
                </a:solidFill>
                <a:latin typeface="DejaVu Sans"/>
                <a:ea typeface="DejaVu Sans"/>
                <a:cs typeface="DejaVu Sans"/>
              </a:rPr>
              <a:t>L</a:t>
            </a:r>
          </a:p>
        </p:txBody>
      </p:sp>
      <p:cxnSp>
        <p:nvCxnSpPr>
          <p:cNvPr id="13" name="x-axis">
            <a:extLst xmlns:a="http://schemas.openxmlformats.org/drawingml/2006/main">
              <a:ext uri="{FF2B5EF4-FFF2-40B4-BE49-F238E27FC236}">
                <a16:creationId xmlns:a16="http://schemas.microsoft.com/office/drawing/2014/main" id="{945E9FCB-AE7C-4C3A-94EB-D748F61D2E63}"/>
              </a:ext>
            </a:extLst>
          </p:cNvPr>
          <p:cNvCxnSpPr/>
          <p:nvPr/>
        </p:nvCxnSpPr>
        <p:spPr>
          <a:xfrm xmlns:a="http://schemas.openxmlformats.org/drawingml/2006/main" rot="0">
            <a:off x="6762750" y="5524500"/>
            <a:ext cx="4667250" cy="0"/>
          </a:xfrm>
          <a:prstGeom xmlns:a="http://schemas.openxmlformats.org/drawingml/2006/main" prst="straightConnector1">
            <a:avLst/>
          </a:prstGeom>
          <a:ln xmlns:a="http://schemas.openxmlformats.org/drawingml/2006/main" w="9525">
            <a:solidFill>
              <a:srgbClr val="50565E"/>
            </a:solidFill>
            <a:prstDash val="solid"/>
          </a:ln>
        </p:spPr>
      </p:cxnSp>
      <p:cxnSp>
        <p:nvCxnSpPr>
          <p:cNvPr id="14" name="y-axis">
            <a:extLst xmlns:a="http://schemas.openxmlformats.org/drawingml/2006/main">
              <a:ext uri="{FF2B5EF4-FFF2-40B4-BE49-F238E27FC236}">
                <a16:creationId xmlns:a16="http://schemas.microsoft.com/office/drawing/2014/main" id="{F9C104B1-361D-4B2C-8917-8ED03420EDDD}"/>
              </a:ext>
            </a:extLst>
          </p:cNvPr>
          <p:cNvCxnSpPr/>
          <p:nvPr/>
        </p:nvCxnSpPr>
        <p:spPr>
          <a:xfrm xmlns:a="http://schemas.openxmlformats.org/drawingml/2006/main" rot="-5400000">
            <a:off x="5191125" y="3905250"/>
            <a:ext cx="4095750" cy="0"/>
          </a:xfrm>
          <a:prstGeom xmlns:a="http://schemas.openxmlformats.org/drawingml/2006/main" prst="straightConnector1">
            <a:avLst/>
          </a:prstGeom>
          <a:ln xmlns:a="http://schemas.openxmlformats.org/drawingml/2006/main" w="9525">
            <a:solidFill>
              <a:srgbClr val="50565E"/>
            </a:solidFill>
            <a:prstDash val="solid"/>
          </a:ln>
        </p:spPr>
      </p:cxnSp>
      <p:sp>
        <p:nvSpPr>
          <p:cNvPr id="15" name="origin">
            <a:extLst xmlns:a="http://schemas.openxmlformats.org/drawingml/2006/main">
              <a:ext uri="{FF2B5EF4-FFF2-40B4-BE49-F238E27FC236}">
                <a16:creationId xmlns:a16="http://schemas.microsoft.com/office/drawing/2014/main" id="{020BD9A8-404E-4368-BEB7-863CAF31E960}"/>
              </a:ext>
            </a:extLst>
          </p:cNvPr>
          <p:cNvSpPr>
            <a:spLocks xmlns:a="http://schemas.openxmlformats.org/drawingml/2006/main" noGrp="1"/>
          </p:cNvSpPr>
          <p:nvPr/>
        </p:nvSpPr>
        <p:spPr>
          <a:xfrm xmlns:a="http://schemas.openxmlformats.org/drawingml/2006/main">
            <a:off x="6981825" y="5619750"/>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sp>
        <p:nvSpPr>
          <p:cNvPr id="16" name="x-axis-label">
            <a:extLst xmlns:a="http://schemas.openxmlformats.org/drawingml/2006/main">
              <a:ext uri="{FF2B5EF4-FFF2-40B4-BE49-F238E27FC236}">
                <a16:creationId xmlns:a16="http://schemas.microsoft.com/office/drawing/2014/main" id="{34E8A583-D34B-45F9-86A5-99B0C424B500}"/>
              </a:ext>
            </a:extLst>
          </p:cNvPr>
          <p:cNvSpPr>
            <a:spLocks xmlns:a="http://schemas.openxmlformats.org/drawingml/2006/main" noGrp="1"/>
          </p:cNvSpPr>
          <p:nvPr/>
        </p:nvSpPr>
        <p:spPr>
          <a:xfrm xmlns:a="http://schemas.openxmlformats.org/drawingml/2006/main">
            <a:off x="11201400" y="560070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17" name="y-axis-label">
            <a:extLst xmlns:a="http://schemas.openxmlformats.org/drawingml/2006/main">
              <a:ext uri="{FF2B5EF4-FFF2-40B4-BE49-F238E27FC236}">
                <a16:creationId xmlns:a16="http://schemas.microsoft.com/office/drawing/2014/main" id="{1B820163-3C06-44F2-963C-2A38ACAB7F87}"/>
              </a:ext>
            </a:extLst>
          </p:cNvPr>
          <p:cNvSpPr>
            <a:spLocks xmlns:a="http://schemas.openxmlformats.org/drawingml/2006/main" noGrp="1"/>
          </p:cNvSpPr>
          <p:nvPr/>
        </p:nvSpPr>
        <p:spPr>
          <a:xfrm xmlns:a="http://schemas.openxmlformats.org/drawingml/2006/main">
            <a:off x="6905625" y="171450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cxnSp>
        <p:nvCxnSpPr>
          <p:cNvPr id="18" name="known-position">
            <a:extLst xmlns:a="http://schemas.openxmlformats.org/drawingml/2006/main">
              <a:ext uri="{FF2B5EF4-FFF2-40B4-BE49-F238E27FC236}">
                <a16:creationId xmlns:a16="http://schemas.microsoft.com/office/drawing/2014/main" id="{085F7180-3477-48A1-B449-574AF244611F}"/>
              </a:ext>
            </a:extLst>
          </p:cNvPr>
          <p:cNvCxnSpPr/>
          <p:nvPr/>
        </p:nvCxnSpPr>
        <p:spPr>
          <a:xfrm xmlns:a="http://schemas.openxmlformats.org/drawingml/2006/main" rot="-3572067">
            <a:off x="6775938" y="4714875"/>
            <a:ext cx="1878624" cy="0"/>
          </a:xfrm>
          <a:prstGeom xmlns:a="http://schemas.openxmlformats.org/drawingml/2006/main" prst="straightConnector1">
            <a:avLst/>
          </a:prstGeom>
          <a:ln xmlns:a="http://schemas.openxmlformats.org/drawingml/2006/main" w="33338">
            <a:solidFill>
              <a:srgbClr val="7DD3FC"/>
            </a:solidFill>
            <a:prstDash val="solid"/>
            <a:tailEnd type="triangle" w="med" len="med"/>
          </a:ln>
        </p:spPr>
      </p:cxnSp>
      <p:cxnSp>
        <p:nvCxnSpPr>
          <p:cNvPr id="19" name="general-position">
            <a:extLst xmlns:a="http://schemas.openxmlformats.org/drawingml/2006/main">
              <a:ext uri="{FF2B5EF4-FFF2-40B4-BE49-F238E27FC236}">
                <a16:creationId xmlns:a16="http://schemas.microsoft.com/office/drawing/2014/main" id="{A57532DE-7183-4972-BD99-7F85B97EDC98}"/>
              </a:ext>
            </a:extLst>
          </p:cNvPr>
          <p:cNvCxnSpPr/>
          <p:nvPr/>
        </p:nvCxnSpPr>
        <p:spPr>
          <a:xfrm xmlns:a="http://schemas.openxmlformats.org/drawingml/2006/main" rot="-2352432">
            <a:off x="6713182" y="4048125"/>
            <a:ext cx="4671136" cy="0"/>
          </a:xfrm>
          <a:prstGeom xmlns:a="http://schemas.openxmlformats.org/drawingml/2006/main" prst="straightConnector1">
            <a:avLst/>
          </a:prstGeom>
          <a:ln xmlns:a="http://schemas.openxmlformats.org/drawingml/2006/main" w="33338">
            <a:solidFill>
              <a:srgbClr val="C4B5FD"/>
            </a:solidFill>
            <a:prstDash val="solid"/>
            <a:tailEnd type="triangle" w="med" len="med"/>
          </a:ln>
        </p:spPr>
      </p:cxnSp>
      <p:sp>
        <p:nvSpPr>
          <p:cNvPr id="20" name="general-point">
            <a:extLst xmlns:a="http://schemas.openxmlformats.org/drawingml/2006/main">
              <a:ext uri="{FF2B5EF4-FFF2-40B4-BE49-F238E27FC236}">
                <a16:creationId xmlns:a16="http://schemas.microsoft.com/office/drawing/2014/main" id="{FCFEEBB9-A98B-48E8-9DB4-B41A9FE92D9A}"/>
              </a:ext>
            </a:extLst>
          </p:cNvPr>
          <p:cNvSpPr>
            <a:spLocks xmlns:a="http://schemas.openxmlformats.org/drawingml/2006/main" noGrp="1"/>
          </p:cNvSpPr>
          <p:nvPr/>
        </p:nvSpPr>
        <p:spPr>
          <a:xfrm xmlns:a="http://schemas.openxmlformats.org/drawingml/2006/main">
            <a:off x="10820400" y="2533650"/>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pic>
        <p:nvPicPr>
          <p:cNvPr id="21" name="P-label" descr="LaTeX: P(x,y)">
            <a:extLst xmlns:a="http://schemas.openxmlformats.org/drawingml/2006/main">
              <a:ext uri="{FF2B5EF4-FFF2-40B4-BE49-F238E27FC236}">
                <a16:creationId xmlns:a16="http://schemas.microsoft.com/office/drawing/2014/main" id="{FD72AA36-FCD8-49FF-A6F1-8F7550A09AA8}"/>
              </a:ext>
            </a:extLst>
          </p:cNvPr>
          <p:cNvPicPr>
            <a:picLocks xmlns:a="http://schemas.openxmlformats.org/drawingml/2006/main" noChangeAspect="1"/>
          </p:cNvPicPr>
          <p:nvPr/>
        </p:nvPicPr>
        <p:blipFill>
          <a:blip xmlns:r="http://schemas.openxmlformats.org/officeDocument/2006/relationships" xmlns:a="http://schemas.openxmlformats.org/drawingml/2006/main" r:embed="R6fcefd3f9a844773">
            <a:extLst>
              <a:ext uri="{96DAC541-7B7A-43D3-8B79-37D633B846F1}">
                <asvg:svgBlip xmlns:asvg="http://schemas.microsoft.com/office/drawing/2016/SVG/main" r:embed="Ra5493a42356e4d64"/>
              </a:ext>
            </a:extLst>
          </a:blip>
          <a:stretch xmlns:a="http://schemas.openxmlformats.org/drawingml/2006/main"/>
        </p:blipFill>
        <p:spPr>
          <a:xfrm xmlns:a="http://schemas.openxmlformats.org/drawingml/2006/main">
            <a:off x="10001250" y="1943100"/>
            <a:ext cx="817488" cy="294636"/>
          </a:xfrm>
          <a:prstGeom xmlns:a="http://schemas.openxmlformats.org/drawingml/2006/main" prst="rect">
            <a:avLst/>
          </a:prstGeom>
        </p:spPr>
      </p:pic>
      <p:pic>
        <p:nvPicPr>
          <p:cNvPr id="22" name="r0-label" descr="LaTeX: \vec r_0">
            <a:extLst xmlns:a="http://schemas.openxmlformats.org/drawingml/2006/main">
              <a:ext uri="{FF2B5EF4-FFF2-40B4-BE49-F238E27FC236}">
                <a16:creationId xmlns:a16="http://schemas.microsoft.com/office/drawing/2014/main" id="{9FFCD2A8-C7A5-4526-9986-0A572E09644C}"/>
              </a:ext>
            </a:extLst>
          </p:cNvPr>
          <p:cNvPicPr>
            <a:picLocks xmlns:a="http://schemas.openxmlformats.org/drawingml/2006/main" noChangeAspect="1"/>
          </p:cNvPicPr>
          <p:nvPr/>
        </p:nvPicPr>
        <p:blipFill>
          <a:blip xmlns:r="http://schemas.openxmlformats.org/officeDocument/2006/relationships" xmlns:a="http://schemas.openxmlformats.org/drawingml/2006/main" r:embed="Rab2fdedaf47e4f6f">
            <a:extLst>
              <a:ext uri="{96DAC541-7B7A-43D3-8B79-37D633B846F1}">
                <asvg:svgBlip xmlns:asvg="http://schemas.microsoft.com/office/drawing/2016/SVG/main" r:embed="R0d52d0ef09854649"/>
              </a:ext>
            </a:extLst>
          </a:blip>
          <a:stretch xmlns:a="http://schemas.openxmlformats.org/drawingml/2006/main"/>
        </p:blipFill>
        <p:spPr>
          <a:xfrm xmlns:a="http://schemas.openxmlformats.org/drawingml/2006/main">
            <a:off x="7372350" y="4476750"/>
            <a:ext cx="261659" cy="285738"/>
          </a:xfrm>
          <a:prstGeom xmlns:a="http://schemas.openxmlformats.org/drawingml/2006/main" prst="rect">
            <a:avLst/>
          </a:prstGeom>
        </p:spPr>
      </p:pic>
      <p:pic>
        <p:nvPicPr>
          <p:cNvPr id="23" name="r-label" descr="LaTeX: \vec r">
            <a:extLst xmlns:a="http://schemas.openxmlformats.org/drawingml/2006/main">
              <a:ext uri="{FF2B5EF4-FFF2-40B4-BE49-F238E27FC236}">
                <a16:creationId xmlns:a16="http://schemas.microsoft.com/office/drawing/2014/main" id="{F23B538D-C77A-4B10-A6B2-F9FFE81C3D60}"/>
              </a:ext>
            </a:extLst>
          </p:cNvPr>
          <p:cNvPicPr>
            <a:picLocks xmlns:a="http://schemas.openxmlformats.org/drawingml/2006/main" noChangeAspect="1"/>
          </p:cNvPicPr>
          <p:nvPr/>
        </p:nvPicPr>
        <p:blipFill>
          <a:blip xmlns:r="http://schemas.openxmlformats.org/officeDocument/2006/relationships" xmlns:a="http://schemas.openxmlformats.org/drawingml/2006/main" r:embed="Rb17f7af1f0d14fc5">
            <a:extLst>
              <a:ext uri="{96DAC541-7B7A-43D3-8B79-37D633B846F1}">
                <asvg:svgBlip xmlns:asvg="http://schemas.microsoft.com/office/drawing/2016/SVG/main" r:embed="R9f54f116598c4fb3"/>
              </a:ext>
            </a:extLst>
          </a:blip>
          <a:stretch xmlns:a="http://schemas.openxmlformats.org/drawingml/2006/main"/>
        </p:blipFill>
        <p:spPr>
          <a:xfrm xmlns:a="http://schemas.openxmlformats.org/drawingml/2006/main">
            <a:off x="9620250" y="4219575"/>
            <a:ext cx="171157" cy="242152"/>
          </a:xfrm>
          <a:prstGeom xmlns:a="http://schemas.openxmlformats.org/drawingml/2006/main" prst="rect">
            <a:avLst/>
          </a:prstGeom>
        </p:spPr>
      </p:pic>
      <p:cxnSp>
        <p:nvCxnSpPr>
          <p:cNvPr id="24" name="displacement">
            <a:extLst xmlns:a="http://schemas.openxmlformats.org/drawingml/2006/main">
              <a:ext uri="{FF2B5EF4-FFF2-40B4-BE49-F238E27FC236}">
                <a16:creationId xmlns:a16="http://schemas.microsoft.com/office/drawing/2014/main" id="{200205F5-A359-48E2-8EC8-4A4D0151DFE1}"/>
              </a:ext>
            </a:extLst>
          </p:cNvPr>
          <p:cNvCxnSpPr/>
          <p:nvPr/>
        </p:nvCxnSpPr>
        <p:spPr>
          <a:xfrm xmlns:a="http://schemas.openxmlformats.org/drawingml/2006/main" rot="-1593903">
            <a:off x="8034102" y="3238500"/>
            <a:ext cx="2981797"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pic>
        <p:nvPicPr>
          <p:cNvPr id="25" name="tm-label" descr="LaTeX: t\vec m">
            <a:extLst xmlns:a="http://schemas.openxmlformats.org/drawingml/2006/main">
              <a:ext uri="{FF2B5EF4-FFF2-40B4-BE49-F238E27FC236}">
                <a16:creationId xmlns:a16="http://schemas.microsoft.com/office/drawing/2014/main" id="{A5A64AFB-16D4-47F6-B033-18B21896857E}"/>
              </a:ext>
            </a:extLst>
          </p:cNvPr>
          <p:cNvPicPr>
            <a:picLocks xmlns:a="http://schemas.openxmlformats.org/drawingml/2006/main" noChangeAspect="1"/>
          </p:cNvPicPr>
          <p:nvPr/>
        </p:nvPicPr>
        <p:blipFill>
          <a:blip xmlns:r="http://schemas.openxmlformats.org/officeDocument/2006/relationships" xmlns:a="http://schemas.openxmlformats.org/drawingml/2006/main" r:embed="R3867719f70e64f62">
            <a:extLst>
              <a:ext uri="{96DAC541-7B7A-43D3-8B79-37D633B846F1}">
                <asvg:svgBlip xmlns:asvg="http://schemas.microsoft.com/office/drawing/2016/SVG/main" r:embed="Rde5247c8b5f444bc"/>
              </a:ext>
            </a:extLst>
          </a:blip>
          <a:stretch xmlns:a="http://schemas.openxmlformats.org/drawingml/2006/main"/>
        </p:blipFill>
        <p:spPr>
          <a:xfrm xmlns:a="http://schemas.openxmlformats.org/drawingml/2006/main">
            <a:off x="9477375" y="2809875"/>
            <a:ext cx="386662" cy="242152"/>
          </a:xfrm>
          <a:prstGeom xmlns:a="http://schemas.openxmlformats.org/drawingml/2006/main" prst="rect">
            <a:avLst/>
          </a:prstGeom>
        </p:spPr>
      </p:pic>
      <p:sp>
        <p:nvSpPr>
          <p:cNvPr id="26" name="takeaway">
            <a:extLst xmlns:a="http://schemas.openxmlformats.org/drawingml/2006/main">
              <a:ext uri="{FF2B5EF4-FFF2-40B4-BE49-F238E27FC236}">
                <a16:creationId xmlns:a16="http://schemas.microsoft.com/office/drawing/2014/main" id="{2E12DAD9-7B6C-4B57-B39B-DCDF22BB797C}"/>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Known position vector plus movement along the line gives any point.</a:t>
            </a:r>
          </a:p>
        </p:txBody>
      </p:sp>
    </p:spTree>
    <p:extLst>
      <p:ext uri="{BB962C8B-B14F-4D97-AF65-F5344CB8AC3E}">
        <p14:creationId xmlns:p14="http://schemas.microsoft.com/office/powerpoint/2010/main" val="154572356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0"/>
                                  </p:stCondLst>
                                  <p:childTnLst>
                                    <p:set>
                                      <p:cBhvr>
                                        <p:cTn id="9" dur="1" fill="hold"/>
                                        <p:tgtEl>
                                          <p:spTgt spid="25"/>
                                        </p:tgtEl>
                                        <p:attrNameLst>
                                          <p:attrName>style.visibility</p:attrName>
                                        </p:attrNameLst>
                                      </p:cBhvr>
                                      <p:to>
                                        <p:strVal val="visible"/>
                                      </p:to>
                                    </p:set>
                                    <p:animEffect transition="in" filter="fade">
                                      <p:cBhvr>
                                        <p:cTn id="10" dur="400" fill="hold"/>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9895736-597F-4E7A-8B01-F805A81A7EEE}"/>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Steps for writing a vector equation</a:t>
            </a:r>
          </a:p>
        </p:txBody>
      </p:sp>
      <p:sp>
        <p:nvSpPr>
          <p:cNvPr id="2" name="page-number">
            <a:extLst xmlns:a="http://schemas.openxmlformats.org/drawingml/2006/main">
              <a:ext uri="{FF2B5EF4-FFF2-40B4-BE49-F238E27FC236}">
                <a16:creationId xmlns:a16="http://schemas.microsoft.com/office/drawing/2014/main" id="{9CC36949-3691-41E8-A216-F25A2DEBC993}"/>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05</a:t>
            </a:r>
          </a:p>
        </p:txBody>
      </p:sp>
      <p:sp>
        <p:nvSpPr>
          <p:cNvPr id="3" name="lead">
            <a:extLst xmlns:a="http://schemas.openxmlformats.org/drawingml/2006/main">
              <a:ext uri="{FF2B5EF4-FFF2-40B4-BE49-F238E27FC236}">
                <a16:creationId xmlns:a16="http://schemas.microsoft.com/office/drawing/2014/main" id="{0AA5B5C1-BE64-4012-B143-395A27335EA3}"/>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Identify a known point and a nonzero direction, then build the equation.</a:t>
            </a:r>
          </a:p>
        </p:txBody>
      </p:sp>
      <p:pic>
        <p:nvPicPr>
          <p:cNvPr id="4" name="equation-0" descr="LaTeX: \text{1 Choose a point }P_0:\quad\vec r_0=\overrightarrow{OP_0}">
            <a:extLst xmlns:a="http://schemas.openxmlformats.org/drawingml/2006/main">
              <a:ext uri="{FF2B5EF4-FFF2-40B4-BE49-F238E27FC236}">
                <a16:creationId xmlns:a16="http://schemas.microsoft.com/office/drawing/2014/main" id="{A8E8DF4B-0B57-44DB-AC5E-9FDBACEE9E0A}"/>
              </a:ext>
            </a:extLst>
          </p:cNvPr>
          <p:cNvPicPr>
            <a:picLocks xmlns:a="http://schemas.openxmlformats.org/drawingml/2006/main" noChangeAspect="1"/>
          </p:cNvPicPr>
          <p:nvPr/>
        </p:nvPicPr>
        <p:blipFill>
          <a:blip xmlns:r="http://schemas.openxmlformats.org/officeDocument/2006/relationships" xmlns:a="http://schemas.openxmlformats.org/drawingml/2006/main" r:embed="R08ecc1371f814c53">
            <a:extLst>
              <a:ext uri="{96DAC541-7B7A-43D3-8B79-37D633B846F1}">
                <asvg:svgBlip xmlns:asvg="http://schemas.microsoft.com/office/drawing/2016/SVG/main" r:embed="R9488023214514a86"/>
              </a:ext>
            </a:extLst>
          </a:blip>
          <a:stretch xmlns:a="http://schemas.openxmlformats.org/drawingml/2006/main"/>
        </p:blipFill>
        <p:spPr>
          <a:xfrm xmlns:a="http://schemas.openxmlformats.org/drawingml/2006/main">
            <a:off x="685800" y="2758000"/>
            <a:ext cx="5353208" cy="533109"/>
          </a:xfrm>
          <a:prstGeom xmlns:a="http://schemas.openxmlformats.org/drawingml/2006/main" prst="rect">
            <a:avLst/>
          </a:prstGeom>
        </p:spPr>
      </p:pic>
      <p:pic>
        <p:nvPicPr>
          <p:cNvPr id="5" name="equation-1" descr="LaTeX: \text{2 Choose a direction }\vec m\parallel L,\quad\vec m\ne\vec0">
            <a:extLst xmlns:a="http://schemas.openxmlformats.org/drawingml/2006/main">
              <a:ext uri="{FF2B5EF4-FFF2-40B4-BE49-F238E27FC236}">
                <a16:creationId xmlns:a16="http://schemas.microsoft.com/office/drawing/2014/main" id="{3BD3692E-BCEE-4A6A-8B4A-1E006BB6C13A}"/>
              </a:ext>
            </a:extLst>
          </p:cNvPr>
          <p:cNvPicPr>
            <a:picLocks xmlns:a="http://schemas.openxmlformats.org/drawingml/2006/main" noChangeAspect="1"/>
          </p:cNvPicPr>
          <p:nvPr/>
        </p:nvPicPr>
        <p:blipFill>
          <a:blip xmlns:r="http://schemas.openxmlformats.org/officeDocument/2006/relationships" xmlns:a="http://schemas.openxmlformats.org/drawingml/2006/main" r:embed="R3dd6079c3abc4949">
            <a:extLst>
              <a:ext uri="{96DAC541-7B7A-43D3-8B79-37D633B846F1}">
                <asvg:svgBlip xmlns:asvg="http://schemas.microsoft.com/office/drawing/2016/SVG/main" r:embed="R623d2a8ba8dd4bb5"/>
              </a:ext>
            </a:extLst>
          </a:blip>
          <a:stretch xmlns:a="http://schemas.openxmlformats.org/drawingml/2006/main"/>
        </p:blipFill>
        <p:spPr>
          <a:xfrm xmlns:a="http://schemas.openxmlformats.org/drawingml/2006/main">
            <a:off x="685800" y="3557809"/>
            <a:ext cx="5918768" cy="506597"/>
          </a:xfrm>
          <a:prstGeom xmlns:a="http://schemas.openxmlformats.org/drawingml/2006/main" prst="rect">
            <a:avLst/>
          </a:prstGeom>
        </p:spPr>
      </p:pic>
      <p:pic>
        <p:nvPicPr>
          <p:cNvPr id="6" name="equation-2" descr="LaTeX: \text{3 Write }\vec r=\vec r_0+t\vec m,\quad t\in\mathbb R">
            <a:extLst xmlns:a="http://schemas.openxmlformats.org/drawingml/2006/main">
              <a:ext uri="{FF2B5EF4-FFF2-40B4-BE49-F238E27FC236}">
                <a16:creationId xmlns:a16="http://schemas.microsoft.com/office/drawing/2014/main" id="{D5BEE11B-7C02-4F77-94C9-39BF458C62CE}"/>
              </a:ext>
            </a:extLst>
          </p:cNvPr>
          <p:cNvPicPr>
            <a:picLocks xmlns:a="http://schemas.openxmlformats.org/drawingml/2006/main" noChangeAspect="1"/>
          </p:cNvPicPr>
          <p:nvPr/>
        </p:nvPicPr>
        <p:blipFill>
          <a:blip xmlns:r="http://schemas.openxmlformats.org/officeDocument/2006/relationships" xmlns:a="http://schemas.openxmlformats.org/drawingml/2006/main" r:embed="R9a01f28218054326">
            <a:extLst>
              <a:ext uri="{96DAC541-7B7A-43D3-8B79-37D633B846F1}">
                <asvg:svgBlip xmlns:asvg="http://schemas.microsoft.com/office/drawing/2016/SVG/main" r:embed="R48f85075988d4db3"/>
              </a:ext>
            </a:extLst>
          </a:blip>
          <a:stretch xmlns:a="http://schemas.openxmlformats.org/drawingml/2006/main"/>
        </p:blipFill>
        <p:spPr>
          <a:xfrm xmlns:a="http://schemas.openxmlformats.org/drawingml/2006/main">
            <a:off x="685800" y="4331106"/>
            <a:ext cx="4688704" cy="404109"/>
          </a:xfrm>
          <a:prstGeom xmlns:a="http://schemas.openxmlformats.org/drawingml/2006/main" prst="rect">
            <a:avLst/>
          </a:prstGeom>
        </p:spPr>
      </p:pic>
      <p:pic>
        <p:nvPicPr>
          <p:cNvPr id="7" name="equation-3" descr="LaTeX: \text{4 Check }t=0:\quad\vec r=\vec r_0">
            <a:extLst xmlns:a="http://schemas.openxmlformats.org/drawingml/2006/main">
              <a:ext uri="{FF2B5EF4-FFF2-40B4-BE49-F238E27FC236}">
                <a16:creationId xmlns:a16="http://schemas.microsoft.com/office/drawing/2014/main" id="{4316F721-158D-4344-9906-4E8F672B65D3}"/>
              </a:ext>
            </a:extLst>
          </p:cNvPr>
          <p:cNvPicPr>
            <a:picLocks xmlns:a="http://schemas.openxmlformats.org/drawingml/2006/main" noChangeAspect="1"/>
          </p:cNvPicPr>
          <p:nvPr/>
        </p:nvPicPr>
        <p:blipFill>
          <a:blip xmlns:r="http://schemas.openxmlformats.org/officeDocument/2006/relationships" xmlns:a="http://schemas.openxmlformats.org/drawingml/2006/main" r:embed="R106ba8a076ce4f3f">
            <a:extLst>
              <a:ext uri="{96DAC541-7B7A-43D3-8B79-37D633B846F1}">
                <asvg:svgBlip xmlns:asvg="http://schemas.microsoft.com/office/drawing/2016/SVG/main" r:embed="R419bcc5858ce4409"/>
              </a:ext>
            </a:extLst>
          </a:blip>
          <a:stretch xmlns:a="http://schemas.openxmlformats.org/drawingml/2006/main"/>
        </p:blipFill>
        <p:spPr>
          <a:xfrm xmlns:a="http://schemas.openxmlformats.org/drawingml/2006/main">
            <a:off x="685800" y="5001915"/>
            <a:ext cx="3891608" cy="383961"/>
          </a:xfrm>
          <a:prstGeom xmlns:a="http://schemas.openxmlformats.org/drawingml/2006/main" prst="rect">
            <a:avLst/>
          </a:prstGeom>
        </p:spPr>
      </p:pic>
    </p:spTree>
    <p:extLst>
      <p:ext uri="{BB962C8B-B14F-4D97-AF65-F5344CB8AC3E}">
        <p14:creationId xmlns:p14="http://schemas.microsoft.com/office/powerpoint/2010/main" val="213725272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C586C8E3-F47C-4ACF-AF2D-F209F4B96760}"/>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The meaning of t</a:t>
            </a:r>
          </a:p>
        </p:txBody>
      </p:sp>
      <p:sp>
        <p:nvSpPr>
          <p:cNvPr id="2" name="page-number">
            <a:extLst xmlns:a="http://schemas.openxmlformats.org/drawingml/2006/main">
              <a:ext uri="{FF2B5EF4-FFF2-40B4-BE49-F238E27FC236}">
                <a16:creationId xmlns:a16="http://schemas.microsoft.com/office/drawing/2014/main" id="{F1E4E244-591A-4CC7-A256-13E2CEC0494F}"/>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06</a:t>
            </a:r>
          </a:p>
        </p:txBody>
      </p:sp>
      <p:sp>
        <p:nvSpPr>
          <p:cNvPr id="3" name="lead">
            <a:extLst xmlns:a="http://schemas.openxmlformats.org/drawingml/2006/main">
              <a:ext uri="{FF2B5EF4-FFF2-40B4-BE49-F238E27FC236}">
                <a16:creationId xmlns:a16="http://schemas.microsoft.com/office/drawing/2014/main" id="{C74B8853-B89A-443D-9FD7-6C926FE2C286}"/>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Changing the parameter moves the point along the same line.</a:t>
            </a:r>
          </a:p>
        </p:txBody>
      </p:sp>
      <p:pic>
        <p:nvPicPr>
          <p:cNvPr id="4" name="t-0" descr="LaTeX: t=-1">
            <a:extLst xmlns:a="http://schemas.openxmlformats.org/drawingml/2006/main">
              <a:ext uri="{FF2B5EF4-FFF2-40B4-BE49-F238E27FC236}">
                <a16:creationId xmlns:a16="http://schemas.microsoft.com/office/drawing/2014/main" id="{87BB9A3B-085A-4C91-9801-ED09FBF98BCA}"/>
              </a:ext>
            </a:extLst>
          </p:cNvPr>
          <p:cNvPicPr>
            <a:picLocks xmlns:a="http://schemas.openxmlformats.org/drawingml/2006/main" noChangeAspect="1"/>
          </p:cNvPicPr>
          <p:nvPr/>
        </p:nvPicPr>
        <p:blipFill>
          <a:blip xmlns:r="http://schemas.openxmlformats.org/officeDocument/2006/relationships" xmlns:a="http://schemas.openxmlformats.org/drawingml/2006/main" r:embed="R9c2f4b3271944165">
            <a:extLst>
              <a:ext uri="{96DAC541-7B7A-43D3-8B79-37D633B846F1}">
                <asvg:svgBlip xmlns:asvg="http://schemas.microsoft.com/office/drawing/2016/SVG/main" r:embed="R99b86c031bda4cfc"/>
              </a:ext>
            </a:extLst>
          </a:blip>
          <a:stretch xmlns:a="http://schemas.openxmlformats.org/drawingml/2006/main"/>
        </p:blipFill>
        <p:spPr>
          <a:xfrm xmlns:a="http://schemas.openxmlformats.org/drawingml/2006/main">
            <a:off x="1952625" y="2247900"/>
            <a:ext cx="1138804" cy="323610"/>
          </a:xfrm>
          <a:prstGeom xmlns:a="http://schemas.openxmlformats.org/drawingml/2006/main" prst="rect">
            <a:avLst/>
          </a:prstGeom>
        </p:spPr>
      </p:pic>
      <p:cxnSp>
        <p:nvCxnSpPr>
          <p:cNvPr id="5" name="line-0">
            <a:extLst xmlns:a="http://schemas.openxmlformats.org/drawingml/2006/main">
              <a:ext uri="{FF2B5EF4-FFF2-40B4-BE49-F238E27FC236}">
                <a16:creationId xmlns:a16="http://schemas.microsoft.com/office/drawing/2014/main" id="{593F2AC4-7CBF-404B-A21E-E5E22FC0AD2D}"/>
              </a:ext>
            </a:extLst>
          </p:cNvPr>
          <p:cNvCxnSpPr/>
          <p:nvPr/>
        </p:nvCxnSpPr>
        <p:spPr>
          <a:xfrm xmlns:a="http://schemas.openxmlformats.org/drawingml/2006/main" rot="-1593903">
            <a:off x="772616" y="4095750"/>
            <a:ext cx="3407768" cy="0"/>
          </a:xfrm>
          <a:prstGeom xmlns:a="http://schemas.openxmlformats.org/drawingml/2006/main" prst="straightConnector1">
            <a:avLst/>
          </a:prstGeom>
          <a:ln xmlns:a="http://schemas.openxmlformats.org/drawingml/2006/main" w="23813">
            <a:solidFill>
              <a:srgbClr val="F5F5F5"/>
            </a:solidFill>
            <a:prstDash val="solid"/>
          </a:ln>
        </p:spPr>
      </p:cxnSp>
      <p:sp>
        <p:nvSpPr>
          <p:cNvPr id="6" name="anchor-0">
            <a:extLst xmlns:a="http://schemas.openxmlformats.org/drawingml/2006/main">
              <a:ext uri="{FF2B5EF4-FFF2-40B4-BE49-F238E27FC236}">
                <a16:creationId xmlns:a16="http://schemas.microsoft.com/office/drawing/2014/main" id="{E40AEF92-BF41-49F5-9989-70AC652A6979}"/>
              </a:ext>
            </a:extLst>
          </p:cNvPr>
          <p:cNvSpPr>
            <a:spLocks xmlns:a="http://schemas.openxmlformats.org/drawingml/2006/main" noGrp="1"/>
          </p:cNvSpPr>
          <p:nvPr/>
        </p:nvSpPr>
        <p:spPr>
          <a:xfrm xmlns:a="http://schemas.openxmlformats.org/drawingml/2006/main">
            <a:off x="2247900" y="41529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7" name="P0-0">
            <a:extLst xmlns:a="http://schemas.openxmlformats.org/drawingml/2006/main">
              <a:ext uri="{FF2B5EF4-FFF2-40B4-BE49-F238E27FC236}">
                <a16:creationId xmlns:a16="http://schemas.microsoft.com/office/drawing/2014/main" id="{D446FCAF-F6BC-4F85-B146-7DC702DD3DA6}"/>
              </a:ext>
            </a:extLst>
          </p:cNvPr>
          <p:cNvSpPr>
            <a:spLocks xmlns:a="http://schemas.openxmlformats.org/drawingml/2006/main" noGrp="1"/>
          </p:cNvSpPr>
          <p:nvPr/>
        </p:nvSpPr>
        <p:spPr>
          <a:xfrm xmlns:a="http://schemas.openxmlformats.org/drawingml/2006/main">
            <a:off x="2343150" y="4314825"/>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P₀</a:t>
            </a:r>
          </a:p>
        </p:txBody>
      </p:sp>
      <p:cxnSp>
        <p:nvCxnSpPr>
          <p:cNvPr id="8" name="motion-0">
            <a:extLst xmlns:a="http://schemas.openxmlformats.org/drawingml/2006/main">
              <a:ext uri="{FF2B5EF4-FFF2-40B4-BE49-F238E27FC236}">
                <a16:creationId xmlns:a16="http://schemas.microsoft.com/office/drawing/2014/main" id="{898CF5EC-B3C1-4701-9050-6C2B950F7A71}"/>
              </a:ext>
            </a:extLst>
          </p:cNvPr>
          <p:cNvCxnSpPr/>
          <p:nvPr/>
        </p:nvCxnSpPr>
        <p:spPr>
          <a:xfrm xmlns:a="http://schemas.openxmlformats.org/drawingml/2006/main" rot="9206097">
            <a:off x="1428593" y="4393406"/>
            <a:ext cx="905188"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sp>
        <p:nvSpPr>
          <p:cNvPr id="9" name="moving-0">
            <a:extLst xmlns:a="http://schemas.openxmlformats.org/drawingml/2006/main">
              <a:ext uri="{FF2B5EF4-FFF2-40B4-BE49-F238E27FC236}">
                <a16:creationId xmlns:a16="http://schemas.microsoft.com/office/drawing/2014/main" id="{E0D4693F-A577-4F2F-93B4-E92F5C85EC9B}"/>
              </a:ext>
            </a:extLst>
          </p:cNvPr>
          <p:cNvSpPr>
            <a:spLocks xmlns:a="http://schemas.openxmlformats.org/drawingml/2006/main" noGrp="1"/>
          </p:cNvSpPr>
          <p:nvPr/>
        </p:nvSpPr>
        <p:spPr>
          <a:xfrm xmlns:a="http://schemas.openxmlformats.org/drawingml/2006/main">
            <a:off x="1438275" y="4557713"/>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10" name="caption-0">
            <a:extLst xmlns:a="http://schemas.openxmlformats.org/drawingml/2006/main">
              <a:ext uri="{FF2B5EF4-FFF2-40B4-BE49-F238E27FC236}">
                <a16:creationId xmlns:a16="http://schemas.microsoft.com/office/drawing/2014/main" id="{914E3B80-77BB-4701-97A6-FD57FF605D6A}"/>
              </a:ext>
            </a:extLst>
          </p:cNvPr>
          <p:cNvSpPr>
            <a:spLocks xmlns:a="http://schemas.openxmlformats.org/drawingml/2006/main" noGrp="1"/>
          </p:cNvSpPr>
          <p:nvPr/>
        </p:nvSpPr>
        <p:spPr>
          <a:xfrm xmlns:a="http://schemas.openxmlformats.org/drawingml/2006/main">
            <a:off x="952500" y="531495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ADB5BF"/>
                </a:solidFill>
                <a:latin typeface="DejaVu Sans"/>
                <a:ea typeface="DejaVu Sans"/>
                <a:cs typeface="DejaVu Sans"/>
              </a:defRPr>
            </a:defPPr>
            <a:lvl1pPr>
              <a:buNone/>
              <a:defRPr sz="2025" b="0">
                <a:solidFill>
                  <a:srgbClr val="ADB5BF"/>
                </a:solidFill>
                <a:latin typeface="DejaVu Sans"/>
                <a:ea typeface="DejaVu Sans"/>
                <a:cs typeface="DejaVu Sans"/>
              </a:defRPr>
            </a:lvl1pPr>
            <a:lvl2pPr>
              <a:buNone/>
              <a:defRPr sz="2025" b="0">
                <a:solidFill>
                  <a:srgbClr val="ADB5BF"/>
                </a:solidFill>
                <a:latin typeface="DejaVu Sans"/>
                <a:ea typeface="DejaVu Sans"/>
                <a:cs typeface="DejaVu Sans"/>
              </a:defRPr>
            </a:lvl2pPr>
            <a:lvl3pPr>
              <a:buNone/>
              <a:defRPr sz="2025" b="0">
                <a:solidFill>
                  <a:srgbClr val="ADB5BF"/>
                </a:solidFill>
                <a:latin typeface="DejaVu Sans"/>
                <a:ea typeface="DejaVu Sans"/>
                <a:cs typeface="DejaVu Sans"/>
              </a:defRPr>
            </a:lvl3pPr>
            <a:lvl4pPr>
              <a:buNone/>
              <a:defRPr sz="2025" b="0">
                <a:solidFill>
                  <a:srgbClr val="ADB5BF"/>
                </a:solidFill>
                <a:latin typeface="DejaVu Sans"/>
                <a:ea typeface="DejaVu Sans"/>
                <a:cs typeface="DejaVu Sans"/>
              </a:defRPr>
            </a:lvl4pPr>
            <a:lvl5pPr>
              <a:buNone/>
              <a:defRPr sz="2025" b="0">
                <a:solidFill>
                  <a:srgbClr val="ADB5BF"/>
                </a:solidFill>
                <a:latin typeface="DejaVu Sans"/>
                <a:ea typeface="DejaVu Sans"/>
                <a:cs typeface="DejaVu Sans"/>
              </a:defRPr>
            </a:lvl5pPr>
            <a:lvl6pPr>
              <a:buNone/>
              <a:defRPr sz="2025" b="0">
                <a:solidFill>
                  <a:srgbClr val="ADB5BF"/>
                </a:solidFill>
                <a:latin typeface="DejaVu Sans"/>
                <a:ea typeface="DejaVu Sans"/>
                <a:cs typeface="DejaVu Sans"/>
              </a:defRPr>
            </a:lvl6pPr>
            <a:lvl7pPr>
              <a:buNone/>
              <a:defRPr sz="2025" b="0">
                <a:solidFill>
                  <a:srgbClr val="ADB5BF"/>
                </a:solidFill>
                <a:latin typeface="DejaVu Sans"/>
                <a:ea typeface="DejaVu Sans"/>
                <a:cs typeface="DejaVu Sans"/>
              </a:defRPr>
            </a:lvl7pPr>
            <a:lvl8pPr>
              <a:buNone/>
              <a:defRPr sz="2025" b="0">
                <a:solidFill>
                  <a:srgbClr val="ADB5BF"/>
                </a:solidFill>
                <a:latin typeface="DejaVu Sans"/>
                <a:ea typeface="DejaVu Sans"/>
                <a:cs typeface="DejaVu Sans"/>
              </a:defRPr>
            </a:lvl8pPr>
            <a:lvl9pPr>
              <a:buNone/>
              <a:defRPr sz="2025" b="0">
                <a:solidFill>
                  <a:srgbClr val="ADB5BF"/>
                </a:solidFill>
                <a:latin typeface="DejaVu Sans"/>
                <a:ea typeface="DejaVu Sans"/>
                <a:cs typeface="DejaVu Sans"/>
              </a:defRPr>
            </a:lvl9pPr>
          </a:lstStyle>
          <a:p xmlns:a="http://schemas.openxmlformats.org/drawingml/2006/main">
            <a:pPr>
              <a:buNone/>
              <a:defRPr sz="2025" b="0">
                <a:solidFill>
                  <a:srgbClr val="ADB5BF"/>
                </a:solidFill>
                <a:latin typeface="DejaVu Sans"/>
                <a:ea typeface="DejaVu Sans"/>
                <a:cs typeface="DejaVu Sans"/>
              </a:defRPr>
            </a:pPr>
            <a:r>
              <a:rPr sz="2025" b="0">
                <a:solidFill>
                  <a:srgbClr val="ADB5BF"/>
                </a:solidFill>
                <a:latin typeface="DejaVu Sans"/>
                <a:ea typeface="DejaVu Sans"/>
                <a:cs typeface="DejaVu Sans"/>
              </a:rPr>
              <a:t>Opposite to m</a:t>
            </a:r>
          </a:p>
        </p:txBody>
      </p:sp>
      <p:pic>
        <p:nvPicPr>
          <p:cNvPr id="11" name="t-1" descr="LaTeX: t=0">
            <a:extLst xmlns:a="http://schemas.openxmlformats.org/drawingml/2006/main">
              <a:ext uri="{FF2B5EF4-FFF2-40B4-BE49-F238E27FC236}">
                <a16:creationId xmlns:a16="http://schemas.microsoft.com/office/drawing/2014/main" id="{87349ED0-15B8-4AB2-9F4F-E960508B6C2F}"/>
              </a:ext>
            </a:extLst>
          </p:cNvPr>
          <p:cNvPicPr>
            <a:picLocks xmlns:a="http://schemas.openxmlformats.org/drawingml/2006/main" noChangeAspect="1"/>
          </p:cNvPicPr>
          <p:nvPr/>
        </p:nvPicPr>
        <p:blipFill>
          <a:blip xmlns:r="http://schemas.openxmlformats.org/officeDocument/2006/relationships" xmlns:a="http://schemas.openxmlformats.org/drawingml/2006/main" r:embed="R9fc24868b9fa4980">
            <a:extLst>
              <a:ext uri="{96DAC541-7B7A-43D3-8B79-37D633B846F1}">
                <asvg:svgBlip xmlns:asvg="http://schemas.microsoft.com/office/drawing/2016/SVG/main" r:embed="Rf36da288f4514d4b"/>
              </a:ext>
            </a:extLst>
          </a:blip>
          <a:stretch xmlns:a="http://schemas.openxmlformats.org/drawingml/2006/main"/>
        </p:blipFill>
        <p:spPr>
          <a:xfrm xmlns:a="http://schemas.openxmlformats.org/drawingml/2006/main">
            <a:off x="5762625" y="2247900"/>
            <a:ext cx="842167" cy="291836"/>
          </a:xfrm>
          <a:prstGeom xmlns:a="http://schemas.openxmlformats.org/drawingml/2006/main" prst="rect">
            <a:avLst/>
          </a:prstGeom>
        </p:spPr>
      </p:pic>
      <p:cxnSp>
        <p:nvCxnSpPr>
          <p:cNvPr id="12" name="line-1">
            <a:extLst xmlns:a="http://schemas.openxmlformats.org/drawingml/2006/main">
              <a:ext uri="{FF2B5EF4-FFF2-40B4-BE49-F238E27FC236}">
                <a16:creationId xmlns:a16="http://schemas.microsoft.com/office/drawing/2014/main" id="{FDC483ED-1282-4E2B-9054-9277ED81E24E}"/>
              </a:ext>
            </a:extLst>
          </p:cNvPr>
          <p:cNvCxnSpPr/>
          <p:nvPr/>
        </p:nvCxnSpPr>
        <p:spPr>
          <a:xfrm xmlns:a="http://schemas.openxmlformats.org/drawingml/2006/main" rot="-1593903">
            <a:off x="4582616" y="4095750"/>
            <a:ext cx="3407768" cy="0"/>
          </a:xfrm>
          <a:prstGeom xmlns:a="http://schemas.openxmlformats.org/drawingml/2006/main" prst="straightConnector1">
            <a:avLst/>
          </a:prstGeom>
          <a:ln xmlns:a="http://schemas.openxmlformats.org/drawingml/2006/main" w="23813">
            <a:solidFill>
              <a:srgbClr val="F5F5F5"/>
            </a:solidFill>
            <a:prstDash val="solid"/>
          </a:ln>
        </p:spPr>
      </p:cxnSp>
      <p:sp>
        <p:nvSpPr>
          <p:cNvPr id="13" name="anchor-1">
            <a:extLst xmlns:a="http://schemas.openxmlformats.org/drawingml/2006/main">
              <a:ext uri="{FF2B5EF4-FFF2-40B4-BE49-F238E27FC236}">
                <a16:creationId xmlns:a16="http://schemas.microsoft.com/office/drawing/2014/main" id="{B0923648-F9A3-45C1-A0AC-B78B40AC8C78}"/>
              </a:ext>
            </a:extLst>
          </p:cNvPr>
          <p:cNvSpPr>
            <a:spLocks xmlns:a="http://schemas.openxmlformats.org/drawingml/2006/main" noGrp="1"/>
          </p:cNvSpPr>
          <p:nvPr/>
        </p:nvSpPr>
        <p:spPr>
          <a:xfrm xmlns:a="http://schemas.openxmlformats.org/drawingml/2006/main">
            <a:off x="6057900" y="41529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4" name="P0-1">
            <a:extLst xmlns:a="http://schemas.openxmlformats.org/drawingml/2006/main">
              <a:ext uri="{FF2B5EF4-FFF2-40B4-BE49-F238E27FC236}">
                <a16:creationId xmlns:a16="http://schemas.microsoft.com/office/drawing/2014/main" id="{80203559-19FE-4A0C-ACC4-84BED8C4A206}"/>
              </a:ext>
            </a:extLst>
          </p:cNvPr>
          <p:cNvSpPr>
            <a:spLocks xmlns:a="http://schemas.openxmlformats.org/drawingml/2006/main" noGrp="1"/>
          </p:cNvSpPr>
          <p:nvPr/>
        </p:nvSpPr>
        <p:spPr>
          <a:xfrm xmlns:a="http://schemas.openxmlformats.org/drawingml/2006/main">
            <a:off x="6153150" y="4314825"/>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P₀</a:t>
            </a:r>
          </a:p>
        </p:txBody>
      </p:sp>
      <p:sp>
        <p:nvSpPr>
          <p:cNvPr id="15" name="caption-1">
            <a:extLst xmlns:a="http://schemas.openxmlformats.org/drawingml/2006/main">
              <a:ext uri="{FF2B5EF4-FFF2-40B4-BE49-F238E27FC236}">
                <a16:creationId xmlns:a16="http://schemas.microsoft.com/office/drawing/2014/main" id="{18EA1782-AB2C-45A8-9D72-24B740E05D92}"/>
              </a:ext>
            </a:extLst>
          </p:cNvPr>
          <p:cNvSpPr>
            <a:spLocks xmlns:a="http://schemas.openxmlformats.org/drawingml/2006/main" noGrp="1"/>
          </p:cNvSpPr>
          <p:nvPr/>
        </p:nvSpPr>
        <p:spPr>
          <a:xfrm xmlns:a="http://schemas.openxmlformats.org/drawingml/2006/main">
            <a:off x="4762500" y="531495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ADB5BF"/>
                </a:solidFill>
                <a:latin typeface="DejaVu Sans"/>
                <a:ea typeface="DejaVu Sans"/>
                <a:cs typeface="DejaVu Sans"/>
              </a:defRPr>
            </a:defPPr>
            <a:lvl1pPr>
              <a:buNone/>
              <a:defRPr sz="2025" b="0">
                <a:solidFill>
                  <a:srgbClr val="ADB5BF"/>
                </a:solidFill>
                <a:latin typeface="DejaVu Sans"/>
                <a:ea typeface="DejaVu Sans"/>
                <a:cs typeface="DejaVu Sans"/>
              </a:defRPr>
            </a:lvl1pPr>
            <a:lvl2pPr>
              <a:buNone/>
              <a:defRPr sz="2025" b="0">
                <a:solidFill>
                  <a:srgbClr val="ADB5BF"/>
                </a:solidFill>
                <a:latin typeface="DejaVu Sans"/>
                <a:ea typeface="DejaVu Sans"/>
                <a:cs typeface="DejaVu Sans"/>
              </a:defRPr>
            </a:lvl2pPr>
            <a:lvl3pPr>
              <a:buNone/>
              <a:defRPr sz="2025" b="0">
                <a:solidFill>
                  <a:srgbClr val="ADB5BF"/>
                </a:solidFill>
                <a:latin typeface="DejaVu Sans"/>
                <a:ea typeface="DejaVu Sans"/>
                <a:cs typeface="DejaVu Sans"/>
              </a:defRPr>
            </a:lvl3pPr>
            <a:lvl4pPr>
              <a:buNone/>
              <a:defRPr sz="2025" b="0">
                <a:solidFill>
                  <a:srgbClr val="ADB5BF"/>
                </a:solidFill>
                <a:latin typeface="DejaVu Sans"/>
                <a:ea typeface="DejaVu Sans"/>
                <a:cs typeface="DejaVu Sans"/>
              </a:defRPr>
            </a:lvl4pPr>
            <a:lvl5pPr>
              <a:buNone/>
              <a:defRPr sz="2025" b="0">
                <a:solidFill>
                  <a:srgbClr val="ADB5BF"/>
                </a:solidFill>
                <a:latin typeface="DejaVu Sans"/>
                <a:ea typeface="DejaVu Sans"/>
                <a:cs typeface="DejaVu Sans"/>
              </a:defRPr>
            </a:lvl5pPr>
            <a:lvl6pPr>
              <a:buNone/>
              <a:defRPr sz="2025" b="0">
                <a:solidFill>
                  <a:srgbClr val="ADB5BF"/>
                </a:solidFill>
                <a:latin typeface="DejaVu Sans"/>
                <a:ea typeface="DejaVu Sans"/>
                <a:cs typeface="DejaVu Sans"/>
              </a:defRPr>
            </a:lvl6pPr>
            <a:lvl7pPr>
              <a:buNone/>
              <a:defRPr sz="2025" b="0">
                <a:solidFill>
                  <a:srgbClr val="ADB5BF"/>
                </a:solidFill>
                <a:latin typeface="DejaVu Sans"/>
                <a:ea typeface="DejaVu Sans"/>
                <a:cs typeface="DejaVu Sans"/>
              </a:defRPr>
            </a:lvl7pPr>
            <a:lvl8pPr>
              <a:buNone/>
              <a:defRPr sz="2025" b="0">
                <a:solidFill>
                  <a:srgbClr val="ADB5BF"/>
                </a:solidFill>
                <a:latin typeface="DejaVu Sans"/>
                <a:ea typeface="DejaVu Sans"/>
                <a:cs typeface="DejaVu Sans"/>
              </a:defRPr>
            </a:lvl8pPr>
            <a:lvl9pPr>
              <a:buNone/>
              <a:defRPr sz="2025" b="0">
                <a:solidFill>
                  <a:srgbClr val="ADB5BF"/>
                </a:solidFill>
                <a:latin typeface="DejaVu Sans"/>
                <a:ea typeface="DejaVu Sans"/>
                <a:cs typeface="DejaVu Sans"/>
              </a:defRPr>
            </a:lvl9pPr>
          </a:lstStyle>
          <a:p xmlns:a="http://schemas.openxmlformats.org/drawingml/2006/main">
            <a:pPr>
              <a:buNone/>
              <a:defRPr sz="2025" b="0">
                <a:solidFill>
                  <a:srgbClr val="ADB5BF"/>
                </a:solidFill>
                <a:latin typeface="DejaVu Sans"/>
                <a:ea typeface="DejaVu Sans"/>
                <a:cs typeface="DejaVu Sans"/>
              </a:defRPr>
            </a:pPr>
            <a:r>
              <a:rPr sz="2025" b="0">
                <a:solidFill>
                  <a:srgbClr val="ADB5BF"/>
                </a:solidFill>
                <a:latin typeface="DejaVu Sans"/>
                <a:ea typeface="DejaVu Sans"/>
                <a:cs typeface="DejaVu Sans"/>
              </a:rPr>
              <a:t>At the known point</a:t>
            </a:r>
          </a:p>
        </p:txBody>
      </p:sp>
      <p:pic>
        <p:nvPicPr>
          <p:cNvPr id="16" name="t-2" descr="LaTeX: t=1">
            <a:extLst xmlns:a="http://schemas.openxmlformats.org/drawingml/2006/main">
              <a:ext uri="{FF2B5EF4-FFF2-40B4-BE49-F238E27FC236}">
                <a16:creationId xmlns:a16="http://schemas.microsoft.com/office/drawing/2014/main" id="{EA8C3DEB-1CCF-44FA-9CB5-2E962B841DD0}"/>
              </a:ext>
            </a:extLst>
          </p:cNvPr>
          <p:cNvPicPr>
            <a:picLocks xmlns:a="http://schemas.openxmlformats.org/drawingml/2006/main" noChangeAspect="1"/>
          </p:cNvPicPr>
          <p:nvPr/>
        </p:nvPicPr>
        <p:blipFill>
          <a:blip xmlns:r="http://schemas.openxmlformats.org/officeDocument/2006/relationships" xmlns:a="http://schemas.openxmlformats.org/drawingml/2006/main" r:embed="R4e34bfce13134f53">
            <a:extLst>
              <a:ext uri="{96DAC541-7B7A-43D3-8B79-37D633B846F1}">
                <asvg:svgBlip xmlns:asvg="http://schemas.microsoft.com/office/drawing/2016/SVG/main" r:embed="Rf5d41c31e6da4d6b"/>
              </a:ext>
            </a:extLst>
          </a:blip>
          <a:stretch xmlns:a="http://schemas.openxmlformats.org/drawingml/2006/main"/>
        </p:blipFill>
        <p:spPr>
          <a:xfrm xmlns:a="http://schemas.openxmlformats.org/drawingml/2006/main">
            <a:off x="9572625" y="2247900"/>
            <a:ext cx="842167" cy="291836"/>
          </a:xfrm>
          <a:prstGeom xmlns:a="http://schemas.openxmlformats.org/drawingml/2006/main" prst="rect">
            <a:avLst/>
          </a:prstGeom>
        </p:spPr>
      </p:pic>
      <p:cxnSp>
        <p:nvCxnSpPr>
          <p:cNvPr id="17" name="line-2">
            <a:extLst xmlns:a="http://schemas.openxmlformats.org/drawingml/2006/main">
              <a:ext uri="{FF2B5EF4-FFF2-40B4-BE49-F238E27FC236}">
                <a16:creationId xmlns:a16="http://schemas.microsoft.com/office/drawing/2014/main" id="{D8908E1C-8629-4610-AA38-78976F003B6E}"/>
              </a:ext>
            </a:extLst>
          </p:cNvPr>
          <p:cNvCxnSpPr/>
          <p:nvPr/>
        </p:nvCxnSpPr>
        <p:spPr>
          <a:xfrm xmlns:a="http://schemas.openxmlformats.org/drawingml/2006/main" rot="-1593903">
            <a:off x="8392616" y="4095750"/>
            <a:ext cx="3407768" cy="0"/>
          </a:xfrm>
          <a:prstGeom xmlns:a="http://schemas.openxmlformats.org/drawingml/2006/main" prst="straightConnector1">
            <a:avLst/>
          </a:prstGeom>
          <a:ln xmlns:a="http://schemas.openxmlformats.org/drawingml/2006/main" w="23813">
            <a:solidFill>
              <a:srgbClr val="F5F5F5"/>
            </a:solidFill>
            <a:prstDash val="solid"/>
          </a:ln>
        </p:spPr>
      </p:cxnSp>
      <p:sp>
        <p:nvSpPr>
          <p:cNvPr id="18" name="anchor-2">
            <a:extLst xmlns:a="http://schemas.openxmlformats.org/drawingml/2006/main">
              <a:ext uri="{FF2B5EF4-FFF2-40B4-BE49-F238E27FC236}">
                <a16:creationId xmlns:a16="http://schemas.microsoft.com/office/drawing/2014/main" id="{D80C5368-F57B-4E6A-BA5F-5F094EF443E6}"/>
              </a:ext>
            </a:extLst>
          </p:cNvPr>
          <p:cNvSpPr>
            <a:spLocks xmlns:a="http://schemas.openxmlformats.org/drawingml/2006/main" noGrp="1"/>
          </p:cNvSpPr>
          <p:nvPr/>
        </p:nvSpPr>
        <p:spPr>
          <a:xfrm xmlns:a="http://schemas.openxmlformats.org/drawingml/2006/main">
            <a:off x="9867900" y="41529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9" name="P0-2">
            <a:extLst xmlns:a="http://schemas.openxmlformats.org/drawingml/2006/main">
              <a:ext uri="{FF2B5EF4-FFF2-40B4-BE49-F238E27FC236}">
                <a16:creationId xmlns:a16="http://schemas.microsoft.com/office/drawing/2014/main" id="{F7C85DE8-A504-422A-A477-E754C48C634D}"/>
              </a:ext>
            </a:extLst>
          </p:cNvPr>
          <p:cNvSpPr>
            <a:spLocks xmlns:a="http://schemas.openxmlformats.org/drawingml/2006/main" noGrp="1"/>
          </p:cNvSpPr>
          <p:nvPr/>
        </p:nvSpPr>
        <p:spPr>
          <a:xfrm xmlns:a="http://schemas.openxmlformats.org/drawingml/2006/main">
            <a:off x="9963150" y="4314825"/>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P₀</a:t>
            </a:r>
          </a:p>
        </p:txBody>
      </p:sp>
      <p:cxnSp>
        <p:nvCxnSpPr>
          <p:cNvPr id="20" name="motion-2">
            <a:extLst xmlns:a="http://schemas.openxmlformats.org/drawingml/2006/main">
              <a:ext uri="{FF2B5EF4-FFF2-40B4-BE49-F238E27FC236}">
                <a16:creationId xmlns:a16="http://schemas.microsoft.com/office/drawing/2014/main" id="{EFE35593-0DD0-4452-A1FF-61EC6E1F889D}"/>
              </a:ext>
            </a:extLst>
          </p:cNvPr>
          <p:cNvCxnSpPr/>
          <p:nvPr/>
        </p:nvCxnSpPr>
        <p:spPr>
          <a:xfrm xmlns:a="http://schemas.openxmlformats.org/drawingml/2006/main" rot="-1593903">
            <a:off x="9858218" y="3988594"/>
            <a:ext cx="905188"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sp>
        <p:nvSpPr>
          <p:cNvPr id="21" name="moving-2">
            <a:extLst xmlns:a="http://schemas.openxmlformats.org/drawingml/2006/main">
              <a:ext uri="{FF2B5EF4-FFF2-40B4-BE49-F238E27FC236}">
                <a16:creationId xmlns:a16="http://schemas.microsoft.com/office/drawing/2014/main" id="{5C64A5A9-86DA-4DB1-9A89-EFA95ECD4D0E}"/>
              </a:ext>
            </a:extLst>
          </p:cNvPr>
          <p:cNvSpPr>
            <a:spLocks xmlns:a="http://schemas.openxmlformats.org/drawingml/2006/main" noGrp="1"/>
          </p:cNvSpPr>
          <p:nvPr/>
        </p:nvSpPr>
        <p:spPr>
          <a:xfrm xmlns:a="http://schemas.openxmlformats.org/drawingml/2006/main">
            <a:off x="10677525" y="3748088"/>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22" name="caption-2">
            <a:extLst xmlns:a="http://schemas.openxmlformats.org/drawingml/2006/main">
              <a:ext uri="{FF2B5EF4-FFF2-40B4-BE49-F238E27FC236}">
                <a16:creationId xmlns:a16="http://schemas.microsoft.com/office/drawing/2014/main" id="{D64CCE19-68EB-404B-B86D-BE27E4BA381C}"/>
              </a:ext>
            </a:extLst>
          </p:cNvPr>
          <p:cNvSpPr>
            <a:spLocks xmlns:a="http://schemas.openxmlformats.org/drawingml/2006/main" noGrp="1"/>
          </p:cNvSpPr>
          <p:nvPr/>
        </p:nvSpPr>
        <p:spPr>
          <a:xfrm xmlns:a="http://schemas.openxmlformats.org/drawingml/2006/main">
            <a:off x="8572500" y="531495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ADB5BF"/>
                </a:solidFill>
                <a:latin typeface="DejaVu Sans"/>
                <a:ea typeface="DejaVu Sans"/>
                <a:cs typeface="DejaVu Sans"/>
              </a:defRPr>
            </a:defPPr>
            <a:lvl1pPr>
              <a:buNone/>
              <a:defRPr sz="2025" b="0">
                <a:solidFill>
                  <a:srgbClr val="ADB5BF"/>
                </a:solidFill>
                <a:latin typeface="DejaVu Sans"/>
                <a:ea typeface="DejaVu Sans"/>
                <a:cs typeface="DejaVu Sans"/>
              </a:defRPr>
            </a:lvl1pPr>
            <a:lvl2pPr>
              <a:buNone/>
              <a:defRPr sz="2025" b="0">
                <a:solidFill>
                  <a:srgbClr val="ADB5BF"/>
                </a:solidFill>
                <a:latin typeface="DejaVu Sans"/>
                <a:ea typeface="DejaVu Sans"/>
                <a:cs typeface="DejaVu Sans"/>
              </a:defRPr>
            </a:lvl2pPr>
            <a:lvl3pPr>
              <a:buNone/>
              <a:defRPr sz="2025" b="0">
                <a:solidFill>
                  <a:srgbClr val="ADB5BF"/>
                </a:solidFill>
                <a:latin typeface="DejaVu Sans"/>
                <a:ea typeface="DejaVu Sans"/>
                <a:cs typeface="DejaVu Sans"/>
              </a:defRPr>
            </a:lvl3pPr>
            <a:lvl4pPr>
              <a:buNone/>
              <a:defRPr sz="2025" b="0">
                <a:solidFill>
                  <a:srgbClr val="ADB5BF"/>
                </a:solidFill>
                <a:latin typeface="DejaVu Sans"/>
                <a:ea typeface="DejaVu Sans"/>
                <a:cs typeface="DejaVu Sans"/>
              </a:defRPr>
            </a:lvl4pPr>
            <a:lvl5pPr>
              <a:buNone/>
              <a:defRPr sz="2025" b="0">
                <a:solidFill>
                  <a:srgbClr val="ADB5BF"/>
                </a:solidFill>
                <a:latin typeface="DejaVu Sans"/>
                <a:ea typeface="DejaVu Sans"/>
                <a:cs typeface="DejaVu Sans"/>
              </a:defRPr>
            </a:lvl5pPr>
            <a:lvl6pPr>
              <a:buNone/>
              <a:defRPr sz="2025" b="0">
                <a:solidFill>
                  <a:srgbClr val="ADB5BF"/>
                </a:solidFill>
                <a:latin typeface="DejaVu Sans"/>
                <a:ea typeface="DejaVu Sans"/>
                <a:cs typeface="DejaVu Sans"/>
              </a:defRPr>
            </a:lvl6pPr>
            <a:lvl7pPr>
              <a:buNone/>
              <a:defRPr sz="2025" b="0">
                <a:solidFill>
                  <a:srgbClr val="ADB5BF"/>
                </a:solidFill>
                <a:latin typeface="DejaVu Sans"/>
                <a:ea typeface="DejaVu Sans"/>
                <a:cs typeface="DejaVu Sans"/>
              </a:defRPr>
            </a:lvl7pPr>
            <a:lvl8pPr>
              <a:buNone/>
              <a:defRPr sz="2025" b="0">
                <a:solidFill>
                  <a:srgbClr val="ADB5BF"/>
                </a:solidFill>
                <a:latin typeface="DejaVu Sans"/>
                <a:ea typeface="DejaVu Sans"/>
                <a:cs typeface="DejaVu Sans"/>
              </a:defRPr>
            </a:lvl8pPr>
            <a:lvl9pPr>
              <a:buNone/>
              <a:defRPr sz="2025" b="0">
                <a:solidFill>
                  <a:srgbClr val="ADB5BF"/>
                </a:solidFill>
                <a:latin typeface="DejaVu Sans"/>
                <a:ea typeface="DejaVu Sans"/>
                <a:cs typeface="DejaVu Sans"/>
              </a:defRPr>
            </a:lvl9pPr>
          </a:lstStyle>
          <a:p xmlns:a="http://schemas.openxmlformats.org/drawingml/2006/main">
            <a:pPr>
              <a:buNone/>
              <a:defRPr sz="2025" b="0">
                <a:solidFill>
                  <a:srgbClr val="ADB5BF"/>
                </a:solidFill>
                <a:latin typeface="DejaVu Sans"/>
                <a:ea typeface="DejaVu Sans"/>
                <a:cs typeface="DejaVu Sans"/>
              </a:defRPr>
            </a:pPr>
            <a:r>
              <a:rPr sz="2025" b="0">
                <a:solidFill>
                  <a:srgbClr val="ADB5BF"/>
                </a:solidFill>
                <a:latin typeface="DejaVu Sans"/>
                <a:ea typeface="DejaVu Sans"/>
                <a:cs typeface="DejaVu Sans"/>
              </a:rPr>
              <a:t>Along m</a:t>
            </a:r>
          </a:p>
        </p:txBody>
      </p:sp>
    </p:spTree>
    <p:extLst>
      <p:ext uri="{BB962C8B-B14F-4D97-AF65-F5344CB8AC3E}">
        <p14:creationId xmlns:p14="http://schemas.microsoft.com/office/powerpoint/2010/main" val="79288632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400" fill="hold"/>
                                        <p:tgtEl>
                                          <p:spTgt spid="11"/>
                                        </p:tgtEl>
                                      </p:cBhvr>
                                    </p:animEffect>
                                  </p:childTnLst>
                                </p:cTn>
                              </p:par>
                              <p:par>
                                <p:cTn id="8" presetID="10" presetClass="entr" presetSubtype="0" fill="hold" grpId="0" nodeType="withEffect">
                                  <p:stCondLst>
                                    <p:cond delay="0"/>
                                  </p:stCondLst>
                                  <p:childTnLst>
                                    <p:set>
                                      <p:cBhvr>
                                        <p:cTn id="9" dur="1" fill="hold"/>
                                        <p:tgtEl>
                                          <p:spTgt spid="12"/>
                                        </p:tgtEl>
                                        <p:attrNameLst>
                                          <p:attrName>style.visibility</p:attrName>
                                        </p:attrNameLst>
                                      </p:cBhvr>
                                      <p:to>
                                        <p:strVal val="visible"/>
                                      </p:to>
                                    </p:set>
                                    <p:animEffect transition="in" filter="fade">
                                      <p:cBhvr>
                                        <p:cTn id="10" dur="400" fill="hold"/>
                                        <p:tgtEl>
                                          <p:spTgt spid="12"/>
                                        </p:tgtEl>
                                      </p:cBhvr>
                                    </p:animEffect>
                                  </p:childTnLst>
                                </p:cTn>
                              </p:par>
                              <p:par>
                                <p:cTn id="11" presetID="10" presetClass="entr" presetSubtype="0" fill="hold" grpId="0" nodeType="withEffect">
                                  <p:stCondLst>
                                    <p:cond delay="0"/>
                                  </p:stCondLst>
                                  <p:childTnLst>
                                    <p:set>
                                      <p:cBhvr>
                                        <p:cTn id="12" dur="1" fill="hold"/>
                                        <p:tgtEl>
                                          <p:spTgt spid="13"/>
                                        </p:tgtEl>
                                        <p:attrNameLst>
                                          <p:attrName>style.visibility</p:attrName>
                                        </p:attrNameLst>
                                      </p:cBhvr>
                                      <p:to>
                                        <p:strVal val="visible"/>
                                      </p:to>
                                    </p:set>
                                    <p:animEffect transition="in" filter="fade">
                                      <p:cBhvr>
                                        <p:cTn id="13" dur="400" fill="hold"/>
                                        <p:tgtEl>
                                          <p:spTgt spid="13"/>
                                        </p:tgtEl>
                                      </p:cBhvr>
                                    </p:animEffect>
                                  </p:childTnLst>
                                </p:cTn>
                              </p:par>
                              <p:par>
                                <p:cTn id="14" presetID="10" presetClass="entr" presetSubtype="0" fill="hold" grpId="0" nodeType="withEffect">
                                  <p:stCondLst>
                                    <p:cond delay="0"/>
                                  </p:stCondLst>
                                  <p:childTnLst>
                                    <p:set>
                                      <p:cBhvr>
                                        <p:cTn id="15" dur="1" fill="hold"/>
                                        <p:tgtEl>
                                          <p:spTgt spid="14"/>
                                        </p:tgtEl>
                                        <p:attrNameLst>
                                          <p:attrName>style.visibility</p:attrName>
                                        </p:attrNameLst>
                                      </p:cBhvr>
                                      <p:to>
                                        <p:strVal val="visible"/>
                                      </p:to>
                                    </p:set>
                                    <p:animEffect transition="in" filter="fade">
                                      <p:cBhvr>
                                        <p:cTn id="16" dur="400" fill="hold"/>
                                        <p:tgtEl>
                                          <p:spTgt spid="14"/>
                                        </p:tgtEl>
                                      </p:cBhvr>
                                    </p:animEffect>
                                  </p:childTnLst>
                                </p:cTn>
                              </p:par>
                              <p:par>
                                <p:cTn id="17" presetID="10" presetClass="entr" presetSubtype="0" fill="hold" grpId="0" nodeType="withEffect">
                                  <p:stCondLst>
                                    <p:cond delay="0"/>
                                  </p:stCondLst>
                                  <p:childTnLst>
                                    <p:set>
                                      <p:cBhvr>
                                        <p:cTn id="18" dur="1" fill="hold"/>
                                        <p:tgtEl>
                                          <p:spTgt spid="15"/>
                                        </p:tgtEl>
                                        <p:attrNameLst>
                                          <p:attrName>style.visibility</p:attrName>
                                        </p:attrNameLst>
                                      </p:cBhvr>
                                      <p:to>
                                        <p:strVal val="visible"/>
                                      </p:to>
                                    </p:set>
                                    <p:animEffect transition="in" filter="fade">
                                      <p:cBhvr>
                                        <p:cTn id="19" dur="400" fill="hold"/>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tgtEl>
                                          <p:spTgt spid="16"/>
                                        </p:tgtEl>
                                        <p:attrNameLst>
                                          <p:attrName>style.visibility</p:attrName>
                                        </p:attrNameLst>
                                      </p:cBhvr>
                                      <p:to>
                                        <p:strVal val="visible"/>
                                      </p:to>
                                    </p:set>
                                    <p:animEffect transition="in" filter="fade">
                                      <p:cBhvr>
                                        <p:cTn id="24" dur="400" fill="hold"/>
                                        <p:tgtEl>
                                          <p:spTgt spid="16"/>
                                        </p:tgtEl>
                                      </p:cBhvr>
                                    </p:animEffect>
                                  </p:childTnLst>
                                </p:cTn>
                              </p:par>
                              <p:par>
                                <p:cTn id="25" presetID="10" presetClass="entr" presetSubtype="0" fill="hold" grpId="0" nodeType="withEffect">
                                  <p:stCondLst>
                                    <p:cond delay="0"/>
                                  </p:stCondLst>
                                  <p:childTnLst>
                                    <p:set>
                                      <p:cBhvr>
                                        <p:cTn id="26" dur="1" fill="hold"/>
                                        <p:tgtEl>
                                          <p:spTgt spid="17"/>
                                        </p:tgtEl>
                                        <p:attrNameLst>
                                          <p:attrName>style.visibility</p:attrName>
                                        </p:attrNameLst>
                                      </p:cBhvr>
                                      <p:to>
                                        <p:strVal val="visible"/>
                                      </p:to>
                                    </p:set>
                                    <p:animEffect transition="in" filter="fade">
                                      <p:cBhvr>
                                        <p:cTn id="27" dur="400" fill="hold"/>
                                        <p:tgtEl>
                                          <p:spTgt spid="17"/>
                                        </p:tgtEl>
                                      </p:cBhvr>
                                    </p:animEffect>
                                  </p:childTnLst>
                                </p:cTn>
                              </p:par>
                              <p:par>
                                <p:cTn id="28" presetID="10" presetClass="entr" presetSubtype="0" fill="hold" grpId="0" nodeType="withEffect">
                                  <p:stCondLst>
                                    <p:cond delay="0"/>
                                  </p:stCondLst>
                                  <p:childTnLst>
                                    <p:set>
                                      <p:cBhvr>
                                        <p:cTn id="29" dur="1" fill="hold"/>
                                        <p:tgtEl>
                                          <p:spTgt spid="18"/>
                                        </p:tgtEl>
                                        <p:attrNameLst>
                                          <p:attrName>style.visibility</p:attrName>
                                        </p:attrNameLst>
                                      </p:cBhvr>
                                      <p:to>
                                        <p:strVal val="visible"/>
                                      </p:to>
                                    </p:set>
                                    <p:animEffect transition="in" filter="fade">
                                      <p:cBhvr>
                                        <p:cTn id="30" dur="400" fill="hold"/>
                                        <p:tgtEl>
                                          <p:spTgt spid="18"/>
                                        </p:tgtEl>
                                      </p:cBhvr>
                                    </p:animEffect>
                                  </p:childTnLst>
                                </p:cTn>
                              </p:par>
                              <p:par>
                                <p:cTn id="31" presetID="10" presetClass="entr" presetSubtype="0" fill="hold" grpId="0" nodeType="withEffect">
                                  <p:stCondLst>
                                    <p:cond delay="0"/>
                                  </p:stCondLst>
                                  <p:childTnLst>
                                    <p:set>
                                      <p:cBhvr>
                                        <p:cTn id="32" dur="1" fill="hold"/>
                                        <p:tgtEl>
                                          <p:spTgt spid="19"/>
                                        </p:tgtEl>
                                        <p:attrNameLst>
                                          <p:attrName>style.visibility</p:attrName>
                                        </p:attrNameLst>
                                      </p:cBhvr>
                                      <p:to>
                                        <p:strVal val="visible"/>
                                      </p:to>
                                    </p:set>
                                    <p:animEffect transition="in" filter="fade">
                                      <p:cBhvr>
                                        <p:cTn id="33" dur="400" fill="hold"/>
                                        <p:tgtEl>
                                          <p:spTgt spid="19"/>
                                        </p:tgtEl>
                                      </p:cBhvr>
                                    </p:animEffect>
                                  </p:childTnLst>
                                </p:cTn>
                              </p:par>
                              <p:par>
                                <p:cTn id="34" presetID="10" presetClass="entr" presetSubtype="0" fill="hold" grpId="0" nodeType="withEffect">
                                  <p:stCondLst>
                                    <p:cond delay="0"/>
                                  </p:stCondLst>
                                  <p:childTnLst>
                                    <p:set>
                                      <p:cBhvr>
                                        <p:cTn id="35" dur="1" fill="hold"/>
                                        <p:tgtEl>
                                          <p:spTgt spid="20"/>
                                        </p:tgtEl>
                                        <p:attrNameLst>
                                          <p:attrName>style.visibility</p:attrName>
                                        </p:attrNameLst>
                                      </p:cBhvr>
                                      <p:to>
                                        <p:strVal val="visible"/>
                                      </p:to>
                                    </p:set>
                                    <p:animEffect transition="in" filter="fade">
                                      <p:cBhvr>
                                        <p:cTn id="36" dur="400" fill="hold"/>
                                        <p:tgtEl>
                                          <p:spTgt spid="20"/>
                                        </p:tgtEl>
                                      </p:cBhvr>
                                    </p:animEffect>
                                  </p:childTnLst>
                                </p:cTn>
                              </p:par>
                              <p:par>
                                <p:cTn id="37" presetID="10" presetClass="entr" presetSubtype="0" fill="hold" grpId="0" nodeType="withEffect">
                                  <p:stCondLst>
                                    <p:cond delay="0"/>
                                  </p:stCondLst>
                                  <p:childTnLst>
                                    <p:set>
                                      <p:cBhvr>
                                        <p:cTn id="38" dur="1" fill="hold"/>
                                        <p:tgtEl>
                                          <p:spTgt spid="21"/>
                                        </p:tgtEl>
                                        <p:attrNameLst>
                                          <p:attrName>style.visibility</p:attrName>
                                        </p:attrNameLst>
                                      </p:cBhvr>
                                      <p:to>
                                        <p:strVal val="visible"/>
                                      </p:to>
                                    </p:set>
                                    <p:animEffect transition="in" filter="fade">
                                      <p:cBhvr>
                                        <p:cTn id="39" dur="400" fill="hold"/>
                                        <p:tgtEl>
                                          <p:spTgt spid="21"/>
                                        </p:tgtEl>
                                      </p:cBhvr>
                                    </p:animEffect>
                                  </p:childTnLst>
                                </p:cTn>
                              </p:par>
                              <p:par>
                                <p:cTn id="40" presetID="10" presetClass="entr" presetSubtype="0" fill="hold" grpId="0" nodeType="withEffect">
                                  <p:stCondLst>
                                    <p:cond delay="0"/>
                                  </p:stCondLst>
                                  <p:childTnLst>
                                    <p:set>
                                      <p:cBhvr>
                                        <p:cTn id="41" dur="1" fill="hold"/>
                                        <p:tgtEl>
                                          <p:spTgt spid="22"/>
                                        </p:tgtEl>
                                        <p:attrNameLst>
                                          <p:attrName>style.visibility</p:attrName>
                                        </p:attrNameLst>
                                      </p:cBhvr>
                                      <p:to>
                                        <p:strVal val="visible"/>
                                      </p:to>
                                    </p:set>
                                    <p:animEffect transition="in" filter="fade">
                                      <p:cBhvr>
                                        <p:cTn id="42" dur="40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6A9EC9E-1B93-451F-BB99-A8E5B477BB81}"/>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Lines and vectors</a:t>
            </a:r>
          </a:p>
        </p:txBody>
      </p:sp>
      <p:sp>
        <p:nvSpPr>
          <p:cNvPr id="2" name="page-number">
            <a:extLst xmlns:a="http://schemas.openxmlformats.org/drawingml/2006/main">
              <a:ext uri="{FF2B5EF4-FFF2-40B4-BE49-F238E27FC236}">
                <a16:creationId xmlns:a16="http://schemas.microsoft.com/office/drawing/2014/main" id="{F02A76BB-9E80-464A-AB3B-A7EE6404ABC3}"/>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07</a:t>
            </a:r>
          </a:p>
        </p:txBody>
      </p:sp>
      <p:sp>
        <p:nvSpPr>
          <p:cNvPr id="3" name="lead">
            <a:extLst xmlns:a="http://schemas.openxmlformats.org/drawingml/2006/main">
              <a:ext uri="{FF2B5EF4-FFF2-40B4-BE49-F238E27FC236}">
                <a16:creationId xmlns:a16="http://schemas.microsoft.com/office/drawing/2014/main" id="{CB420AA0-B98D-45A7-A1B1-A3051C07616C}"/>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line has a fixed location. A direction vector tells us how to move.</a:t>
            </a:r>
          </a:p>
        </p:txBody>
      </p:sp>
      <p:pic>
        <p:nvPicPr>
          <p:cNvPr id="4" name="equation-0" descr="LaTeX: \text{Line: infinite in both directions, with a fixed location}">
            <a:extLst xmlns:a="http://schemas.openxmlformats.org/drawingml/2006/main">
              <a:ext uri="{FF2B5EF4-FFF2-40B4-BE49-F238E27FC236}">
                <a16:creationId xmlns:a16="http://schemas.microsoft.com/office/drawing/2014/main" id="{437F9837-707B-40BA-A203-79279E785BC6}"/>
              </a:ext>
            </a:extLst>
          </p:cNvPr>
          <p:cNvPicPr>
            <a:picLocks xmlns:a="http://schemas.openxmlformats.org/drawingml/2006/main" noChangeAspect="1"/>
          </p:cNvPicPr>
          <p:nvPr/>
        </p:nvPicPr>
        <p:blipFill>
          <a:blip xmlns:r="http://schemas.openxmlformats.org/officeDocument/2006/relationships" xmlns:a="http://schemas.openxmlformats.org/drawingml/2006/main" r:embed="Rabd66b51478f4842">
            <a:extLst>
              <a:ext uri="{96DAC541-7B7A-43D3-8B79-37D633B846F1}">
                <asvg:svgBlip xmlns:asvg="http://schemas.microsoft.com/office/drawing/2016/SVG/main" r:embed="R6ba6ca2bf3ff44da"/>
              </a:ext>
            </a:extLst>
          </a:blip>
          <a:stretch xmlns:a="http://schemas.openxmlformats.org/drawingml/2006/main"/>
        </p:blipFill>
        <p:spPr>
          <a:xfrm xmlns:a="http://schemas.openxmlformats.org/drawingml/2006/main">
            <a:off x="685800" y="2878556"/>
            <a:ext cx="8379022" cy="394184"/>
          </a:xfrm>
          <a:prstGeom xmlns:a="http://schemas.openxmlformats.org/drawingml/2006/main" prst="rect">
            <a:avLst/>
          </a:prstGeom>
        </p:spPr>
      </p:pic>
      <p:pic>
        <p:nvPicPr>
          <p:cNvPr id="5" name="equation-1" descr="LaTeX: \text{Vector: a direction and a finite magnitude}">
            <a:extLst xmlns:a="http://schemas.openxmlformats.org/drawingml/2006/main">
              <a:ext uri="{FF2B5EF4-FFF2-40B4-BE49-F238E27FC236}">
                <a16:creationId xmlns:a16="http://schemas.microsoft.com/office/drawing/2014/main" id="{AD4654E2-C9C6-4DE6-B481-3E7B7D2968CD}"/>
              </a:ext>
            </a:extLst>
          </p:cNvPr>
          <p:cNvPicPr>
            <a:picLocks xmlns:a="http://schemas.openxmlformats.org/drawingml/2006/main" noChangeAspect="1"/>
          </p:cNvPicPr>
          <p:nvPr/>
        </p:nvPicPr>
        <p:blipFill>
          <a:blip xmlns:r="http://schemas.openxmlformats.org/officeDocument/2006/relationships" xmlns:a="http://schemas.openxmlformats.org/drawingml/2006/main" r:embed="R069039562d04439a">
            <a:extLst>
              <a:ext uri="{96DAC541-7B7A-43D3-8B79-37D633B846F1}">
                <asvg:svgBlip xmlns:asvg="http://schemas.microsoft.com/office/drawing/2016/SVG/main" r:embed="Reaffa5fe06e741ec"/>
              </a:ext>
            </a:extLst>
          </a:blip>
          <a:stretch xmlns:a="http://schemas.openxmlformats.org/drawingml/2006/main"/>
        </p:blipFill>
        <p:spPr>
          <a:xfrm xmlns:a="http://schemas.openxmlformats.org/drawingml/2006/main">
            <a:off x="685800" y="3539441"/>
            <a:ext cx="6650127" cy="394184"/>
          </a:xfrm>
          <a:prstGeom xmlns:a="http://schemas.openxmlformats.org/drawingml/2006/main" prst="rect">
            <a:avLst/>
          </a:prstGeom>
        </p:spPr>
      </p:pic>
      <p:pic>
        <p:nvPicPr>
          <p:cNvPr id="6" name="equation-2" descr="LaTeX: \vec r=\vec r_0+t\vec m,\quad t\in\mathbb R">
            <a:extLst xmlns:a="http://schemas.openxmlformats.org/drawingml/2006/main">
              <a:ext uri="{FF2B5EF4-FFF2-40B4-BE49-F238E27FC236}">
                <a16:creationId xmlns:a16="http://schemas.microsoft.com/office/drawing/2014/main" id="{5154C489-FC9A-4A24-A7D6-F9C2D31C4BE7}"/>
              </a:ext>
            </a:extLst>
          </p:cNvPr>
          <p:cNvPicPr>
            <a:picLocks xmlns:a="http://schemas.openxmlformats.org/drawingml/2006/main" noChangeAspect="1"/>
          </p:cNvPicPr>
          <p:nvPr/>
        </p:nvPicPr>
        <p:blipFill>
          <a:blip xmlns:r="http://schemas.openxmlformats.org/officeDocument/2006/relationships" xmlns:a="http://schemas.openxmlformats.org/drawingml/2006/main" r:embed="Rfc31aa078b804e20">
            <a:extLst>
              <a:ext uri="{96DAC541-7B7A-43D3-8B79-37D633B846F1}">
                <asvg:svgBlip xmlns:asvg="http://schemas.microsoft.com/office/drawing/2016/SVG/main" r:embed="R7e2f5c9892314927"/>
              </a:ext>
            </a:extLst>
          </a:blip>
          <a:stretch xmlns:a="http://schemas.openxmlformats.org/drawingml/2006/main"/>
        </p:blipFill>
        <p:spPr>
          <a:xfrm xmlns:a="http://schemas.openxmlformats.org/drawingml/2006/main">
            <a:off x="685800" y="4200325"/>
            <a:ext cx="3399047" cy="404109"/>
          </a:xfrm>
          <a:prstGeom xmlns:a="http://schemas.openxmlformats.org/drawingml/2006/main" prst="rect">
            <a:avLst/>
          </a:prstGeom>
        </p:spPr>
      </p:pic>
      <p:pic>
        <p:nvPicPr>
          <p:cNvPr id="7" name="equation-3" descr="LaTeX: \text{Same line: same location and parallel directions}">
            <a:extLst xmlns:a="http://schemas.openxmlformats.org/drawingml/2006/main">
              <a:ext uri="{FF2B5EF4-FFF2-40B4-BE49-F238E27FC236}">
                <a16:creationId xmlns:a16="http://schemas.microsoft.com/office/drawing/2014/main" id="{72D115CC-E9B2-4F75-84A0-F71572077E2A}"/>
              </a:ext>
            </a:extLst>
          </p:cNvPr>
          <p:cNvPicPr>
            <a:picLocks xmlns:a="http://schemas.openxmlformats.org/drawingml/2006/main" noChangeAspect="1"/>
          </p:cNvPicPr>
          <p:nvPr/>
        </p:nvPicPr>
        <p:blipFill>
          <a:blip xmlns:r="http://schemas.openxmlformats.org/officeDocument/2006/relationships" xmlns:a="http://schemas.openxmlformats.org/drawingml/2006/main" r:embed="R7ef2a0993ce54f24">
            <a:extLst>
              <a:ext uri="{96DAC541-7B7A-43D3-8B79-37D633B846F1}">
                <asvg:svgBlip xmlns:asvg="http://schemas.microsoft.com/office/drawing/2016/SVG/main" r:embed="R9219d5a4e44e48e5"/>
              </a:ext>
            </a:extLst>
          </a:blip>
          <a:stretch xmlns:a="http://schemas.openxmlformats.org/drawingml/2006/main"/>
        </p:blipFill>
        <p:spPr>
          <a:xfrm xmlns:a="http://schemas.openxmlformats.org/drawingml/2006/main">
            <a:off x="685800" y="4871134"/>
            <a:ext cx="7535014" cy="394184"/>
          </a:xfrm>
          <a:prstGeom xmlns:a="http://schemas.openxmlformats.org/drawingml/2006/main" prst="rect">
            <a:avLst/>
          </a:prstGeom>
        </p:spPr>
      </p:pic>
    </p:spTree>
    <p:extLst>
      <p:ext uri="{BB962C8B-B14F-4D97-AF65-F5344CB8AC3E}">
        <p14:creationId xmlns:p14="http://schemas.microsoft.com/office/powerpoint/2010/main" val="32234377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E1A23F4-C150-4EA5-A455-C952D1844229}"/>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Vector equations in two and three dimensions</a:t>
            </a:r>
          </a:p>
        </p:txBody>
      </p:sp>
      <p:sp>
        <p:nvSpPr>
          <p:cNvPr id="2" name="page-number">
            <a:extLst xmlns:a="http://schemas.openxmlformats.org/drawingml/2006/main">
              <a:ext uri="{FF2B5EF4-FFF2-40B4-BE49-F238E27FC236}">
                <a16:creationId xmlns:a16="http://schemas.microsoft.com/office/drawing/2014/main" id="{EC41B2F6-F063-4270-91FF-980F408871D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08</a:t>
            </a:r>
          </a:p>
        </p:txBody>
      </p:sp>
      <p:sp>
        <p:nvSpPr>
          <p:cNvPr id="3" name="lead">
            <a:extLst xmlns:a="http://schemas.openxmlformats.org/drawingml/2006/main">
              <a:ext uri="{FF2B5EF4-FFF2-40B4-BE49-F238E27FC236}">
                <a16:creationId xmlns:a16="http://schemas.microsoft.com/office/drawing/2014/main" id="{CBCA68FF-742F-43DC-B25A-94D082D1034F}"/>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same point and direction rule works in both spaces.</a:t>
            </a:r>
          </a:p>
        </p:txBody>
      </p:sp>
      <p:pic>
        <p:nvPicPr>
          <p:cNvPr id="4" name="equation-0" descr="LaTeX: \mathbb R^2:\quad[x,y]=[x_0,y_0]+t[m_1,m_2]">
            <a:extLst xmlns:a="http://schemas.openxmlformats.org/drawingml/2006/main">
              <a:ext uri="{FF2B5EF4-FFF2-40B4-BE49-F238E27FC236}">
                <a16:creationId xmlns:a16="http://schemas.microsoft.com/office/drawing/2014/main" id="{3966A9CA-A8F9-4FEF-B000-0A27D0846792}"/>
              </a:ext>
            </a:extLst>
          </p:cNvPr>
          <p:cNvPicPr>
            <a:picLocks xmlns:a="http://schemas.openxmlformats.org/drawingml/2006/main" noChangeAspect="1"/>
          </p:cNvPicPr>
          <p:nvPr/>
        </p:nvPicPr>
        <p:blipFill>
          <a:blip xmlns:r="http://schemas.openxmlformats.org/officeDocument/2006/relationships" xmlns:a="http://schemas.openxmlformats.org/drawingml/2006/main" r:embed="R97ba53a8685042c7">
            <a:extLst>
              <a:ext uri="{96DAC541-7B7A-43D3-8B79-37D633B846F1}">
                <asvg:svgBlip xmlns:asvg="http://schemas.microsoft.com/office/drawing/2016/SVG/main" r:embed="Rc2a2b7207d42490c"/>
              </a:ext>
            </a:extLst>
          </a:blip>
          <a:stretch xmlns:a="http://schemas.openxmlformats.org/drawingml/2006/main"/>
        </p:blipFill>
        <p:spPr>
          <a:xfrm xmlns:a="http://schemas.openxmlformats.org/drawingml/2006/main">
            <a:off x="685800" y="3458188"/>
            <a:ext cx="5355051" cy="480400"/>
          </a:xfrm>
          <a:prstGeom xmlns:a="http://schemas.openxmlformats.org/drawingml/2006/main" prst="rect">
            <a:avLst/>
          </a:prstGeom>
        </p:spPr>
      </p:pic>
      <p:pic>
        <p:nvPicPr>
          <p:cNvPr id="5" name="equation-1" descr="LaTeX: \mathbb R^3:\quad[x,y,z]=[x_0,y_0,z_0]+t[m_1,m_2,m_3]">
            <a:extLst xmlns:a="http://schemas.openxmlformats.org/drawingml/2006/main">
              <a:ext uri="{FF2B5EF4-FFF2-40B4-BE49-F238E27FC236}">
                <a16:creationId xmlns:a16="http://schemas.microsoft.com/office/drawing/2014/main" id="{EF3F3678-E8A2-4894-AC6A-84D0CE7E651B}"/>
              </a:ext>
            </a:extLst>
          </p:cNvPr>
          <p:cNvPicPr>
            <a:picLocks xmlns:a="http://schemas.openxmlformats.org/drawingml/2006/main" noChangeAspect="1"/>
          </p:cNvPicPr>
          <p:nvPr/>
        </p:nvPicPr>
        <p:blipFill>
          <a:blip xmlns:r="http://schemas.openxmlformats.org/officeDocument/2006/relationships" xmlns:a="http://schemas.openxmlformats.org/drawingml/2006/main" r:embed="R9e25832c6a134e4b">
            <a:extLst>
              <a:ext uri="{96DAC541-7B7A-43D3-8B79-37D633B846F1}">
                <asvg:svgBlip xmlns:asvg="http://schemas.microsoft.com/office/drawing/2016/SVG/main" r:embed="R23ca98b56a694743"/>
              </a:ext>
            </a:extLst>
          </a:blip>
          <a:stretch xmlns:a="http://schemas.openxmlformats.org/drawingml/2006/main"/>
        </p:blipFill>
        <p:spPr>
          <a:xfrm xmlns:a="http://schemas.openxmlformats.org/drawingml/2006/main">
            <a:off x="685800" y="4205288"/>
            <a:ext cx="6840359" cy="480400"/>
          </a:xfrm>
          <a:prstGeom xmlns:a="http://schemas.openxmlformats.org/drawingml/2006/main" prst="rect">
            <a:avLst/>
          </a:prstGeom>
        </p:spPr>
      </p:pic>
    </p:spTree>
    <p:extLst>
      <p:ext uri="{BB962C8B-B14F-4D97-AF65-F5344CB8AC3E}">
        <p14:creationId xmlns:p14="http://schemas.microsoft.com/office/powerpoint/2010/main" val="86795365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7C54DC6-0EED-4895-89A9-0385422B9A89}"/>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point and a direction example</a:t>
            </a:r>
          </a:p>
        </p:txBody>
      </p:sp>
      <p:sp>
        <p:nvSpPr>
          <p:cNvPr id="2" name="page-number">
            <a:extLst xmlns:a="http://schemas.openxmlformats.org/drawingml/2006/main">
              <a:ext uri="{FF2B5EF4-FFF2-40B4-BE49-F238E27FC236}">
                <a16:creationId xmlns:a16="http://schemas.microsoft.com/office/drawing/2014/main" id="{8E906ED7-162C-45FD-84B2-51109DC14254}"/>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09</a:t>
            </a:r>
          </a:p>
        </p:txBody>
      </p:sp>
      <p:sp>
        <p:nvSpPr>
          <p:cNvPr id="3" name="lead">
            <a:extLst xmlns:a="http://schemas.openxmlformats.org/drawingml/2006/main">
              <a:ext uri="{FF2B5EF4-FFF2-40B4-BE49-F238E27FC236}">
                <a16:creationId xmlns:a16="http://schemas.microsoft.com/office/drawing/2014/main" id="{9EB489A7-6974-4D11-A8ED-2DB01DCFE48A}"/>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Known point P₀(5, 7). Direction [6, 11].</a:t>
            </a:r>
          </a:p>
        </p:txBody>
      </p:sp>
      <p:pic>
        <p:nvPicPr>
          <p:cNvPr id="4" name="given-equation" descr="LaTeX: \vec r=[5,7]+t[6,11]">
            <a:extLst xmlns:a="http://schemas.openxmlformats.org/drawingml/2006/main">
              <a:ext uri="{FF2B5EF4-FFF2-40B4-BE49-F238E27FC236}">
                <a16:creationId xmlns:a16="http://schemas.microsoft.com/office/drawing/2014/main" id="{DFE25714-A591-4E37-BE99-6001CF4B640F}"/>
              </a:ext>
            </a:extLst>
          </p:cNvPr>
          <p:cNvPicPr>
            <a:picLocks xmlns:a="http://schemas.openxmlformats.org/drawingml/2006/main" noChangeAspect="1"/>
          </p:cNvPicPr>
          <p:nvPr/>
        </p:nvPicPr>
        <p:blipFill>
          <a:blip xmlns:r="http://schemas.openxmlformats.org/officeDocument/2006/relationships" xmlns:a="http://schemas.openxmlformats.org/drawingml/2006/main" r:embed="Rd97644968f8d4f31">
            <a:extLst>
              <a:ext uri="{96DAC541-7B7A-43D3-8B79-37D633B846F1}">
                <asvg:svgBlip xmlns:asvg="http://schemas.microsoft.com/office/drawing/2016/SVG/main" r:embed="R58646b7e0aae4419"/>
              </a:ext>
            </a:extLst>
          </a:blip>
          <a:stretch xmlns:a="http://schemas.openxmlformats.org/drawingml/2006/main"/>
        </p:blipFill>
        <p:spPr>
          <a:xfrm xmlns:a="http://schemas.openxmlformats.org/drawingml/2006/main">
            <a:off x="685800" y="2286000"/>
            <a:ext cx="2948515" cy="436875"/>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8A2C5779-A1E4-4C05-997B-13F6628F3A86}"/>
              </a:ext>
            </a:extLst>
          </p:cNvPr>
          <p:cNvGraphicFramePr/>
          <p:nvPr/>
        </p:nvGraphicFramePr>
        <p:xfrm>
          <a:off xmlns:a="http://schemas.openxmlformats.org/drawingml/2006/main" x="685800" y="3095625"/>
          <a:ext xmlns:a="http://schemas.openxmlformats.org/drawingml/2006/main" cx="10820400" cy="2667000"/>
        </p:xfrm>
        <a:graphic xmlns:a="http://schemas.openxmlformats.org/drawingml/2006/main">
          <a:graphicData uri="http://schemas.openxmlformats.org/drawingml/2006/table">
            <a:tbl>
              <a:tblPr/>
              <a:tblGrid>
                <a:gridCol w="762000"/>
                <a:gridCol w="1143000"/>
                <a:gridCol w="1143000"/>
                <a:gridCol w="3333750"/>
                <a:gridCol w="4438650"/>
              </a:tblGrid>
              <a:tr h="533400">
                <a:tc>
                  <a:txBody>
                    <a:bodyPr lIns="76200" tIns="76200" rIns="76200" bIns="76200"/>
                    <a:lstStyle/>
                    <a:p>
                      <a:pPr algn="ctr">
                        <a:buNone/>
                      </a:pPr>
                      <a:r>
                        <a:rPr sz="1875" b="1">
                          <a:solidFill>
                            <a:srgbClr val="7DD3FC"/>
                          </a:solidFill>
                          <a:latin typeface="DejaVu Sans"/>
                          <a:ea typeface="DejaVu Sans"/>
                          <a:cs typeface="DejaVu Sans"/>
                        </a:rPr>
                        <a:t>t</a:t>
                      </a:r>
                    </a:p>
                  </a:txBody>
                  <a:tcPr marL="91440" marR="91440" marT="45720" marB="45720" anchor="ctr">
                    <a:lnL w="9525">
                      <a:solidFill>
                        <a:srgbClr val="3D444D"/>
                      </a:solidFill>
                      <a:prstDash val="solid"/>
                    </a:lnL>
                    <a:lnR w="9525">
                      <a:solidFill>
                        <a:srgbClr val="3D444D"/>
                      </a:solidFill>
                      <a:prstDash val="solid"/>
                    </a:lnR>
                    <a:lnT w="9525">
                      <a:solidFill>
                        <a:srgbClr val="3D444D"/>
                      </a:solidFill>
                      <a:prstDash val="solid"/>
                    </a:lnT>
                    <a:lnB w="9525">
                      <a:solidFill>
                        <a:srgbClr val="3D444D"/>
                      </a:solidFill>
                      <a:prstDash val="solid"/>
                    </a:lnB>
                    <a:solidFill>
                      <a:srgbClr val="192832"/>
                    </a:solidFill>
                  </a:tcPr>
                </a:tc>
                <a:tc>
                  <a:txBody>
                    <a:bodyPr lIns="76200" tIns="76200" rIns="76200" bIns="76200"/>
                    <a:lstStyle/>
                    <a:p>
                      <a:pPr algn="ctr">
                        <a:buNone/>
                      </a:pPr>
                      <a:r>
                        <a:rPr sz="1875" b="1">
                          <a:solidFill>
                            <a:srgbClr val="7DD3FC"/>
                          </a:solidFill>
                          <a:latin typeface="DejaVu Sans"/>
                          <a:ea typeface="DejaVu Sans"/>
                          <a:cs typeface="DejaVu Sans"/>
                        </a:rPr>
                        <a:t>x</a:t>
                      </a:r>
                    </a:p>
                  </a:txBody>
                  <a:tcPr marL="91440" marR="91440" marT="45720" marB="45720" anchor="ctr">
                    <a:lnR w="9525">
                      <a:solidFill>
                        <a:srgbClr val="3D444D"/>
                      </a:solidFill>
                      <a:prstDash val="solid"/>
                    </a:lnR>
                    <a:lnT w="9525">
                      <a:solidFill>
                        <a:srgbClr val="3D444D"/>
                      </a:solidFill>
                      <a:prstDash val="solid"/>
                    </a:lnT>
                    <a:lnB w="9525">
                      <a:solidFill>
                        <a:srgbClr val="3D444D"/>
                      </a:solidFill>
                      <a:prstDash val="solid"/>
                    </a:lnB>
                    <a:solidFill>
                      <a:srgbClr val="192832"/>
                    </a:solidFill>
                  </a:tcPr>
                </a:tc>
                <a:tc>
                  <a:txBody>
                    <a:bodyPr lIns="76200" tIns="76200" rIns="76200" bIns="76200"/>
                    <a:lstStyle/>
                    <a:p>
                      <a:pPr algn="ctr">
                        <a:buNone/>
                      </a:pPr>
                      <a:r>
                        <a:rPr sz="1875" b="1">
                          <a:solidFill>
                            <a:srgbClr val="7DD3FC"/>
                          </a:solidFill>
                          <a:latin typeface="DejaVu Sans"/>
                          <a:ea typeface="DejaVu Sans"/>
                          <a:cs typeface="DejaVu Sans"/>
                        </a:rPr>
                        <a:t>y</a:t>
                      </a:r>
                    </a:p>
                  </a:txBody>
                  <a:tcPr marL="91440" marR="91440" marT="45720" marB="45720" anchor="ctr">
                    <a:lnR w="9525">
                      <a:solidFill>
                        <a:srgbClr val="3D444D"/>
                      </a:solidFill>
                      <a:prstDash val="solid"/>
                    </a:lnR>
                    <a:lnT w="9525">
                      <a:solidFill>
                        <a:srgbClr val="3D444D"/>
                      </a:solidFill>
                      <a:prstDash val="solid"/>
                    </a:lnT>
                    <a:lnB w="9525">
                      <a:solidFill>
                        <a:srgbClr val="3D444D"/>
                      </a:solidFill>
                      <a:prstDash val="solid"/>
                    </a:lnB>
                    <a:solidFill>
                      <a:srgbClr val="192832"/>
                    </a:solidFill>
                  </a:tcPr>
                </a:tc>
                <a:tc>
                  <a:txBody>
                    <a:bodyPr lIns="76200" tIns="76200" rIns="76200" bIns="76200"/>
                    <a:lstStyle/>
                    <a:p>
                      <a:pPr algn="ctr">
                        <a:buNone/>
                      </a:pPr>
                      <a:r>
                        <a:rPr sz="1875" b="1">
                          <a:solidFill>
                            <a:srgbClr val="7DD3FC"/>
                          </a:solidFill>
                          <a:latin typeface="DejaVu Sans"/>
                          <a:ea typeface="DejaVu Sans"/>
                          <a:cs typeface="DejaVu Sans"/>
                        </a:rPr>
                        <a:t>Point</a:t>
                      </a:r>
                    </a:p>
                  </a:txBody>
                  <a:tcPr marL="91440" marR="91440" marT="45720" marB="45720" anchor="ctr">
                    <a:lnR w="9525">
                      <a:solidFill>
                        <a:srgbClr val="3D444D"/>
                      </a:solidFill>
                      <a:prstDash val="solid"/>
                    </a:lnR>
                    <a:lnT w="9525">
                      <a:solidFill>
                        <a:srgbClr val="3D444D"/>
                      </a:solidFill>
                      <a:prstDash val="solid"/>
                    </a:lnT>
                    <a:lnB w="9525">
                      <a:solidFill>
                        <a:srgbClr val="3D444D"/>
                      </a:solidFill>
                      <a:prstDash val="solid"/>
                    </a:lnB>
                    <a:solidFill>
                      <a:srgbClr val="192832"/>
                    </a:solidFill>
                  </a:tcPr>
                </a:tc>
                <a:tc>
                  <a:txBody>
                    <a:bodyPr lIns="76200" tIns="76200" rIns="76200" bIns="76200"/>
                    <a:lstStyle/>
                    <a:p>
                      <a:pPr algn="ctr">
                        <a:buNone/>
                      </a:pPr>
                      <a:r>
                        <a:rPr sz="1875" b="1">
                          <a:solidFill>
                            <a:srgbClr val="7DD3FC"/>
                          </a:solidFill>
                          <a:latin typeface="DejaVu Sans"/>
                          <a:ea typeface="DejaVu Sans"/>
                          <a:cs typeface="DejaVu Sans"/>
                        </a:rPr>
                        <a:t>Position vector</a:t>
                      </a:r>
                    </a:p>
                  </a:txBody>
                  <a:tcPr marL="91440" marR="91440" marT="45720" marB="45720" anchor="ctr">
                    <a:lnR w="9525">
                      <a:solidFill>
                        <a:srgbClr val="3D444D"/>
                      </a:solidFill>
                      <a:prstDash val="solid"/>
                    </a:lnR>
                    <a:lnT w="9525">
                      <a:solidFill>
                        <a:srgbClr val="3D444D"/>
                      </a:solidFill>
                      <a:prstDash val="solid"/>
                    </a:lnT>
                    <a:lnB w="9525">
                      <a:solidFill>
                        <a:srgbClr val="3D444D"/>
                      </a:solidFill>
                      <a:prstDash val="solid"/>
                    </a:lnB>
                    <a:solidFill>
                      <a:srgbClr val="192832"/>
                    </a:solidFill>
                  </a:tcPr>
                </a:tc>
              </a:tr>
              <a:tr h="533400">
                <a:tc>
                  <a:txBody>
                    <a:bodyPr lIns="76200" tIns="76200" rIns="76200" bIns="76200"/>
                    <a:lstStyle/>
                    <a:p>
                      <a:pPr algn="ctr">
                        <a:buNone/>
                      </a:pPr>
                      <a:r>
                        <a:rPr sz="1875" b="0">
                          <a:solidFill>
                            <a:srgbClr val="F5F5F5"/>
                          </a:solidFill>
                          <a:latin typeface="DejaVu Sans"/>
                          <a:ea typeface="DejaVu Sans"/>
                          <a:cs typeface="DejaVu Sans"/>
                        </a:rPr>
                        <a:t>0</a:t>
                      </a:r>
                    </a:p>
                  </a:txBody>
                  <a:tcPr marL="91440" marR="91440" marT="45720" marB="45720" anchor="ctr">
                    <a:lnL w="9525">
                      <a:solidFill>
                        <a:srgbClr val="3D444D"/>
                      </a:solidFill>
                      <a:prstDash val="solid"/>
                    </a:lnL>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5</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7</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(5, 7)</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[5, 7]</a:t>
                      </a:r>
                    </a:p>
                  </a:txBody>
                  <a:tcPr marL="91440" marR="91440" marT="45720" marB="45720" anchor="ctr">
                    <a:lnR w="9525">
                      <a:solidFill>
                        <a:srgbClr val="3D444D"/>
                      </a:solidFill>
                      <a:prstDash val="solid"/>
                    </a:lnR>
                    <a:lnB w="9525">
                      <a:solidFill>
                        <a:srgbClr val="3D444D"/>
                      </a:solidFill>
                      <a:prstDash val="solid"/>
                    </a:lnB>
                    <a:solidFill>
                      <a:srgbClr val="0A0A0A"/>
                    </a:solidFill>
                  </a:tcPr>
                </a:tc>
              </a:tr>
              <a:tr h="533400">
                <a:tc>
                  <a:txBody>
                    <a:bodyPr lIns="76200" tIns="76200" rIns="76200" bIns="76200"/>
                    <a:lstStyle/>
                    <a:p>
                      <a:pPr algn="ctr">
                        <a:buNone/>
                      </a:pPr>
                      <a:r>
                        <a:rPr sz="1875" b="0">
                          <a:solidFill>
                            <a:srgbClr val="F5F5F5"/>
                          </a:solidFill>
                          <a:latin typeface="DejaVu Sans"/>
                          <a:ea typeface="DejaVu Sans"/>
                          <a:cs typeface="DejaVu Sans"/>
                        </a:rPr>
                        <a:t>1</a:t>
                      </a:r>
                    </a:p>
                  </a:txBody>
                  <a:tcPr marL="91440" marR="91440" marT="45720" marB="45720" anchor="ctr">
                    <a:lnL w="9525">
                      <a:solidFill>
                        <a:srgbClr val="3D444D"/>
                      </a:solidFill>
                      <a:prstDash val="solid"/>
                    </a:lnL>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11</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18</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(11, 18)</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[11, 18]</a:t>
                      </a:r>
                    </a:p>
                  </a:txBody>
                  <a:tcPr marL="91440" marR="91440" marT="45720" marB="45720" anchor="ctr">
                    <a:lnR w="9525">
                      <a:solidFill>
                        <a:srgbClr val="3D444D"/>
                      </a:solidFill>
                      <a:prstDash val="solid"/>
                    </a:lnR>
                    <a:lnB w="9525">
                      <a:solidFill>
                        <a:srgbClr val="3D444D"/>
                      </a:solidFill>
                      <a:prstDash val="solid"/>
                    </a:lnB>
                    <a:solidFill>
                      <a:srgbClr val="0A0A0A"/>
                    </a:solidFill>
                  </a:tcPr>
                </a:tc>
              </a:tr>
              <a:tr h="533400">
                <a:tc>
                  <a:txBody>
                    <a:bodyPr lIns="76200" tIns="76200" rIns="76200" bIns="76200"/>
                    <a:lstStyle/>
                    <a:p>
                      <a:pPr algn="ctr">
                        <a:buNone/>
                      </a:pPr>
                      <a:r>
                        <a:rPr sz="1875" b="0">
                          <a:solidFill>
                            <a:srgbClr val="F5F5F5"/>
                          </a:solidFill>
                          <a:latin typeface="DejaVu Sans"/>
                          <a:ea typeface="DejaVu Sans"/>
                          <a:cs typeface="DejaVu Sans"/>
                        </a:rPr>
                        <a:t>3</a:t>
                      </a:r>
                    </a:p>
                  </a:txBody>
                  <a:tcPr marL="91440" marR="91440" marT="45720" marB="45720" anchor="ctr">
                    <a:lnL w="9525">
                      <a:solidFill>
                        <a:srgbClr val="3D444D"/>
                      </a:solidFill>
                      <a:prstDash val="solid"/>
                    </a:lnL>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23</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40</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(23, 40)</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[23, 40]</a:t>
                      </a:r>
                    </a:p>
                  </a:txBody>
                  <a:tcPr marL="91440" marR="91440" marT="45720" marB="45720" anchor="ctr">
                    <a:lnR w="9525">
                      <a:solidFill>
                        <a:srgbClr val="3D444D"/>
                      </a:solidFill>
                      <a:prstDash val="solid"/>
                    </a:lnR>
                    <a:lnB w="9525">
                      <a:solidFill>
                        <a:srgbClr val="3D444D"/>
                      </a:solidFill>
                      <a:prstDash val="solid"/>
                    </a:lnB>
                    <a:solidFill>
                      <a:srgbClr val="0A0A0A"/>
                    </a:solidFill>
                  </a:tcPr>
                </a:tc>
              </a:tr>
              <a:tr h="533400">
                <a:tc>
                  <a:txBody>
                    <a:bodyPr lIns="76200" tIns="76200" rIns="76200" bIns="76200"/>
                    <a:lstStyle/>
                    <a:p>
                      <a:pPr algn="ctr">
                        <a:buNone/>
                      </a:pPr>
                      <a:r>
                        <a:rPr sz="1875" b="0">
                          <a:solidFill>
                            <a:srgbClr val="F5F5F5"/>
                          </a:solidFill>
                          <a:latin typeface="DejaVu Sans"/>
                          <a:ea typeface="DejaVu Sans"/>
                          <a:cs typeface="DejaVu Sans"/>
                        </a:rPr>
                        <a:t>−1</a:t>
                      </a:r>
                    </a:p>
                  </a:txBody>
                  <a:tcPr marL="91440" marR="91440" marT="45720" marB="45720" anchor="ctr">
                    <a:lnL w="9525">
                      <a:solidFill>
                        <a:srgbClr val="3D444D"/>
                      </a:solidFill>
                      <a:prstDash val="solid"/>
                    </a:lnL>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−1</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−4</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(−1, −4)</a:t>
                      </a:r>
                    </a:p>
                  </a:txBody>
                  <a:tcPr marL="91440" marR="91440" marT="45720" marB="45720" anchor="ctr">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[−1, −4]</a:t>
                      </a:r>
                    </a:p>
                  </a:txBody>
                  <a:tcPr marL="91440" marR="91440" marT="45720" marB="45720" anchor="ctr">
                    <a:lnR w="9525">
                      <a:solidFill>
                        <a:srgbClr val="3D444D"/>
                      </a:solidFill>
                      <a:prstDash val="solid"/>
                    </a:lnR>
                    <a:lnB w="9525">
                      <a:solidFill>
                        <a:srgbClr val="3D444D"/>
                      </a:solidFill>
                      <a:prstDash val="solid"/>
                    </a:lnB>
                    <a:solidFill>
                      <a:srgbClr val="0A0A0A"/>
                    </a:solidFill>
                  </a:tcPr>
                </a:tc>
              </a:tr>
            </a:tbl>
          </a:graphicData>
        </a:graphic>
      </p:graphicFrame>
      <p:sp>
        <p:nvSpPr>
          <p:cNvPr id="6" name="takeaway">
            <a:extLst xmlns:a="http://schemas.openxmlformats.org/drawingml/2006/main">
              <a:ext uri="{FF2B5EF4-FFF2-40B4-BE49-F238E27FC236}">
                <a16:creationId xmlns:a16="http://schemas.microsoft.com/office/drawing/2014/main" id="{00F0D093-9BC6-410F-8076-B0AA37AD5DC1}"/>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For example, t = 3 gives x = 5 + 18 and y = 7 + 33.</a:t>
            </a:r>
          </a:p>
        </p:txBody>
      </p:sp>
    </p:spTree>
    <p:extLst>
      <p:ext uri="{BB962C8B-B14F-4D97-AF65-F5344CB8AC3E}">
        <p14:creationId xmlns:p14="http://schemas.microsoft.com/office/powerpoint/2010/main" val="194757684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5BA51746-B822-45A2-BC0D-4B447C55EB90}"/>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Class example  A point and direction</a:t>
            </a:r>
          </a:p>
        </p:txBody>
      </p:sp>
      <p:sp>
        <p:nvSpPr>
          <p:cNvPr id="2" name="page-number">
            <a:extLst xmlns:a="http://schemas.openxmlformats.org/drawingml/2006/main">
              <a:ext uri="{FF2B5EF4-FFF2-40B4-BE49-F238E27FC236}">
                <a16:creationId xmlns:a16="http://schemas.microsoft.com/office/drawing/2014/main" id="{CB9423A5-055C-4B6A-B198-789D7BA9D088}"/>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10</a:t>
            </a:r>
          </a:p>
        </p:txBody>
      </p:sp>
      <p:sp>
        <p:nvSpPr>
          <p:cNvPr id="3" name="lead">
            <a:extLst xmlns:a="http://schemas.openxmlformats.org/drawingml/2006/main">
              <a:ext uri="{FF2B5EF4-FFF2-40B4-BE49-F238E27FC236}">
                <a16:creationId xmlns:a16="http://schemas.microsoft.com/office/drawing/2014/main" id="{AB836DA5-E115-4238-AF80-61632544A270}"/>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Sketch the line through P(4, 3) parallel to [−7, 1].</a:t>
            </a:r>
          </a:p>
        </p:txBody>
      </p:sp>
      <p:pic>
        <p:nvPicPr>
          <p:cNvPr id="4" name="equation-0" descr="LaTeX: P(4,3),\quad\vec m=[-7,1]">
            <a:extLst xmlns:a="http://schemas.openxmlformats.org/drawingml/2006/main">
              <a:ext uri="{FF2B5EF4-FFF2-40B4-BE49-F238E27FC236}">
                <a16:creationId xmlns:a16="http://schemas.microsoft.com/office/drawing/2014/main" id="{F7144901-7A01-4DDB-8288-EE53E9F0CD84}"/>
              </a:ext>
            </a:extLst>
          </p:cNvPr>
          <p:cNvPicPr>
            <a:picLocks xmlns:a="http://schemas.openxmlformats.org/drawingml/2006/main" noChangeAspect="1"/>
          </p:cNvPicPr>
          <p:nvPr/>
        </p:nvPicPr>
        <p:blipFill>
          <a:blip xmlns:r="http://schemas.openxmlformats.org/officeDocument/2006/relationships" xmlns:a="http://schemas.openxmlformats.org/drawingml/2006/main" r:embed="R4ce14033dc004ec8">
            <a:extLst>
              <a:ext uri="{96DAC541-7B7A-43D3-8B79-37D633B846F1}">
                <asvg:svgBlip xmlns:asvg="http://schemas.microsoft.com/office/drawing/2016/SVG/main" r:embed="Rb1135e7c672646fe"/>
              </a:ext>
            </a:extLst>
          </a:blip>
          <a:stretch xmlns:a="http://schemas.openxmlformats.org/drawingml/2006/main"/>
        </p:blipFill>
        <p:spPr>
          <a:xfrm xmlns:a="http://schemas.openxmlformats.org/drawingml/2006/main">
            <a:off x="685800" y="2571750"/>
            <a:ext cx="3048232" cy="375915"/>
          </a:xfrm>
          <a:prstGeom xmlns:a="http://schemas.openxmlformats.org/drawingml/2006/main" prst="rect">
            <a:avLst/>
          </a:prstGeom>
        </p:spPr>
      </p:pic>
      <p:pic>
        <p:nvPicPr>
          <p:cNvPr id="5" name="equation-1" descr="LaTeX: \vec r=[4,3]+t[-7,1]">
            <a:extLst xmlns:a="http://schemas.openxmlformats.org/drawingml/2006/main">
              <a:ext uri="{FF2B5EF4-FFF2-40B4-BE49-F238E27FC236}">
                <a16:creationId xmlns:a16="http://schemas.microsoft.com/office/drawing/2014/main" id="{B56FB40A-A269-4767-9348-2FF4F274B103}"/>
              </a:ext>
            </a:extLst>
          </p:cNvPr>
          <p:cNvPicPr>
            <a:picLocks xmlns:a="http://schemas.openxmlformats.org/drawingml/2006/main" noChangeAspect="1"/>
          </p:cNvPicPr>
          <p:nvPr/>
        </p:nvPicPr>
        <p:blipFill>
          <a:blip xmlns:r="http://schemas.openxmlformats.org/officeDocument/2006/relationships" xmlns:a="http://schemas.openxmlformats.org/drawingml/2006/main" r:embed="Rc58d5b9ba8204373">
            <a:extLst>
              <a:ext uri="{96DAC541-7B7A-43D3-8B79-37D633B846F1}">
                <asvg:svgBlip xmlns:asvg="http://schemas.microsoft.com/office/drawing/2016/SVG/main" r:embed="R35051a36a0744aff"/>
              </a:ext>
            </a:extLst>
          </a:blip>
          <a:stretch xmlns:a="http://schemas.openxmlformats.org/drawingml/2006/main"/>
        </p:blipFill>
        <p:spPr>
          <a:xfrm xmlns:a="http://schemas.openxmlformats.org/drawingml/2006/main">
            <a:off x="685800" y="3233415"/>
            <a:ext cx="2644340" cy="375915"/>
          </a:xfrm>
          <a:prstGeom xmlns:a="http://schemas.openxmlformats.org/drawingml/2006/main" prst="rect">
            <a:avLst/>
          </a:prstGeom>
        </p:spPr>
      </p:pic>
      <p:pic>
        <p:nvPicPr>
          <p:cNvPr id="6" name="equation-2" descr="LaTeX: t=1:\quad Q(-3,4)">
            <a:extLst xmlns:a="http://schemas.openxmlformats.org/drawingml/2006/main">
              <a:ext uri="{FF2B5EF4-FFF2-40B4-BE49-F238E27FC236}">
                <a16:creationId xmlns:a16="http://schemas.microsoft.com/office/drawing/2014/main" id="{B1474F68-1B39-40D2-B04B-5832D1307C9F}"/>
              </a:ext>
            </a:extLst>
          </p:cNvPr>
          <p:cNvPicPr>
            <a:picLocks xmlns:a="http://schemas.openxmlformats.org/drawingml/2006/main" noChangeAspect="1"/>
          </p:cNvPicPr>
          <p:nvPr/>
        </p:nvPicPr>
        <p:blipFill>
          <a:blip xmlns:r="http://schemas.openxmlformats.org/officeDocument/2006/relationships" xmlns:a="http://schemas.openxmlformats.org/drawingml/2006/main" r:embed="R8f08c159ad3a4b1b">
            <a:extLst>
              <a:ext uri="{96DAC541-7B7A-43D3-8B79-37D633B846F1}">
                <asvg:svgBlip xmlns:asvg="http://schemas.microsoft.com/office/drawing/2016/SVG/main" r:embed="R7b00c9440f8d4df7"/>
              </a:ext>
            </a:extLst>
          </a:blip>
          <a:stretch xmlns:a="http://schemas.openxmlformats.org/drawingml/2006/main"/>
        </p:blipFill>
        <p:spPr>
          <a:xfrm xmlns:a="http://schemas.openxmlformats.org/drawingml/2006/main">
            <a:off x="685800" y="3895081"/>
            <a:ext cx="2536023" cy="375915"/>
          </a:xfrm>
          <a:prstGeom xmlns:a="http://schemas.openxmlformats.org/drawingml/2006/main" prst="rect">
            <a:avLst/>
          </a:prstGeom>
        </p:spPr>
      </p:pic>
      <p:pic>
        <p:nvPicPr>
          <p:cNvPr id="7" name="equation-3" descr="LaTeX: t=-1:\quad R(11,2)">
            <a:extLst xmlns:a="http://schemas.openxmlformats.org/drawingml/2006/main">
              <a:ext uri="{FF2B5EF4-FFF2-40B4-BE49-F238E27FC236}">
                <a16:creationId xmlns:a16="http://schemas.microsoft.com/office/drawing/2014/main" id="{BB9CF2C1-223E-49A8-8136-9C5B27018D74}"/>
              </a:ext>
            </a:extLst>
          </p:cNvPr>
          <p:cNvPicPr>
            <a:picLocks xmlns:a="http://schemas.openxmlformats.org/drawingml/2006/main" noChangeAspect="1"/>
          </p:cNvPicPr>
          <p:nvPr/>
        </p:nvPicPr>
        <p:blipFill>
          <a:blip xmlns:r="http://schemas.openxmlformats.org/officeDocument/2006/relationships" xmlns:a="http://schemas.openxmlformats.org/drawingml/2006/main" r:embed="Rbefb7b7bbc9b47c2">
            <a:extLst>
              <a:ext uri="{96DAC541-7B7A-43D3-8B79-37D633B846F1}">
                <asvg:svgBlip xmlns:asvg="http://schemas.microsoft.com/office/drawing/2016/SVG/main" r:embed="Rf34287750b534b4a"/>
              </a:ext>
            </a:extLst>
          </a:blip>
          <a:stretch xmlns:a="http://schemas.openxmlformats.org/drawingml/2006/main"/>
        </p:blipFill>
        <p:spPr>
          <a:xfrm xmlns:a="http://schemas.openxmlformats.org/drawingml/2006/main">
            <a:off x="685800" y="4556746"/>
            <a:ext cx="2682727" cy="375915"/>
          </a:xfrm>
          <a:prstGeom xmlns:a="http://schemas.openxmlformats.org/drawingml/2006/main" prst="rect">
            <a:avLst/>
          </a:prstGeom>
        </p:spPr>
      </p:pic>
      <p:cxnSp>
        <p:nvCxnSpPr>
          <p:cNvPr id="8" name="sketch-x">
            <a:extLst xmlns:a="http://schemas.openxmlformats.org/drawingml/2006/main">
              <a:ext uri="{FF2B5EF4-FFF2-40B4-BE49-F238E27FC236}">
                <a16:creationId xmlns:a16="http://schemas.microsoft.com/office/drawing/2014/main" id="{4B75D97F-0AA9-4C95-A50E-4AFC5B31DF38}"/>
              </a:ext>
            </a:extLst>
          </p:cNvPr>
          <p:cNvCxnSpPr/>
          <p:nvPr/>
        </p:nvCxnSpPr>
        <p:spPr>
          <a:xfrm xmlns:a="http://schemas.openxmlformats.org/drawingml/2006/main" rot="0">
            <a:off x="7200900" y="5048250"/>
            <a:ext cx="4267200" cy="0"/>
          </a:xfrm>
          <a:prstGeom xmlns:a="http://schemas.openxmlformats.org/drawingml/2006/main" prst="straightConnector1">
            <a:avLst/>
          </a:prstGeom>
          <a:ln xmlns:a="http://schemas.openxmlformats.org/drawingml/2006/main" w="14288">
            <a:solidFill>
              <a:srgbClr val="50565E"/>
            </a:solidFill>
            <a:prstDash val="solid"/>
          </a:ln>
        </p:spPr>
      </p:cxnSp>
      <p:cxnSp>
        <p:nvCxnSpPr>
          <p:cNvPr id="9" name="sketch-y">
            <a:extLst xmlns:a="http://schemas.openxmlformats.org/drawingml/2006/main">
              <a:ext uri="{FF2B5EF4-FFF2-40B4-BE49-F238E27FC236}">
                <a16:creationId xmlns:a16="http://schemas.microsoft.com/office/drawing/2014/main" id="{9977F69A-DA7E-4381-8DA0-DB43B21F8606}"/>
              </a:ext>
            </a:extLst>
          </p:cNvPr>
          <p:cNvCxnSpPr/>
          <p:nvPr/>
        </p:nvCxnSpPr>
        <p:spPr>
          <a:xfrm xmlns:a="http://schemas.openxmlformats.org/drawingml/2006/main" rot="-5400000">
            <a:off x="7200900" y="4286250"/>
            <a:ext cx="2743200" cy="0"/>
          </a:xfrm>
          <a:prstGeom xmlns:a="http://schemas.openxmlformats.org/drawingml/2006/main" prst="straightConnector1">
            <a:avLst/>
          </a:prstGeom>
          <a:ln xmlns:a="http://schemas.openxmlformats.org/drawingml/2006/main" w="14288">
            <a:solidFill>
              <a:srgbClr val="50565E"/>
            </a:solidFill>
            <a:prstDash val="solid"/>
          </a:ln>
        </p:spPr>
      </p:cxnSp>
      <p:cxnSp>
        <p:nvCxnSpPr>
          <p:cNvPr id="10" name="sketch-line">
            <a:extLst xmlns:a="http://schemas.openxmlformats.org/drawingml/2006/main">
              <a:ext uri="{FF2B5EF4-FFF2-40B4-BE49-F238E27FC236}">
                <a16:creationId xmlns:a16="http://schemas.microsoft.com/office/drawing/2014/main" id="{C6BD328F-C61E-4D52-B473-929B735A9A68}"/>
              </a:ext>
            </a:extLst>
          </p:cNvPr>
          <p:cNvCxnSpPr/>
          <p:nvPr/>
        </p:nvCxnSpPr>
        <p:spPr>
          <a:xfrm xmlns:a="http://schemas.openxmlformats.org/drawingml/2006/main" rot="487806">
            <a:off x="7639533" y="4634593"/>
            <a:ext cx="3694734" cy="0"/>
          </a:xfrm>
          <a:prstGeom xmlns:a="http://schemas.openxmlformats.org/drawingml/2006/main" prst="straightConnector1">
            <a:avLst/>
          </a:prstGeom>
          <a:ln xmlns:a="http://schemas.openxmlformats.org/drawingml/2006/main" w="23813">
            <a:solidFill>
              <a:srgbClr val="F5F5F5"/>
            </a:solidFill>
            <a:prstDash val="solid"/>
          </a:ln>
        </p:spPr>
      </p:cxnSp>
      <p:sp>
        <p:nvSpPr>
          <p:cNvPr id="11" name="point-4">
            <a:extLst xmlns:a="http://schemas.openxmlformats.org/drawingml/2006/main">
              <a:ext uri="{FF2B5EF4-FFF2-40B4-BE49-F238E27FC236}">
                <a16:creationId xmlns:a16="http://schemas.microsoft.com/office/drawing/2014/main" id="{99BBB6AE-27EB-4D93-85D4-6EA0B0F9E146}"/>
              </a:ext>
            </a:extLst>
          </p:cNvPr>
          <p:cNvSpPr>
            <a:spLocks xmlns:a="http://schemas.openxmlformats.org/drawingml/2006/main" noGrp="1"/>
          </p:cNvSpPr>
          <p:nvPr/>
        </p:nvSpPr>
        <p:spPr>
          <a:xfrm xmlns:a="http://schemas.openxmlformats.org/drawingml/2006/main">
            <a:off x="9144000" y="4552950"/>
            <a:ext cx="76200" cy="76200"/>
          </a:xfrm>
          <a:prstGeom xmlns:a="http://schemas.openxmlformats.org/drawingml/2006/main" prst="ellipse">
            <a:avLst/>
          </a:prstGeom>
          <a:solidFill xmlns:a="http://schemas.openxmlformats.org/drawingml/2006/main">
            <a:srgbClr val="7DD3FC"/>
          </a:solidFill>
          <a:ln xmlns:a="http://schemas.openxmlformats.org/drawingml/2006/main" w="0">
            <a:noFill/>
          </a:ln>
        </p:spPr>
      </p:sp>
      <p:sp>
        <p:nvSpPr>
          <p:cNvPr id="12" name="point-label-4">
            <a:extLst xmlns:a="http://schemas.openxmlformats.org/drawingml/2006/main">
              <a:ext uri="{FF2B5EF4-FFF2-40B4-BE49-F238E27FC236}">
                <a16:creationId xmlns:a16="http://schemas.microsoft.com/office/drawing/2014/main" id="{461F08A5-B4C3-4F26-802D-E3909B07DA3D}"/>
              </a:ext>
            </a:extLst>
          </p:cNvPr>
          <p:cNvSpPr>
            <a:spLocks xmlns:a="http://schemas.openxmlformats.org/drawingml/2006/main" noGrp="1"/>
          </p:cNvSpPr>
          <p:nvPr/>
        </p:nvSpPr>
        <p:spPr>
          <a:xfrm xmlns:a="http://schemas.openxmlformats.org/drawingml/2006/main">
            <a:off x="9277350" y="416242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7DD3FC"/>
                </a:solidFill>
                <a:latin typeface="DejaVu Sans"/>
                <a:ea typeface="DejaVu Sans"/>
                <a:cs typeface="DejaVu Sans"/>
              </a:defRPr>
            </a:defPPr>
            <a:lvl1pPr>
              <a:defRPr sz="1800" b="0">
                <a:solidFill>
                  <a:srgbClr val="7DD3FC"/>
                </a:solidFill>
                <a:latin typeface="DejaVu Sans"/>
                <a:ea typeface="DejaVu Sans"/>
                <a:cs typeface="DejaVu Sans"/>
              </a:defRPr>
            </a:lvl1pPr>
            <a:lvl2pPr>
              <a:defRPr sz="1800" b="0">
                <a:solidFill>
                  <a:srgbClr val="7DD3FC"/>
                </a:solidFill>
                <a:latin typeface="DejaVu Sans"/>
                <a:ea typeface="DejaVu Sans"/>
                <a:cs typeface="DejaVu Sans"/>
              </a:defRPr>
            </a:lvl2pPr>
            <a:lvl3pPr>
              <a:defRPr sz="1800" b="0">
                <a:solidFill>
                  <a:srgbClr val="7DD3FC"/>
                </a:solidFill>
                <a:latin typeface="DejaVu Sans"/>
                <a:ea typeface="DejaVu Sans"/>
                <a:cs typeface="DejaVu Sans"/>
              </a:defRPr>
            </a:lvl3pPr>
            <a:lvl4pPr>
              <a:defRPr sz="1800" b="0">
                <a:solidFill>
                  <a:srgbClr val="7DD3FC"/>
                </a:solidFill>
                <a:latin typeface="DejaVu Sans"/>
                <a:ea typeface="DejaVu Sans"/>
                <a:cs typeface="DejaVu Sans"/>
              </a:defRPr>
            </a:lvl4pPr>
            <a:lvl5pPr>
              <a:defRPr sz="1800" b="0">
                <a:solidFill>
                  <a:srgbClr val="7DD3FC"/>
                </a:solidFill>
                <a:latin typeface="DejaVu Sans"/>
                <a:ea typeface="DejaVu Sans"/>
                <a:cs typeface="DejaVu Sans"/>
              </a:defRPr>
            </a:lvl5pPr>
            <a:lvl6pPr>
              <a:defRPr sz="1800" b="0">
                <a:solidFill>
                  <a:srgbClr val="7DD3FC"/>
                </a:solidFill>
                <a:latin typeface="DejaVu Sans"/>
                <a:ea typeface="DejaVu Sans"/>
                <a:cs typeface="DejaVu Sans"/>
              </a:defRPr>
            </a:lvl6pPr>
            <a:lvl7pPr>
              <a:defRPr sz="1800" b="0">
                <a:solidFill>
                  <a:srgbClr val="7DD3FC"/>
                </a:solidFill>
                <a:latin typeface="DejaVu Sans"/>
                <a:ea typeface="DejaVu Sans"/>
                <a:cs typeface="DejaVu Sans"/>
              </a:defRPr>
            </a:lvl7pPr>
            <a:lvl8pPr>
              <a:defRPr sz="1800" b="0">
                <a:solidFill>
                  <a:srgbClr val="7DD3FC"/>
                </a:solidFill>
                <a:latin typeface="DejaVu Sans"/>
                <a:ea typeface="DejaVu Sans"/>
                <a:cs typeface="DejaVu Sans"/>
              </a:defRPr>
            </a:lvl8pPr>
            <a:lvl9pPr>
              <a:defRPr sz="1800" b="0">
                <a:solidFill>
                  <a:srgbClr val="7DD3FC"/>
                </a:solidFill>
                <a:latin typeface="DejaVu Sans"/>
                <a:ea typeface="DejaVu Sans"/>
                <a:cs typeface="DejaVu Sans"/>
              </a:defRPr>
            </a:lvl9pPr>
          </a:lstStyle>
          <a:p xmlns:a="http://schemas.openxmlformats.org/drawingml/2006/main">
            <a:pPr>
              <a:defRPr sz="1800" b="0">
                <a:solidFill>
                  <a:srgbClr val="7DD3FC"/>
                </a:solidFill>
                <a:latin typeface="DejaVu Sans"/>
                <a:ea typeface="DejaVu Sans"/>
                <a:cs typeface="DejaVu Sans"/>
              </a:defRPr>
            </a:pPr>
            <a:r>
              <a:rPr sz="1800" b="0">
                <a:solidFill>
                  <a:srgbClr val="7DD3FC"/>
                </a:solidFill>
                <a:latin typeface="DejaVu Sans"/>
                <a:ea typeface="DejaVu Sans"/>
                <a:cs typeface="DejaVu Sans"/>
              </a:rPr>
              <a:t>P(4, 3)</a:t>
            </a:r>
          </a:p>
        </p:txBody>
      </p:sp>
      <p:sp>
        <p:nvSpPr>
          <p:cNvPr id="13" name="point--3">
            <a:extLst xmlns:a="http://schemas.openxmlformats.org/drawingml/2006/main">
              <a:ext uri="{FF2B5EF4-FFF2-40B4-BE49-F238E27FC236}">
                <a16:creationId xmlns:a16="http://schemas.microsoft.com/office/drawing/2014/main" id="{2C9C2067-C7B5-48D0-A89C-BB07A3F23493}"/>
              </a:ext>
            </a:extLst>
          </p:cNvPr>
          <p:cNvSpPr>
            <a:spLocks xmlns:a="http://schemas.openxmlformats.org/drawingml/2006/main" noGrp="1"/>
          </p:cNvSpPr>
          <p:nvPr/>
        </p:nvSpPr>
        <p:spPr>
          <a:xfrm xmlns:a="http://schemas.openxmlformats.org/drawingml/2006/main">
            <a:off x="8077200" y="4400550"/>
            <a:ext cx="76200" cy="76200"/>
          </a:xfrm>
          <a:prstGeom xmlns:a="http://schemas.openxmlformats.org/drawingml/2006/main" prst="ellipse">
            <a:avLst/>
          </a:prstGeom>
          <a:solidFill xmlns:a="http://schemas.openxmlformats.org/drawingml/2006/main">
            <a:srgbClr val="7DD3FC"/>
          </a:solidFill>
          <a:ln xmlns:a="http://schemas.openxmlformats.org/drawingml/2006/main" w="0">
            <a:noFill/>
          </a:ln>
        </p:spPr>
      </p:sp>
      <p:sp>
        <p:nvSpPr>
          <p:cNvPr id="14" name="point-label--3">
            <a:extLst xmlns:a="http://schemas.openxmlformats.org/drawingml/2006/main">
              <a:ext uri="{FF2B5EF4-FFF2-40B4-BE49-F238E27FC236}">
                <a16:creationId xmlns:a16="http://schemas.microsoft.com/office/drawing/2014/main" id="{1E1DF70F-94FF-43B8-90F5-E0B9987A647A}"/>
              </a:ext>
            </a:extLst>
          </p:cNvPr>
          <p:cNvSpPr>
            <a:spLocks xmlns:a="http://schemas.openxmlformats.org/drawingml/2006/main" noGrp="1"/>
          </p:cNvSpPr>
          <p:nvPr/>
        </p:nvSpPr>
        <p:spPr>
          <a:xfrm xmlns:a="http://schemas.openxmlformats.org/drawingml/2006/main">
            <a:off x="7686675" y="39624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7DD3FC"/>
                </a:solidFill>
                <a:latin typeface="DejaVu Sans"/>
                <a:ea typeface="DejaVu Sans"/>
                <a:cs typeface="DejaVu Sans"/>
              </a:defRPr>
            </a:defPPr>
            <a:lvl1pPr>
              <a:defRPr sz="1800" b="0">
                <a:solidFill>
                  <a:srgbClr val="7DD3FC"/>
                </a:solidFill>
                <a:latin typeface="DejaVu Sans"/>
                <a:ea typeface="DejaVu Sans"/>
                <a:cs typeface="DejaVu Sans"/>
              </a:defRPr>
            </a:lvl1pPr>
            <a:lvl2pPr>
              <a:defRPr sz="1800" b="0">
                <a:solidFill>
                  <a:srgbClr val="7DD3FC"/>
                </a:solidFill>
                <a:latin typeface="DejaVu Sans"/>
                <a:ea typeface="DejaVu Sans"/>
                <a:cs typeface="DejaVu Sans"/>
              </a:defRPr>
            </a:lvl2pPr>
            <a:lvl3pPr>
              <a:defRPr sz="1800" b="0">
                <a:solidFill>
                  <a:srgbClr val="7DD3FC"/>
                </a:solidFill>
                <a:latin typeface="DejaVu Sans"/>
                <a:ea typeface="DejaVu Sans"/>
                <a:cs typeface="DejaVu Sans"/>
              </a:defRPr>
            </a:lvl3pPr>
            <a:lvl4pPr>
              <a:defRPr sz="1800" b="0">
                <a:solidFill>
                  <a:srgbClr val="7DD3FC"/>
                </a:solidFill>
                <a:latin typeface="DejaVu Sans"/>
                <a:ea typeface="DejaVu Sans"/>
                <a:cs typeface="DejaVu Sans"/>
              </a:defRPr>
            </a:lvl4pPr>
            <a:lvl5pPr>
              <a:defRPr sz="1800" b="0">
                <a:solidFill>
                  <a:srgbClr val="7DD3FC"/>
                </a:solidFill>
                <a:latin typeface="DejaVu Sans"/>
                <a:ea typeface="DejaVu Sans"/>
                <a:cs typeface="DejaVu Sans"/>
              </a:defRPr>
            </a:lvl5pPr>
            <a:lvl6pPr>
              <a:defRPr sz="1800" b="0">
                <a:solidFill>
                  <a:srgbClr val="7DD3FC"/>
                </a:solidFill>
                <a:latin typeface="DejaVu Sans"/>
                <a:ea typeface="DejaVu Sans"/>
                <a:cs typeface="DejaVu Sans"/>
              </a:defRPr>
            </a:lvl6pPr>
            <a:lvl7pPr>
              <a:defRPr sz="1800" b="0">
                <a:solidFill>
                  <a:srgbClr val="7DD3FC"/>
                </a:solidFill>
                <a:latin typeface="DejaVu Sans"/>
                <a:ea typeface="DejaVu Sans"/>
                <a:cs typeface="DejaVu Sans"/>
              </a:defRPr>
            </a:lvl7pPr>
            <a:lvl8pPr>
              <a:defRPr sz="1800" b="0">
                <a:solidFill>
                  <a:srgbClr val="7DD3FC"/>
                </a:solidFill>
                <a:latin typeface="DejaVu Sans"/>
                <a:ea typeface="DejaVu Sans"/>
                <a:cs typeface="DejaVu Sans"/>
              </a:defRPr>
            </a:lvl8pPr>
            <a:lvl9pPr>
              <a:defRPr sz="1800" b="0">
                <a:solidFill>
                  <a:srgbClr val="7DD3FC"/>
                </a:solidFill>
                <a:latin typeface="DejaVu Sans"/>
                <a:ea typeface="DejaVu Sans"/>
                <a:cs typeface="DejaVu Sans"/>
              </a:defRPr>
            </a:lvl9pPr>
          </a:lstStyle>
          <a:p xmlns:a="http://schemas.openxmlformats.org/drawingml/2006/main">
            <a:pPr>
              <a:defRPr sz="1800" b="0">
                <a:solidFill>
                  <a:srgbClr val="7DD3FC"/>
                </a:solidFill>
                <a:latin typeface="DejaVu Sans"/>
                <a:ea typeface="DejaVu Sans"/>
                <a:cs typeface="DejaVu Sans"/>
              </a:defRPr>
            </a:pPr>
            <a:r>
              <a:rPr sz="1800" b="0">
                <a:solidFill>
                  <a:srgbClr val="7DD3FC"/>
                </a:solidFill>
                <a:latin typeface="DejaVu Sans"/>
                <a:ea typeface="DejaVu Sans"/>
                <a:cs typeface="DejaVu Sans"/>
              </a:rPr>
              <a:t>Q(−3, 4)</a:t>
            </a:r>
          </a:p>
        </p:txBody>
      </p:sp>
      <p:sp>
        <p:nvSpPr>
          <p:cNvPr id="15" name="point-11">
            <a:extLst xmlns:a="http://schemas.openxmlformats.org/drawingml/2006/main">
              <a:ext uri="{FF2B5EF4-FFF2-40B4-BE49-F238E27FC236}">
                <a16:creationId xmlns:a16="http://schemas.microsoft.com/office/drawing/2014/main" id="{23552375-C2D5-46CE-A7AF-2A4CDD8E62F5}"/>
              </a:ext>
            </a:extLst>
          </p:cNvPr>
          <p:cNvSpPr>
            <a:spLocks xmlns:a="http://schemas.openxmlformats.org/drawingml/2006/main" noGrp="1"/>
          </p:cNvSpPr>
          <p:nvPr/>
        </p:nvSpPr>
        <p:spPr>
          <a:xfrm xmlns:a="http://schemas.openxmlformats.org/drawingml/2006/main">
            <a:off x="10210800" y="4705350"/>
            <a:ext cx="76200" cy="76200"/>
          </a:xfrm>
          <a:prstGeom xmlns:a="http://schemas.openxmlformats.org/drawingml/2006/main" prst="ellipse">
            <a:avLst/>
          </a:prstGeom>
          <a:solidFill xmlns:a="http://schemas.openxmlformats.org/drawingml/2006/main">
            <a:srgbClr val="7DD3FC"/>
          </a:solidFill>
          <a:ln xmlns:a="http://schemas.openxmlformats.org/drawingml/2006/main" w="0">
            <a:noFill/>
          </a:ln>
        </p:spPr>
      </p:sp>
      <p:sp>
        <p:nvSpPr>
          <p:cNvPr id="16" name="point-label-11">
            <a:extLst xmlns:a="http://schemas.openxmlformats.org/drawingml/2006/main">
              <a:ext uri="{FF2B5EF4-FFF2-40B4-BE49-F238E27FC236}">
                <a16:creationId xmlns:a16="http://schemas.microsoft.com/office/drawing/2014/main" id="{8A13FFA2-AD1D-4549-BE72-36E6E3BB08FE}"/>
              </a:ext>
            </a:extLst>
          </p:cNvPr>
          <p:cNvSpPr>
            <a:spLocks xmlns:a="http://schemas.openxmlformats.org/drawingml/2006/main" noGrp="1"/>
          </p:cNvSpPr>
          <p:nvPr/>
        </p:nvSpPr>
        <p:spPr>
          <a:xfrm xmlns:a="http://schemas.openxmlformats.org/drawingml/2006/main">
            <a:off x="10344150" y="481965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7DD3FC"/>
                </a:solidFill>
                <a:latin typeface="DejaVu Sans"/>
                <a:ea typeface="DejaVu Sans"/>
                <a:cs typeface="DejaVu Sans"/>
              </a:defRPr>
            </a:defPPr>
            <a:lvl1pPr>
              <a:defRPr sz="1800" b="0">
                <a:solidFill>
                  <a:srgbClr val="7DD3FC"/>
                </a:solidFill>
                <a:latin typeface="DejaVu Sans"/>
                <a:ea typeface="DejaVu Sans"/>
                <a:cs typeface="DejaVu Sans"/>
              </a:defRPr>
            </a:lvl1pPr>
            <a:lvl2pPr>
              <a:defRPr sz="1800" b="0">
                <a:solidFill>
                  <a:srgbClr val="7DD3FC"/>
                </a:solidFill>
                <a:latin typeface="DejaVu Sans"/>
                <a:ea typeface="DejaVu Sans"/>
                <a:cs typeface="DejaVu Sans"/>
              </a:defRPr>
            </a:lvl2pPr>
            <a:lvl3pPr>
              <a:defRPr sz="1800" b="0">
                <a:solidFill>
                  <a:srgbClr val="7DD3FC"/>
                </a:solidFill>
                <a:latin typeface="DejaVu Sans"/>
                <a:ea typeface="DejaVu Sans"/>
                <a:cs typeface="DejaVu Sans"/>
              </a:defRPr>
            </a:lvl3pPr>
            <a:lvl4pPr>
              <a:defRPr sz="1800" b="0">
                <a:solidFill>
                  <a:srgbClr val="7DD3FC"/>
                </a:solidFill>
                <a:latin typeface="DejaVu Sans"/>
                <a:ea typeface="DejaVu Sans"/>
                <a:cs typeface="DejaVu Sans"/>
              </a:defRPr>
            </a:lvl4pPr>
            <a:lvl5pPr>
              <a:defRPr sz="1800" b="0">
                <a:solidFill>
                  <a:srgbClr val="7DD3FC"/>
                </a:solidFill>
                <a:latin typeface="DejaVu Sans"/>
                <a:ea typeface="DejaVu Sans"/>
                <a:cs typeface="DejaVu Sans"/>
              </a:defRPr>
            </a:lvl5pPr>
            <a:lvl6pPr>
              <a:defRPr sz="1800" b="0">
                <a:solidFill>
                  <a:srgbClr val="7DD3FC"/>
                </a:solidFill>
                <a:latin typeface="DejaVu Sans"/>
                <a:ea typeface="DejaVu Sans"/>
                <a:cs typeface="DejaVu Sans"/>
              </a:defRPr>
            </a:lvl6pPr>
            <a:lvl7pPr>
              <a:defRPr sz="1800" b="0">
                <a:solidFill>
                  <a:srgbClr val="7DD3FC"/>
                </a:solidFill>
                <a:latin typeface="DejaVu Sans"/>
                <a:ea typeface="DejaVu Sans"/>
                <a:cs typeface="DejaVu Sans"/>
              </a:defRPr>
            </a:lvl7pPr>
            <a:lvl8pPr>
              <a:defRPr sz="1800" b="0">
                <a:solidFill>
                  <a:srgbClr val="7DD3FC"/>
                </a:solidFill>
                <a:latin typeface="DejaVu Sans"/>
                <a:ea typeface="DejaVu Sans"/>
                <a:cs typeface="DejaVu Sans"/>
              </a:defRPr>
            </a:lvl8pPr>
            <a:lvl9pPr>
              <a:defRPr sz="1800" b="0">
                <a:solidFill>
                  <a:srgbClr val="7DD3FC"/>
                </a:solidFill>
                <a:latin typeface="DejaVu Sans"/>
                <a:ea typeface="DejaVu Sans"/>
                <a:cs typeface="DejaVu Sans"/>
              </a:defRPr>
            </a:lvl9pPr>
          </a:lstStyle>
          <a:p xmlns:a="http://schemas.openxmlformats.org/drawingml/2006/main">
            <a:pPr>
              <a:defRPr sz="1800" b="0">
                <a:solidFill>
                  <a:srgbClr val="7DD3FC"/>
                </a:solidFill>
                <a:latin typeface="DejaVu Sans"/>
                <a:ea typeface="DejaVu Sans"/>
                <a:cs typeface="DejaVu Sans"/>
              </a:defRPr>
            </a:pPr>
            <a:r>
              <a:rPr sz="1800" b="0">
                <a:solidFill>
                  <a:srgbClr val="7DD3FC"/>
                </a:solidFill>
                <a:latin typeface="DejaVu Sans"/>
                <a:ea typeface="DejaVu Sans"/>
                <a:cs typeface="DejaVu Sans"/>
              </a:rPr>
              <a:t>R(11, 2)</a:t>
            </a:r>
          </a:p>
        </p:txBody>
      </p:sp>
      <p:sp>
        <p:nvSpPr>
          <p:cNvPr id="17" name="axis-x">
            <a:extLst xmlns:a="http://schemas.openxmlformats.org/drawingml/2006/main">
              <a:ext uri="{FF2B5EF4-FFF2-40B4-BE49-F238E27FC236}">
                <a16:creationId xmlns:a16="http://schemas.microsoft.com/office/drawing/2014/main" id="{45B9FBE0-C553-4D16-B0F9-4036296CDDE3}"/>
              </a:ext>
            </a:extLst>
          </p:cNvPr>
          <p:cNvSpPr>
            <a:spLocks xmlns:a="http://schemas.openxmlformats.org/drawingml/2006/main" noGrp="1"/>
          </p:cNvSpPr>
          <p:nvPr/>
        </p:nvSpPr>
        <p:spPr>
          <a:xfrm xmlns:a="http://schemas.openxmlformats.org/drawingml/2006/main">
            <a:off x="11334750" y="51435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x</a:t>
            </a:r>
          </a:p>
        </p:txBody>
      </p:sp>
      <p:sp>
        <p:nvSpPr>
          <p:cNvPr id="18" name="axis-y">
            <a:extLst xmlns:a="http://schemas.openxmlformats.org/drawingml/2006/main">
              <a:ext uri="{FF2B5EF4-FFF2-40B4-BE49-F238E27FC236}">
                <a16:creationId xmlns:a16="http://schemas.microsoft.com/office/drawing/2014/main" id="{B9585059-60C9-4A4F-B20E-972666D4511F}"/>
              </a:ext>
            </a:extLst>
          </p:cNvPr>
          <p:cNvSpPr>
            <a:spLocks xmlns:a="http://schemas.openxmlformats.org/drawingml/2006/main" noGrp="1"/>
          </p:cNvSpPr>
          <p:nvPr/>
        </p:nvSpPr>
        <p:spPr>
          <a:xfrm xmlns:a="http://schemas.openxmlformats.org/drawingml/2006/main">
            <a:off x="8248650" y="28575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y</a:t>
            </a:r>
          </a:p>
        </p:txBody>
      </p:sp>
      <p:sp>
        <p:nvSpPr>
          <p:cNvPr id="19" name="origin">
            <a:extLst xmlns:a="http://schemas.openxmlformats.org/drawingml/2006/main">
              <a:ext uri="{FF2B5EF4-FFF2-40B4-BE49-F238E27FC236}">
                <a16:creationId xmlns:a16="http://schemas.microsoft.com/office/drawing/2014/main" id="{0C1FEBBE-6649-4384-ADC7-A808F1274130}"/>
              </a:ext>
            </a:extLst>
          </p:cNvPr>
          <p:cNvSpPr>
            <a:spLocks xmlns:a="http://schemas.openxmlformats.org/drawingml/2006/main" noGrp="1"/>
          </p:cNvSpPr>
          <p:nvPr/>
        </p:nvSpPr>
        <p:spPr>
          <a:xfrm xmlns:a="http://schemas.openxmlformats.org/drawingml/2006/main">
            <a:off x="8267700" y="51339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O</a:t>
            </a:r>
          </a:p>
        </p:txBody>
      </p:sp>
      <p:sp>
        <p:nvSpPr>
          <p:cNvPr id="20" name="condition">
            <a:extLst xmlns:a="http://schemas.openxmlformats.org/drawingml/2006/main">
              <a:ext uri="{FF2B5EF4-FFF2-40B4-BE49-F238E27FC236}">
                <a16:creationId xmlns:a16="http://schemas.microsoft.com/office/drawing/2014/main" id="{F823AA6C-9649-4F5B-908D-6DFB416D5952}"/>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defRPr sz="1650" b="0">
                <a:solidFill>
                  <a:srgbClr val="ADB5BF"/>
                </a:solidFill>
                <a:latin typeface="DejaVu Sans"/>
                <a:ea typeface="DejaVu Sans"/>
                <a:cs typeface="DejaVu Sans"/>
              </a:defRPr>
            </a:lvl1pPr>
            <a:lvl2pPr>
              <a:defRPr sz="1650" b="0">
                <a:solidFill>
                  <a:srgbClr val="ADB5BF"/>
                </a:solidFill>
                <a:latin typeface="DejaVu Sans"/>
                <a:ea typeface="DejaVu Sans"/>
                <a:cs typeface="DejaVu Sans"/>
              </a:defRPr>
            </a:lvl2pPr>
            <a:lvl3pPr>
              <a:defRPr sz="1650" b="0">
                <a:solidFill>
                  <a:srgbClr val="ADB5BF"/>
                </a:solidFill>
                <a:latin typeface="DejaVu Sans"/>
                <a:ea typeface="DejaVu Sans"/>
                <a:cs typeface="DejaVu Sans"/>
              </a:defRPr>
            </a:lvl3pPr>
            <a:lvl4pPr>
              <a:defRPr sz="1650" b="0">
                <a:solidFill>
                  <a:srgbClr val="ADB5BF"/>
                </a:solidFill>
                <a:latin typeface="DejaVu Sans"/>
                <a:ea typeface="DejaVu Sans"/>
                <a:cs typeface="DejaVu Sans"/>
              </a:defRPr>
            </a:lvl4pPr>
            <a:lvl5pPr>
              <a:defRPr sz="1650" b="0">
                <a:solidFill>
                  <a:srgbClr val="ADB5BF"/>
                </a:solidFill>
                <a:latin typeface="DejaVu Sans"/>
                <a:ea typeface="DejaVu Sans"/>
                <a:cs typeface="DejaVu Sans"/>
              </a:defRPr>
            </a:lvl5pPr>
            <a:lvl6pPr>
              <a:defRPr sz="1650" b="0">
                <a:solidFill>
                  <a:srgbClr val="ADB5BF"/>
                </a:solidFill>
                <a:latin typeface="DejaVu Sans"/>
                <a:ea typeface="DejaVu Sans"/>
                <a:cs typeface="DejaVu Sans"/>
              </a:defRPr>
            </a:lvl6pPr>
            <a:lvl7pPr>
              <a:defRPr sz="1650" b="0">
                <a:solidFill>
                  <a:srgbClr val="ADB5BF"/>
                </a:solidFill>
                <a:latin typeface="DejaVu Sans"/>
                <a:ea typeface="DejaVu Sans"/>
                <a:cs typeface="DejaVu Sans"/>
              </a:defRPr>
            </a:lvl7pPr>
            <a:lvl8pPr>
              <a:defRPr sz="1650" b="0">
                <a:solidFill>
                  <a:srgbClr val="ADB5BF"/>
                </a:solidFill>
                <a:latin typeface="DejaVu Sans"/>
                <a:ea typeface="DejaVu Sans"/>
                <a:cs typeface="DejaVu Sans"/>
              </a:defRPr>
            </a:lvl8pPr>
            <a:lvl9pPr>
              <a:defRPr sz="1650" b="0">
                <a:solidFill>
                  <a:srgbClr val="ADB5BF"/>
                </a:solidFill>
                <a:latin typeface="DejaVu Sans"/>
                <a:ea typeface="DejaVu Sans"/>
                <a:cs typeface="DejaVu Sans"/>
              </a:defRPr>
            </a:lvl9pPr>
          </a:lstStyle>
          <a:p xmlns:a="http://schemas.openxmlformats.org/drawingml/2006/main">
            <a:pPr>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Plot the points and extend the straight line in both directions</a:t>
            </a:r>
          </a:p>
        </p:txBody>
      </p:sp>
    </p:spTree>
    <p:extLst>
      <p:ext uri="{BB962C8B-B14F-4D97-AF65-F5344CB8AC3E}">
        <p14:creationId xmlns:p14="http://schemas.microsoft.com/office/powerpoint/2010/main" val="58552850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86B5F16-CC8E-415F-A2C9-21C2ACD52E81}"/>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1  Find a point</a:t>
            </a:r>
          </a:p>
        </p:txBody>
      </p:sp>
      <p:sp>
        <p:nvSpPr>
          <p:cNvPr id="2" name="page-number">
            <a:extLst xmlns:a="http://schemas.openxmlformats.org/drawingml/2006/main">
              <a:ext uri="{FF2B5EF4-FFF2-40B4-BE49-F238E27FC236}">
                <a16:creationId xmlns:a16="http://schemas.microsoft.com/office/drawing/2014/main" id="{5C12E2E5-D57D-4308-88BD-2DD83781A030}"/>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11</a:t>
            </a:r>
          </a:p>
        </p:txBody>
      </p:sp>
      <p:sp>
        <p:nvSpPr>
          <p:cNvPr id="3" name="lead">
            <a:extLst xmlns:a="http://schemas.openxmlformats.org/drawingml/2006/main">
              <a:ext uri="{FF2B5EF4-FFF2-40B4-BE49-F238E27FC236}">
                <a16:creationId xmlns:a16="http://schemas.microsoft.com/office/drawing/2014/main" id="{1CD64804-BC9A-4853-B6C8-95147E6C43CB}"/>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Write the vector equation. Then find the point when t = −2.</a:t>
            </a:r>
          </a:p>
        </p:txBody>
      </p:sp>
      <p:pic>
        <p:nvPicPr>
          <p:cNvPr id="4" name="equation-0" descr="LaTeX: P_0(2,-1),\qquad\vec m=[3,2]">
            <a:extLst xmlns:a="http://schemas.openxmlformats.org/drawingml/2006/main">
              <a:ext uri="{FF2B5EF4-FFF2-40B4-BE49-F238E27FC236}">
                <a16:creationId xmlns:a16="http://schemas.microsoft.com/office/drawing/2014/main" id="{3FB2E5C9-7991-4CF3-B93E-12D2BEF0671C}"/>
              </a:ext>
            </a:extLst>
          </p:cNvPr>
          <p:cNvPicPr>
            <a:picLocks xmlns:a="http://schemas.openxmlformats.org/drawingml/2006/main" noChangeAspect="1"/>
          </p:cNvPicPr>
          <p:nvPr/>
        </p:nvPicPr>
        <p:blipFill>
          <a:blip xmlns:r="http://schemas.openxmlformats.org/officeDocument/2006/relationships" xmlns:a="http://schemas.openxmlformats.org/drawingml/2006/main" r:embed="R2fb6d711f51942f0">
            <a:extLst>
              <a:ext uri="{96DAC541-7B7A-43D3-8B79-37D633B846F1}">
                <asvg:svgBlip xmlns:asvg="http://schemas.microsoft.com/office/drawing/2016/SVG/main" r:embed="Rab2a74876dd8406b"/>
              </a:ext>
            </a:extLst>
          </a:blip>
          <a:stretch xmlns:a="http://schemas.openxmlformats.org/drawingml/2006/main"/>
        </p:blipFill>
        <p:spPr>
          <a:xfrm xmlns:a="http://schemas.openxmlformats.org/drawingml/2006/main">
            <a:off x="685800" y="2571750"/>
            <a:ext cx="3979809" cy="436875"/>
          </a:xfrm>
          <a:prstGeom xmlns:a="http://schemas.openxmlformats.org/drawingml/2006/main" prst="rect">
            <a:avLst/>
          </a:prstGeom>
        </p:spPr>
      </p:pic>
      <p:sp>
        <p:nvSpPr>
          <p:cNvPr id="5" name="working-prompt-0">
            <a:extLst xmlns:a="http://schemas.openxmlformats.org/drawingml/2006/main">
              <a:ext uri="{FF2B5EF4-FFF2-40B4-BE49-F238E27FC236}">
                <a16:creationId xmlns:a16="http://schemas.microsoft.com/office/drawing/2014/main" id="{BFEBDA6F-F22A-40EC-A3AD-FE4FAA897CED}"/>
              </a:ext>
            </a:extLst>
          </p:cNvPr>
          <p:cNvSpPr>
            <a:spLocks xmlns:a="http://schemas.openxmlformats.org/drawingml/2006/main" noGrp="1"/>
          </p:cNvSpPr>
          <p:nvPr/>
        </p:nvSpPr>
        <p:spPr>
          <a:xfrm xmlns:a="http://schemas.openxmlformats.org/drawingml/2006/main">
            <a:off x="685800" y="41814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1  Write the known point as a position vector</a:t>
            </a:r>
          </a:p>
        </p:txBody>
      </p:sp>
      <p:sp>
        <p:nvSpPr>
          <p:cNvPr id="6" name="working-prompt-1">
            <a:extLst xmlns:a="http://schemas.openxmlformats.org/drawingml/2006/main">
              <a:ext uri="{FF2B5EF4-FFF2-40B4-BE49-F238E27FC236}">
                <a16:creationId xmlns:a16="http://schemas.microsoft.com/office/drawing/2014/main" id="{4E928136-568F-4F79-BF27-921D8231D690}"/>
              </a:ext>
            </a:extLst>
          </p:cNvPr>
          <p:cNvSpPr>
            <a:spLocks xmlns:a="http://schemas.openxmlformats.org/drawingml/2006/main" noGrp="1"/>
          </p:cNvSpPr>
          <p:nvPr/>
        </p:nvSpPr>
        <p:spPr>
          <a:xfrm xmlns:a="http://schemas.openxmlformats.org/drawingml/2006/main">
            <a:off x="685800" y="47244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2  Substitute t = −2 into both components</a:t>
            </a:r>
          </a:p>
        </p:txBody>
      </p:sp>
      <p:sp>
        <p:nvSpPr>
          <p:cNvPr id="7" name="practice-pause">
            <a:extLst xmlns:a="http://schemas.openxmlformats.org/drawingml/2006/main">
              <a:ext uri="{FF2B5EF4-FFF2-40B4-BE49-F238E27FC236}">
                <a16:creationId xmlns:a16="http://schemas.microsoft.com/office/drawing/2014/main" id="{F172E215-9D41-4DEE-B0E9-890BD5E5D8B7}"/>
              </a:ext>
            </a:extLst>
          </p:cNvPr>
          <p:cNvSpPr>
            <a:spLocks xmlns:a="http://schemas.openxmlformats.org/drawingml/2006/main" noGrp="1"/>
          </p:cNvSpPr>
          <p:nvPr/>
        </p:nvSpPr>
        <p:spPr>
          <a:xfrm xmlns:a="http://schemas.openxmlformats.org/drawingml/2006/main">
            <a:off x="685800" y="5667375"/>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78594495"/>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0723570-4B3D-4AC0-8EB6-B435AD8177AE}"/>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1  Solution</a:t>
            </a:r>
          </a:p>
        </p:txBody>
      </p:sp>
      <p:sp>
        <p:nvSpPr>
          <p:cNvPr id="2" name="page-number">
            <a:extLst xmlns:a="http://schemas.openxmlformats.org/drawingml/2006/main">
              <a:ext uri="{FF2B5EF4-FFF2-40B4-BE49-F238E27FC236}">
                <a16:creationId xmlns:a16="http://schemas.microsoft.com/office/drawing/2014/main" id="{1FA4E977-DE47-48BD-9A17-A05C1493ABC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12</a:t>
            </a:r>
          </a:p>
        </p:txBody>
      </p:sp>
      <p:sp>
        <p:nvSpPr>
          <p:cNvPr id="3" name="lead">
            <a:extLst xmlns:a="http://schemas.openxmlformats.org/drawingml/2006/main">
              <a:ext uri="{FF2B5EF4-FFF2-40B4-BE49-F238E27FC236}">
                <a16:creationId xmlns:a16="http://schemas.microsoft.com/office/drawing/2014/main" id="{5491B502-C38D-4CC2-8BA6-B23897BEEDD0}"/>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same value of t must give both coordinates.</a:t>
            </a:r>
          </a:p>
        </p:txBody>
      </p:sp>
      <p:pic>
        <p:nvPicPr>
          <p:cNvPr id="4" name="equation-0" descr="LaTeX: \vec r=[2,-1]+t[3,2]">
            <a:extLst xmlns:a="http://schemas.openxmlformats.org/drawingml/2006/main">
              <a:ext uri="{FF2B5EF4-FFF2-40B4-BE49-F238E27FC236}">
                <a16:creationId xmlns:a16="http://schemas.microsoft.com/office/drawing/2014/main" id="{80C847F6-EE1E-49BC-9347-2B73A0BEE305}"/>
              </a:ext>
            </a:extLst>
          </p:cNvPr>
          <p:cNvPicPr>
            <a:picLocks xmlns:a="http://schemas.openxmlformats.org/drawingml/2006/main" noChangeAspect="1"/>
          </p:cNvPicPr>
          <p:nvPr/>
        </p:nvPicPr>
        <p:blipFill>
          <a:blip xmlns:r="http://schemas.openxmlformats.org/officeDocument/2006/relationships" xmlns:a="http://schemas.openxmlformats.org/drawingml/2006/main" r:embed="R4866742ec5e34d58">
            <a:extLst>
              <a:ext uri="{96DAC541-7B7A-43D3-8B79-37D633B846F1}">
                <asvg:svgBlip xmlns:asvg="http://schemas.microsoft.com/office/drawing/2016/SVG/main" r:embed="Rf1a2565afa5141a5"/>
              </a:ext>
            </a:extLst>
          </a:blip>
          <a:stretch xmlns:a="http://schemas.openxmlformats.org/drawingml/2006/main"/>
        </p:blipFill>
        <p:spPr>
          <a:xfrm xmlns:a="http://schemas.openxmlformats.org/drawingml/2006/main">
            <a:off x="685800" y="2446351"/>
            <a:ext cx="3073151" cy="436875"/>
          </a:xfrm>
          <a:prstGeom xmlns:a="http://schemas.openxmlformats.org/drawingml/2006/main" prst="rect">
            <a:avLst/>
          </a:prstGeom>
        </p:spPr>
      </p:pic>
      <p:pic>
        <p:nvPicPr>
          <p:cNvPr id="5" name="equation-1" descr="LaTeX: t=-2:\quad\vec r=[2,-1]-2[3,2]">
            <a:extLst xmlns:a="http://schemas.openxmlformats.org/drawingml/2006/main">
              <a:ext uri="{FF2B5EF4-FFF2-40B4-BE49-F238E27FC236}">
                <a16:creationId xmlns:a16="http://schemas.microsoft.com/office/drawing/2014/main" id="{6178EFBB-D2EE-4D05-9E46-74C4CE2D9480}"/>
              </a:ext>
            </a:extLst>
          </p:cNvPr>
          <p:cNvPicPr>
            <a:picLocks xmlns:a="http://schemas.openxmlformats.org/drawingml/2006/main" noChangeAspect="1"/>
          </p:cNvPicPr>
          <p:nvPr/>
        </p:nvPicPr>
        <p:blipFill>
          <a:blip xmlns:r="http://schemas.openxmlformats.org/officeDocument/2006/relationships" xmlns:a="http://schemas.openxmlformats.org/drawingml/2006/main" r:embed="Ra68607d933a846e3">
            <a:extLst>
              <a:ext uri="{96DAC541-7B7A-43D3-8B79-37D633B846F1}">
                <asvg:svgBlip xmlns:asvg="http://schemas.microsoft.com/office/drawing/2016/SVG/main" r:embed="Re0be5462d4cc44b2"/>
              </a:ext>
            </a:extLst>
          </a:blip>
          <a:stretch xmlns:a="http://schemas.openxmlformats.org/drawingml/2006/main"/>
        </p:blipFill>
        <p:spPr>
          <a:xfrm xmlns:a="http://schemas.openxmlformats.org/drawingml/2006/main">
            <a:off x="685800" y="3149925"/>
            <a:ext cx="4928164" cy="436875"/>
          </a:xfrm>
          <a:prstGeom xmlns:a="http://schemas.openxmlformats.org/drawingml/2006/main" prst="rect">
            <a:avLst/>
          </a:prstGeom>
        </p:spPr>
      </p:pic>
      <p:pic>
        <p:nvPicPr>
          <p:cNvPr id="6" name="equation-2" descr="LaTeX: \vec r=[2,-1]+[-6,-4]">
            <a:extLst xmlns:a="http://schemas.openxmlformats.org/drawingml/2006/main">
              <a:ext uri="{FF2B5EF4-FFF2-40B4-BE49-F238E27FC236}">
                <a16:creationId xmlns:a16="http://schemas.microsoft.com/office/drawing/2014/main" id="{E1FF43F6-2D8B-47BA-AA5B-CA67E0A12B7E}"/>
              </a:ext>
            </a:extLst>
          </p:cNvPr>
          <p:cNvPicPr>
            <a:picLocks xmlns:a="http://schemas.openxmlformats.org/drawingml/2006/main" noChangeAspect="1"/>
          </p:cNvPicPr>
          <p:nvPr/>
        </p:nvPicPr>
        <p:blipFill>
          <a:blip xmlns:r="http://schemas.openxmlformats.org/officeDocument/2006/relationships" xmlns:a="http://schemas.openxmlformats.org/drawingml/2006/main" r:embed="R4ef61ff45acd4179">
            <a:extLst>
              <a:ext uri="{96DAC541-7B7A-43D3-8B79-37D633B846F1}">
                <asvg:svgBlip xmlns:asvg="http://schemas.microsoft.com/office/drawing/2016/SVG/main" r:embed="Rfbdbdfc04e79475f"/>
              </a:ext>
            </a:extLst>
          </a:blip>
          <a:stretch xmlns:a="http://schemas.openxmlformats.org/drawingml/2006/main"/>
        </p:blipFill>
        <p:spPr>
          <a:xfrm xmlns:a="http://schemas.openxmlformats.org/drawingml/2006/main">
            <a:off x="685800" y="3853500"/>
            <a:ext cx="3542477" cy="436875"/>
          </a:xfrm>
          <a:prstGeom xmlns:a="http://schemas.openxmlformats.org/drawingml/2006/main" prst="rect">
            <a:avLst/>
          </a:prstGeom>
        </p:spPr>
      </p:pic>
      <p:pic>
        <p:nvPicPr>
          <p:cNvPr id="7" name="equation-3" descr="LaTeX: \vec r=[2-6,-1-4]=[-4,-5]">
            <a:extLst xmlns:a="http://schemas.openxmlformats.org/drawingml/2006/main">
              <a:ext uri="{FF2B5EF4-FFF2-40B4-BE49-F238E27FC236}">
                <a16:creationId xmlns:a16="http://schemas.microsoft.com/office/drawing/2014/main" id="{F70CFA8C-E2E1-437E-A33F-98DC1E0E6EE3}"/>
              </a:ext>
            </a:extLst>
          </p:cNvPr>
          <p:cNvPicPr>
            <a:picLocks xmlns:a="http://schemas.openxmlformats.org/drawingml/2006/main" noChangeAspect="1"/>
          </p:cNvPicPr>
          <p:nvPr/>
        </p:nvPicPr>
        <p:blipFill>
          <a:blip xmlns:r="http://schemas.openxmlformats.org/officeDocument/2006/relationships" xmlns:a="http://schemas.openxmlformats.org/drawingml/2006/main" r:embed="R0a1211774d424f4b">
            <a:extLst>
              <a:ext uri="{96DAC541-7B7A-43D3-8B79-37D633B846F1}">
                <asvg:svgBlip xmlns:asvg="http://schemas.microsoft.com/office/drawing/2016/SVG/main" r:embed="R804bd80d183140f6"/>
              </a:ext>
            </a:extLst>
          </a:blip>
          <a:stretch xmlns:a="http://schemas.openxmlformats.org/drawingml/2006/main"/>
        </p:blipFill>
        <p:spPr>
          <a:xfrm xmlns:a="http://schemas.openxmlformats.org/drawingml/2006/main">
            <a:off x="685800" y="4557075"/>
            <a:ext cx="4898485" cy="436875"/>
          </a:xfrm>
          <a:prstGeom xmlns:a="http://schemas.openxmlformats.org/drawingml/2006/main" prst="rect">
            <a:avLst/>
          </a:prstGeom>
        </p:spPr>
      </p:pic>
      <p:pic>
        <p:nvPicPr>
          <p:cNvPr id="8" name="equation-4" descr="LaTeX: P(-4,-5)">
            <a:extLst xmlns:a="http://schemas.openxmlformats.org/drawingml/2006/main">
              <a:ext uri="{FF2B5EF4-FFF2-40B4-BE49-F238E27FC236}">
                <a16:creationId xmlns:a16="http://schemas.microsoft.com/office/drawing/2014/main" id="{9DD3D7DA-1C1F-4DB3-AA4E-655DDEC0B1A0}"/>
              </a:ext>
            </a:extLst>
          </p:cNvPr>
          <p:cNvPicPr>
            <a:picLocks xmlns:a="http://schemas.openxmlformats.org/drawingml/2006/main" noChangeAspect="1"/>
          </p:cNvPicPr>
          <p:nvPr/>
        </p:nvPicPr>
        <p:blipFill>
          <a:blip xmlns:r="http://schemas.openxmlformats.org/officeDocument/2006/relationships" xmlns:a="http://schemas.openxmlformats.org/drawingml/2006/main" r:embed="R24dc59c940024baf">
            <a:extLst>
              <a:ext uri="{96DAC541-7B7A-43D3-8B79-37D633B846F1}">
                <asvg:svgBlip xmlns:asvg="http://schemas.microsoft.com/office/drawing/2016/SVG/main" r:embed="R6a2ebc1304e64ad3"/>
              </a:ext>
            </a:extLst>
          </a:blip>
          <a:stretch xmlns:a="http://schemas.openxmlformats.org/drawingml/2006/main"/>
        </p:blipFill>
        <p:spPr>
          <a:xfrm xmlns:a="http://schemas.openxmlformats.org/drawingml/2006/main">
            <a:off x="685800" y="5260650"/>
            <a:ext cx="1759991" cy="436875"/>
          </a:xfrm>
          <a:prstGeom xmlns:a="http://schemas.openxmlformats.org/drawingml/2006/main" prst="rect">
            <a:avLst/>
          </a:prstGeom>
        </p:spPr>
      </p:pic>
    </p:spTree>
    <p:extLst>
      <p:ext uri="{BB962C8B-B14F-4D97-AF65-F5344CB8AC3E}">
        <p14:creationId xmlns:p14="http://schemas.microsoft.com/office/powerpoint/2010/main" val="95152014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A95BF5D-982A-4D7B-AF0B-30435605EEE7}"/>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Parametric equations</a:t>
            </a:r>
          </a:p>
        </p:txBody>
      </p:sp>
      <p:sp>
        <p:nvSpPr>
          <p:cNvPr id="2" name="page-number">
            <a:extLst xmlns:a="http://schemas.openxmlformats.org/drawingml/2006/main">
              <a:ext uri="{FF2B5EF4-FFF2-40B4-BE49-F238E27FC236}">
                <a16:creationId xmlns:a16="http://schemas.microsoft.com/office/drawing/2014/main" id="{689830CF-5555-4B30-820F-802A50799137}"/>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13</a:t>
            </a:r>
          </a:p>
        </p:txBody>
      </p:sp>
      <p:sp>
        <p:nvSpPr>
          <p:cNvPr id="3" name="lead">
            <a:extLst xmlns:a="http://schemas.openxmlformats.org/drawingml/2006/main">
              <a:ext uri="{FF2B5EF4-FFF2-40B4-BE49-F238E27FC236}">
                <a16:creationId xmlns:a16="http://schemas.microsoft.com/office/drawing/2014/main" id="{85918005-2081-44C5-BE6F-534BA9C9B713}"/>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Read corresponding components of the vector equation.</a:t>
            </a:r>
          </a:p>
        </p:txBody>
      </p:sp>
      <p:pic>
        <p:nvPicPr>
          <p:cNvPr id="4" name="equation-0" descr="LaTeX: [x,y]=[x_0,y_0]+t[m_1,m_2]">
            <a:extLst xmlns:a="http://schemas.openxmlformats.org/drawingml/2006/main">
              <a:ext uri="{FF2B5EF4-FFF2-40B4-BE49-F238E27FC236}">
                <a16:creationId xmlns:a16="http://schemas.microsoft.com/office/drawing/2014/main" id="{3FD4A393-58A5-47C8-8BF2-D78EFCAB5BBC}"/>
              </a:ext>
            </a:extLst>
          </p:cNvPr>
          <p:cNvPicPr>
            <a:picLocks xmlns:a="http://schemas.openxmlformats.org/drawingml/2006/main" noChangeAspect="1"/>
          </p:cNvPicPr>
          <p:nvPr/>
        </p:nvPicPr>
        <p:blipFill>
          <a:blip xmlns:r="http://schemas.openxmlformats.org/officeDocument/2006/relationships" xmlns:a="http://schemas.openxmlformats.org/drawingml/2006/main" r:embed="Rc89adba798e346bd">
            <a:extLst>
              <a:ext uri="{96DAC541-7B7A-43D3-8B79-37D633B846F1}">
                <asvg:svgBlip xmlns:asvg="http://schemas.microsoft.com/office/drawing/2016/SVG/main" r:embed="Rd366d2d430374098"/>
              </a:ext>
            </a:extLst>
          </a:blip>
          <a:stretch xmlns:a="http://schemas.openxmlformats.org/drawingml/2006/main"/>
        </p:blipFill>
        <p:spPr>
          <a:xfrm xmlns:a="http://schemas.openxmlformats.org/drawingml/2006/main">
            <a:off x="685800" y="2866072"/>
            <a:ext cx="4255563" cy="436875"/>
          </a:xfrm>
          <a:prstGeom xmlns:a="http://schemas.openxmlformats.org/drawingml/2006/main" prst="rect">
            <a:avLst/>
          </a:prstGeom>
        </p:spPr>
      </p:pic>
      <p:pic>
        <p:nvPicPr>
          <p:cNvPr id="5" name="equation-1" descr="LaTeX: [x,y]=[x_0+tm_1,\ y_0+tm_2]">
            <a:extLst xmlns:a="http://schemas.openxmlformats.org/drawingml/2006/main">
              <a:ext uri="{FF2B5EF4-FFF2-40B4-BE49-F238E27FC236}">
                <a16:creationId xmlns:a16="http://schemas.microsoft.com/office/drawing/2014/main" id="{6414B2B9-36BF-4EC0-BF04-047E4749ADCD}"/>
              </a:ext>
            </a:extLst>
          </p:cNvPr>
          <p:cNvPicPr>
            <a:picLocks xmlns:a="http://schemas.openxmlformats.org/drawingml/2006/main" noChangeAspect="1"/>
          </p:cNvPicPr>
          <p:nvPr/>
        </p:nvPicPr>
        <p:blipFill>
          <a:blip xmlns:r="http://schemas.openxmlformats.org/officeDocument/2006/relationships" xmlns:a="http://schemas.openxmlformats.org/drawingml/2006/main" r:embed="R5e08e554267d43ac">
            <a:extLst>
              <a:ext uri="{96DAC541-7B7A-43D3-8B79-37D633B846F1}">
                <asvg:svgBlip xmlns:asvg="http://schemas.microsoft.com/office/drawing/2016/SVG/main" r:embed="Raa44d859784d4dc4"/>
              </a:ext>
            </a:extLst>
          </a:blip>
          <a:stretch xmlns:a="http://schemas.openxmlformats.org/drawingml/2006/main"/>
        </p:blipFill>
        <p:spPr>
          <a:xfrm xmlns:a="http://schemas.openxmlformats.org/drawingml/2006/main">
            <a:off x="685800" y="3569647"/>
            <a:ext cx="4599890" cy="436875"/>
          </a:xfrm>
          <a:prstGeom xmlns:a="http://schemas.openxmlformats.org/drawingml/2006/main" prst="rect">
            <a:avLst/>
          </a:prstGeom>
        </p:spPr>
      </p:pic>
      <p:pic>
        <p:nvPicPr>
          <p:cNvPr id="6" name="equation-2" descr="LaTeX: x=x_0+tm_1,\qquad y=y_0+tm_2">
            <a:extLst xmlns:a="http://schemas.openxmlformats.org/drawingml/2006/main">
              <a:ext uri="{FF2B5EF4-FFF2-40B4-BE49-F238E27FC236}">
                <a16:creationId xmlns:a16="http://schemas.microsoft.com/office/drawing/2014/main" id="{CE265426-22C8-4E62-9B99-E5FC57E0FE2D}"/>
              </a:ext>
            </a:extLst>
          </p:cNvPr>
          <p:cNvPicPr>
            <a:picLocks xmlns:a="http://schemas.openxmlformats.org/drawingml/2006/main" noChangeAspect="1"/>
          </p:cNvPicPr>
          <p:nvPr/>
        </p:nvPicPr>
        <p:blipFill>
          <a:blip xmlns:r="http://schemas.openxmlformats.org/officeDocument/2006/relationships" xmlns:a="http://schemas.openxmlformats.org/drawingml/2006/main" r:embed="Rfcb7b17a1bd24d8a">
            <a:extLst>
              <a:ext uri="{96DAC541-7B7A-43D3-8B79-37D633B846F1}">
                <asvg:svgBlip xmlns:asvg="http://schemas.microsoft.com/office/drawing/2016/SVG/main" r:embed="Ra5540d953b55428b"/>
              </a:ext>
            </a:extLst>
          </a:blip>
          <a:stretch xmlns:a="http://schemas.openxmlformats.org/drawingml/2006/main"/>
        </p:blipFill>
        <p:spPr>
          <a:xfrm xmlns:a="http://schemas.openxmlformats.org/drawingml/2006/main">
            <a:off x="685800" y="4273222"/>
            <a:ext cx="5135125" cy="363183"/>
          </a:xfrm>
          <a:prstGeom xmlns:a="http://schemas.openxmlformats.org/drawingml/2006/main" prst="rect">
            <a:avLst/>
          </a:prstGeom>
        </p:spPr>
      </p:pic>
      <p:pic>
        <p:nvPicPr>
          <p:cNvPr id="7" name="equation-3" descr="LaTeX: x=5+6t,\qquad y=7+11t">
            <a:extLst xmlns:a="http://schemas.openxmlformats.org/drawingml/2006/main">
              <a:ext uri="{FF2B5EF4-FFF2-40B4-BE49-F238E27FC236}">
                <a16:creationId xmlns:a16="http://schemas.microsoft.com/office/drawing/2014/main" id="{1CF7B4BB-3B3A-4464-9D47-FFCBB9ACFC05}"/>
              </a:ext>
            </a:extLst>
          </p:cNvPr>
          <p:cNvPicPr>
            <a:picLocks xmlns:a="http://schemas.openxmlformats.org/drawingml/2006/main" noChangeAspect="1"/>
          </p:cNvPicPr>
          <p:nvPr/>
        </p:nvPicPr>
        <p:blipFill>
          <a:blip xmlns:r="http://schemas.openxmlformats.org/officeDocument/2006/relationships" xmlns:a="http://schemas.openxmlformats.org/drawingml/2006/main" r:embed="R14698149ee0f4775">
            <a:extLst>
              <a:ext uri="{96DAC541-7B7A-43D3-8B79-37D633B846F1}">
                <asvg:svgBlip xmlns:asvg="http://schemas.microsoft.com/office/drawing/2016/SVG/main" r:embed="Rd788359da8d7494a"/>
              </a:ext>
            </a:extLst>
          </a:blip>
          <a:stretch xmlns:a="http://schemas.openxmlformats.org/drawingml/2006/main"/>
        </p:blipFill>
        <p:spPr>
          <a:xfrm xmlns:a="http://schemas.openxmlformats.org/drawingml/2006/main">
            <a:off x="685800" y="4903105"/>
            <a:ext cx="4429081" cy="374698"/>
          </a:xfrm>
          <a:prstGeom xmlns:a="http://schemas.openxmlformats.org/drawingml/2006/main" prst="rect">
            <a:avLst/>
          </a:prstGeom>
        </p:spPr>
      </p:pic>
      <p:sp>
        <p:nvSpPr>
          <p:cNvPr id="8" name="takeaway">
            <a:extLst xmlns:a="http://schemas.openxmlformats.org/drawingml/2006/main">
              <a:ext uri="{FF2B5EF4-FFF2-40B4-BE49-F238E27FC236}">
                <a16:creationId xmlns:a16="http://schemas.microsoft.com/office/drawing/2014/main" id="{E4D840FE-5F4F-4224-A591-39A8C8EA5D28}"/>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One point uses one shared parameter in every coordinate.</a:t>
            </a:r>
          </a:p>
        </p:txBody>
      </p:sp>
    </p:spTree>
    <p:extLst>
      <p:ext uri="{BB962C8B-B14F-4D97-AF65-F5344CB8AC3E}">
        <p14:creationId xmlns:p14="http://schemas.microsoft.com/office/powerpoint/2010/main" val="17231780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90ADECC-CFB2-4854-BF3D-0060097B8FDD}"/>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Parametric equations in three dimensions</a:t>
            </a:r>
          </a:p>
        </p:txBody>
      </p:sp>
      <p:sp>
        <p:nvSpPr>
          <p:cNvPr id="2" name="page-number">
            <a:extLst xmlns:a="http://schemas.openxmlformats.org/drawingml/2006/main">
              <a:ext uri="{FF2B5EF4-FFF2-40B4-BE49-F238E27FC236}">
                <a16:creationId xmlns:a16="http://schemas.microsoft.com/office/drawing/2014/main" id="{F70B9AA8-8BC6-456D-A310-BEF4A1440D48}"/>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14</a:t>
            </a:r>
          </a:p>
        </p:txBody>
      </p:sp>
      <p:sp>
        <p:nvSpPr>
          <p:cNvPr id="3" name="lead">
            <a:extLst xmlns:a="http://schemas.openxmlformats.org/drawingml/2006/main">
              <a:ext uri="{FF2B5EF4-FFF2-40B4-BE49-F238E27FC236}">
                <a16:creationId xmlns:a16="http://schemas.microsoft.com/office/drawing/2014/main" id="{CB92DD84-724A-4283-8624-321A4AE78637}"/>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Read the corresponding components, using the same t.</a:t>
            </a:r>
          </a:p>
        </p:txBody>
      </p:sp>
      <p:pic>
        <p:nvPicPr>
          <p:cNvPr id="4" name="equation-0" descr="LaTeX: [x,y,z]=[x_0,y_0,z_0]+t[m_1,m_2,m_3]">
            <a:extLst xmlns:a="http://schemas.openxmlformats.org/drawingml/2006/main">
              <a:ext uri="{FF2B5EF4-FFF2-40B4-BE49-F238E27FC236}">
                <a16:creationId xmlns:a16="http://schemas.microsoft.com/office/drawing/2014/main" id="{259F4AC8-7B83-44CB-AA7B-797D5AD5E687}"/>
              </a:ext>
            </a:extLst>
          </p:cNvPr>
          <p:cNvPicPr>
            <a:picLocks xmlns:a="http://schemas.openxmlformats.org/drawingml/2006/main" noChangeAspect="1"/>
          </p:cNvPicPr>
          <p:nvPr/>
        </p:nvPicPr>
        <p:blipFill>
          <a:blip xmlns:r="http://schemas.openxmlformats.org/officeDocument/2006/relationships" xmlns:a="http://schemas.openxmlformats.org/drawingml/2006/main" r:embed="R200a99a5a52e45d9">
            <a:extLst>
              <a:ext uri="{96DAC541-7B7A-43D3-8B79-37D633B846F1}">
                <asvg:svgBlip xmlns:asvg="http://schemas.microsoft.com/office/drawing/2016/SVG/main" r:embed="R458c9e72696c463d"/>
              </a:ext>
            </a:extLst>
          </a:blip>
          <a:stretch xmlns:a="http://schemas.openxmlformats.org/drawingml/2006/main"/>
        </p:blipFill>
        <p:spPr>
          <a:xfrm xmlns:a="http://schemas.openxmlformats.org/drawingml/2006/main">
            <a:off x="685800" y="2926036"/>
            <a:ext cx="5740887" cy="436875"/>
          </a:xfrm>
          <a:prstGeom xmlns:a="http://schemas.openxmlformats.org/drawingml/2006/main" prst="rect">
            <a:avLst/>
          </a:prstGeom>
        </p:spPr>
      </p:pic>
      <p:pic>
        <p:nvPicPr>
          <p:cNvPr id="5" name="equation-1" descr="LaTeX: x=x_0+tm_1">
            <a:extLst xmlns:a="http://schemas.openxmlformats.org/drawingml/2006/main">
              <a:ext uri="{FF2B5EF4-FFF2-40B4-BE49-F238E27FC236}">
                <a16:creationId xmlns:a16="http://schemas.microsoft.com/office/drawing/2014/main" id="{6D0FACDB-3FFA-4824-9AE4-38E8A8D9A1BD}"/>
              </a:ext>
            </a:extLst>
          </p:cNvPr>
          <p:cNvPicPr>
            <a:picLocks xmlns:a="http://schemas.openxmlformats.org/drawingml/2006/main" noChangeAspect="1"/>
          </p:cNvPicPr>
          <p:nvPr/>
        </p:nvPicPr>
        <p:blipFill>
          <a:blip xmlns:r="http://schemas.openxmlformats.org/officeDocument/2006/relationships" xmlns:a="http://schemas.openxmlformats.org/drawingml/2006/main" r:embed="Re882d816d4274529">
            <a:extLst>
              <a:ext uri="{96DAC541-7B7A-43D3-8B79-37D633B846F1}">
                <asvg:svgBlip xmlns:asvg="http://schemas.microsoft.com/office/drawing/2016/SVG/main" r:embed="R473e3125b5074212"/>
              </a:ext>
            </a:extLst>
          </a:blip>
          <a:stretch xmlns:a="http://schemas.openxmlformats.org/drawingml/2006/main"/>
        </p:blipFill>
        <p:spPr>
          <a:xfrm xmlns:a="http://schemas.openxmlformats.org/drawingml/2006/main">
            <a:off x="685800" y="3629610"/>
            <a:ext cx="2171157" cy="345823"/>
          </a:xfrm>
          <a:prstGeom xmlns:a="http://schemas.openxmlformats.org/drawingml/2006/main" prst="rect">
            <a:avLst/>
          </a:prstGeom>
        </p:spPr>
      </p:pic>
      <p:pic>
        <p:nvPicPr>
          <p:cNvPr id="6" name="equation-2" descr="LaTeX: y=y_0+tm_2">
            <a:extLst xmlns:a="http://schemas.openxmlformats.org/drawingml/2006/main">
              <a:ext uri="{FF2B5EF4-FFF2-40B4-BE49-F238E27FC236}">
                <a16:creationId xmlns:a16="http://schemas.microsoft.com/office/drawing/2014/main" id="{36AC0EBF-0EAA-424B-8E80-F3181015488E}"/>
              </a:ext>
            </a:extLst>
          </p:cNvPr>
          <p:cNvPicPr>
            <a:picLocks xmlns:a="http://schemas.openxmlformats.org/drawingml/2006/main" noChangeAspect="1"/>
          </p:cNvPicPr>
          <p:nvPr/>
        </p:nvPicPr>
        <p:blipFill>
          <a:blip xmlns:r="http://schemas.openxmlformats.org/officeDocument/2006/relationships" xmlns:a="http://schemas.openxmlformats.org/drawingml/2006/main" r:embed="R6b6736702aa44a87">
            <a:extLst>
              <a:ext uri="{96DAC541-7B7A-43D3-8B79-37D633B846F1}">
                <asvg:svgBlip xmlns:asvg="http://schemas.microsoft.com/office/drawing/2016/SVG/main" r:embed="Rc4eb629169d94b53"/>
              </a:ext>
            </a:extLst>
          </a:blip>
          <a:stretch xmlns:a="http://schemas.openxmlformats.org/drawingml/2006/main"/>
        </p:blipFill>
        <p:spPr>
          <a:xfrm xmlns:a="http://schemas.openxmlformats.org/drawingml/2006/main">
            <a:off x="685800" y="4242133"/>
            <a:ext cx="2123473" cy="363183"/>
          </a:xfrm>
          <a:prstGeom xmlns:a="http://schemas.openxmlformats.org/drawingml/2006/main" prst="rect">
            <a:avLst/>
          </a:prstGeom>
        </p:spPr>
      </p:pic>
      <p:pic>
        <p:nvPicPr>
          <p:cNvPr id="7" name="equation-3" descr="LaTeX: z=z_0+tm_3">
            <a:extLst xmlns:a="http://schemas.openxmlformats.org/drawingml/2006/main">
              <a:ext uri="{FF2B5EF4-FFF2-40B4-BE49-F238E27FC236}">
                <a16:creationId xmlns:a16="http://schemas.microsoft.com/office/drawing/2014/main" id="{1F7D2DCF-04B3-46C9-AC79-412E0DE3252A}"/>
              </a:ext>
            </a:extLst>
          </p:cNvPr>
          <p:cNvPicPr>
            <a:picLocks xmlns:a="http://schemas.openxmlformats.org/drawingml/2006/main" noChangeAspect="1"/>
          </p:cNvPicPr>
          <p:nvPr/>
        </p:nvPicPr>
        <p:blipFill>
          <a:blip xmlns:r="http://schemas.openxmlformats.org/officeDocument/2006/relationships" xmlns:a="http://schemas.openxmlformats.org/drawingml/2006/main" r:embed="Rcd188c252ea34608">
            <a:extLst>
              <a:ext uri="{96DAC541-7B7A-43D3-8B79-37D633B846F1}">
                <asvg:svgBlip xmlns:asvg="http://schemas.microsoft.com/office/drawing/2016/SVG/main" r:embed="R81dcb881cb9347cf"/>
              </a:ext>
            </a:extLst>
          </a:blip>
          <a:stretch xmlns:a="http://schemas.openxmlformats.org/drawingml/2006/main"/>
        </p:blipFill>
        <p:spPr>
          <a:xfrm xmlns:a="http://schemas.openxmlformats.org/drawingml/2006/main">
            <a:off x="685800" y="4872016"/>
            <a:ext cx="2109232" cy="345823"/>
          </a:xfrm>
          <a:prstGeom xmlns:a="http://schemas.openxmlformats.org/drawingml/2006/main" prst="rect">
            <a:avLst/>
          </a:prstGeom>
        </p:spPr>
      </p:pic>
    </p:spTree>
    <p:extLst>
      <p:ext uri="{BB962C8B-B14F-4D97-AF65-F5344CB8AC3E}">
        <p14:creationId xmlns:p14="http://schemas.microsoft.com/office/powerpoint/2010/main" val="132114406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81602F7D-81A4-40B6-808B-906AED9B3FBC}"/>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Symmetric form</a:t>
            </a:r>
          </a:p>
        </p:txBody>
      </p:sp>
      <p:sp>
        <p:nvSpPr>
          <p:cNvPr id="2" name="page-number">
            <a:extLst xmlns:a="http://schemas.openxmlformats.org/drawingml/2006/main">
              <a:ext uri="{FF2B5EF4-FFF2-40B4-BE49-F238E27FC236}">
                <a16:creationId xmlns:a16="http://schemas.microsoft.com/office/drawing/2014/main" id="{823CF03C-097E-448E-AE60-A741F285FF8F}"/>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15</a:t>
            </a:r>
          </a:p>
        </p:txBody>
      </p:sp>
      <p:sp>
        <p:nvSpPr>
          <p:cNvPr id="3" name="lead">
            <a:extLst xmlns:a="http://schemas.openxmlformats.org/drawingml/2006/main">
              <a:ext uri="{FF2B5EF4-FFF2-40B4-BE49-F238E27FC236}">
                <a16:creationId xmlns:a16="http://schemas.microsoft.com/office/drawing/2014/main" id="{6B37C9ED-F09C-4325-9012-89227A8C1991}"/>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Make t the subject of each coordinate equation.</a:t>
            </a:r>
          </a:p>
        </p:txBody>
      </p:sp>
      <p:pic>
        <p:nvPicPr>
          <p:cNvPr id="4" name="equation-0" descr="LaTeX: x=x_0+tm_1,\qquad y=y_0+tm_2">
            <a:extLst xmlns:a="http://schemas.openxmlformats.org/drawingml/2006/main">
              <a:ext uri="{FF2B5EF4-FFF2-40B4-BE49-F238E27FC236}">
                <a16:creationId xmlns:a16="http://schemas.microsoft.com/office/drawing/2014/main" id="{246B5255-68AA-49B0-B0D4-4279F197B4B9}"/>
              </a:ext>
            </a:extLst>
          </p:cNvPr>
          <p:cNvPicPr>
            <a:picLocks xmlns:a="http://schemas.openxmlformats.org/drawingml/2006/main" noChangeAspect="1"/>
          </p:cNvPicPr>
          <p:nvPr/>
        </p:nvPicPr>
        <p:blipFill>
          <a:blip xmlns:r="http://schemas.openxmlformats.org/officeDocument/2006/relationships" xmlns:a="http://schemas.openxmlformats.org/drawingml/2006/main" r:embed="R74dbfe01f1064414">
            <a:extLst>
              <a:ext uri="{96DAC541-7B7A-43D3-8B79-37D633B846F1}">
                <asvg:svgBlip xmlns:asvg="http://schemas.microsoft.com/office/drawing/2016/SVG/main" r:embed="R4a0eacad55b04d3e"/>
              </a:ext>
            </a:extLst>
          </a:blip>
          <a:stretch xmlns:a="http://schemas.openxmlformats.org/drawingml/2006/main"/>
        </p:blipFill>
        <p:spPr>
          <a:xfrm xmlns:a="http://schemas.openxmlformats.org/drawingml/2006/main">
            <a:off x="685800" y="2333625"/>
            <a:ext cx="3763641" cy="266184"/>
          </a:xfrm>
          <a:prstGeom xmlns:a="http://schemas.openxmlformats.org/drawingml/2006/main" prst="rect">
            <a:avLst/>
          </a:prstGeom>
        </p:spPr>
      </p:pic>
      <p:pic>
        <p:nvPicPr>
          <p:cNvPr id="5" name="equation-1" descr="LaTeX: x-x_0=tm_1,\qquad y-y_0=tm_2">
            <a:extLst xmlns:a="http://schemas.openxmlformats.org/drawingml/2006/main">
              <a:ext uri="{FF2B5EF4-FFF2-40B4-BE49-F238E27FC236}">
                <a16:creationId xmlns:a16="http://schemas.microsoft.com/office/drawing/2014/main" id="{EF7B423E-3971-4B95-ABAA-835667EA1D8C}"/>
              </a:ext>
            </a:extLst>
          </p:cNvPr>
          <p:cNvPicPr>
            <a:picLocks xmlns:a="http://schemas.openxmlformats.org/drawingml/2006/main" noChangeAspect="1"/>
          </p:cNvPicPr>
          <p:nvPr/>
        </p:nvPicPr>
        <p:blipFill>
          <a:blip xmlns:r="http://schemas.openxmlformats.org/officeDocument/2006/relationships" xmlns:a="http://schemas.openxmlformats.org/drawingml/2006/main" r:embed="R7f72d57650a449c6">
            <a:extLst>
              <a:ext uri="{96DAC541-7B7A-43D3-8B79-37D633B846F1}">
                <asvg:svgBlip xmlns:asvg="http://schemas.microsoft.com/office/drawing/2016/SVG/main" r:embed="Rede4133d1c8a4da5"/>
              </a:ext>
            </a:extLst>
          </a:blip>
          <a:stretch xmlns:a="http://schemas.openxmlformats.org/drawingml/2006/main"/>
        </p:blipFill>
        <p:spPr>
          <a:xfrm xmlns:a="http://schemas.openxmlformats.org/drawingml/2006/main">
            <a:off x="685800" y="2866509"/>
            <a:ext cx="3796800" cy="266184"/>
          </a:xfrm>
          <a:prstGeom xmlns:a="http://schemas.openxmlformats.org/drawingml/2006/main" prst="rect">
            <a:avLst/>
          </a:prstGeom>
        </p:spPr>
      </p:pic>
      <p:pic>
        <p:nvPicPr>
          <p:cNvPr id="6" name="equation-2" descr="LaTeX: \frac{x-x_0}{m_1}=t,\qquad\frac{y-y_0}{m_2}=t">
            <a:extLst xmlns:a="http://schemas.openxmlformats.org/drawingml/2006/main">
              <a:ext uri="{FF2B5EF4-FFF2-40B4-BE49-F238E27FC236}">
                <a16:creationId xmlns:a16="http://schemas.microsoft.com/office/drawing/2014/main" id="{252D5AA6-9CF7-4F8D-8428-5F212D897F45}"/>
              </a:ext>
            </a:extLst>
          </p:cNvPr>
          <p:cNvPicPr>
            <a:picLocks xmlns:a="http://schemas.openxmlformats.org/drawingml/2006/main" noChangeAspect="1"/>
          </p:cNvPicPr>
          <p:nvPr/>
        </p:nvPicPr>
        <p:blipFill>
          <a:blip xmlns:r="http://schemas.openxmlformats.org/officeDocument/2006/relationships" xmlns:a="http://schemas.openxmlformats.org/drawingml/2006/main" r:embed="Rbe6fbf61c2594fde">
            <a:extLst>
              <a:ext uri="{96DAC541-7B7A-43D3-8B79-37D633B846F1}">
                <asvg:svgBlip xmlns:asvg="http://schemas.microsoft.com/office/drawing/2016/SVG/main" r:embed="R7c60e8fbb610410d"/>
              </a:ext>
            </a:extLst>
          </a:blip>
          <a:stretch xmlns:a="http://schemas.openxmlformats.org/drawingml/2006/main"/>
        </p:blipFill>
        <p:spPr>
          <a:xfrm xmlns:a="http://schemas.openxmlformats.org/drawingml/2006/main">
            <a:off x="685800" y="3399394"/>
            <a:ext cx="3167991" cy="634282"/>
          </a:xfrm>
          <a:prstGeom xmlns:a="http://schemas.openxmlformats.org/drawingml/2006/main" prst="rect">
            <a:avLst/>
          </a:prstGeom>
        </p:spPr>
      </p:pic>
      <p:pic>
        <p:nvPicPr>
          <p:cNvPr id="7" name="equation-3" descr="LaTeX: \frac{x-x_0}{m_1}=\frac{y-y_0}{m_2}">
            <a:extLst xmlns:a="http://schemas.openxmlformats.org/drawingml/2006/main">
              <a:ext uri="{FF2B5EF4-FFF2-40B4-BE49-F238E27FC236}">
                <a16:creationId xmlns:a16="http://schemas.microsoft.com/office/drawing/2014/main" id="{D53589D3-2346-4DF4-A10E-55AF0B5371F5}"/>
              </a:ext>
            </a:extLst>
          </p:cNvPr>
          <p:cNvPicPr>
            <a:picLocks xmlns:a="http://schemas.openxmlformats.org/drawingml/2006/main" noChangeAspect="1"/>
          </p:cNvPicPr>
          <p:nvPr/>
        </p:nvPicPr>
        <p:blipFill>
          <a:blip xmlns:r="http://schemas.openxmlformats.org/officeDocument/2006/relationships" xmlns:a="http://schemas.openxmlformats.org/drawingml/2006/main" r:embed="R141a05c2659147a3">
            <a:extLst>
              <a:ext uri="{96DAC541-7B7A-43D3-8B79-37D633B846F1}">
                <asvg:svgBlip xmlns:asvg="http://schemas.microsoft.com/office/drawing/2016/SVG/main" r:embed="R1080b2be211c420d"/>
              </a:ext>
            </a:extLst>
          </a:blip>
          <a:stretch xmlns:a="http://schemas.openxmlformats.org/drawingml/2006/main"/>
        </p:blipFill>
        <p:spPr>
          <a:xfrm xmlns:a="http://schemas.openxmlformats.org/drawingml/2006/main">
            <a:off x="685800" y="4300375"/>
            <a:ext cx="1950090" cy="634282"/>
          </a:xfrm>
          <a:prstGeom xmlns:a="http://schemas.openxmlformats.org/drawingml/2006/main" prst="rect">
            <a:avLst/>
          </a:prstGeom>
        </p:spPr>
      </p:pic>
      <p:pic>
        <p:nvPicPr>
          <p:cNvPr id="8" name="equation-4" descr="LaTeX: \frac{x-5}{6}=\frac{y-7}{11}">
            <a:extLst xmlns:a="http://schemas.openxmlformats.org/drawingml/2006/main">
              <a:ext uri="{FF2B5EF4-FFF2-40B4-BE49-F238E27FC236}">
                <a16:creationId xmlns:a16="http://schemas.microsoft.com/office/drawing/2014/main" id="{A8FE21C0-4033-4B38-BA6D-8AC77F1BE718}"/>
              </a:ext>
            </a:extLst>
          </p:cNvPr>
          <p:cNvPicPr>
            <a:picLocks xmlns:a="http://schemas.openxmlformats.org/drawingml/2006/main" noChangeAspect="1"/>
          </p:cNvPicPr>
          <p:nvPr/>
        </p:nvPicPr>
        <p:blipFill>
          <a:blip xmlns:r="http://schemas.openxmlformats.org/officeDocument/2006/relationships" xmlns:a="http://schemas.openxmlformats.org/drawingml/2006/main" r:embed="R7b2e65781d67483d">
            <a:extLst>
              <a:ext uri="{96DAC541-7B7A-43D3-8B79-37D633B846F1}">
                <asvg:svgBlip xmlns:asvg="http://schemas.microsoft.com/office/drawing/2016/SVG/main" r:embed="Ra9d9553911f349c1"/>
              </a:ext>
            </a:extLst>
          </a:blip>
          <a:stretch xmlns:a="http://schemas.openxmlformats.org/drawingml/2006/main"/>
        </p:blipFill>
        <p:spPr>
          <a:xfrm xmlns:a="http://schemas.openxmlformats.org/drawingml/2006/main">
            <a:off x="685800" y="5201357"/>
            <a:ext cx="1722907" cy="608893"/>
          </a:xfrm>
          <a:prstGeom xmlns:a="http://schemas.openxmlformats.org/drawingml/2006/main" prst="rect">
            <a:avLst/>
          </a:prstGeom>
        </p:spPr>
      </p:pic>
      <p:sp>
        <p:nvSpPr>
          <p:cNvPr id="9" name="condition">
            <a:extLst xmlns:a="http://schemas.openxmlformats.org/drawingml/2006/main">
              <a:ext uri="{FF2B5EF4-FFF2-40B4-BE49-F238E27FC236}">
                <a16:creationId xmlns:a16="http://schemas.microsoft.com/office/drawing/2014/main" id="{3A254AE4-FEE3-4F4E-86D9-C0A7E87E6A60}"/>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Use only nonzero direction components as denominators</a:t>
            </a:r>
          </a:p>
        </p:txBody>
      </p:sp>
    </p:spTree>
    <p:extLst>
      <p:ext uri="{BB962C8B-B14F-4D97-AF65-F5344CB8AC3E}">
        <p14:creationId xmlns:p14="http://schemas.microsoft.com/office/powerpoint/2010/main" val="126336741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8A9B416-FCC1-42D1-AD90-46483636CAEA}"/>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Symmetric form in three dimensions</a:t>
            </a:r>
          </a:p>
        </p:txBody>
      </p:sp>
      <p:sp>
        <p:nvSpPr>
          <p:cNvPr id="2" name="page-number">
            <a:extLst xmlns:a="http://schemas.openxmlformats.org/drawingml/2006/main">
              <a:ext uri="{FF2B5EF4-FFF2-40B4-BE49-F238E27FC236}">
                <a16:creationId xmlns:a16="http://schemas.microsoft.com/office/drawing/2014/main" id="{69C0FEC3-4B43-45A5-827C-7E7AE22B6063}"/>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16</a:t>
            </a:r>
          </a:p>
        </p:txBody>
      </p:sp>
      <p:sp>
        <p:nvSpPr>
          <p:cNvPr id="3" name="lead">
            <a:extLst xmlns:a="http://schemas.openxmlformats.org/drawingml/2006/main">
              <a:ext uri="{FF2B5EF4-FFF2-40B4-BE49-F238E27FC236}">
                <a16:creationId xmlns:a16="http://schemas.microsoft.com/office/drawing/2014/main" id="{9F3C2658-3D9A-4A08-B06E-AB2CF3C75D61}"/>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Make the same parameter the subject of all three equations.</a:t>
            </a:r>
          </a:p>
        </p:txBody>
      </p:sp>
      <p:pic>
        <p:nvPicPr>
          <p:cNvPr id="4" name="equation-0" descr="LaTeX: x=1+2t,\quad y=3-5t,\quad z=6+4t">
            <a:extLst xmlns:a="http://schemas.openxmlformats.org/drawingml/2006/main">
              <a:ext uri="{FF2B5EF4-FFF2-40B4-BE49-F238E27FC236}">
                <a16:creationId xmlns:a16="http://schemas.microsoft.com/office/drawing/2014/main" id="{78FFF17D-4665-41B7-8D4C-B15604B464B1}"/>
              </a:ext>
            </a:extLst>
          </p:cNvPr>
          <p:cNvPicPr>
            <a:picLocks xmlns:a="http://schemas.openxmlformats.org/drawingml/2006/main" noChangeAspect="1"/>
          </p:cNvPicPr>
          <p:nvPr/>
        </p:nvPicPr>
        <p:blipFill>
          <a:blip xmlns:r="http://schemas.openxmlformats.org/officeDocument/2006/relationships" xmlns:a="http://schemas.openxmlformats.org/drawingml/2006/main" r:embed="R34ab41ddc2f340da">
            <a:extLst>
              <a:ext uri="{96DAC541-7B7A-43D3-8B79-37D633B846F1}">
                <asvg:svgBlip xmlns:asvg="http://schemas.microsoft.com/office/drawing/2016/SVG/main" r:embed="R2051a78175954c42"/>
              </a:ext>
            </a:extLst>
          </a:blip>
          <a:stretch xmlns:a="http://schemas.openxmlformats.org/drawingml/2006/main"/>
        </p:blipFill>
        <p:spPr>
          <a:xfrm xmlns:a="http://schemas.openxmlformats.org/drawingml/2006/main">
            <a:off x="685800" y="2433868"/>
            <a:ext cx="6087750" cy="374698"/>
          </a:xfrm>
          <a:prstGeom xmlns:a="http://schemas.openxmlformats.org/drawingml/2006/main" prst="rect">
            <a:avLst/>
          </a:prstGeom>
        </p:spPr>
      </p:pic>
      <p:pic>
        <p:nvPicPr>
          <p:cNvPr id="5" name="equation-1" descr="LaTeX: x-1=2t,\quad y-3=-5t,\quad z-6=4t">
            <a:extLst xmlns:a="http://schemas.openxmlformats.org/drawingml/2006/main">
              <a:ext uri="{FF2B5EF4-FFF2-40B4-BE49-F238E27FC236}">
                <a16:creationId xmlns:a16="http://schemas.microsoft.com/office/drawing/2014/main" id="{B0D407AC-4D14-4479-BCF7-A6B33246AD47}"/>
              </a:ext>
            </a:extLst>
          </p:cNvPr>
          <p:cNvPicPr>
            <a:picLocks xmlns:a="http://schemas.openxmlformats.org/drawingml/2006/main" noChangeAspect="1"/>
          </p:cNvPicPr>
          <p:nvPr/>
        </p:nvPicPr>
        <p:blipFill>
          <a:blip xmlns:r="http://schemas.openxmlformats.org/officeDocument/2006/relationships" xmlns:a="http://schemas.openxmlformats.org/drawingml/2006/main" r:embed="Rc5bc4895826e4483">
            <a:extLst>
              <a:ext uri="{96DAC541-7B7A-43D3-8B79-37D633B846F1}">
                <asvg:svgBlip xmlns:asvg="http://schemas.microsoft.com/office/drawing/2016/SVG/main" r:embed="Rea3392a648f54050"/>
              </a:ext>
            </a:extLst>
          </a:blip>
          <a:stretch xmlns:a="http://schemas.openxmlformats.org/drawingml/2006/main"/>
        </p:blipFill>
        <p:spPr>
          <a:xfrm xmlns:a="http://schemas.openxmlformats.org/drawingml/2006/main">
            <a:off x="685800" y="3075266"/>
            <a:ext cx="6436692" cy="374698"/>
          </a:xfrm>
          <a:prstGeom xmlns:a="http://schemas.openxmlformats.org/drawingml/2006/main" prst="rect">
            <a:avLst/>
          </a:prstGeom>
        </p:spPr>
      </p:pic>
      <p:pic>
        <p:nvPicPr>
          <p:cNvPr id="6" name="equation-2" descr="LaTeX: t=\frac{x-1}{2},\quad t=\frac{y-3}{-5},\quad t=\frac{z-6}{4}">
            <a:extLst xmlns:a="http://schemas.openxmlformats.org/drawingml/2006/main">
              <a:ext uri="{FF2B5EF4-FFF2-40B4-BE49-F238E27FC236}">
                <a16:creationId xmlns:a16="http://schemas.microsoft.com/office/drawing/2014/main" id="{240F1E2A-A2BE-4E4A-AAEB-7B998F162FC9}"/>
              </a:ext>
            </a:extLst>
          </p:cNvPr>
          <p:cNvPicPr>
            <a:picLocks xmlns:a="http://schemas.openxmlformats.org/drawingml/2006/main" noChangeAspect="1"/>
          </p:cNvPicPr>
          <p:nvPr/>
        </p:nvPicPr>
        <p:blipFill>
          <a:blip xmlns:r="http://schemas.openxmlformats.org/officeDocument/2006/relationships" xmlns:a="http://schemas.openxmlformats.org/drawingml/2006/main" r:embed="R98b2442f7bbc4307">
            <a:extLst>
              <a:ext uri="{96DAC541-7B7A-43D3-8B79-37D633B846F1}">
                <asvg:svgBlip xmlns:asvg="http://schemas.microsoft.com/office/drawing/2016/SVG/main" r:embed="R5808ad275bf347b3"/>
              </a:ext>
            </a:extLst>
          </a:blip>
          <a:stretch xmlns:a="http://schemas.openxmlformats.org/drawingml/2006/main"/>
        </p:blipFill>
        <p:spPr>
          <a:xfrm xmlns:a="http://schemas.openxmlformats.org/drawingml/2006/main">
            <a:off x="685800" y="3716665"/>
            <a:ext cx="5708767" cy="863321"/>
          </a:xfrm>
          <a:prstGeom xmlns:a="http://schemas.openxmlformats.org/drawingml/2006/main" prst="rect">
            <a:avLst/>
          </a:prstGeom>
        </p:spPr>
      </p:pic>
      <p:pic>
        <p:nvPicPr>
          <p:cNvPr id="7" name="equation-3" descr="LaTeX: \frac{x-1}{2}=\frac{y-3}{-5}=\frac{z-6}{4}">
            <a:extLst xmlns:a="http://schemas.openxmlformats.org/drawingml/2006/main">
              <a:ext uri="{FF2B5EF4-FFF2-40B4-BE49-F238E27FC236}">
                <a16:creationId xmlns:a16="http://schemas.microsoft.com/office/drawing/2014/main" id="{EFD55CF0-96E2-4100-A03F-58C66C271A37}"/>
              </a:ext>
            </a:extLst>
          </p:cNvPr>
          <p:cNvPicPr>
            <a:picLocks xmlns:a="http://schemas.openxmlformats.org/drawingml/2006/main" noChangeAspect="1"/>
          </p:cNvPicPr>
          <p:nvPr/>
        </p:nvPicPr>
        <p:blipFill>
          <a:blip xmlns:r="http://schemas.openxmlformats.org/officeDocument/2006/relationships" xmlns:a="http://schemas.openxmlformats.org/drawingml/2006/main" r:embed="R973ca08182644ac1">
            <a:extLst>
              <a:ext uri="{96DAC541-7B7A-43D3-8B79-37D633B846F1}">
                <asvg:svgBlip xmlns:asvg="http://schemas.microsoft.com/office/drawing/2016/SVG/main" r:embed="Rda8a3e91a7f54136"/>
              </a:ext>
            </a:extLst>
          </a:blip>
          <a:stretch xmlns:a="http://schemas.openxmlformats.org/drawingml/2006/main"/>
        </p:blipFill>
        <p:spPr>
          <a:xfrm xmlns:a="http://schemas.openxmlformats.org/drawingml/2006/main">
            <a:off x="685800" y="4846686"/>
            <a:ext cx="3737718" cy="863321"/>
          </a:xfrm>
          <a:prstGeom xmlns:a="http://schemas.openxmlformats.org/drawingml/2006/main" prst="rect">
            <a:avLst/>
          </a:prstGeom>
        </p:spPr>
      </p:pic>
    </p:spTree>
    <p:extLst>
      <p:ext uri="{BB962C8B-B14F-4D97-AF65-F5344CB8AC3E}">
        <p14:creationId xmlns:p14="http://schemas.microsoft.com/office/powerpoint/2010/main" val="139100737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1C43F06E-EAA1-483D-8B26-D5F9B001F5DD}"/>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line through two points</a:t>
            </a:r>
          </a:p>
        </p:txBody>
      </p:sp>
      <p:sp>
        <p:nvSpPr>
          <p:cNvPr id="2" name="page-number">
            <a:extLst xmlns:a="http://schemas.openxmlformats.org/drawingml/2006/main">
              <a:ext uri="{FF2B5EF4-FFF2-40B4-BE49-F238E27FC236}">
                <a16:creationId xmlns:a16="http://schemas.microsoft.com/office/drawing/2014/main" id="{8E78C292-39B7-47EC-BEB9-3E1D0E928231}"/>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17</a:t>
            </a:r>
          </a:p>
        </p:txBody>
      </p:sp>
      <p:sp>
        <p:nvSpPr>
          <p:cNvPr id="3" name="lead">
            <a:extLst xmlns:a="http://schemas.openxmlformats.org/drawingml/2006/main">
              <a:ext uri="{FF2B5EF4-FFF2-40B4-BE49-F238E27FC236}">
                <a16:creationId xmlns:a16="http://schemas.microsoft.com/office/drawing/2014/main" id="{10DA686C-2CF5-4000-8895-FA9AA22AE0E8}"/>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A(1, 4) and B(3, 1) give a direction along the line.</a:t>
            </a:r>
          </a:p>
        </p:txBody>
      </p:sp>
      <p:pic>
        <p:nvPicPr>
          <p:cNvPr id="4" name="equation-0" descr="LaTeX: A(1,4),\qquad B(3,1)">
            <a:extLst xmlns:a="http://schemas.openxmlformats.org/drawingml/2006/main">
              <a:ext uri="{FF2B5EF4-FFF2-40B4-BE49-F238E27FC236}">
                <a16:creationId xmlns:a16="http://schemas.microsoft.com/office/drawing/2014/main" id="{2BAAE68D-43AE-454C-BB4E-74997239980E}"/>
              </a:ext>
            </a:extLst>
          </p:cNvPr>
          <p:cNvPicPr>
            <a:picLocks xmlns:a="http://schemas.openxmlformats.org/drawingml/2006/main" noChangeAspect="1"/>
          </p:cNvPicPr>
          <p:nvPr/>
        </p:nvPicPr>
        <p:blipFill>
          <a:blip xmlns:r="http://schemas.openxmlformats.org/officeDocument/2006/relationships" xmlns:a="http://schemas.openxmlformats.org/drawingml/2006/main" r:embed="R7891b06dee934f49">
            <a:extLst>
              <a:ext uri="{96DAC541-7B7A-43D3-8B79-37D633B846F1}">
                <asvg:svgBlip xmlns:asvg="http://schemas.microsoft.com/office/drawing/2016/SVG/main" r:embed="Redb03cf1c8a44708"/>
              </a:ext>
            </a:extLst>
          </a:blip>
          <a:stretch xmlns:a="http://schemas.openxmlformats.org/drawingml/2006/main"/>
        </p:blipFill>
        <p:spPr>
          <a:xfrm xmlns:a="http://schemas.openxmlformats.org/drawingml/2006/main">
            <a:off x="685800" y="2571750"/>
            <a:ext cx="2704781" cy="375915"/>
          </a:xfrm>
          <a:prstGeom xmlns:a="http://schemas.openxmlformats.org/drawingml/2006/main" prst="rect">
            <a:avLst/>
          </a:prstGeom>
        </p:spPr>
      </p:pic>
      <p:pic>
        <p:nvPicPr>
          <p:cNvPr id="5" name="equation-1" descr="LaTeX: \vec m=\overrightarrow{AB}=\vec{OB}-\vec{OA}">
            <a:extLst xmlns:a="http://schemas.openxmlformats.org/drawingml/2006/main">
              <a:ext uri="{FF2B5EF4-FFF2-40B4-BE49-F238E27FC236}">
                <a16:creationId xmlns:a16="http://schemas.microsoft.com/office/drawing/2014/main" id="{464486F4-1CE1-4EEE-A13A-0148EE190F2E}"/>
              </a:ext>
            </a:extLst>
          </p:cNvPr>
          <p:cNvPicPr>
            <a:picLocks xmlns:a="http://schemas.openxmlformats.org/drawingml/2006/main" noChangeAspect="1"/>
          </p:cNvPicPr>
          <p:nvPr/>
        </p:nvPicPr>
        <p:blipFill>
          <a:blip xmlns:r="http://schemas.openxmlformats.org/officeDocument/2006/relationships" xmlns:a="http://schemas.openxmlformats.org/drawingml/2006/main" r:embed="Rf8cae959c83a40bd">
            <a:extLst>
              <a:ext uri="{96DAC541-7B7A-43D3-8B79-37D633B846F1}">
                <asvg:svgBlip xmlns:asvg="http://schemas.microsoft.com/office/drawing/2016/SVG/main" r:embed="R83eac1010353440b"/>
              </a:ext>
            </a:extLst>
          </a:blip>
          <a:stretch xmlns:a="http://schemas.openxmlformats.org/drawingml/2006/main"/>
        </p:blipFill>
        <p:spPr>
          <a:xfrm xmlns:a="http://schemas.openxmlformats.org/drawingml/2006/main">
            <a:off x="685800" y="3233415"/>
            <a:ext cx="3144051" cy="421365"/>
          </a:xfrm>
          <a:prstGeom xmlns:a="http://schemas.openxmlformats.org/drawingml/2006/main" prst="rect">
            <a:avLst/>
          </a:prstGeom>
        </p:spPr>
      </p:pic>
      <p:pic>
        <p:nvPicPr>
          <p:cNvPr id="6" name="equation-2" descr="LaTeX: \vec m=[3-1,1-4]=[2,-3]">
            <a:extLst xmlns:a="http://schemas.openxmlformats.org/drawingml/2006/main">
              <a:ext uri="{FF2B5EF4-FFF2-40B4-BE49-F238E27FC236}">
                <a16:creationId xmlns:a16="http://schemas.microsoft.com/office/drawing/2014/main" id="{4F679F0A-BE21-4651-AC03-2FF4ACE5AB4B}"/>
              </a:ext>
            </a:extLst>
          </p:cNvPr>
          <p:cNvPicPr>
            <a:picLocks xmlns:a="http://schemas.openxmlformats.org/drawingml/2006/main" noChangeAspect="1"/>
          </p:cNvPicPr>
          <p:nvPr/>
        </p:nvPicPr>
        <p:blipFill>
          <a:blip xmlns:r="http://schemas.openxmlformats.org/officeDocument/2006/relationships" xmlns:a="http://schemas.openxmlformats.org/drawingml/2006/main" r:embed="R5adb02d4be874fdb">
            <a:extLst>
              <a:ext uri="{96DAC541-7B7A-43D3-8B79-37D633B846F1}">
                <asvg:svgBlip xmlns:asvg="http://schemas.microsoft.com/office/drawing/2016/SVG/main" r:embed="R79fabe1658e2423b"/>
              </a:ext>
            </a:extLst>
          </a:blip>
          <a:stretch xmlns:a="http://schemas.openxmlformats.org/drawingml/2006/main"/>
        </p:blipFill>
        <p:spPr>
          <a:xfrm xmlns:a="http://schemas.openxmlformats.org/drawingml/2006/main">
            <a:off x="685800" y="3940530"/>
            <a:ext cx="3822700" cy="375915"/>
          </a:xfrm>
          <a:prstGeom xmlns:a="http://schemas.openxmlformats.org/drawingml/2006/main" prst="rect">
            <a:avLst/>
          </a:prstGeom>
        </p:spPr>
      </p:pic>
      <p:pic>
        <p:nvPicPr>
          <p:cNvPr id="7" name="equation-3" descr="LaTeX: \vec r=[1,4]+t[2,-3]">
            <a:extLst xmlns:a="http://schemas.openxmlformats.org/drawingml/2006/main">
              <a:ext uri="{FF2B5EF4-FFF2-40B4-BE49-F238E27FC236}">
                <a16:creationId xmlns:a16="http://schemas.microsoft.com/office/drawing/2014/main" id="{DE55A244-52CC-47A9-92EA-F28132C2F2C4}"/>
              </a:ext>
            </a:extLst>
          </p:cNvPr>
          <p:cNvPicPr>
            <a:picLocks xmlns:a="http://schemas.openxmlformats.org/drawingml/2006/main" noChangeAspect="1"/>
          </p:cNvPicPr>
          <p:nvPr/>
        </p:nvPicPr>
        <p:blipFill>
          <a:blip xmlns:r="http://schemas.openxmlformats.org/officeDocument/2006/relationships" xmlns:a="http://schemas.openxmlformats.org/drawingml/2006/main" r:embed="R0fd63bf7d8e6426d">
            <a:extLst>
              <a:ext uri="{96DAC541-7B7A-43D3-8B79-37D633B846F1}">
                <asvg:svgBlip xmlns:asvg="http://schemas.microsoft.com/office/drawing/2016/SVG/main" r:embed="R58cf8045f55d46d8"/>
              </a:ext>
            </a:extLst>
          </a:blip>
          <a:stretch xmlns:a="http://schemas.openxmlformats.org/drawingml/2006/main"/>
        </p:blipFill>
        <p:spPr>
          <a:xfrm xmlns:a="http://schemas.openxmlformats.org/drawingml/2006/main">
            <a:off x="685800" y="4602196"/>
            <a:ext cx="2644340" cy="375915"/>
          </a:xfrm>
          <a:prstGeom xmlns:a="http://schemas.openxmlformats.org/drawingml/2006/main" prst="rect">
            <a:avLst/>
          </a:prstGeom>
        </p:spPr>
      </p:pic>
      <p:cxnSp>
        <p:nvCxnSpPr>
          <p:cNvPr id="8" name="x-axis">
            <a:extLst xmlns:a="http://schemas.openxmlformats.org/drawingml/2006/main">
              <a:ext uri="{FF2B5EF4-FFF2-40B4-BE49-F238E27FC236}">
                <a16:creationId xmlns:a16="http://schemas.microsoft.com/office/drawing/2014/main" id="{36D3C877-9DFF-4281-A2EC-9BD02DB7ED74}"/>
              </a:ext>
            </a:extLst>
          </p:cNvPr>
          <p:cNvCxnSpPr/>
          <p:nvPr/>
        </p:nvCxnSpPr>
        <p:spPr>
          <a:xfrm xmlns:a="http://schemas.openxmlformats.org/drawingml/2006/main" rot="0">
            <a:off x="6953250" y="5334000"/>
            <a:ext cx="4524375" cy="0"/>
          </a:xfrm>
          <a:prstGeom xmlns:a="http://schemas.openxmlformats.org/drawingml/2006/main" prst="straightConnector1">
            <a:avLst/>
          </a:prstGeom>
          <a:ln xmlns:a="http://schemas.openxmlformats.org/drawingml/2006/main" w="9525">
            <a:solidFill>
              <a:srgbClr val="50565E"/>
            </a:solidFill>
            <a:prstDash val="solid"/>
          </a:ln>
        </p:spPr>
      </p:cxnSp>
      <p:cxnSp>
        <p:nvCxnSpPr>
          <p:cNvPr id="9" name="y-axis">
            <a:extLst xmlns:a="http://schemas.openxmlformats.org/drawingml/2006/main">
              <a:ext uri="{FF2B5EF4-FFF2-40B4-BE49-F238E27FC236}">
                <a16:creationId xmlns:a16="http://schemas.microsoft.com/office/drawing/2014/main" id="{F52A3F08-232C-43D3-A2F2-2DF05EE25995}"/>
              </a:ext>
            </a:extLst>
          </p:cNvPr>
          <p:cNvCxnSpPr/>
          <p:nvPr/>
        </p:nvCxnSpPr>
        <p:spPr>
          <a:xfrm xmlns:a="http://schemas.openxmlformats.org/drawingml/2006/main" rot="-5400000">
            <a:off x="5453063" y="3929063"/>
            <a:ext cx="3857625" cy="0"/>
          </a:xfrm>
          <a:prstGeom xmlns:a="http://schemas.openxmlformats.org/drawingml/2006/main" prst="straightConnector1">
            <a:avLst/>
          </a:prstGeom>
          <a:ln xmlns:a="http://schemas.openxmlformats.org/drawingml/2006/main" w="9525">
            <a:solidFill>
              <a:srgbClr val="50565E"/>
            </a:solidFill>
            <a:prstDash val="solid"/>
          </a:ln>
        </p:spPr>
      </p:cxnSp>
      <p:cxnSp>
        <p:nvCxnSpPr>
          <p:cNvPr id="10" name="line-AB">
            <a:extLst xmlns:a="http://schemas.openxmlformats.org/drawingml/2006/main">
              <a:ext uri="{FF2B5EF4-FFF2-40B4-BE49-F238E27FC236}">
                <a16:creationId xmlns:a16="http://schemas.microsoft.com/office/drawing/2014/main" id="{FDB086EC-0339-405D-BAAE-EFC9EC9E4230}"/>
              </a:ext>
            </a:extLst>
          </p:cNvPr>
          <p:cNvCxnSpPr/>
          <p:nvPr/>
        </p:nvCxnSpPr>
        <p:spPr>
          <a:xfrm xmlns:a="http://schemas.openxmlformats.org/drawingml/2006/main" rot="3378596">
            <a:off x="6902098" y="4180880"/>
            <a:ext cx="3962309" cy="0"/>
          </a:xfrm>
          <a:prstGeom xmlns:a="http://schemas.openxmlformats.org/drawingml/2006/main" prst="straightConnector1">
            <a:avLst/>
          </a:prstGeom>
          <a:ln xmlns:a="http://schemas.openxmlformats.org/drawingml/2006/main" w="21908">
            <a:solidFill>
              <a:srgbClr val="F5F5F5"/>
            </a:solidFill>
            <a:prstDash val="solid"/>
          </a:ln>
        </p:spPr>
      </p:cxnSp>
      <p:cxnSp>
        <p:nvCxnSpPr>
          <p:cNvPr id="11" name="OA">
            <a:extLst xmlns:a="http://schemas.openxmlformats.org/drawingml/2006/main">
              <a:ext uri="{FF2B5EF4-FFF2-40B4-BE49-F238E27FC236}">
                <a16:creationId xmlns:a16="http://schemas.microsoft.com/office/drawing/2014/main" id="{B308FB84-118B-42DA-AD7A-6F479C95A59B}"/>
              </a:ext>
            </a:extLst>
          </p:cNvPr>
          <p:cNvCxnSpPr/>
          <p:nvPr/>
        </p:nvCxnSpPr>
        <p:spPr>
          <a:xfrm xmlns:a="http://schemas.openxmlformats.org/drawingml/2006/main" rot="-4557825">
            <a:off x="6415079" y="4095750"/>
            <a:ext cx="2552718" cy="0"/>
          </a:xfrm>
          <a:prstGeom xmlns:a="http://schemas.openxmlformats.org/drawingml/2006/main" prst="straightConnector1">
            <a:avLst/>
          </a:prstGeom>
          <a:ln xmlns:a="http://schemas.openxmlformats.org/drawingml/2006/main" w="28575">
            <a:solidFill>
              <a:srgbClr val="7DD3FC"/>
            </a:solidFill>
            <a:prstDash val="solid"/>
            <a:tailEnd type="triangle" w="med" len="med"/>
          </a:ln>
        </p:spPr>
      </p:cxnSp>
      <p:cxnSp>
        <p:nvCxnSpPr>
          <p:cNvPr id="12" name="AB">
            <a:extLst xmlns:a="http://schemas.openxmlformats.org/drawingml/2006/main">
              <a:ext uri="{FF2B5EF4-FFF2-40B4-BE49-F238E27FC236}">
                <a16:creationId xmlns:a16="http://schemas.microsoft.com/office/drawing/2014/main" id="{C00B8CD4-30DD-4C48-B8DF-EE078B26FF41}"/>
              </a:ext>
            </a:extLst>
          </p:cNvPr>
          <p:cNvCxnSpPr/>
          <p:nvPr/>
        </p:nvCxnSpPr>
        <p:spPr>
          <a:xfrm xmlns:a="http://schemas.openxmlformats.org/drawingml/2006/main" rot="3378596">
            <a:off x="7503982" y="3786188"/>
            <a:ext cx="2232287"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cxnSp>
        <p:nvCxnSpPr>
          <p:cNvPr id="13" name="OB">
            <a:extLst xmlns:a="http://schemas.openxmlformats.org/drawingml/2006/main">
              <a:ext uri="{FF2B5EF4-FFF2-40B4-BE49-F238E27FC236}">
                <a16:creationId xmlns:a16="http://schemas.microsoft.com/office/drawing/2014/main" id="{06BC8E51-2A8C-4BA4-97DF-388D873923B6}"/>
              </a:ext>
            </a:extLst>
          </p:cNvPr>
          <p:cNvCxnSpPr/>
          <p:nvPr/>
        </p:nvCxnSpPr>
        <p:spPr>
          <a:xfrm xmlns:a="http://schemas.openxmlformats.org/drawingml/2006/main" rot="-1106097">
            <a:off x="7331640" y="5024438"/>
            <a:ext cx="1957845" cy="0"/>
          </a:xfrm>
          <a:prstGeom xmlns:a="http://schemas.openxmlformats.org/drawingml/2006/main" prst="straightConnector1">
            <a:avLst/>
          </a:prstGeom>
          <a:ln xmlns:a="http://schemas.openxmlformats.org/drawingml/2006/main" w="28575">
            <a:solidFill>
              <a:srgbClr val="C4B5FD"/>
            </a:solidFill>
            <a:prstDash val="solid"/>
            <a:tailEnd type="triangle" w="med" len="med"/>
          </a:ln>
        </p:spPr>
      </p:cxnSp>
      <p:sp>
        <p:nvSpPr>
          <p:cNvPr id="14" name="A">
            <a:extLst xmlns:a="http://schemas.openxmlformats.org/drawingml/2006/main">
              <a:ext uri="{FF2B5EF4-FFF2-40B4-BE49-F238E27FC236}">
                <a16:creationId xmlns:a16="http://schemas.microsoft.com/office/drawing/2014/main" id="{6C18CAA2-DCD7-4A82-AE03-B333FC3C2D87}"/>
              </a:ext>
            </a:extLst>
          </p:cNvPr>
          <p:cNvSpPr>
            <a:spLocks xmlns:a="http://schemas.openxmlformats.org/drawingml/2006/main" noGrp="1"/>
          </p:cNvSpPr>
          <p:nvPr/>
        </p:nvSpPr>
        <p:spPr>
          <a:xfrm xmlns:a="http://schemas.openxmlformats.org/drawingml/2006/main">
            <a:off x="7962900" y="28194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5" name="B">
            <a:extLst xmlns:a="http://schemas.openxmlformats.org/drawingml/2006/main">
              <a:ext uri="{FF2B5EF4-FFF2-40B4-BE49-F238E27FC236}">
                <a16:creationId xmlns:a16="http://schemas.microsoft.com/office/drawing/2014/main" id="{99380334-0D57-42B7-9D80-E31C781C7254}"/>
              </a:ext>
            </a:extLst>
          </p:cNvPr>
          <p:cNvSpPr>
            <a:spLocks xmlns:a="http://schemas.openxmlformats.org/drawingml/2006/main" noGrp="1"/>
          </p:cNvSpPr>
          <p:nvPr/>
        </p:nvSpPr>
        <p:spPr>
          <a:xfrm xmlns:a="http://schemas.openxmlformats.org/drawingml/2006/main">
            <a:off x="9201150" y="4676775"/>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6" name="A-label">
            <a:extLst xmlns:a="http://schemas.openxmlformats.org/drawingml/2006/main">
              <a:ext uri="{FF2B5EF4-FFF2-40B4-BE49-F238E27FC236}">
                <a16:creationId xmlns:a16="http://schemas.microsoft.com/office/drawing/2014/main" id="{A8D51752-3590-4C71-A1CA-96C56B379371}"/>
              </a:ext>
            </a:extLst>
          </p:cNvPr>
          <p:cNvSpPr>
            <a:spLocks xmlns:a="http://schemas.openxmlformats.org/drawingml/2006/main" noGrp="1"/>
          </p:cNvSpPr>
          <p:nvPr/>
        </p:nvSpPr>
        <p:spPr>
          <a:xfrm xmlns:a="http://schemas.openxmlformats.org/drawingml/2006/main">
            <a:off x="8134350" y="236220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A(1, 4)</a:t>
            </a:r>
          </a:p>
        </p:txBody>
      </p:sp>
      <p:sp>
        <p:nvSpPr>
          <p:cNvPr id="17" name="B-label">
            <a:extLst xmlns:a="http://schemas.openxmlformats.org/drawingml/2006/main">
              <a:ext uri="{FF2B5EF4-FFF2-40B4-BE49-F238E27FC236}">
                <a16:creationId xmlns:a16="http://schemas.microsoft.com/office/drawing/2014/main" id="{8431DCF4-2F76-4A0C-AF8F-0A6CCB05FB64}"/>
              </a:ext>
            </a:extLst>
          </p:cNvPr>
          <p:cNvSpPr>
            <a:spLocks xmlns:a="http://schemas.openxmlformats.org/drawingml/2006/main" noGrp="1"/>
          </p:cNvSpPr>
          <p:nvPr/>
        </p:nvSpPr>
        <p:spPr>
          <a:xfrm xmlns:a="http://schemas.openxmlformats.org/drawingml/2006/main">
            <a:off x="9382125" y="460057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B(3, 1)</a:t>
            </a:r>
          </a:p>
        </p:txBody>
      </p:sp>
      <p:sp>
        <p:nvSpPr>
          <p:cNvPr id="18" name="O-label">
            <a:extLst xmlns:a="http://schemas.openxmlformats.org/drawingml/2006/main">
              <a:ext uri="{FF2B5EF4-FFF2-40B4-BE49-F238E27FC236}">
                <a16:creationId xmlns:a16="http://schemas.microsoft.com/office/drawing/2014/main" id="{4CC6DB31-CEE0-47FC-A067-6DFDBEB91C9E}"/>
              </a:ext>
            </a:extLst>
          </p:cNvPr>
          <p:cNvSpPr>
            <a:spLocks xmlns:a="http://schemas.openxmlformats.org/drawingml/2006/main" noGrp="1"/>
          </p:cNvSpPr>
          <p:nvPr/>
        </p:nvSpPr>
        <p:spPr>
          <a:xfrm xmlns:a="http://schemas.openxmlformats.org/drawingml/2006/main">
            <a:off x="7086600" y="5381625"/>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sp>
        <p:nvSpPr>
          <p:cNvPr id="19" name="axis-x">
            <a:extLst xmlns:a="http://schemas.openxmlformats.org/drawingml/2006/main">
              <a:ext uri="{FF2B5EF4-FFF2-40B4-BE49-F238E27FC236}">
                <a16:creationId xmlns:a16="http://schemas.microsoft.com/office/drawing/2014/main" id="{B43FF127-076F-4A2D-8FF4-CE781F84F632}"/>
              </a:ext>
            </a:extLst>
          </p:cNvPr>
          <p:cNvSpPr>
            <a:spLocks xmlns:a="http://schemas.openxmlformats.org/drawingml/2006/main" noGrp="1"/>
          </p:cNvSpPr>
          <p:nvPr/>
        </p:nvSpPr>
        <p:spPr>
          <a:xfrm xmlns:a="http://schemas.openxmlformats.org/drawingml/2006/main">
            <a:off x="11191875" y="53911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20" name="axis-y">
            <a:extLst xmlns:a="http://schemas.openxmlformats.org/drawingml/2006/main">
              <a:ext uri="{FF2B5EF4-FFF2-40B4-BE49-F238E27FC236}">
                <a16:creationId xmlns:a16="http://schemas.microsoft.com/office/drawing/2014/main" id="{ACAEFDB5-12EF-4A46-8E90-2237693FC2C9}"/>
              </a:ext>
            </a:extLst>
          </p:cNvPr>
          <p:cNvSpPr>
            <a:spLocks xmlns:a="http://schemas.openxmlformats.org/drawingml/2006/main" noGrp="1"/>
          </p:cNvSpPr>
          <p:nvPr/>
        </p:nvSpPr>
        <p:spPr>
          <a:xfrm xmlns:a="http://schemas.openxmlformats.org/drawingml/2006/main">
            <a:off x="7086600" y="19240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spTree>
    <p:extLst>
      <p:ext uri="{BB962C8B-B14F-4D97-AF65-F5344CB8AC3E}">
        <p14:creationId xmlns:p14="http://schemas.microsoft.com/office/powerpoint/2010/main" val="8440194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0"/>
                                  </p:stCondLst>
                                  <p:childTnLst>
                                    <p:set>
                                      <p:cBhvr>
                                        <p:cTn id="9" dur="1" fill="hold"/>
                                        <p:tgtEl>
                                          <p:spTgt spid="12"/>
                                        </p:tgtEl>
                                        <p:attrNameLst>
                                          <p:attrName>style.visibility</p:attrName>
                                        </p:attrNameLst>
                                      </p:cBhvr>
                                      <p:to>
                                        <p:strVal val="visible"/>
                                      </p:to>
                                    </p:set>
                                    <p:animEffect transition="in" filter="fade">
                                      <p:cBhvr>
                                        <p:cTn id="10" dur="400" fill="hold"/>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400" fill="hold"/>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tgtEl>
                                          <p:spTgt spid="7"/>
                                        </p:tgtEl>
                                        <p:attrNameLst>
                                          <p:attrName>style.visibility</p:attrName>
                                        </p:attrNameLst>
                                      </p:cBhvr>
                                      <p:to>
                                        <p:strVal val="visible"/>
                                      </p:to>
                                    </p:set>
                                    <p:animEffect transition="in" filter="fade">
                                      <p:cBhvr>
                                        <p:cTn id="20"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0FA72AA-88DA-4F2C-89A3-C13829FB8F2C}"/>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Class example  Fractional coordinates</a:t>
            </a:r>
          </a:p>
        </p:txBody>
      </p:sp>
      <p:sp>
        <p:nvSpPr>
          <p:cNvPr id="2" name="page-number">
            <a:extLst xmlns:a="http://schemas.openxmlformats.org/drawingml/2006/main">
              <a:ext uri="{FF2B5EF4-FFF2-40B4-BE49-F238E27FC236}">
                <a16:creationId xmlns:a16="http://schemas.microsoft.com/office/drawing/2014/main" id="{A1347999-546C-46C7-BF84-251B0E8104BC}"/>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18</a:t>
            </a:r>
          </a:p>
        </p:txBody>
      </p:sp>
      <p:sp>
        <p:nvSpPr>
          <p:cNvPr id="3" name="lead">
            <a:extLst xmlns:a="http://schemas.openxmlformats.org/drawingml/2006/main">
              <a:ext uri="{FF2B5EF4-FFF2-40B4-BE49-F238E27FC236}">
                <a16:creationId xmlns:a16="http://schemas.microsoft.com/office/drawing/2014/main" id="{1025551C-3EC7-4C0A-A4A8-7286497ECBFC}"/>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Find an integer direction through A(1/2, −3) and B(3/4, 1/2).</a:t>
            </a:r>
          </a:p>
        </p:txBody>
      </p:sp>
      <p:pic>
        <p:nvPicPr>
          <p:cNvPr id="4" name="equation-0" descr="LaTeX: A(\tfrac12,-3),\qquad B(\tfrac34,\tfrac12)">
            <a:extLst xmlns:a="http://schemas.openxmlformats.org/drawingml/2006/main">
              <a:ext uri="{FF2B5EF4-FFF2-40B4-BE49-F238E27FC236}">
                <a16:creationId xmlns:a16="http://schemas.microsoft.com/office/drawing/2014/main" id="{1C6CD150-DBF0-457B-B429-2120AB487211}"/>
              </a:ext>
            </a:extLst>
          </p:cNvPr>
          <p:cNvPicPr>
            <a:picLocks xmlns:a="http://schemas.openxmlformats.org/drawingml/2006/main" noChangeAspect="1"/>
          </p:cNvPicPr>
          <p:nvPr/>
        </p:nvPicPr>
        <p:blipFill>
          <a:blip xmlns:r="http://schemas.openxmlformats.org/officeDocument/2006/relationships" xmlns:a="http://schemas.openxmlformats.org/drawingml/2006/main" r:embed="R4f7fca6387e14424">
            <a:extLst>
              <a:ext uri="{96DAC541-7B7A-43D3-8B79-37D633B846F1}">
                <asvg:svgBlip xmlns:asvg="http://schemas.microsoft.com/office/drawing/2016/SVG/main" r:embed="R04887eac45ab4c0e"/>
              </a:ext>
            </a:extLst>
          </a:blip>
          <a:stretch xmlns:a="http://schemas.openxmlformats.org/drawingml/2006/main"/>
        </p:blipFill>
        <p:spPr>
          <a:xfrm xmlns:a="http://schemas.openxmlformats.org/drawingml/2006/main">
            <a:off x="685800" y="2588483"/>
            <a:ext cx="3395991" cy="510283"/>
          </a:xfrm>
          <a:prstGeom xmlns:a="http://schemas.openxmlformats.org/drawingml/2006/main" prst="rect">
            <a:avLst/>
          </a:prstGeom>
        </p:spPr>
      </p:pic>
      <p:pic>
        <p:nvPicPr>
          <p:cNvPr id="5" name="equation-1" descr="LaTeX: \overrightarrow{AB}=[\tfrac34-\tfrac12,\tfrac12-(-3)]=[\tfrac14,\tfrac72]">
            <a:extLst xmlns:a="http://schemas.openxmlformats.org/drawingml/2006/main">
              <a:ext uri="{FF2B5EF4-FFF2-40B4-BE49-F238E27FC236}">
                <a16:creationId xmlns:a16="http://schemas.microsoft.com/office/drawing/2014/main" id="{7799BC5E-814E-4D4B-B7F9-E09EFA1806F5}"/>
              </a:ext>
            </a:extLst>
          </p:cNvPr>
          <p:cNvPicPr>
            <a:picLocks xmlns:a="http://schemas.openxmlformats.org/drawingml/2006/main" noChangeAspect="1"/>
          </p:cNvPicPr>
          <p:nvPr/>
        </p:nvPicPr>
        <p:blipFill>
          <a:blip xmlns:r="http://schemas.openxmlformats.org/officeDocument/2006/relationships" xmlns:a="http://schemas.openxmlformats.org/drawingml/2006/main" r:embed="Rdcd53c76de3b4660">
            <a:extLst>
              <a:ext uri="{96DAC541-7B7A-43D3-8B79-37D633B846F1}">
                <asvg:svgBlip xmlns:asvg="http://schemas.microsoft.com/office/drawing/2016/SVG/main" r:embed="R9efe1c0bda32427f"/>
              </a:ext>
            </a:extLst>
          </a:blip>
          <a:stretch xmlns:a="http://schemas.openxmlformats.org/drawingml/2006/main"/>
        </p:blipFill>
        <p:spPr>
          <a:xfrm xmlns:a="http://schemas.openxmlformats.org/drawingml/2006/main">
            <a:off x="685800" y="3365466"/>
            <a:ext cx="4896312" cy="591804"/>
          </a:xfrm>
          <a:prstGeom xmlns:a="http://schemas.openxmlformats.org/drawingml/2006/main" prst="rect">
            <a:avLst/>
          </a:prstGeom>
        </p:spPr>
      </p:pic>
      <p:pic>
        <p:nvPicPr>
          <p:cNvPr id="6" name="equation-2" descr="LaTeX: 4\overrightarrow{AB}=[1,14]">
            <a:extLst xmlns:a="http://schemas.openxmlformats.org/drawingml/2006/main">
              <a:ext uri="{FF2B5EF4-FFF2-40B4-BE49-F238E27FC236}">
                <a16:creationId xmlns:a16="http://schemas.microsoft.com/office/drawing/2014/main" id="{50B42E4F-BD03-482A-83E2-00818B1354B4}"/>
              </a:ext>
            </a:extLst>
          </p:cNvPr>
          <p:cNvPicPr>
            <a:picLocks xmlns:a="http://schemas.openxmlformats.org/drawingml/2006/main" noChangeAspect="1"/>
          </p:cNvPicPr>
          <p:nvPr/>
        </p:nvPicPr>
        <p:blipFill>
          <a:blip xmlns:r="http://schemas.openxmlformats.org/officeDocument/2006/relationships" xmlns:a="http://schemas.openxmlformats.org/drawingml/2006/main" r:embed="R82a7b0a4fa134376">
            <a:extLst>
              <a:ext uri="{96DAC541-7B7A-43D3-8B79-37D633B846F1}">
                <asvg:svgBlip xmlns:asvg="http://schemas.microsoft.com/office/drawing/2016/SVG/main" r:embed="Rf5d8372732fe412e"/>
              </a:ext>
            </a:extLst>
          </a:blip>
          <a:stretch xmlns:a="http://schemas.openxmlformats.org/drawingml/2006/main"/>
        </p:blipFill>
        <p:spPr>
          <a:xfrm xmlns:a="http://schemas.openxmlformats.org/drawingml/2006/main">
            <a:off x="685800" y="4223970"/>
            <a:ext cx="2224386" cy="554439"/>
          </a:xfrm>
          <a:prstGeom xmlns:a="http://schemas.openxmlformats.org/drawingml/2006/main" prst="rect">
            <a:avLst/>
          </a:prstGeom>
        </p:spPr>
      </p:pic>
      <p:pic>
        <p:nvPicPr>
          <p:cNvPr id="7" name="equation-3" descr="LaTeX: \vec r=[\tfrac12,-3]+t[1,14]">
            <a:extLst xmlns:a="http://schemas.openxmlformats.org/drawingml/2006/main">
              <a:ext uri="{FF2B5EF4-FFF2-40B4-BE49-F238E27FC236}">
                <a16:creationId xmlns:a16="http://schemas.microsoft.com/office/drawing/2014/main" id="{0AC5D8D6-A7F6-4BA4-898E-E548E6F8F343}"/>
              </a:ext>
            </a:extLst>
          </p:cNvPr>
          <p:cNvPicPr>
            <a:picLocks xmlns:a="http://schemas.openxmlformats.org/drawingml/2006/main" noChangeAspect="1"/>
          </p:cNvPicPr>
          <p:nvPr/>
        </p:nvPicPr>
        <p:blipFill>
          <a:blip xmlns:r="http://schemas.openxmlformats.org/officeDocument/2006/relationships" xmlns:a="http://schemas.openxmlformats.org/drawingml/2006/main" r:embed="R88a4ede643094b3e">
            <a:extLst>
              <a:ext uri="{96DAC541-7B7A-43D3-8B79-37D633B846F1}">
                <asvg:svgBlip xmlns:asvg="http://schemas.microsoft.com/office/drawing/2016/SVG/main" r:embed="Rcf8155dfca8d4d9e"/>
              </a:ext>
            </a:extLst>
          </a:blip>
          <a:stretch xmlns:a="http://schemas.openxmlformats.org/drawingml/2006/main"/>
        </p:blipFill>
        <p:spPr>
          <a:xfrm xmlns:a="http://schemas.openxmlformats.org/drawingml/2006/main">
            <a:off x="685800" y="5045109"/>
            <a:ext cx="3235186" cy="510283"/>
          </a:xfrm>
          <a:prstGeom xmlns:a="http://schemas.openxmlformats.org/drawingml/2006/main" prst="rect">
            <a:avLst/>
          </a:prstGeom>
        </p:spPr>
      </p:pic>
    </p:spTree>
    <p:extLst>
      <p:ext uri="{BB962C8B-B14F-4D97-AF65-F5344CB8AC3E}">
        <p14:creationId xmlns:p14="http://schemas.microsoft.com/office/powerpoint/2010/main" val="67277829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F4FC2D7-BCC8-4731-8589-0E2687B2C578}"/>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Infinitely many equations of the same line</a:t>
            </a:r>
          </a:p>
        </p:txBody>
      </p:sp>
      <p:sp>
        <p:nvSpPr>
          <p:cNvPr id="2" name="page-number">
            <a:extLst xmlns:a="http://schemas.openxmlformats.org/drawingml/2006/main">
              <a:ext uri="{FF2B5EF4-FFF2-40B4-BE49-F238E27FC236}">
                <a16:creationId xmlns:a16="http://schemas.microsoft.com/office/drawing/2014/main" id="{B5D0EC04-67ED-4B06-B4CC-1CC0EB203D8C}"/>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19</a:t>
            </a:r>
          </a:p>
        </p:txBody>
      </p:sp>
      <p:sp>
        <p:nvSpPr>
          <p:cNvPr id="3" name="lead">
            <a:extLst xmlns:a="http://schemas.openxmlformats.org/drawingml/2006/main">
              <a:ext uri="{FF2B5EF4-FFF2-40B4-BE49-F238E27FC236}">
                <a16:creationId xmlns:a16="http://schemas.microsoft.com/office/drawing/2014/main" id="{8C4FAE15-F944-477A-90FE-91F574DF96DD}"/>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Change the starting point or scale the direction by a nonzero number.</a:t>
            </a:r>
          </a:p>
        </p:txBody>
      </p:sp>
      <p:pic>
        <p:nvPicPr>
          <p:cNvPr id="4" name="equation-0" descr="LaTeX: \vec r=[1,4]+t[2,-3]">
            <a:extLst xmlns:a="http://schemas.openxmlformats.org/drawingml/2006/main">
              <a:ext uri="{FF2B5EF4-FFF2-40B4-BE49-F238E27FC236}">
                <a16:creationId xmlns:a16="http://schemas.microsoft.com/office/drawing/2014/main" id="{E8CD7CBF-B178-4AD5-808F-618372C3F55B}"/>
              </a:ext>
            </a:extLst>
          </p:cNvPr>
          <p:cNvPicPr>
            <a:picLocks xmlns:a="http://schemas.openxmlformats.org/drawingml/2006/main" noChangeAspect="1"/>
          </p:cNvPicPr>
          <p:nvPr/>
        </p:nvPicPr>
        <p:blipFill>
          <a:blip xmlns:r="http://schemas.openxmlformats.org/officeDocument/2006/relationships" xmlns:a="http://schemas.openxmlformats.org/drawingml/2006/main" r:embed="R8cfbc32768374b5e">
            <a:extLst>
              <a:ext uri="{96DAC541-7B7A-43D3-8B79-37D633B846F1}">
                <asvg:svgBlip xmlns:asvg="http://schemas.microsoft.com/office/drawing/2016/SVG/main" r:embed="R69bb7c8c56ea4f17"/>
              </a:ext>
            </a:extLst>
          </a:blip>
          <a:stretch xmlns:a="http://schemas.openxmlformats.org/drawingml/2006/main"/>
        </p:blipFill>
        <p:spPr>
          <a:xfrm xmlns:a="http://schemas.openxmlformats.org/drawingml/2006/main">
            <a:off x="685800" y="2396414"/>
            <a:ext cx="3073151" cy="436875"/>
          </a:xfrm>
          <a:prstGeom xmlns:a="http://schemas.openxmlformats.org/drawingml/2006/main" prst="rect">
            <a:avLst/>
          </a:prstGeom>
        </p:spPr>
      </p:pic>
      <p:pic>
        <p:nvPicPr>
          <p:cNvPr id="5" name="equation-1" descr="LaTeX: \vec r=[3,1]+u[2,-3]">
            <a:extLst xmlns:a="http://schemas.openxmlformats.org/drawingml/2006/main">
              <a:ext uri="{FF2B5EF4-FFF2-40B4-BE49-F238E27FC236}">
                <a16:creationId xmlns:a16="http://schemas.microsoft.com/office/drawing/2014/main" id="{13D06CF2-5ED3-4201-814F-D8AA039261A7}"/>
              </a:ext>
            </a:extLst>
          </p:cNvPr>
          <p:cNvPicPr>
            <a:picLocks xmlns:a="http://schemas.openxmlformats.org/drawingml/2006/main" noChangeAspect="1"/>
          </p:cNvPicPr>
          <p:nvPr/>
        </p:nvPicPr>
        <p:blipFill>
          <a:blip xmlns:r="http://schemas.openxmlformats.org/officeDocument/2006/relationships" xmlns:a="http://schemas.openxmlformats.org/drawingml/2006/main" r:embed="R87cf7eeb081d4a25">
            <a:extLst>
              <a:ext uri="{96DAC541-7B7A-43D3-8B79-37D633B846F1}">
                <asvg:svgBlip xmlns:asvg="http://schemas.microsoft.com/office/drawing/2016/SVG/main" r:embed="R948a25086fd9498d"/>
              </a:ext>
            </a:extLst>
          </a:blip>
          <a:stretch xmlns:a="http://schemas.openxmlformats.org/drawingml/2006/main"/>
        </p:blipFill>
        <p:spPr>
          <a:xfrm xmlns:a="http://schemas.openxmlformats.org/drawingml/2006/main">
            <a:off x="685800" y="3099989"/>
            <a:ext cx="3152688" cy="436875"/>
          </a:xfrm>
          <a:prstGeom xmlns:a="http://schemas.openxmlformats.org/drawingml/2006/main" prst="rect">
            <a:avLst/>
          </a:prstGeom>
        </p:spPr>
      </p:pic>
      <p:pic>
        <p:nvPicPr>
          <p:cNvPr id="6" name="equation-2" descr="LaTeX: \vec r=[1,4]+v[-2,3]">
            <a:extLst xmlns:a="http://schemas.openxmlformats.org/drawingml/2006/main">
              <a:ext uri="{FF2B5EF4-FFF2-40B4-BE49-F238E27FC236}">
                <a16:creationId xmlns:a16="http://schemas.microsoft.com/office/drawing/2014/main" id="{FEC3C9C1-78AE-45EE-828F-F0D42C6802EA}"/>
              </a:ext>
            </a:extLst>
          </p:cNvPr>
          <p:cNvPicPr>
            <a:picLocks xmlns:a="http://schemas.openxmlformats.org/drawingml/2006/main" noChangeAspect="1"/>
          </p:cNvPicPr>
          <p:nvPr/>
        </p:nvPicPr>
        <p:blipFill>
          <a:blip xmlns:r="http://schemas.openxmlformats.org/officeDocument/2006/relationships" xmlns:a="http://schemas.openxmlformats.org/drawingml/2006/main" r:embed="Rb0936c5ab78e4d34">
            <a:extLst>
              <a:ext uri="{96DAC541-7B7A-43D3-8B79-37D633B846F1}">
                <asvg:svgBlip xmlns:asvg="http://schemas.microsoft.com/office/drawing/2016/SVG/main" r:embed="R0567958c98c84585"/>
              </a:ext>
            </a:extLst>
          </a:blip>
          <a:stretch xmlns:a="http://schemas.openxmlformats.org/drawingml/2006/main"/>
        </p:blipFill>
        <p:spPr>
          <a:xfrm xmlns:a="http://schemas.openxmlformats.org/drawingml/2006/main">
            <a:off x="685800" y="3803563"/>
            <a:ext cx="3133926" cy="436875"/>
          </a:xfrm>
          <a:prstGeom xmlns:a="http://schemas.openxmlformats.org/drawingml/2006/main" prst="rect">
            <a:avLst/>
          </a:prstGeom>
        </p:spPr>
      </p:pic>
      <p:pic>
        <p:nvPicPr>
          <p:cNvPr id="7" name="equation-3" descr="LaTeX: \vec r=[1,4]+w[4,-6]">
            <a:extLst xmlns:a="http://schemas.openxmlformats.org/drawingml/2006/main">
              <a:ext uri="{FF2B5EF4-FFF2-40B4-BE49-F238E27FC236}">
                <a16:creationId xmlns:a16="http://schemas.microsoft.com/office/drawing/2014/main" id="{6F557273-B461-4A40-A859-53227F0E3DB1}"/>
              </a:ext>
            </a:extLst>
          </p:cNvPr>
          <p:cNvPicPr>
            <a:picLocks xmlns:a="http://schemas.openxmlformats.org/drawingml/2006/main" noChangeAspect="1"/>
          </p:cNvPicPr>
          <p:nvPr/>
        </p:nvPicPr>
        <p:blipFill>
          <a:blip xmlns:r="http://schemas.openxmlformats.org/officeDocument/2006/relationships" xmlns:a="http://schemas.openxmlformats.org/drawingml/2006/main" r:embed="Rc374026546d54810">
            <a:extLst>
              <a:ext uri="{96DAC541-7B7A-43D3-8B79-37D633B846F1}">
                <asvg:svgBlip xmlns:asvg="http://schemas.microsoft.com/office/drawing/2016/SVG/main" r:embed="Rc47af38634e64cdc"/>
              </a:ext>
            </a:extLst>
          </a:blip>
          <a:stretch xmlns:a="http://schemas.openxmlformats.org/drawingml/2006/main"/>
        </p:blipFill>
        <p:spPr>
          <a:xfrm xmlns:a="http://schemas.openxmlformats.org/drawingml/2006/main">
            <a:off x="685800" y="4507138"/>
            <a:ext cx="3218897" cy="436875"/>
          </a:xfrm>
          <a:prstGeom xmlns:a="http://schemas.openxmlformats.org/drawingml/2006/main" prst="rect">
            <a:avLst/>
          </a:prstGeom>
        </p:spPr>
      </p:pic>
      <p:pic>
        <p:nvPicPr>
          <p:cNvPr id="8" name="equation-4" descr="LaTeX: \vec r=([1,4]+a[2,-3])+s\bigl(k[2,-3]\bigr),\quad a\in\mathbb R,\ k\ne0">
            <a:extLst xmlns:a="http://schemas.openxmlformats.org/drawingml/2006/main">
              <a:ext uri="{FF2B5EF4-FFF2-40B4-BE49-F238E27FC236}">
                <a16:creationId xmlns:a16="http://schemas.microsoft.com/office/drawing/2014/main" id="{59FCFB18-A549-4C84-9C00-F7831D7A9BB1}"/>
              </a:ext>
            </a:extLst>
          </p:cNvPr>
          <p:cNvPicPr>
            <a:picLocks xmlns:a="http://schemas.openxmlformats.org/drawingml/2006/main" noChangeAspect="1"/>
          </p:cNvPicPr>
          <p:nvPr/>
        </p:nvPicPr>
        <p:blipFill>
          <a:blip xmlns:r="http://schemas.openxmlformats.org/officeDocument/2006/relationships" xmlns:a="http://schemas.openxmlformats.org/drawingml/2006/main" r:embed="Ra258a2eb8d88473d">
            <a:extLst>
              <a:ext uri="{96DAC541-7B7A-43D3-8B79-37D633B846F1}">
                <asvg:svgBlip xmlns:asvg="http://schemas.microsoft.com/office/drawing/2016/SVG/main" r:embed="R5dd4418066df4c2e"/>
              </a:ext>
            </a:extLst>
          </a:blip>
          <a:stretch xmlns:a="http://schemas.openxmlformats.org/drawingml/2006/main"/>
        </p:blipFill>
        <p:spPr>
          <a:xfrm xmlns:a="http://schemas.openxmlformats.org/drawingml/2006/main">
            <a:off x="685800" y="5210713"/>
            <a:ext cx="8341373" cy="536748"/>
          </a:xfrm>
          <a:prstGeom xmlns:a="http://schemas.openxmlformats.org/drawingml/2006/main" prst="rect">
            <a:avLst/>
          </a:prstGeom>
        </p:spPr>
      </p:pic>
    </p:spTree>
    <p:extLst>
      <p:ext uri="{BB962C8B-B14F-4D97-AF65-F5344CB8AC3E}">
        <p14:creationId xmlns:p14="http://schemas.microsoft.com/office/powerpoint/2010/main" val="46180782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34" name="title">
            <a:extLst xmlns:a="http://schemas.openxmlformats.org/drawingml/2006/main">
              <a:ext uri="{FF2B5EF4-FFF2-40B4-BE49-F238E27FC236}">
                <a16:creationId xmlns:a16="http://schemas.microsoft.com/office/drawing/2014/main" id="{02848441-670F-4741-AA06-F282AE01D9EF}"/>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Three additional points</a:t>
            </a:r>
          </a:p>
        </p:txBody>
      </p:sp>
      <p:sp>
        <p:nvSpPr>
          <p:cNvPr id="2" name="page-number">
            <a:extLst xmlns:a="http://schemas.openxmlformats.org/drawingml/2006/main">
              <a:ext uri="{FF2B5EF4-FFF2-40B4-BE49-F238E27FC236}">
                <a16:creationId xmlns:a16="http://schemas.microsoft.com/office/drawing/2014/main" id="{8F3AA75B-C29C-4303-A46E-EA331DF42421}"/>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20</a:t>
            </a:r>
          </a:p>
        </p:txBody>
      </p:sp>
      <p:sp>
        <p:nvSpPr>
          <p:cNvPr id="3" name="lead">
            <a:extLst xmlns:a="http://schemas.openxmlformats.org/drawingml/2006/main">
              <a:ext uri="{FF2B5EF4-FFF2-40B4-BE49-F238E27FC236}">
                <a16:creationId xmlns:a16="http://schemas.microsoft.com/office/drawing/2014/main" id="{CFD483C3-6335-41ED-8FBF-E515F95883DB}"/>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 = −1, 2, and 3. The value t = 1 already returns B.</a:t>
            </a:r>
          </a:p>
        </p:txBody>
      </p:sp>
      <p:pic>
        <p:nvPicPr>
          <p:cNvPr id="4" name="parametric-equation" descr="LaTeX: x=1+2t,\qquad y=4-3t">
            <a:extLst xmlns:a="http://schemas.openxmlformats.org/drawingml/2006/main">
              <a:ext uri="{FF2B5EF4-FFF2-40B4-BE49-F238E27FC236}">
                <a16:creationId xmlns:a16="http://schemas.microsoft.com/office/drawing/2014/main" id="{EFEEBB74-7124-4C7B-B7ED-10812D730D3A}"/>
              </a:ext>
            </a:extLst>
          </p:cNvPr>
          <p:cNvPicPr>
            <a:picLocks xmlns:a="http://schemas.openxmlformats.org/drawingml/2006/main" noChangeAspect="1"/>
          </p:cNvPicPr>
          <p:nvPr/>
        </p:nvPicPr>
        <p:blipFill>
          <a:blip xmlns:r="http://schemas.openxmlformats.org/officeDocument/2006/relationships" xmlns:a="http://schemas.openxmlformats.org/drawingml/2006/main" r:embed="R837dab3c3f924877">
            <a:extLst>
              <a:ext uri="{96DAC541-7B7A-43D3-8B79-37D633B846F1}">
                <asvg:svgBlip xmlns:asvg="http://schemas.microsoft.com/office/drawing/2016/SVG/main" r:embed="R4b274ffae5ae4a78"/>
              </a:ext>
            </a:extLst>
          </a:blip>
          <a:stretch xmlns:a="http://schemas.openxmlformats.org/drawingml/2006/main"/>
        </p:blipFill>
        <p:spPr>
          <a:xfrm xmlns:a="http://schemas.openxmlformats.org/drawingml/2006/main">
            <a:off x="685800" y="2714625"/>
            <a:ext cx="3775821" cy="331129"/>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AC110359-C299-4133-B6C3-02E312654363}"/>
              </a:ext>
            </a:extLst>
          </p:cNvPr>
          <p:cNvGraphicFramePr/>
          <p:nvPr/>
        </p:nvGraphicFramePr>
        <p:xfrm>
          <a:off xmlns:a="http://schemas.openxmlformats.org/drawingml/2006/main" x="685800" y="3667125"/>
          <a:ext xmlns:a="http://schemas.openxmlformats.org/drawingml/2006/main" cx="4953000" cy="2076450"/>
        </p:xfrm>
        <a:graphic xmlns:a="http://schemas.openxmlformats.org/drawingml/2006/main">
          <a:graphicData uri="http://schemas.openxmlformats.org/drawingml/2006/table">
            <a:tbl>
              <a:tblPr/>
              <a:tblGrid>
                <a:gridCol w="952500"/>
                <a:gridCol w="4000500"/>
              </a:tblGrid>
              <a:tr h="519113">
                <a:tc>
                  <a:txBody>
                    <a:bodyPr lIns="76200" tIns="76200" rIns="76200" bIns="76200"/>
                    <a:lstStyle/>
                    <a:p>
                      <a:pPr algn="ctr">
                        <a:buNone/>
                      </a:pPr>
                      <a:r>
                        <a:rPr sz="1875" b="1">
                          <a:solidFill>
                            <a:srgbClr val="7DD3FC"/>
                          </a:solidFill>
                          <a:latin typeface="DejaVu Sans"/>
                          <a:ea typeface="DejaVu Sans"/>
                          <a:cs typeface="DejaVu Sans"/>
                        </a:rPr>
                        <a:t>t</a:t>
                      </a:r>
                    </a:p>
                  </a:txBody>
                  <a:tcPr marL="91440" marR="91440" marT="45720" marB="45720" anchor="ctr">
                    <a:lnL w="9525">
                      <a:solidFill>
                        <a:srgbClr val="3D444D"/>
                      </a:solidFill>
                      <a:prstDash val="solid"/>
                    </a:lnL>
                    <a:lnR w="9525">
                      <a:solidFill>
                        <a:srgbClr val="3D444D"/>
                      </a:solidFill>
                      <a:prstDash val="solid"/>
                    </a:lnR>
                    <a:lnT w="9525">
                      <a:solidFill>
                        <a:srgbClr val="3D444D"/>
                      </a:solidFill>
                      <a:prstDash val="solid"/>
                    </a:lnT>
                    <a:lnB w="9525">
                      <a:solidFill>
                        <a:srgbClr val="3D444D"/>
                      </a:solidFill>
                      <a:prstDash val="solid"/>
                    </a:lnB>
                    <a:solidFill>
                      <a:srgbClr val="192832"/>
                    </a:solidFill>
                  </a:tcPr>
                </a:tc>
                <a:tc>
                  <a:txBody>
                    <a:bodyPr lIns="76200" tIns="76200" rIns="76200" bIns="76200"/>
                    <a:lstStyle/>
                    <a:p>
                      <a:pPr algn="ctr">
                        <a:buNone/>
                      </a:pPr>
                      <a:r>
                        <a:rPr sz="1875" b="1">
                          <a:solidFill>
                            <a:srgbClr val="7DD3FC"/>
                          </a:solidFill>
                          <a:latin typeface="DejaVu Sans"/>
                          <a:ea typeface="DejaVu Sans"/>
                          <a:cs typeface="DejaVu Sans"/>
                        </a:rPr>
                        <a:t>Point</a:t>
                      </a:r>
                    </a:p>
                  </a:txBody>
                  <a:tcPr marL="91440" marR="91440" marT="45720" marB="45720" anchor="ctr">
                    <a:lnR w="9525">
                      <a:solidFill>
                        <a:srgbClr val="3D444D"/>
                      </a:solidFill>
                      <a:prstDash val="solid"/>
                    </a:lnR>
                    <a:lnT w="9525">
                      <a:solidFill>
                        <a:srgbClr val="3D444D"/>
                      </a:solidFill>
                      <a:prstDash val="solid"/>
                    </a:lnT>
                    <a:lnB w="9525">
                      <a:solidFill>
                        <a:srgbClr val="3D444D"/>
                      </a:solidFill>
                      <a:prstDash val="solid"/>
                    </a:lnB>
                    <a:solidFill>
                      <a:srgbClr val="192832"/>
                    </a:solidFill>
                  </a:tcPr>
                </a:tc>
              </a:tr>
              <a:tr h="519113">
                <a:tc>
                  <a:txBody>
                    <a:bodyPr lIns="76200" tIns="76200" rIns="76200" bIns="76200"/>
                    <a:lstStyle/>
                    <a:p>
                      <a:pPr algn="ctr">
                        <a:buNone/>
                      </a:pPr>
                      <a:r>
                        <a:rPr sz="1875" b="0">
                          <a:solidFill>
                            <a:srgbClr val="F5F5F5"/>
                          </a:solidFill>
                          <a:latin typeface="DejaVu Sans"/>
                          <a:ea typeface="DejaVu Sans"/>
                          <a:cs typeface="DejaVu Sans"/>
                        </a:rPr>
                        <a:t>−1</a:t>
                      </a:r>
                    </a:p>
                  </a:txBody>
                  <a:tcPr marL="91440" marR="91440" marT="45720" marB="45720" anchor="ctr">
                    <a:lnL w="9525">
                      <a:solidFill>
                        <a:srgbClr val="3D444D"/>
                      </a:solidFill>
                      <a:prstDash val="solid"/>
                    </a:lnL>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(−1, 7)</a:t>
                      </a:r>
                    </a:p>
                  </a:txBody>
                  <a:tcPr marL="91440" marR="91440" marT="45720" marB="45720" anchor="ctr">
                    <a:lnR w="9525">
                      <a:solidFill>
                        <a:srgbClr val="3D444D"/>
                      </a:solidFill>
                      <a:prstDash val="solid"/>
                    </a:lnR>
                    <a:lnB w="9525">
                      <a:solidFill>
                        <a:srgbClr val="3D444D"/>
                      </a:solidFill>
                      <a:prstDash val="solid"/>
                    </a:lnB>
                    <a:solidFill>
                      <a:srgbClr val="0A0A0A"/>
                    </a:solidFill>
                  </a:tcPr>
                </a:tc>
              </a:tr>
              <a:tr h="519113">
                <a:tc>
                  <a:txBody>
                    <a:bodyPr lIns="76200" tIns="76200" rIns="76200" bIns="76200"/>
                    <a:lstStyle/>
                    <a:p>
                      <a:pPr algn="ctr">
                        <a:buNone/>
                      </a:pPr>
                      <a:r>
                        <a:rPr sz="1875" b="0">
                          <a:solidFill>
                            <a:srgbClr val="F5F5F5"/>
                          </a:solidFill>
                          <a:latin typeface="DejaVu Sans"/>
                          <a:ea typeface="DejaVu Sans"/>
                          <a:cs typeface="DejaVu Sans"/>
                        </a:rPr>
                        <a:t>2</a:t>
                      </a:r>
                    </a:p>
                  </a:txBody>
                  <a:tcPr marL="91440" marR="91440" marT="45720" marB="45720" anchor="ctr">
                    <a:lnL w="9525">
                      <a:solidFill>
                        <a:srgbClr val="3D444D"/>
                      </a:solidFill>
                      <a:prstDash val="solid"/>
                    </a:lnL>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(5, −2)</a:t>
                      </a:r>
                    </a:p>
                  </a:txBody>
                  <a:tcPr marL="91440" marR="91440" marT="45720" marB="45720" anchor="ctr">
                    <a:lnR w="9525">
                      <a:solidFill>
                        <a:srgbClr val="3D444D"/>
                      </a:solidFill>
                      <a:prstDash val="solid"/>
                    </a:lnR>
                    <a:lnB w="9525">
                      <a:solidFill>
                        <a:srgbClr val="3D444D"/>
                      </a:solidFill>
                      <a:prstDash val="solid"/>
                    </a:lnB>
                    <a:solidFill>
                      <a:srgbClr val="0A0A0A"/>
                    </a:solidFill>
                  </a:tcPr>
                </a:tc>
              </a:tr>
              <a:tr h="519113">
                <a:tc>
                  <a:txBody>
                    <a:bodyPr lIns="76200" tIns="76200" rIns="76200" bIns="76200"/>
                    <a:lstStyle/>
                    <a:p>
                      <a:pPr algn="ctr">
                        <a:buNone/>
                      </a:pPr>
                      <a:r>
                        <a:rPr sz="1875" b="0">
                          <a:solidFill>
                            <a:srgbClr val="F5F5F5"/>
                          </a:solidFill>
                          <a:latin typeface="DejaVu Sans"/>
                          <a:ea typeface="DejaVu Sans"/>
                          <a:cs typeface="DejaVu Sans"/>
                        </a:rPr>
                        <a:t>3</a:t>
                      </a:r>
                    </a:p>
                  </a:txBody>
                  <a:tcPr marL="91440" marR="91440" marT="45720" marB="45720" anchor="ctr">
                    <a:lnL w="9525">
                      <a:solidFill>
                        <a:srgbClr val="3D444D"/>
                      </a:solidFill>
                      <a:prstDash val="solid"/>
                    </a:lnL>
                    <a:lnR w="9525">
                      <a:solidFill>
                        <a:srgbClr val="3D444D"/>
                      </a:solidFill>
                      <a:prstDash val="solid"/>
                    </a:lnR>
                    <a:lnB w="9525">
                      <a:solidFill>
                        <a:srgbClr val="3D444D"/>
                      </a:solidFill>
                      <a:prstDash val="solid"/>
                    </a:lnB>
                    <a:solidFill>
                      <a:srgbClr val="0A0A0A"/>
                    </a:solidFill>
                  </a:tcPr>
                </a:tc>
                <a:tc>
                  <a:txBody>
                    <a:bodyPr lIns="76200" tIns="76200" rIns="76200" bIns="76200"/>
                    <a:lstStyle/>
                    <a:p>
                      <a:pPr algn="ctr">
                        <a:buNone/>
                      </a:pPr>
                      <a:r>
                        <a:rPr sz="1875" b="0">
                          <a:solidFill>
                            <a:srgbClr val="F5F5F5"/>
                          </a:solidFill>
                          <a:latin typeface="DejaVu Sans"/>
                          <a:ea typeface="DejaVu Sans"/>
                          <a:cs typeface="DejaVu Sans"/>
                        </a:rPr>
                        <a:t>(7, −5)</a:t>
                      </a:r>
                    </a:p>
                  </a:txBody>
                  <a:tcPr marL="91440" marR="91440" marT="45720" marB="45720" anchor="ctr">
                    <a:lnR w="9525">
                      <a:solidFill>
                        <a:srgbClr val="3D444D"/>
                      </a:solidFill>
                      <a:prstDash val="solid"/>
                    </a:lnR>
                    <a:lnB w="9525">
                      <a:solidFill>
                        <a:srgbClr val="3D444D"/>
                      </a:solidFill>
                      <a:prstDash val="solid"/>
                    </a:lnB>
                    <a:solidFill>
                      <a:srgbClr val="0A0A0A"/>
                    </a:solidFill>
                  </a:tcPr>
                </a:tc>
              </a:tr>
            </a:tbl>
          </a:graphicData>
        </a:graphic>
      </p:graphicFrame>
      <p:cxnSp>
        <p:nvCxnSpPr>
          <p:cNvPr id="6" name="x-axis">
            <a:extLst xmlns:a="http://schemas.openxmlformats.org/drawingml/2006/main">
              <a:ext uri="{FF2B5EF4-FFF2-40B4-BE49-F238E27FC236}">
                <a16:creationId xmlns:a16="http://schemas.microsoft.com/office/drawing/2014/main" id="{BC83F004-919B-434B-A8FD-94A86B27A01C}"/>
              </a:ext>
            </a:extLst>
          </p:cNvPr>
          <p:cNvCxnSpPr/>
          <p:nvPr/>
        </p:nvCxnSpPr>
        <p:spPr>
          <a:xfrm xmlns:a="http://schemas.openxmlformats.org/drawingml/2006/main" rot="0">
            <a:off x="7620000" y="4171950"/>
            <a:ext cx="2828925" cy="0"/>
          </a:xfrm>
          <a:prstGeom xmlns:a="http://schemas.openxmlformats.org/drawingml/2006/main" prst="straightConnector1">
            <a:avLst/>
          </a:prstGeom>
          <a:ln xmlns:a="http://schemas.openxmlformats.org/drawingml/2006/main" w="9525">
            <a:solidFill>
              <a:srgbClr val="50565E"/>
            </a:solidFill>
            <a:prstDash val="solid"/>
          </a:ln>
        </p:spPr>
      </p:cxnSp>
      <p:cxnSp>
        <p:nvCxnSpPr>
          <p:cNvPr id="7" name="y-axis">
            <a:extLst xmlns:a="http://schemas.openxmlformats.org/drawingml/2006/main">
              <a:ext uri="{FF2B5EF4-FFF2-40B4-BE49-F238E27FC236}">
                <a16:creationId xmlns:a16="http://schemas.microsoft.com/office/drawing/2014/main" id="{CDB8F9E7-46D6-4D0D-BEA1-DF546B54DA83}"/>
              </a:ext>
            </a:extLst>
          </p:cNvPr>
          <p:cNvCxnSpPr/>
          <p:nvPr/>
        </p:nvCxnSpPr>
        <p:spPr>
          <a:xfrm xmlns:a="http://schemas.openxmlformats.org/drawingml/2006/main" rot="-5400000">
            <a:off x="6179820" y="3914775"/>
            <a:ext cx="3909060" cy="0"/>
          </a:xfrm>
          <a:prstGeom xmlns:a="http://schemas.openxmlformats.org/drawingml/2006/main" prst="straightConnector1">
            <a:avLst/>
          </a:prstGeom>
          <a:ln xmlns:a="http://schemas.openxmlformats.org/drawingml/2006/main" w="9525">
            <a:solidFill>
              <a:srgbClr val="50565E"/>
            </a:solidFill>
            <a:prstDash val="solid"/>
          </a:ln>
        </p:spPr>
      </p:cxnSp>
      <p:cxnSp>
        <p:nvCxnSpPr>
          <p:cNvPr id="8" name="line-AB">
            <a:extLst xmlns:a="http://schemas.openxmlformats.org/drawingml/2006/main">
              <a:ext uri="{FF2B5EF4-FFF2-40B4-BE49-F238E27FC236}">
                <a16:creationId xmlns:a16="http://schemas.microsoft.com/office/drawing/2014/main" id="{3029E997-C85B-4F11-9456-FB3AEDC18433}"/>
              </a:ext>
            </a:extLst>
          </p:cNvPr>
          <p:cNvCxnSpPr/>
          <p:nvPr/>
        </p:nvCxnSpPr>
        <p:spPr>
          <a:xfrm xmlns:a="http://schemas.openxmlformats.org/drawingml/2006/main" rot="3378596">
            <a:off x="6742274" y="3914775"/>
            <a:ext cx="4327202" cy="0"/>
          </a:xfrm>
          <a:prstGeom xmlns:a="http://schemas.openxmlformats.org/drawingml/2006/main" prst="straightConnector1">
            <a:avLst/>
          </a:prstGeom>
          <a:ln xmlns:a="http://schemas.openxmlformats.org/drawingml/2006/main" w="23813">
            <a:solidFill>
              <a:srgbClr val="F5F5F5"/>
            </a:solidFill>
            <a:prstDash val="solid"/>
          </a:ln>
        </p:spPr>
      </p:cxnSp>
      <p:sp>
        <p:nvSpPr>
          <p:cNvPr id="9" name="A">
            <a:extLst xmlns:a="http://schemas.openxmlformats.org/drawingml/2006/main">
              <a:ext uri="{FF2B5EF4-FFF2-40B4-BE49-F238E27FC236}">
                <a16:creationId xmlns:a16="http://schemas.microsoft.com/office/drawing/2014/main" id="{2CF39E41-1276-419F-86A7-2E534B36F9E0}"/>
              </a:ext>
            </a:extLst>
          </p:cNvPr>
          <p:cNvSpPr>
            <a:spLocks xmlns:a="http://schemas.openxmlformats.org/drawingml/2006/main" noGrp="1"/>
          </p:cNvSpPr>
          <p:nvPr/>
        </p:nvSpPr>
        <p:spPr>
          <a:xfrm xmlns:a="http://schemas.openxmlformats.org/drawingml/2006/main">
            <a:off x="8353425" y="31051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0" name="A-label">
            <a:extLst xmlns:a="http://schemas.openxmlformats.org/drawingml/2006/main">
              <a:ext uri="{FF2B5EF4-FFF2-40B4-BE49-F238E27FC236}">
                <a16:creationId xmlns:a16="http://schemas.microsoft.com/office/drawing/2014/main" id="{20F54620-0866-4CDA-BC2B-78E98012C865}"/>
              </a:ext>
            </a:extLst>
          </p:cNvPr>
          <p:cNvSpPr>
            <a:spLocks xmlns:a="http://schemas.openxmlformats.org/drawingml/2006/main" noGrp="1"/>
          </p:cNvSpPr>
          <p:nvPr/>
        </p:nvSpPr>
        <p:spPr>
          <a:xfrm xmlns:a="http://schemas.openxmlformats.org/drawingml/2006/main">
            <a:off x="8534400" y="28194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7DD3FC"/>
                </a:solidFill>
                <a:latin typeface="DejaVu Sans"/>
                <a:ea typeface="DejaVu Sans"/>
                <a:cs typeface="DejaVu Sans"/>
              </a:defRPr>
            </a:defPPr>
            <a:lvl1pPr>
              <a:buNone/>
              <a:defRPr sz="1650" b="0">
                <a:solidFill>
                  <a:srgbClr val="7DD3FC"/>
                </a:solidFill>
                <a:latin typeface="DejaVu Sans"/>
                <a:ea typeface="DejaVu Sans"/>
                <a:cs typeface="DejaVu Sans"/>
              </a:defRPr>
            </a:lvl1pPr>
            <a:lvl2pPr>
              <a:buNone/>
              <a:defRPr sz="1650" b="0">
                <a:solidFill>
                  <a:srgbClr val="7DD3FC"/>
                </a:solidFill>
                <a:latin typeface="DejaVu Sans"/>
                <a:ea typeface="DejaVu Sans"/>
                <a:cs typeface="DejaVu Sans"/>
              </a:defRPr>
            </a:lvl2pPr>
            <a:lvl3pPr>
              <a:buNone/>
              <a:defRPr sz="1650" b="0">
                <a:solidFill>
                  <a:srgbClr val="7DD3FC"/>
                </a:solidFill>
                <a:latin typeface="DejaVu Sans"/>
                <a:ea typeface="DejaVu Sans"/>
                <a:cs typeface="DejaVu Sans"/>
              </a:defRPr>
            </a:lvl3pPr>
            <a:lvl4pPr>
              <a:buNone/>
              <a:defRPr sz="1650" b="0">
                <a:solidFill>
                  <a:srgbClr val="7DD3FC"/>
                </a:solidFill>
                <a:latin typeface="DejaVu Sans"/>
                <a:ea typeface="DejaVu Sans"/>
                <a:cs typeface="DejaVu Sans"/>
              </a:defRPr>
            </a:lvl4pPr>
            <a:lvl5pPr>
              <a:buNone/>
              <a:defRPr sz="1650" b="0">
                <a:solidFill>
                  <a:srgbClr val="7DD3FC"/>
                </a:solidFill>
                <a:latin typeface="DejaVu Sans"/>
                <a:ea typeface="DejaVu Sans"/>
                <a:cs typeface="DejaVu Sans"/>
              </a:defRPr>
            </a:lvl5pPr>
            <a:lvl6pPr>
              <a:buNone/>
              <a:defRPr sz="1650" b="0">
                <a:solidFill>
                  <a:srgbClr val="7DD3FC"/>
                </a:solidFill>
                <a:latin typeface="DejaVu Sans"/>
                <a:ea typeface="DejaVu Sans"/>
                <a:cs typeface="DejaVu Sans"/>
              </a:defRPr>
            </a:lvl6pPr>
            <a:lvl7pPr>
              <a:buNone/>
              <a:defRPr sz="1650" b="0">
                <a:solidFill>
                  <a:srgbClr val="7DD3FC"/>
                </a:solidFill>
                <a:latin typeface="DejaVu Sans"/>
                <a:ea typeface="DejaVu Sans"/>
                <a:cs typeface="DejaVu Sans"/>
              </a:defRPr>
            </a:lvl7pPr>
            <a:lvl8pPr>
              <a:buNone/>
              <a:defRPr sz="1650" b="0">
                <a:solidFill>
                  <a:srgbClr val="7DD3FC"/>
                </a:solidFill>
                <a:latin typeface="DejaVu Sans"/>
                <a:ea typeface="DejaVu Sans"/>
                <a:cs typeface="DejaVu Sans"/>
              </a:defRPr>
            </a:lvl8pPr>
            <a:lvl9pPr>
              <a:buNone/>
              <a:defRPr sz="1650" b="0">
                <a:solidFill>
                  <a:srgbClr val="7DD3FC"/>
                </a:solidFill>
                <a:latin typeface="DejaVu Sans"/>
                <a:ea typeface="DejaVu Sans"/>
                <a:cs typeface="DejaVu Sans"/>
              </a:defRPr>
            </a:lvl9pPr>
          </a:lstStyle>
          <a:p xmlns:a="http://schemas.openxmlformats.org/drawingml/2006/main">
            <a:pPr>
              <a:buNone/>
              <a:defRPr sz="1650" b="0">
                <a:solidFill>
                  <a:srgbClr val="7DD3FC"/>
                </a:solidFill>
                <a:latin typeface="DejaVu Sans"/>
                <a:ea typeface="DejaVu Sans"/>
                <a:cs typeface="DejaVu Sans"/>
              </a:defRPr>
            </a:pPr>
            <a:r>
              <a:rPr sz="1650" b="0">
                <a:solidFill>
                  <a:srgbClr val="7DD3FC"/>
                </a:solidFill>
                <a:latin typeface="DejaVu Sans"/>
                <a:ea typeface="DejaVu Sans"/>
                <a:cs typeface="DejaVu Sans"/>
              </a:rPr>
              <a:t>A(1, 4)</a:t>
            </a:r>
          </a:p>
        </p:txBody>
      </p:sp>
      <p:sp>
        <p:nvSpPr>
          <p:cNvPr id="11" name="B">
            <a:extLst xmlns:a="http://schemas.openxmlformats.org/drawingml/2006/main">
              <a:ext uri="{FF2B5EF4-FFF2-40B4-BE49-F238E27FC236}">
                <a16:creationId xmlns:a16="http://schemas.microsoft.com/office/drawing/2014/main" id="{4B25BB14-BC62-4879-8E89-F92EEAE79BF1}"/>
              </a:ext>
            </a:extLst>
          </p:cNvPr>
          <p:cNvSpPr>
            <a:spLocks xmlns:a="http://schemas.openxmlformats.org/drawingml/2006/main" noGrp="1"/>
          </p:cNvSpPr>
          <p:nvPr/>
        </p:nvSpPr>
        <p:spPr>
          <a:xfrm xmlns:a="http://schemas.openxmlformats.org/drawingml/2006/main">
            <a:off x="8867775" y="3876675"/>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2" name="B-label">
            <a:extLst xmlns:a="http://schemas.openxmlformats.org/drawingml/2006/main">
              <a:ext uri="{FF2B5EF4-FFF2-40B4-BE49-F238E27FC236}">
                <a16:creationId xmlns:a16="http://schemas.microsoft.com/office/drawing/2014/main" id="{BAB83EB5-5EE5-4F18-A957-5755FDC176FD}"/>
              </a:ext>
            </a:extLst>
          </p:cNvPr>
          <p:cNvSpPr>
            <a:spLocks xmlns:a="http://schemas.openxmlformats.org/drawingml/2006/main" noGrp="1"/>
          </p:cNvSpPr>
          <p:nvPr/>
        </p:nvSpPr>
        <p:spPr>
          <a:xfrm xmlns:a="http://schemas.openxmlformats.org/drawingml/2006/main">
            <a:off x="9048750" y="37719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7DD3FC"/>
                </a:solidFill>
                <a:latin typeface="DejaVu Sans"/>
                <a:ea typeface="DejaVu Sans"/>
                <a:cs typeface="DejaVu Sans"/>
              </a:defRPr>
            </a:defPPr>
            <a:lvl1pPr>
              <a:buNone/>
              <a:defRPr sz="1650" b="0">
                <a:solidFill>
                  <a:srgbClr val="7DD3FC"/>
                </a:solidFill>
                <a:latin typeface="DejaVu Sans"/>
                <a:ea typeface="DejaVu Sans"/>
                <a:cs typeface="DejaVu Sans"/>
              </a:defRPr>
            </a:lvl1pPr>
            <a:lvl2pPr>
              <a:buNone/>
              <a:defRPr sz="1650" b="0">
                <a:solidFill>
                  <a:srgbClr val="7DD3FC"/>
                </a:solidFill>
                <a:latin typeface="DejaVu Sans"/>
                <a:ea typeface="DejaVu Sans"/>
                <a:cs typeface="DejaVu Sans"/>
              </a:defRPr>
            </a:lvl2pPr>
            <a:lvl3pPr>
              <a:buNone/>
              <a:defRPr sz="1650" b="0">
                <a:solidFill>
                  <a:srgbClr val="7DD3FC"/>
                </a:solidFill>
                <a:latin typeface="DejaVu Sans"/>
                <a:ea typeface="DejaVu Sans"/>
                <a:cs typeface="DejaVu Sans"/>
              </a:defRPr>
            </a:lvl3pPr>
            <a:lvl4pPr>
              <a:buNone/>
              <a:defRPr sz="1650" b="0">
                <a:solidFill>
                  <a:srgbClr val="7DD3FC"/>
                </a:solidFill>
                <a:latin typeface="DejaVu Sans"/>
                <a:ea typeface="DejaVu Sans"/>
                <a:cs typeface="DejaVu Sans"/>
              </a:defRPr>
            </a:lvl4pPr>
            <a:lvl5pPr>
              <a:buNone/>
              <a:defRPr sz="1650" b="0">
                <a:solidFill>
                  <a:srgbClr val="7DD3FC"/>
                </a:solidFill>
                <a:latin typeface="DejaVu Sans"/>
                <a:ea typeface="DejaVu Sans"/>
                <a:cs typeface="DejaVu Sans"/>
              </a:defRPr>
            </a:lvl5pPr>
            <a:lvl6pPr>
              <a:buNone/>
              <a:defRPr sz="1650" b="0">
                <a:solidFill>
                  <a:srgbClr val="7DD3FC"/>
                </a:solidFill>
                <a:latin typeface="DejaVu Sans"/>
                <a:ea typeface="DejaVu Sans"/>
                <a:cs typeface="DejaVu Sans"/>
              </a:defRPr>
            </a:lvl6pPr>
            <a:lvl7pPr>
              <a:buNone/>
              <a:defRPr sz="1650" b="0">
                <a:solidFill>
                  <a:srgbClr val="7DD3FC"/>
                </a:solidFill>
                <a:latin typeface="DejaVu Sans"/>
                <a:ea typeface="DejaVu Sans"/>
                <a:cs typeface="DejaVu Sans"/>
              </a:defRPr>
            </a:lvl7pPr>
            <a:lvl8pPr>
              <a:buNone/>
              <a:defRPr sz="1650" b="0">
                <a:solidFill>
                  <a:srgbClr val="7DD3FC"/>
                </a:solidFill>
                <a:latin typeface="DejaVu Sans"/>
                <a:ea typeface="DejaVu Sans"/>
                <a:cs typeface="DejaVu Sans"/>
              </a:defRPr>
            </a:lvl8pPr>
            <a:lvl9pPr>
              <a:buNone/>
              <a:defRPr sz="1650" b="0">
                <a:solidFill>
                  <a:srgbClr val="7DD3FC"/>
                </a:solidFill>
                <a:latin typeface="DejaVu Sans"/>
                <a:ea typeface="DejaVu Sans"/>
                <a:cs typeface="DejaVu Sans"/>
              </a:defRPr>
            </a:lvl9pPr>
          </a:lstStyle>
          <a:p xmlns:a="http://schemas.openxmlformats.org/drawingml/2006/main">
            <a:pPr>
              <a:buNone/>
              <a:defRPr sz="1650" b="0">
                <a:solidFill>
                  <a:srgbClr val="7DD3FC"/>
                </a:solidFill>
                <a:latin typeface="DejaVu Sans"/>
                <a:ea typeface="DejaVu Sans"/>
                <a:cs typeface="DejaVu Sans"/>
              </a:defRPr>
            </a:pPr>
            <a:r>
              <a:rPr sz="1650" b="0">
                <a:solidFill>
                  <a:srgbClr val="7DD3FC"/>
                </a:solidFill>
                <a:latin typeface="DejaVu Sans"/>
                <a:ea typeface="DejaVu Sans"/>
                <a:cs typeface="DejaVu Sans"/>
              </a:rPr>
              <a:t>B(3, 1)</a:t>
            </a:r>
          </a:p>
        </p:txBody>
      </p:sp>
      <p:sp>
        <p:nvSpPr>
          <p:cNvPr id="13" name="C">
            <a:extLst xmlns:a="http://schemas.openxmlformats.org/drawingml/2006/main">
              <a:ext uri="{FF2B5EF4-FFF2-40B4-BE49-F238E27FC236}">
                <a16:creationId xmlns:a16="http://schemas.microsoft.com/office/drawing/2014/main" id="{7DCA8DAC-EF56-422E-B6E6-4FEE40315DD0}"/>
              </a:ext>
            </a:extLst>
          </p:cNvPr>
          <p:cNvSpPr>
            <a:spLocks xmlns:a="http://schemas.openxmlformats.org/drawingml/2006/main" noGrp="1"/>
          </p:cNvSpPr>
          <p:nvPr/>
        </p:nvSpPr>
        <p:spPr>
          <a:xfrm xmlns:a="http://schemas.openxmlformats.org/drawingml/2006/main">
            <a:off x="7839075" y="2333625"/>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4" name="C-label">
            <a:extLst xmlns:a="http://schemas.openxmlformats.org/drawingml/2006/main">
              <a:ext uri="{FF2B5EF4-FFF2-40B4-BE49-F238E27FC236}">
                <a16:creationId xmlns:a16="http://schemas.microsoft.com/office/drawing/2014/main" id="{14F45A6F-70CE-4449-9D61-75E47B58FEE5}"/>
              </a:ext>
            </a:extLst>
          </p:cNvPr>
          <p:cNvSpPr>
            <a:spLocks xmlns:a="http://schemas.openxmlformats.org/drawingml/2006/main" noGrp="1"/>
          </p:cNvSpPr>
          <p:nvPr/>
        </p:nvSpPr>
        <p:spPr>
          <a:xfrm xmlns:a="http://schemas.openxmlformats.org/drawingml/2006/main">
            <a:off x="8343900" y="208597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7DD3FC"/>
                </a:solidFill>
                <a:latin typeface="DejaVu Sans"/>
                <a:ea typeface="DejaVu Sans"/>
                <a:cs typeface="DejaVu Sans"/>
              </a:defRPr>
            </a:defPPr>
            <a:lvl1pPr>
              <a:buNone/>
              <a:defRPr sz="1650" b="0">
                <a:solidFill>
                  <a:srgbClr val="7DD3FC"/>
                </a:solidFill>
                <a:latin typeface="DejaVu Sans"/>
                <a:ea typeface="DejaVu Sans"/>
                <a:cs typeface="DejaVu Sans"/>
              </a:defRPr>
            </a:lvl1pPr>
            <a:lvl2pPr>
              <a:buNone/>
              <a:defRPr sz="1650" b="0">
                <a:solidFill>
                  <a:srgbClr val="7DD3FC"/>
                </a:solidFill>
                <a:latin typeface="DejaVu Sans"/>
                <a:ea typeface="DejaVu Sans"/>
                <a:cs typeface="DejaVu Sans"/>
              </a:defRPr>
            </a:lvl2pPr>
            <a:lvl3pPr>
              <a:buNone/>
              <a:defRPr sz="1650" b="0">
                <a:solidFill>
                  <a:srgbClr val="7DD3FC"/>
                </a:solidFill>
                <a:latin typeface="DejaVu Sans"/>
                <a:ea typeface="DejaVu Sans"/>
                <a:cs typeface="DejaVu Sans"/>
              </a:defRPr>
            </a:lvl3pPr>
            <a:lvl4pPr>
              <a:buNone/>
              <a:defRPr sz="1650" b="0">
                <a:solidFill>
                  <a:srgbClr val="7DD3FC"/>
                </a:solidFill>
                <a:latin typeface="DejaVu Sans"/>
                <a:ea typeface="DejaVu Sans"/>
                <a:cs typeface="DejaVu Sans"/>
              </a:defRPr>
            </a:lvl4pPr>
            <a:lvl5pPr>
              <a:buNone/>
              <a:defRPr sz="1650" b="0">
                <a:solidFill>
                  <a:srgbClr val="7DD3FC"/>
                </a:solidFill>
                <a:latin typeface="DejaVu Sans"/>
                <a:ea typeface="DejaVu Sans"/>
                <a:cs typeface="DejaVu Sans"/>
              </a:defRPr>
            </a:lvl5pPr>
            <a:lvl6pPr>
              <a:buNone/>
              <a:defRPr sz="1650" b="0">
                <a:solidFill>
                  <a:srgbClr val="7DD3FC"/>
                </a:solidFill>
                <a:latin typeface="DejaVu Sans"/>
                <a:ea typeface="DejaVu Sans"/>
                <a:cs typeface="DejaVu Sans"/>
              </a:defRPr>
            </a:lvl6pPr>
            <a:lvl7pPr>
              <a:buNone/>
              <a:defRPr sz="1650" b="0">
                <a:solidFill>
                  <a:srgbClr val="7DD3FC"/>
                </a:solidFill>
                <a:latin typeface="DejaVu Sans"/>
                <a:ea typeface="DejaVu Sans"/>
                <a:cs typeface="DejaVu Sans"/>
              </a:defRPr>
            </a:lvl7pPr>
            <a:lvl8pPr>
              <a:buNone/>
              <a:defRPr sz="1650" b="0">
                <a:solidFill>
                  <a:srgbClr val="7DD3FC"/>
                </a:solidFill>
                <a:latin typeface="DejaVu Sans"/>
                <a:ea typeface="DejaVu Sans"/>
                <a:cs typeface="DejaVu Sans"/>
              </a:defRPr>
            </a:lvl8pPr>
            <a:lvl9pPr>
              <a:buNone/>
              <a:defRPr sz="1650" b="0">
                <a:solidFill>
                  <a:srgbClr val="7DD3FC"/>
                </a:solidFill>
                <a:latin typeface="DejaVu Sans"/>
                <a:ea typeface="DejaVu Sans"/>
                <a:cs typeface="DejaVu Sans"/>
              </a:defRPr>
            </a:lvl9pPr>
          </a:lstStyle>
          <a:p xmlns:a="http://schemas.openxmlformats.org/drawingml/2006/main">
            <a:pPr>
              <a:buNone/>
              <a:defRPr sz="1650" b="0">
                <a:solidFill>
                  <a:srgbClr val="7DD3FC"/>
                </a:solidFill>
                <a:latin typeface="DejaVu Sans"/>
                <a:ea typeface="DejaVu Sans"/>
                <a:cs typeface="DejaVu Sans"/>
              </a:defRPr>
            </a:pPr>
            <a:r>
              <a:rPr sz="1650" b="0">
                <a:solidFill>
                  <a:srgbClr val="7DD3FC"/>
                </a:solidFill>
                <a:latin typeface="DejaVu Sans"/>
                <a:ea typeface="DejaVu Sans"/>
                <a:cs typeface="DejaVu Sans"/>
              </a:rPr>
              <a:t>C(-1, 7)</a:t>
            </a:r>
          </a:p>
        </p:txBody>
      </p:sp>
      <p:sp>
        <p:nvSpPr>
          <p:cNvPr id="15" name="D">
            <a:extLst xmlns:a="http://schemas.openxmlformats.org/drawingml/2006/main">
              <a:ext uri="{FF2B5EF4-FFF2-40B4-BE49-F238E27FC236}">
                <a16:creationId xmlns:a16="http://schemas.microsoft.com/office/drawing/2014/main" id="{AE3D66DC-EA54-4CF7-8215-EB56EB4E5C0C}"/>
              </a:ext>
            </a:extLst>
          </p:cNvPr>
          <p:cNvSpPr>
            <a:spLocks xmlns:a="http://schemas.openxmlformats.org/drawingml/2006/main" noGrp="1"/>
          </p:cNvSpPr>
          <p:nvPr/>
        </p:nvSpPr>
        <p:spPr>
          <a:xfrm xmlns:a="http://schemas.openxmlformats.org/drawingml/2006/main">
            <a:off x="9382125" y="46482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6" name="D-label">
            <a:extLst xmlns:a="http://schemas.openxmlformats.org/drawingml/2006/main">
              <a:ext uri="{FF2B5EF4-FFF2-40B4-BE49-F238E27FC236}">
                <a16:creationId xmlns:a16="http://schemas.microsoft.com/office/drawing/2014/main" id="{D6819A08-2B54-46E5-8F7D-DE59B688FF37}"/>
              </a:ext>
            </a:extLst>
          </p:cNvPr>
          <p:cNvSpPr>
            <a:spLocks xmlns:a="http://schemas.openxmlformats.org/drawingml/2006/main" noGrp="1"/>
          </p:cNvSpPr>
          <p:nvPr/>
        </p:nvSpPr>
        <p:spPr>
          <a:xfrm xmlns:a="http://schemas.openxmlformats.org/drawingml/2006/main">
            <a:off x="9563100" y="454342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7DD3FC"/>
                </a:solidFill>
                <a:latin typeface="DejaVu Sans"/>
                <a:ea typeface="DejaVu Sans"/>
                <a:cs typeface="DejaVu Sans"/>
              </a:defRPr>
            </a:defPPr>
            <a:lvl1pPr>
              <a:buNone/>
              <a:defRPr sz="1650" b="0">
                <a:solidFill>
                  <a:srgbClr val="7DD3FC"/>
                </a:solidFill>
                <a:latin typeface="DejaVu Sans"/>
                <a:ea typeface="DejaVu Sans"/>
                <a:cs typeface="DejaVu Sans"/>
              </a:defRPr>
            </a:lvl1pPr>
            <a:lvl2pPr>
              <a:buNone/>
              <a:defRPr sz="1650" b="0">
                <a:solidFill>
                  <a:srgbClr val="7DD3FC"/>
                </a:solidFill>
                <a:latin typeface="DejaVu Sans"/>
                <a:ea typeface="DejaVu Sans"/>
                <a:cs typeface="DejaVu Sans"/>
              </a:defRPr>
            </a:lvl2pPr>
            <a:lvl3pPr>
              <a:buNone/>
              <a:defRPr sz="1650" b="0">
                <a:solidFill>
                  <a:srgbClr val="7DD3FC"/>
                </a:solidFill>
                <a:latin typeface="DejaVu Sans"/>
                <a:ea typeface="DejaVu Sans"/>
                <a:cs typeface="DejaVu Sans"/>
              </a:defRPr>
            </a:lvl3pPr>
            <a:lvl4pPr>
              <a:buNone/>
              <a:defRPr sz="1650" b="0">
                <a:solidFill>
                  <a:srgbClr val="7DD3FC"/>
                </a:solidFill>
                <a:latin typeface="DejaVu Sans"/>
                <a:ea typeface="DejaVu Sans"/>
                <a:cs typeface="DejaVu Sans"/>
              </a:defRPr>
            </a:lvl4pPr>
            <a:lvl5pPr>
              <a:buNone/>
              <a:defRPr sz="1650" b="0">
                <a:solidFill>
                  <a:srgbClr val="7DD3FC"/>
                </a:solidFill>
                <a:latin typeface="DejaVu Sans"/>
                <a:ea typeface="DejaVu Sans"/>
                <a:cs typeface="DejaVu Sans"/>
              </a:defRPr>
            </a:lvl5pPr>
            <a:lvl6pPr>
              <a:buNone/>
              <a:defRPr sz="1650" b="0">
                <a:solidFill>
                  <a:srgbClr val="7DD3FC"/>
                </a:solidFill>
                <a:latin typeface="DejaVu Sans"/>
                <a:ea typeface="DejaVu Sans"/>
                <a:cs typeface="DejaVu Sans"/>
              </a:defRPr>
            </a:lvl6pPr>
            <a:lvl7pPr>
              <a:buNone/>
              <a:defRPr sz="1650" b="0">
                <a:solidFill>
                  <a:srgbClr val="7DD3FC"/>
                </a:solidFill>
                <a:latin typeface="DejaVu Sans"/>
                <a:ea typeface="DejaVu Sans"/>
                <a:cs typeface="DejaVu Sans"/>
              </a:defRPr>
            </a:lvl7pPr>
            <a:lvl8pPr>
              <a:buNone/>
              <a:defRPr sz="1650" b="0">
                <a:solidFill>
                  <a:srgbClr val="7DD3FC"/>
                </a:solidFill>
                <a:latin typeface="DejaVu Sans"/>
                <a:ea typeface="DejaVu Sans"/>
                <a:cs typeface="DejaVu Sans"/>
              </a:defRPr>
            </a:lvl8pPr>
            <a:lvl9pPr>
              <a:buNone/>
              <a:defRPr sz="1650" b="0">
                <a:solidFill>
                  <a:srgbClr val="7DD3FC"/>
                </a:solidFill>
                <a:latin typeface="DejaVu Sans"/>
                <a:ea typeface="DejaVu Sans"/>
                <a:cs typeface="DejaVu Sans"/>
              </a:defRPr>
            </a:lvl9pPr>
          </a:lstStyle>
          <a:p xmlns:a="http://schemas.openxmlformats.org/drawingml/2006/main">
            <a:pPr>
              <a:buNone/>
              <a:defRPr sz="1650" b="0">
                <a:solidFill>
                  <a:srgbClr val="7DD3FC"/>
                </a:solidFill>
                <a:latin typeface="DejaVu Sans"/>
                <a:ea typeface="DejaVu Sans"/>
                <a:cs typeface="DejaVu Sans"/>
              </a:defRPr>
            </a:pPr>
            <a:r>
              <a:rPr sz="1650" b="0">
                <a:solidFill>
                  <a:srgbClr val="7DD3FC"/>
                </a:solidFill>
                <a:latin typeface="DejaVu Sans"/>
                <a:ea typeface="DejaVu Sans"/>
                <a:cs typeface="DejaVu Sans"/>
              </a:rPr>
              <a:t>D(5, -2)</a:t>
            </a:r>
          </a:p>
        </p:txBody>
      </p:sp>
      <p:sp>
        <p:nvSpPr>
          <p:cNvPr id="17" name="E">
            <a:extLst xmlns:a="http://schemas.openxmlformats.org/drawingml/2006/main">
              <a:ext uri="{FF2B5EF4-FFF2-40B4-BE49-F238E27FC236}">
                <a16:creationId xmlns:a16="http://schemas.microsoft.com/office/drawing/2014/main" id="{DA820341-0C99-4FF7-9E29-2A77EDD19734}"/>
              </a:ext>
            </a:extLst>
          </p:cNvPr>
          <p:cNvSpPr>
            <a:spLocks xmlns:a="http://schemas.openxmlformats.org/drawingml/2006/main" noGrp="1"/>
          </p:cNvSpPr>
          <p:nvPr/>
        </p:nvSpPr>
        <p:spPr>
          <a:xfrm xmlns:a="http://schemas.openxmlformats.org/drawingml/2006/main">
            <a:off x="9896475" y="5419725"/>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8" name="E-label">
            <a:extLst xmlns:a="http://schemas.openxmlformats.org/drawingml/2006/main">
              <a:ext uri="{FF2B5EF4-FFF2-40B4-BE49-F238E27FC236}">
                <a16:creationId xmlns:a16="http://schemas.microsoft.com/office/drawing/2014/main" id="{CD6BD8F9-03B6-422E-A4D5-B3E838461E84}"/>
              </a:ext>
            </a:extLst>
          </p:cNvPr>
          <p:cNvSpPr>
            <a:spLocks xmlns:a="http://schemas.openxmlformats.org/drawingml/2006/main" noGrp="1"/>
          </p:cNvSpPr>
          <p:nvPr/>
        </p:nvSpPr>
        <p:spPr>
          <a:xfrm xmlns:a="http://schemas.openxmlformats.org/drawingml/2006/main">
            <a:off x="10077450" y="531495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7DD3FC"/>
                </a:solidFill>
                <a:latin typeface="DejaVu Sans"/>
                <a:ea typeface="DejaVu Sans"/>
                <a:cs typeface="DejaVu Sans"/>
              </a:defRPr>
            </a:defPPr>
            <a:lvl1pPr>
              <a:buNone/>
              <a:defRPr sz="1650" b="0">
                <a:solidFill>
                  <a:srgbClr val="7DD3FC"/>
                </a:solidFill>
                <a:latin typeface="DejaVu Sans"/>
                <a:ea typeface="DejaVu Sans"/>
                <a:cs typeface="DejaVu Sans"/>
              </a:defRPr>
            </a:lvl1pPr>
            <a:lvl2pPr>
              <a:buNone/>
              <a:defRPr sz="1650" b="0">
                <a:solidFill>
                  <a:srgbClr val="7DD3FC"/>
                </a:solidFill>
                <a:latin typeface="DejaVu Sans"/>
                <a:ea typeface="DejaVu Sans"/>
                <a:cs typeface="DejaVu Sans"/>
              </a:defRPr>
            </a:lvl2pPr>
            <a:lvl3pPr>
              <a:buNone/>
              <a:defRPr sz="1650" b="0">
                <a:solidFill>
                  <a:srgbClr val="7DD3FC"/>
                </a:solidFill>
                <a:latin typeface="DejaVu Sans"/>
                <a:ea typeface="DejaVu Sans"/>
                <a:cs typeface="DejaVu Sans"/>
              </a:defRPr>
            </a:lvl3pPr>
            <a:lvl4pPr>
              <a:buNone/>
              <a:defRPr sz="1650" b="0">
                <a:solidFill>
                  <a:srgbClr val="7DD3FC"/>
                </a:solidFill>
                <a:latin typeface="DejaVu Sans"/>
                <a:ea typeface="DejaVu Sans"/>
                <a:cs typeface="DejaVu Sans"/>
              </a:defRPr>
            </a:lvl4pPr>
            <a:lvl5pPr>
              <a:buNone/>
              <a:defRPr sz="1650" b="0">
                <a:solidFill>
                  <a:srgbClr val="7DD3FC"/>
                </a:solidFill>
                <a:latin typeface="DejaVu Sans"/>
                <a:ea typeface="DejaVu Sans"/>
                <a:cs typeface="DejaVu Sans"/>
              </a:defRPr>
            </a:lvl5pPr>
            <a:lvl6pPr>
              <a:buNone/>
              <a:defRPr sz="1650" b="0">
                <a:solidFill>
                  <a:srgbClr val="7DD3FC"/>
                </a:solidFill>
                <a:latin typeface="DejaVu Sans"/>
                <a:ea typeface="DejaVu Sans"/>
                <a:cs typeface="DejaVu Sans"/>
              </a:defRPr>
            </a:lvl6pPr>
            <a:lvl7pPr>
              <a:buNone/>
              <a:defRPr sz="1650" b="0">
                <a:solidFill>
                  <a:srgbClr val="7DD3FC"/>
                </a:solidFill>
                <a:latin typeface="DejaVu Sans"/>
                <a:ea typeface="DejaVu Sans"/>
                <a:cs typeface="DejaVu Sans"/>
              </a:defRPr>
            </a:lvl7pPr>
            <a:lvl8pPr>
              <a:buNone/>
              <a:defRPr sz="1650" b="0">
                <a:solidFill>
                  <a:srgbClr val="7DD3FC"/>
                </a:solidFill>
                <a:latin typeface="DejaVu Sans"/>
                <a:ea typeface="DejaVu Sans"/>
                <a:cs typeface="DejaVu Sans"/>
              </a:defRPr>
            </a:lvl8pPr>
            <a:lvl9pPr>
              <a:buNone/>
              <a:defRPr sz="1650" b="0">
                <a:solidFill>
                  <a:srgbClr val="7DD3FC"/>
                </a:solidFill>
                <a:latin typeface="DejaVu Sans"/>
                <a:ea typeface="DejaVu Sans"/>
                <a:cs typeface="DejaVu Sans"/>
              </a:defRPr>
            </a:lvl9pPr>
          </a:lstStyle>
          <a:p xmlns:a="http://schemas.openxmlformats.org/drawingml/2006/main">
            <a:pPr>
              <a:buNone/>
              <a:defRPr sz="1650" b="0">
                <a:solidFill>
                  <a:srgbClr val="7DD3FC"/>
                </a:solidFill>
                <a:latin typeface="DejaVu Sans"/>
                <a:ea typeface="DejaVu Sans"/>
                <a:cs typeface="DejaVu Sans"/>
              </a:defRPr>
            </a:pPr>
            <a:r>
              <a:rPr sz="1650" b="0">
                <a:solidFill>
                  <a:srgbClr val="7DD3FC"/>
                </a:solidFill>
                <a:latin typeface="DejaVu Sans"/>
                <a:ea typeface="DejaVu Sans"/>
                <a:cs typeface="DejaVu Sans"/>
              </a:rPr>
              <a:t>E(7, -5)</a:t>
            </a:r>
          </a:p>
        </p:txBody>
      </p:sp>
      <p:cxnSp>
        <p:nvCxnSpPr>
          <p:cNvPr id="19" name="tick-x-0">
            <a:extLst xmlns:a="http://schemas.openxmlformats.org/drawingml/2006/main">
              <a:ext uri="{FF2B5EF4-FFF2-40B4-BE49-F238E27FC236}">
                <a16:creationId xmlns:a16="http://schemas.microsoft.com/office/drawing/2014/main" id="{45C82435-27A0-4352-B421-5C04A2D3D6A9}"/>
              </a:ext>
            </a:extLst>
          </p:cNvPr>
          <p:cNvCxnSpPr/>
          <p:nvPr/>
        </p:nvCxnSpPr>
        <p:spPr>
          <a:xfrm xmlns:a="http://schemas.openxmlformats.org/drawingml/2006/main" rot="5400000">
            <a:off x="8096250" y="4171950"/>
            <a:ext cx="76200" cy="0"/>
          </a:xfrm>
          <a:prstGeom xmlns:a="http://schemas.openxmlformats.org/drawingml/2006/main" prst="straightConnector1">
            <a:avLst/>
          </a:prstGeom>
          <a:ln xmlns:a="http://schemas.openxmlformats.org/drawingml/2006/main" w="9525">
            <a:solidFill>
              <a:srgbClr val="50565E"/>
            </a:solidFill>
            <a:prstDash val="solid"/>
          </a:ln>
        </p:spPr>
      </p:cxnSp>
      <p:sp>
        <p:nvSpPr>
          <p:cNvPr id="20" name="number-x-0">
            <a:extLst xmlns:a="http://schemas.openxmlformats.org/drawingml/2006/main">
              <a:ext uri="{FF2B5EF4-FFF2-40B4-BE49-F238E27FC236}">
                <a16:creationId xmlns:a16="http://schemas.microsoft.com/office/drawing/2014/main" id="{8A868BC5-14E0-4511-BCEB-15284D64430D}"/>
              </a:ext>
            </a:extLst>
          </p:cNvPr>
          <p:cNvSpPr>
            <a:spLocks xmlns:a="http://schemas.openxmlformats.org/drawingml/2006/main" noGrp="1"/>
          </p:cNvSpPr>
          <p:nvPr/>
        </p:nvSpPr>
        <p:spPr>
          <a:xfrm xmlns:a="http://schemas.openxmlformats.org/drawingml/2006/main">
            <a:off x="8058150" y="42386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0</a:t>
            </a:r>
          </a:p>
        </p:txBody>
      </p:sp>
      <p:cxnSp>
        <p:nvCxnSpPr>
          <p:cNvPr id="21" name="tick-x-4">
            <a:extLst xmlns:a="http://schemas.openxmlformats.org/drawingml/2006/main">
              <a:ext uri="{FF2B5EF4-FFF2-40B4-BE49-F238E27FC236}">
                <a16:creationId xmlns:a16="http://schemas.microsoft.com/office/drawing/2014/main" id="{5DBBD013-AC90-4173-B653-6D6B1E2F8F54}"/>
              </a:ext>
            </a:extLst>
          </p:cNvPr>
          <p:cNvCxnSpPr/>
          <p:nvPr/>
        </p:nvCxnSpPr>
        <p:spPr>
          <a:xfrm xmlns:a="http://schemas.openxmlformats.org/drawingml/2006/main" rot="5400000">
            <a:off x="9124950" y="4171950"/>
            <a:ext cx="76200" cy="0"/>
          </a:xfrm>
          <a:prstGeom xmlns:a="http://schemas.openxmlformats.org/drawingml/2006/main" prst="straightConnector1">
            <a:avLst/>
          </a:prstGeom>
          <a:ln xmlns:a="http://schemas.openxmlformats.org/drawingml/2006/main" w="9525">
            <a:solidFill>
              <a:srgbClr val="50565E"/>
            </a:solidFill>
            <a:prstDash val="solid"/>
          </a:ln>
        </p:spPr>
      </p:cxnSp>
      <p:sp>
        <p:nvSpPr>
          <p:cNvPr id="22" name="number-x-4">
            <a:extLst xmlns:a="http://schemas.openxmlformats.org/drawingml/2006/main">
              <a:ext uri="{FF2B5EF4-FFF2-40B4-BE49-F238E27FC236}">
                <a16:creationId xmlns:a16="http://schemas.microsoft.com/office/drawing/2014/main" id="{7C060276-BC8B-4ED0-9D7D-4E86A4B022AE}"/>
              </a:ext>
            </a:extLst>
          </p:cNvPr>
          <p:cNvSpPr>
            <a:spLocks xmlns:a="http://schemas.openxmlformats.org/drawingml/2006/main" noGrp="1"/>
          </p:cNvSpPr>
          <p:nvPr/>
        </p:nvSpPr>
        <p:spPr>
          <a:xfrm xmlns:a="http://schemas.openxmlformats.org/drawingml/2006/main">
            <a:off x="9086850" y="42386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4</a:t>
            </a:r>
          </a:p>
        </p:txBody>
      </p:sp>
      <p:cxnSp>
        <p:nvCxnSpPr>
          <p:cNvPr id="23" name="tick-x-8">
            <a:extLst xmlns:a="http://schemas.openxmlformats.org/drawingml/2006/main">
              <a:ext uri="{FF2B5EF4-FFF2-40B4-BE49-F238E27FC236}">
                <a16:creationId xmlns:a16="http://schemas.microsoft.com/office/drawing/2014/main" id="{39D60BDC-1DB4-44C3-9EB1-F7A1D3F30AB3}"/>
              </a:ext>
            </a:extLst>
          </p:cNvPr>
          <p:cNvCxnSpPr/>
          <p:nvPr/>
        </p:nvCxnSpPr>
        <p:spPr>
          <a:xfrm xmlns:a="http://schemas.openxmlformats.org/drawingml/2006/main" rot="5400000">
            <a:off x="10153650" y="4171950"/>
            <a:ext cx="76200" cy="0"/>
          </a:xfrm>
          <a:prstGeom xmlns:a="http://schemas.openxmlformats.org/drawingml/2006/main" prst="straightConnector1">
            <a:avLst/>
          </a:prstGeom>
          <a:ln xmlns:a="http://schemas.openxmlformats.org/drawingml/2006/main" w="9525">
            <a:solidFill>
              <a:srgbClr val="50565E"/>
            </a:solidFill>
            <a:prstDash val="solid"/>
          </a:ln>
        </p:spPr>
      </p:cxnSp>
      <p:sp>
        <p:nvSpPr>
          <p:cNvPr id="24" name="number-x-8">
            <a:extLst xmlns:a="http://schemas.openxmlformats.org/drawingml/2006/main">
              <a:ext uri="{FF2B5EF4-FFF2-40B4-BE49-F238E27FC236}">
                <a16:creationId xmlns:a16="http://schemas.microsoft.com/office/drawing/2014/main" id="{B95A8098-F9C2-4376-BD93-E591C46CCE3B}"/>
              </a:ext>
            </a:extLst>
          </p:cNvPr>
          <p:cNvSpPr>
            <a:spLocks xmlns:a="http://schemas.openxmlformats.org/drawingml/2006/main" noGrp="1"/>
          </p:cNvSpPr>
          <p:nvPr/>
        </p:nvSpPr>
        <p:spPr>
          <a:xfrm xmlns:a="http://schemas.openxmlformats.org/drawingml/2006/main">
            <a:off x="10115550" y="42386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8</a:t>
            </a:r>
          </a:p>
        </p:txBody>
      </p:sp>
      <p:cxnSp>
        <p:nvCxnSpPr>
          <p:cNvPr id="25" name="tick-y--4">
            <a:extLst xmlns:a="http://schemas.openxmlformats.org/drawingml/2006/main">
              <a:ext uri="{FF2B5EF4-FFF2-40B4-BE49-F238E27FC236}">
                <a16:creationId xmlns:a16="http://schemas.microsoft.com/office/drawing/2014/main" id="{0CE36445-E71E-40FF-82FA-F867B330A76D}"/>
              </a:ext>
            </a:extLst>
          </p:cNvPr>
          <p:cNvCxnSpPr/>
          <p:nvPr/>
        </p:nvCxnSpPr>
        <p:spPr>
          <a:xfrm xmlns:a="http://schemas.openxmlformats.org/drawingml/2006/main" rot="0">
            <a:off x="8096250" y="5200650"/>
            <a:ext cx="76200" cy="0"/>
          </a:xfrm>
          <a:prstGeom xmlns:a="http://schemas.openxmlformats.org/drawingml/2006/main" prst="straightConnector1">
            <a:avLst/>
          </a:prstGeom>
          <a:ln xmlns:a="http://schemas.openxmlformats.org/drawingml/2006/main" w="9525">
            <a:solidFill>
              <a:srgbClr val="50565E"/>
            </a:solidFill>
            <a:prstDash val="solid"/>
          </a:ln>
        </p:spPr>
      </p:cxnSp>
      <p:sp>
        <p:nvSpPr>
          <p:cNvPr id="26" name="number-y--4">
            <a:extLst xmlns:a="http://schemas.openxmlformats.org/drawingml/2006/main">
              <a:ext uri="{FF2B5EF4-FFF2-40B4-BE49-F238E27FC236}">
                <a16:creationId xmlns:a16="http://schemas.microsoft.com/office/drawing/2014/main" id="{B05FC174-BB4B-4CDF-8C35-2F767A941D8B}"/>
              </a:ext>
            </a:extLst>
          </p:cNvPr>
          <p:cNvSpPr>
            <a:spLocks xmlns:a="http://schemas.openxmlformats.org/drawingml/2006/main" noGrp="1"/>
          </p:cNvSpPr>
          <p:nvPr/>
        </p:nvSpPr>
        <p:spPr>
          <a:xfrm xmlns:a="http://schemas.openxmlformats.org/drawingml/2006/main">
            <a:off x="7800975" y="50768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-4</a:t>
            </a:r>
          </a:p>
        </p:txBody>
      </p:sp>
      <p:cxnSp>
        <p:nvCxnSpPr>
          <p:cNvPr id="27" name="tick-y-4">
            <a:extLst xmlns:a="http://schemas.openxmlformats.org/drawingml/2006/main">
              <a:ext uri="{FF2B5EF4-FFF2-40B4-BE49-F238E27FC236}">
                <a16:creationId xmlns:a16="http://schemas.microsoft.com/office/drawing/2014/main" id="{AAA8D062-CC36-4A78-AA7B-57D301F8DC08}"/>
              </a:ext>
            </a:extLst>
          </p:cNvPr>
          <p:cNvCxnSpPr/>
          <p:nvPr/>
        </p:nvCxnSpPr>
        <p:spPr>
          <a:xfrm xmlns:a="http://schemas.openxmlformats.org/drawingml/2006/main" rot="0">
            <a:off x="8096250" y="3143250"/>
            <a:ext cx="76200" cy="0"/>
          </a:xfrm>
          <a:prstGeom xmlns:a="http://schemas.openxmlformats.org/drawingml/2006/main" prst="straightConnector1">
            <a:avLst/>
          </a:prstGeom>
          <a:ln xmlns:a="http://schemas.openxmlformats.org/drawingml/2006/main" w="9525">
            <a:solidFill>
              <a:srgbClr val="50565E"/>
            </a:solidFill>
            <a:prstDash val="solid"/>
          </a:ln>
        </p:spPr>
      </p:cxnSp>
      <p:sp>
        <p:nvSpPr>
          <p:cNvPr id="28" name="number-y-4">
            <a:extLst xmlns:a="http://schemas.openxmlformats.org/drawingml/2006/main">
              <a:ext uri="{FF2B5EF4-FFF2-40B4-BE49-F238E27FC236}">
                <a16:creationId xmlns:a16="http://schemas.microsoft.com/office/drawing/2014/main" id="{A730AE1C-77AC-4753-8F1C-C50DC91595F2}"/>
              </a:ext>
            </a:extLst>
          </p:cNvPr>
          <p:cNvSpPr>
            <a:spLocks xmlns:a="http://schemas.openxmlformats.org/drawingml/2006/main" noGrp="1"/>
          </p:cNvSpPr>
          <p:nvPr/>
        </p:nvSpPr>
        <p:spPr>
          <a:xfrm xmlns:a="http://schemas.openxmlformats.org/drawingml/2006/main">
            <a:off x="7800975" y="30194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4</a:t>
            </a:r>
          </a:p>
        </p:txBody>
      </p:sp>
      <p:cxnSp>
        <p:nvCxnSpPr>
          <p:cNvPr id="29" name="tick-y-8">
            <a:extLst xmlns:a="http://schemas.openxmlformats.org/drawingml/2006/main">
              <a:ext uri="{FF2B5EF4-FFF2-40B4-BE49-F238E27FC236}">
                <a16:creationId xmlns:a16="http://schemas.microsoft.com/office/drawing/2014/main" id="{52998783-8856-4794-AC2C-4698910FC673}"/>
              </a:ext>
            </a:extLst>
          </p:cNvPr>
          <p:cNvCxnSpPr/>
          <p:nvPr/>
        </p:nvCxnSpPr>
        <p:spPr>
          <a:xfrm xmlns:a="http://schemas.openxmlformats.org/drawingml/2006/main" rot="0">
            <a:off x="8096250" y="2114550"/>
            <a:ext cx="76200" cy="0"/>
          </a:xfrm>
          <a:prstGeom xmlns:a="http://schemas.openxmlformats.org/drawingml/2006/main" prst="straightConnector1">
            <a:avLst/>
          </a:prstGeom>
          <a:ln xmlns:a="http://schemas.openxmlformats.org/drawingml/2006/main" w="9525">
            <a:solidFill>
              <a:srgbClr val="50565E"/>
            </a:solidFill>
            <a:prstDash val="solid"/>
          </a:ln>
        </p:spPr>
      </p:cxnSp>
      <p:sp>
        <p:nvSpPr>
          <p:cNvPr id="30" name="number-y-8">
            <a:extLst xmlns:a="http://schemas.openxmlformats.org/drawingml/2006/main">
              <a:ext uri="{FF2B5EF4-FFF2-40B4-BE49-F238E27FC236}">
                <a16:creationId xmlns:a16="http://schemas.microsoft.com/office/drawing/2014/main" id="{0C5DD0D0-368D-41C0-9D5D-8218E94D5575}"/>
              </a:ext>
            </a:extLst>
          </p:cNvPr>
          <p:cNvSpPr>
            <a:spLocks xmlns:a="http://schemas.openxmlformats.org/drawingml/2006/main" noGrp="1"/>
          </p:cNvSpPr>
          <p:nvPr/>
        </p:nvSpPr>
        <p:spPr>
          <a:xfrm xmlns:a="http://schemas.openxmlformats.org/drawingml/2006/main">
            <a:off x="7800975" y="19907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8</a:t>
            </a:r>
          </a:p>
        </p:txBody>
      </p:sp>
      <p:sp>
        <p:nvSpPr>
          <p:cNvPr id="31" name="axis-x">
            <a:extLst xmlns:a="http://schemas.openxmlformats.org/drawingml/2006/main">
              <a:ext uri="{FF2B5EF4-FFF2-40B4-BE49-F238E27FC236}">
                <a16:creationId xmlns:a16="http://schemas.microsoft.com/office/drawing/2014/main" id="{A34FCC58-2C39-4A29-910A-78999E9177D6}"/>
              </a:ext>
            </a:extLst>
          </p:cNvPr>
          <p:cNvSpPr>
            <a:spLocks xmlns:a="http://schemas.openxmlformats.org/drawingml/2006/main" noGrp="1"/>
          </p:cNvSpPr>
          <p:nvPr/>
        </p:nvSpPr>
        <p:spPr>
          <a:xfrm xmlns:a="http://schemas.openxmlformats.org/drawingml/2006/main">
            <a:off x="10572750" y="404812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x</a:t>
            </a:r>
          </a:p>
        </p:txBody>
      </p:sp>
      <p:sp>
        <p:nvSpPr>
          <p:cNvPr id="32" name="axis-y">
            <a:extLst xmlns:a="http://schemas.openxmlformats.org/drawingml/2006/main">
              <a:ext uri="{FF2B5EF4-FFF2-40B4-BE49-F238E27FC236}">
                <a16:creationId xmlns:a16="http://schemas.microsoft.com/office/drawing/2014/main" id="{31E9D4AB-9F97-4546-B182-E928B9AD3D4F}"/>
              </a:ext>
            </a:extLst>
          </p:cNvPr>
          <p:cNvSpPr>
            <a:spLocks xmlns:a="http://schemas.openxmlformats.org/drawingml/2006/main" noGrp="1"/>
          </p:cNvSpPr>
          <p:nvPr/>
        </p:nvSpPr>
        <p:spPr>
          <a:xfrm xmlns:a="http://schemas.openxmlformats.org/drawingml/2006/main">
            <a:off x="8020050" y="17811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y</a:t>
            </a:r>
          </a:p>
        </p:txBody>
      </p:sp>
      <p:sp>
        <p:nvSpPr>
          <p:cNvPr id="33" name="takeaway">
            <a:extLst xmlns:a="http://schemas.openxmlformats.org/drawingml/2006/main">
              <a:ext uri="{FF2B5EF4-FFF2-40B4-BE49-F238E27FC236}">
                <a16:creationId xmlns:a16="http://schemas.microsoft.com/office/drawing/2014/main" id="{DFE394A3-BC78-4E25-96B8-92B9031989DE}"/>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For C, x = 1 − 2 = −1 and y = 4 + 3 = 7.</a:t>
            </a:r>
          </a:p>
        </p:txBody>
      </p:sp>
    </p:spTree>
    <p:extLst>
      <p:ext uri="{BB962C8B-B14F-4D97-AF65-F5344CB8AC3E}">
        <p14:creationId xmlns:p14="http://schemas.microsoft.com/office/powerpoint/2010/main" val="8611711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0"/>
                                  </p:stCondLst>
                                  <p:childTnLst>
                                    <p:set>
                                      <p:cBhvr>
                                        <p:cTn id="9" dur="1" fill="hold"/>
                                        <p:tgtEl>
                                          <p:spTgt spid="13"/>
                                        </p:tgtEl>
                                        <p:attrNameLst>
                                          <p:attrName>style.visibility</p:attrName>
                                        </p:attrNameLst>
                                      </p:cBhvr>
                                      <p:to>
                                        <p:strVal val="visible"/>
                                      </p:to>
                                    </p:set>
                                    <p:animEffect transition="in" filter="fade">
                                      <p:cBhvr>
                                        <p:cTn id="10" dur="400" fill="hold"/>
                                        <p:tgtEl>
                                          <p:spTgt spid="13"/>
                                        </p:tgtEl>
                                      </p:cBhvr>
                                    </p:animEffect>
                                  </p:childTnLst>
                                </p:cTn>
                              </p:par>
                              <p:par>
                                <p:cTn id="11" presetID="10" presetClass="entr" presetSubtype="0" fill="hold" grpId="0" nodeType="withEffect">
                                  <p:stCondLst>
                                    <p:cond delay="0"/>
                                  </p:stCondLst>
                                  <p:childTnLst>
                                    <p:set>
                                      <p:cBhvr>
                                        <p:cTn id="12" dur="1" fill="hold"/>
                                        <p:tgtEl>
                                          <p:spTgt spid="14"/>
                                        </p:tgtEl>
                                        <p:attrNameLst>
                                          <p:attrName>style.visibility</p:attrName>
                                        </p:attrNameLst>
                                      </p:cBhvr>
                                      <p:to>
                                        <p:strVal val="visible"/>
                                      </p:to>
                                    </p:set>
                                    <p:animEffect transition="in" filter="fade">
                                      <p:cBhvr>
                                        <p:cTn id="13" dur="400" fill="hold"/>
                                        <p:tgtEl>
                                          <p:spTgt spid="14"/>
                                        </p:tgtEl>
                                      </p:cBhvr>
                                    </p:animEffect>
                                  </p:childTnLst>
                                </p:cTn>
                              </p:par>
                              <p:par>
                                <p:cTn id="14" presetID="10" presetClass="entr" presetSubtype="0" fill="hold" grpId="0" nodeType="withEffect">
                                  <p:stCondLst>
                                    <p:cond delay="0"/>
                                  </p:stCondLst>
                                  <p:childTnLst>
                                    <p:set>
                                      <p:cBhvr>
                                        <p:cTn id="15" dur="1" fill="hold"/>
                                        <p:tgtEl>
                                          <p:spTgt spid="15"/>
                                        </p:tgtEl>
                                        <p:attrNameLst>
                                          <p:attrName>style.visibility</p:attrName>
                                        </p:attrNameLst>
                                      </p:cBhvr>
                                      <p:to>
                                        <p:strVal val="visible"/>
                                      </p:to>
                                    </p:set>
                                    <p:animEffect transition="in" filter="fade">
                                      <p:cBhvr>
                                        <p:cTn id="16" dur="400" fill="hold"/>
                                        <p:tgtEl>
                                          <p:spTgt spid="15"/>
                                        </p:tgtEl>
                                      </p:cBhvr>
                                    </p:animEffect>
                                  </p:childTnLst>
                                </p:cTn>
                              </p:par>
                              <p:par>
                                <p:cTn id="17" presetID="10" presetClass="entr" presetSubtype="0" fill="hold" grpId="0" nodeType="withEffect">
                                  <p:stCondLst>
                                    <p:cond delay="0"/>
                                  </p:stCondLst>
                                  <p:childTnLst>
                                    <p:set>
                                      <p:cBhvr>
                                        <p:cTn id="18" dur="1" fill="hold"/>
                                        <p:tgtEl>
                                          <p:spTgt spid="16"/>
                                        </p:tgtEl>
                                        <p:attrNameLst>
                                          <p:attrName>style.visibility</p:attrName>
                                        </p:attrNameLst>
                                      </p:cBhvr>
                                      <p:to>
                                        <p:strVal val="visible"/>
                                      </p:to>
                                    </p:set>
                                    <p:animEffect transition="in" filter="fade">
                                      <p:cBhvr>
                                        <p:cTn id="19" dur="400" fill="hold"/>
                                        <p:tgtEl>
                                          <p:spTgt spid="16"/>
                                        </p:tgtEl>
                                      </p:cBhvr>
                                    </p:animEffect>
                                  </p:childTnLst>
                                </p:cTn>
                              </p:par>
                              <p:par>
                                <p:cTn id="20" presetID="10" presetClass="entr" presetSubtype="0" fill="hold" grpId="0" nodeType="withEffect">
                                  <p:stCondLst>
                                    <p:cond delay="0"/>
                                  </p:stCondLst>
                                  <p:childTnLst>
                                    <p:set>
                                      <p:cBhvr>
                                        <p:cTn id="21" dur="1" fill="hold"/>
                                        <p:tgtEl>
                                          <p:spTgt spid="17"/>
                                        </p:tgtEl>
                                        <p:attrNameLst>
                                          <p:attrName>style.visibility</p:attrName>
                                        </p:attrNameLst>
                                      </p:cBhvr>
                                      <p:to>
                                        <p:strVal val="visible"/>
                                      </p:to>
                                    </p:set>
                                    <p:animEffect transition="in" filter="fade">
                                      <p:cBhvr>
                                        <p:cTn id="22" dur="400" fill="hold"/>
                                        <p:tgtEl>
                                          <p:spTgt spid="17"/>
                                        </p:tgtEl>
                                      </p:cBhvr>
                                    </p:animEffect>
                                  </p:childTnLst>
                                </p:cTn>
                              </p:par>
                              <p:par>
                                <p:cTn id="23" presetID="10" presetClass="entr" presetSubtype="0" fill="hold" grpId="0" nodeType="withEffect">
                                  <p:stCondLst>
                                    <p:cond delay="0"/>
                                  </p:stCondLst>
                                  <p:childTnLst>
                                    <p:set>
                                      <p:cBhvr>
                                        <p:cTn id="24" dur="1" fill="hold"/>
                                        <p:tgtEl>
                                          <p:spTgt spid="18"/>
                                        </p:tgtEl>
                                        <p:attrNameLst>
                                          <p:attrName>style.visibility</p:attrName>
                                        </p:attrNameLst>
                                      </p:cBhvr>
                                      <p:to>
                                        <p:strVal val="visible"/>
                                      </p:to>
                                    </p:set>
                                    <p:animEffect transition="in" filter="fade">
                                      <p:cBhvr>
                                        <p:cTn id="25" dur="40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BF83E60-5DC5-4930-961F-211AB7B25E60}"/>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2  A point on the line</a:t>
            </a:r>
          </a:p>
        </p:txBody>
      </p:sp>
      <p:sp>
        <p:nvSpPr>
          <p:cNvPr id="2" name="page-number">
            <a:extLst xmlns:a="http://schemas.openxmlformats.org/drawingml/2006/main">
              <a:ext uri="{FF2B5EF4-FFF2-40B4-BE49-F238E27FC236}">
                <a16:creationId xmlns:a16="http://schemas.microsoft.com/office/drawing/2014/main" id="{C11B4A80-470A-4E86-93D4-AA059D349680}"/>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21</a:t>
            </a:r>
          </a:p>
        </p:txBody>
      </p:sp>
      <p:sp>
        <p:nvSpPr>
          <p:cNvPr id="3" name="lead">
            <a:extLst xmlns:a="http://schemas.openxmlformats.org/drawingml/2006/main">
              <a:ext uri="{FF2B5EF4-FFF2-40B4-BE49-F238E27FC236}">
                <a16:creationId xmlns:a16="http://schemas.microsoft.com/office/drawing/2014/main" id="{DC36112A-C417-4015-88F4-E07BD846FECF}"/>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Does Q(2, 3) lie on this line? Justify your answer.</a:t>
            </a:r>
          </a:p>
        </p:txBody>
      </p:sp>
      <p:pic>
        <p:nvPicPr>
          <p:cNvPr id="4" name="equation-0" descr="LaTeX: \vec r=[1,4]+t[2,-3]">
            <a:extLst xmlns:a="http://schemas.openxmlformats.org/drawingml/2006/main">
              <a:ext uri="{FF2B5EF4-FFF2-40B4-BE49-F238E27FC236}">
                <a16:creationId xmlns:a16="http://schemas.microsoft.com/office/drawing/2014/main" id="{C7E80DFE-A324-41F4-B21C-872E62EA9E5E}"/>
              </a:ext>
            </a:extLst>
          </p:cNvPr>
          <p:cNvPicPr>
            <a:picLocks xmlns:a="http://schemas.openxmlformats.org/drawingml/2006/main" noChangeAspect="1"/>
          </p:cNvPicPr>
          <p:nvPr/>
        </p:nvPicPr>
        <p:blipFill>
          <a:blip xmlns:r="http://schemas.openxmlformats.org/officeDocument/2006/relationships" xmlns:a="http://schemas.openxmlformats.org/drawingml/2006/main" r:embed="Ra9cd99f9080d42c8">
            <a:extLst>
              <a:ext uri="{96DAC541-7B7A-43D3-8B79-37D633B846F1}">
                <asvg:svgBlip xmlns:asvg="http://schemas.microsoft.com/office/drawing/2016/SVG/main" r:embed="Rb356b8cd0b5f4f0b"/>
              </a:ext>
            </a:extLst>
          </a:blip>
          <a:stretch xmlns:a="http://schemas.openxmlformats.org/drawingml/2006/main"/>
        </p:blipFill>
        <p:spPr>
          <a:xfrm xmlns:a="http://schemas.openxmlformats.org/drawingml/2006/main">
            <a:off x="685800" y="2571750"/>
            <a:ext cx="3073151" cy="436875"/>
          </a:xfrm>
          <a:prstGeom xmlns:a="http://schemas.openxmlformats.org/drawingml/2006/main" prst="rect">
            <a:avLst/>
          </a:prstGeom>
        </p:spPr>
      </p:pic>
      <p:sp>
        <p:nvSpPr>
          <p:cNvPr id="5" name="working-prompt-0">
            <a:extLst xmlns:a="http://schemas.openxmlformats.org/drawingml/2006/main">
              <a:ext uri="{FF2B5EF4-FFF2-40B4-BE49-F238E27FC236}">
                <a16:creationId xmlns:a16="http://schemas.microsoft.com/office/drawing/2014/main" id="{4CBE094E-8A77-4AED-917D-3EEA2C33F4A5}"/>
              </a:ext>
            </a:extLst>
          </p:cNvPr>
          <p:cNvSpPr>
            <a:spLocks xmlns:a="http://schemas.openxmlformats.org/drawingml/2006/main" noGrp="1"/>
          </p:cNvSpPr>
          <p:nvPr/>
        </p:nvSpPr>
        <p:spPr>
          <a:xfrm xmlns:a="http://schemas.openxmlformats.org/drawingml/2006/main">
            <a:off x="685800" y="41814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1  Find t using x = 2</a:t>
            </a:r>
          </a:p>
        </p:txBody>
      </p:sp>
      <p:sp>
        <p:nvSpPr>
          <p:cNvPr id="6" name="working-prompt-1">
            <a:extLst xmlns:a="http://schemas.openxmlformats.org/drawingml/2006/main">
              <a:ext uri="{FF2B5EF4-FFF2-40B4-BE49-F238E27FC236}">
                <a16:creationId xmlns:a16="http://schemas.microsoft.com/office/drawing/2014/main" id="{2255349B-3490-4D9C-87B6-706C1EF7C9A1}"/>
              </a:ext>
            </a:extLst>
          </p:cNvPr>
          <p:cNvSpPr>
            <a:spLocks xmlns:a="http://schemas.openxmlformats.org/drawingml/2006/main" noGrp="1"/>
          </p:cNvSpPr>
          <p:nvPr/>
        </p:nvSpPr>
        <p:spPr>
          <a:xfrm xmlns:a="http://schemas.openxmlformats.org/drawingml/2006/main">
            <a:off x="685800" y="47244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2  Find t using y = 3 and compare</a:t>
            </a:r>
          </a:p>
        </p:txBody>
      </p:sp>
      <p:sp>
        <p:nvSpPr>
          <p:cNvPr id="7" name="practice-pause">
            <a:extLst xmlns:a="http://schemas.openxmlformats.org/drawingml/2006/main">
              <a:ext uri="{FF2B5EF4-FFF2-40B4-BE49-F238E27FC236}">
                <a16:creationId xmlns:a16="http://schemas.microsoft.com/office/drawing/2014/main" id="{460E714E-83F3-42B5-94BF-7E9F264EB9A7}"/>
              </a:ext>
            </a:extLst>
          </p:cNvPr>
          <p:cNvSpPr>
            <a:spLocks xmlns:a="http://schemas.openxmlformats.org/drawingml/2006/main" noGrp="1"/>
          </p:cNvSpPr>
          <p:nvPr/>
        </p:nvSpPr>
        <p:spPr>
          <a:xfrm xmlns:a="http://schemas.openxmlformats.org/drawingml/2006/main">
            <a:off x="685800" y="5667375"/>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823862796"/>
      </p:ext>
    </p:extLst>
  </p:cSld>
  <p:transition spd="med" advClick="1">
    <p:fade/>
  </p:transition>
</p:sld>
</file>

<file path=ppt/slides/slide2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FD48BF6-E3A1-44D8-B4E9-C965EFCF7C51}"/>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2  Solution</a:t>
            </a:r>
          </a:p>
        </p:txBody>
      </p:sp>
      <p:sp>
        <p:nvSpPr>
          <p:cNvPr id="2" name="page-number">
            <a:extLst xmlns:a="http://schemas.openxmlformats.org/drawingml/2006/main">
              <a:ext uri="{FF2B5EF4-FFF2-40B4-BE49-F238E27FC236}">
                <a16:creationId xmlns:a16="http://schemas.microsoft.com/office/drawing/2014/main" id="{19362F5D-8AE9-4073-BC92-FB0F84268F22}"/>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22</a:t>
            </a:r>
          </a:p>
        </p:txBody>
      </p:sp>
      <p:sp>
        <p:nvSpPr>
          <p:cNvPr id="3" name="lead">
            <a:extLst xmlns:a="http://schemas.openxmlformats.org/drawingml/2006/main">
              <a:ext uri="{FF2B5EF4-FFF2-40B4-BE49-F238E27FC236}">
                <a16:creationId xmlns:a16="http://schemas.microsoft.com/office/drawing/2014/main" id="{548B8D0C-4464-4FCC-9F64-64B1E8BE5453}"/>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two coordinates require different parameter values.</a:t>
            </a:r>
          </a:p>
        </p:txBody>
      </p:sp>
      <p:pic>
        <p:nvPicPr>
          <p:cNvPr id="4" name="equation-0" descr="LaTeX: x=1+2t,\qquad y=4-3t">
            <a:extLst xmlns:a="http://schemas.openxmlformats.org/drawingml/2006/main">
              <a:ext uri="{FF2B5EF4-FFF2-40B4-BE49-F238E27FC236}">
                <a16:creationId xmlns:a16="http://schemas.microsoft.com/office/drawing/2014/main" id="{135572FA-553C-4F82-890C-B1ABCF703D8F}"/>
              </a:ext>
            </a:extLst>
          </p:cNvPr>
          <p:cNvPicPr>
            <a:picLocks xmlns:a="http://schemas.openxmlformats.org/drawingml/2006/main" noChangeAspect="1"/>
          </p:cNvPicPr>
          <p:nvPr/>
        </p:nvPicPr>
        <p:blipFill>
          <a:blip xmlns:r="http://schemas.openxmlformats.org/officeDocument/2006/relationships" xmlns:a="http://schemas.openxmlformats.org/drawingml/2006/main" r:embed="R8b1dd75ae9504985">
            <a:extLst>
              <a:ext uri="{96DAC541-7B7A-43D3-8B79-37D633B846F1}">
                <asvg:svgBlip xmlns:asvg="http://schemas.microsoft.com/office/drawing/2016/SVG/main" r:embed="Reb3f3c1695154a30"/>
              </a:ext>
            </a:extLst>
          </a:blip>
          <a:stretch xmlns:a="http://schemas.openxmlformats.org/drawingml/2006/main"/>
        </p:blipFill>
        <p:spPr>
          <a:xfrm xmlns:a="http://schemas.openxmlformats.org/drawingml/2006/main">
            <a:off x="685800" y="2333625"/>
            <a:ext cx="3988743" cy="349801"/>
          </a:xfrm>
          <a:prstGeom xmlns:a="http://schemas.openxmlformats.org/drawingml/2006/main" prst="rect">
            <a:avLst/>
          </a:prstGeom>
        </p:spPr>
      </p:pic>
      <p:pic>
        <p:nvPicPr>
          <p:cNvPr id="5" name="equation-1" descr="LaTeX: x=2:\quad2=1+2t\quad\Longrightarrow\quad t=\frac12">
            <a:extLst xmlns:a="http://schemas.openxmlformats.org/drawingml/2006/main">
              <a:ext uri="{FF2B5EF4-FFF2-40B4-BE49-F238E27FC236}">
                <a16:creationId xmlns:a16="http://schemas.microsoft.com/office/drawing/2014/main" id="{81E35514-CB58-45DE-AD04-C960EE5D073E}"/>
              </a:ext>
            </a:extLst>
          </p:cNvPr>
          <p:cNvPicPr>
            <a:picLocks xmlns:a="http://schemas.openxmlformats.org/drawingml/2006/main" noChangeAspect="1"/>
          </p:cNvPicPr>
          <p:nvPr/>
        </p:nvPicPr>
        <p:blipFill>
          <a:blip xmlns:r="http://schemas.openxmlformats.org/officeDocument/2006/relationships" xmlns:a="http://schemas.openxmlformats.org/drawingml/2006/main" r:embed="R56e3e7645ad544a5">
            <a:extLst>
              <a:ext uri="{96DAC541-7B7A-43D3-8B79-37D633B846F1}">
                <asvg:svgBlip xmlns:asvg="http://schemas.microsoft.com/office/drawing/2016/SVG/main" r:embed="R05aaac8eabdb4797"/>
              </a:ext>
            </a:extLst>
          </a:blip>
          <a:stretch xmlns:a="http://schemas.openxmlformats.org/drawingml/2006/main"/>
        </p:blipFill>
        <p:spPr>
          <a:xfrm xmlns:a="http://schemas.openxmlformats.org/drawingml/2006/main">
            <a:off x="685800" y="2950126"/>
            <a:ext cx="5259989" cy="775575"/>
          </a:xfrm>
          <a:prstGeom xmlns:a="http://schemas.openxmlformats.org/drawingml/2006/main" prst="rect">
            <a:avLst/>
          </a:prstGeom>
        </p:spPr>
      </p:pic>
      <p:pic>
        <p:nvPicPr>
          <p:cNvPr id="6" name="equation-2" descr="LaTeX: y=3:\quad3=4-3t\quad\Longrightarrow\quad t=\frac13">
            <a:extLst xmlns:a="http://schemas.openxmlformats.org/drawingml/2006/main">
              <a:ext uri="{FF2B5EF4-FFF2-40B4-BE49-F238E27FC236}">
                <a16:creationId xmlns:a16="http://schemas.microsoft.com/office/drawing/2014/main" id="{4C9E3886-19EF-4523-9F6B-292357C2F7E3}"/>
              </a:ext>
            </a:extLst>
          </p:cNvPr>
          <p:cNvPicPr>
            <a:picLocks xmlns:a="http://schemas.openxmlformats.org/drawingml/2006/main" noChangeAspect="1"/>
          </p:cNvPicPr>
          <p:nvPr/>
        </p:nvPicPr>
        <p:blipFill>
          <a:blip xmlns:r="http://schemas.openxmlformats.org/officeDocument/2006/relationships" xmlns:a="http://schemas.openxmlformats.org/drawingml/2006/main" r:embed="R8aec916dfe724348">
            <a:extLst>
              <a:ext uri="{96DAC541-7B7A-43D3-8B79-37D633B846F1}">
                <asvg:svgBlip xmlns:asvg="http://schemas.microsoft.com/office/drawing/2016/SVG/main" r:embed="R2dae4c03d5984b79"/>
              </a:ext>
            </a:extLst>
          </a:blip>
          <a:stretch xmlns:a="http://schemas.openxmlformats.org/drawingml/2006/main"/>
        </p:blipFill>
        <p:spPr>
          <a:xfrm xmlns:a="http://schemas.openxmlformats.org/drawingml/2006/main">
            <a:off x="685800" y="3992401"/>
            <a:ext cx="5265401" cy="775575"/>
          </a:xfrm>
          <a:prstGeom xmlns:a="http://schemas.openxmlformats.org/drawingml/2006/main" prst="rect">
            <a:avLst/>
          </a:prstGeom>
        </p:spPr>
      </p:pic>
      <p:pic>
        <p:nvPicPr>
          <p:cNvPr id="7" name="equation-3" descr="LaTeX: \frac12\ne\frac13\quad\Longrightarrow\quad Q(2,3)\notin L">
            <a:extLst xmlns:a="http://schemas.openxmlformats.org/drawingml/2006/main">
              <a:ext uri="{FF2B5EF4-FFF2-40B4-BE49-F238E27FC236}">
                <a16:creationId xmlns:a16="http://schemas.microsoft.com/office/drawing/2014/main" id="{9A768084-43A0-4A66-829D-945A2B633A07}"/>
              </a:ext>
            </a:extLst>
          </p:cNvPr>
          <p:cNvPicPr>
            <a:picLocks xmlns:a="http://schemas.openxmlformats.org/drawingml/2006/main" noChangeAspect="1"/>
          </p:cNvPicPr>
          <p:nvPr/>
        </p:nvPicPr>
        <p:blipFill>
          <a:blip xmlns:r="http://schemas.openxmlformats.org/officeDocument/2006/relationships" xmlns:a="http://schemas.openxmlformats.org/drawingml/2006/main" r:embed="Rb414cba4fba042c3">
            <a:extLst>
              <a:ext uri="{96DAC541-7B7A-43D3-8B79-37D633B846F1}">
                <asvg:svgBlip xmlns:asvg="http://schemas.microsoft.com/office/drawing/2016/SVG/main" r:embed="R17138555f0e84bf0"/>
              </a:ext>
            </a:extLst>
          </a:blip>
          <a:stretch xmlns:a="http://schemas.openxmlformats.org/drawingml/2006/main"/>
        </p:blipFill>
        <p:spPr>
          <a:xfrm xmlns:a="http://schemas.openxmlformats.org/drawingml/2006/main">
            <a:off x="685800" y="5034675"/>
            <a:ext cx="4074421" cy="775575"/>
          </a:xfrm>
          <a:prstGeom xmlns:a="http://schemas.openxmlformats.org/drawingml/2006/main" prst="rect">
            <a:avLst/>
          </a:prstGeom>
        </p:spPr>
      </p:pic>
    </p:spTree>
    <p:extLst>
      <p:ext uri="{BB962C8B-B14F-4D97-AF65-F5344CB8AC3E}">
        <p14:creationId xmlns:p14="http://schemas.microsoft.com/office/powerpoint/2010/main" val="124296370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41A2FC9-CE97-46AD-BEFA-4A3974B5428C}"/>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Vector to parametric to symmetric form</a:t>
            </a:r>
          </a:p>
        </p:txBody>
      </p:sp>
      <p:sp>
        <p:nvSpPr>
          <p:cNvPr id="2" name="page-number">
            <a:extLst xmlns:a="http://schemas.openxmlformats.org/drawingml/2006/main">
              <a:ext uri="{FF2B5EF4-FFF2-40B4-BE49-F238E27FC236}">
                <a16:creationId xmlns:a16="http://schemas.microsoft.com/office/drawing/2014/main" id="{66AE9452-0EAE-4C4B-BC5F-807CE1F37E5E}"/>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23</a:t>
            </a:r>
          </a:p>
        </p:txBody>
      </p:sp>
      <p:sp>
        <p:nvSpPr>
          <p:cNvPr id="3" name="lead">
            <a:extLst xmlns:a="http://schemas.openxmlformats.org/drawingml/2006/main">
              <a:ext uri="{FF2B5EF4-FFF2-40B4-BE49-F238E27FC236}">
                <a16:creationId xmlns:a16="http://schemas.microsoft.com/office/drawing/2014/main" id="{CDD74C04-73C8-43D5-B5EB-6E36FE1B32A2}"/>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Convert one representation at a time using the same line.</a:t>
            </a:r>
          </a:p>
        </p:txBody>
      </p:sp>
      <p:pic>
        <p:nvPicPr>
          <p:cNvPr id="4" name="equation-0" descr="LaTeX: \vec r=[1,4]+t[2,-3]">
            <a:extLst xmlns:a="http://schemas.openxmlformats.org/drawingml/2006/main">
              <a:ext uri="{FF2B5EF4-FFF2-40B4-BE49-F238E27FC236}">
                <a16:creationId xmlns:a16="http://schemas.microsoft.com/office/drawing/2014/main" id="{912552AC-402E-4F0A-8161-50A08A887430}"/>
              </a:ext>
            </a:extLst>
          </p:cNvPr>
          <p:cNvPicPr>
            <a:picLocks xmlns:a="http://schemas.openxmlformats.org/drawingml/2006/main" noChangeAspect="1"/>
          </p:cNvPicPr>
          <p:nvPr/>
        </p:nvPicPr>
        <p:blipFill>
          <a:blip xmlns:r="http://schemas.openxmlformats.org/officeDocument/2006/relationships" xmlns:a="http://schemas.openxmlformats.org/drawingml/2006/main" r:embed="R67a9bcf50ab4489c">
            <a:extLst>
              <a:ext uri="{96DAC541-7B7A-43D3-8B79-37D633B846F1}">
                <asvg:svgBlip xmlns:asvg="http://schemas.microsoft.com/office/drawing/2016/SVG/main" r:embed="R8b54061932f9446e"/>
              </a:ext>
            </a:extLst>
          </a:blip>
          <a:stretch xmlns:a="http://schemas.openxmlformats.org/drawingml/2006/main"/>
        </p:blipFill>
        <p:spPr>
          <a:xfrm xmlns:a="http://schemas.openxmlformats.org/drawingml/2006/main">
            <a:off x="685800" y="2402780"/>
            <a:ext cx="3073151" cy="436875"/>
          </a:xfrm>
          <a:prstGeom xmlns:a="http://schemas.openxmlformats.org/drawingml/2006/main" prst="rect">
            <a:avLst/>
          </a:prstGeom>
        </p:spPr>
      </p:pic>
      <p:pic>
        <p:nvPicPr>
          <p:cNvPr id="5" name="equation-1" descr="LaTeX: x=1+2t,\qquad y=4-3t">
            <a:extLst xmlns:a="http://schemas.openxmlformats.org/drawingml/2006/main">
              <a:ext uri="{FF2B5EF4-FFF2-40B4-BE49-F238E27FC236}">
                <a16:creationId xmlns:a16="http://schemas.microsoft.com/office/drawing/2014/main" id="{652EA693-6B12-43EA-8FC8-E4D82B8DDF35}"/>
              </a:ext>
            </a:extLst>
          </p:cNvPr>
          <p:cNvPicPr>
            <a:picLocks xmlns:a="http://schemas.openxmlformats.org/drawingml/2006/main" noChangeAspect="1"/>
          </p:cNvPicPr>
          <p:nvPr/>
        </p:nvPicPr>
        <p:blipFill>
          <a:blip xmlns:r="http://schemas.openxmlformats.org/officeDocument/2006/relationships" xmlns:a="http://schemas.openxmlformats.org/drawingml/2006/main" r:embed="R198e4063f2e149db">
            <a:extLst>
              <a:ext uri="{96DAC541-7B7A-43D3-8B79-37D633B846F1}">
                <asvg:svgBlip xmlns:asvg="http://schemas.microsoft.com/office/drawing/2016/SVG/main" r:embed="R6166e2720e2742ff"/>
              </a:ext>
            </a:extLst>
          </a:blip>
          <a:stretch xmlns:a="http://schemas.openxmlformats.org/drawingml/2006/main"/>
        </p:blipFill>
        <p:spPr>
          <a:xfrm xmlns:a="http://schemas.openxmlformats.org/drawingml/2006/main">
            <a:off x="685800" y="3106355"/>
            <a:ext cx="4272639" cy="374698"/>
          </a:xfrm>
          <a:prstGeom xmlns:a="http://schemas.openxmlformats.org/drawingml/2006/main" prst="rect">
            <a:avLst/>
          </a:prstGeom>
        </p:spPr>
      </p:pic>
      <p:pic>
        <p:nvPicPr>
          <p:cNvPr id="6" name="equation-2" descr="LaTeX: \frac{x-1}{2}=t,\qquad\frac{y-4}{-3}=t">
            <a:extLst xmlns:a="http://schemas.openxmlformats.org/drawingml/2006/main">
              <a:ext uri="{FF2B5EF4-FFF2-40B4-BE49-F238E27FC236}">
                <a16:creationId xmlns:a16="http://schemas.microsoft.com/office/drawing/2014/main" id="{C5A2A7C6-403F-4B2E-9031-19B62C10D4A6}"/>
              </a:ext>
            </a:extLst>
          </p:cNvPr>
          <p:cNvPicPr>
            <a:picLocks xmlns:a="http://schemas.openxmlformats.org/drawingml/2006/main" noChangeAspect="1"/>
          </p:cNvPicPr>
          <p:nvPr/>
        </p:nvPicPr>
        <p:blipFill>
          <a:blip xmlns:r="http://schemas.openxmlformats.org/officeDocument/2006/relationships" xmlns:a="http://schemas.openxmlformats.org/drawingml/2006/main" r:embed="R1d08763078144533">
            <a:extLst>
              <a:ext uri="{96DAC541-7B7A-43D3-8B79-37D633B846F1}">
                <asvg:svgBlip xmlns:asvg="http://schemas.microsoft.com/office/drawing/2016/SVG/main" r:embed="Rb47e7203843244aa"/>
              </a:ext>
            </a:extLst>
          </a:blip>
          <a:stretch xmlns:a="http://schemas.openxmlformats.org/drawingml/2006/main"/>
        </p:blipFill>
        <p:spPr>
          <a:xfrm xmlns:a="http://schemas.openxmlformats.org/drawingml/2006/main">
            <a:off x="685800" y="3747753"/>
            <a:ext cx="4012433" cy="863321"/>
          </a:xfrm>
          <a:prstGeom xmlns:a="http://schemas.openxmlformats.org/drawingml/2006/main" prst="rect">
            <a:avLst/>
          </a:prstGeom>
        </p:spPr>
      </p:pic>
      <p:pic>
        <p:nvPicPr>
          <p:cNvPr id="7" name="equation-3" descr="LaTeX: \frac{x-1}{2}=\frac{y-4}{-3}">
            <a:extLst xmlns:a="http://schemas.openxmlformats.org/drawingml/2006/main">
              <a:ext uri="{FF2B5EF4-FFF2-40B4-BE49-F238E27FC236}">
                <a16:creationId xmlns:a16="http://schemas.microsoft.com/office/drawing/2014/main" id="{D7863662-0373-4315-897D-DF4246DF6EB8}"/>
              </a:ext>
            </a:extLst>
          </p:cNvPr>
          <p:cNvPicPr>
            <a:picLocks xmlns:a="http://schemas.openxmlformats.org/drawingml/2006/main" noChangeAspect="1"/>
          </p:cNvPicPr>
          <p:nvPr/>
        </p:nvPicPr>
        <p:blipFill>
          <a:blip xmlns:r="http://schemas.openxmlformats.org/officeDocument/2006/relationships" xmlns:a="http://schemas.openxmlformats.org/drawingml/2006/main" r:embed="Rcb2ad5b8b2a34a08">
            <a:extLst>
              <a:ext uri="{96DAC541-7B7A-43D3-8B79-37D633B846F1}">
                <asvg:svgBlip xmlns:asvg="http://schemas.microsoft.com/office/drawing/2016/SVG/main" r:embed="R23acc8c620cc45e4"/>
              </a:ext>
            </a:extLst>
          </a:blip>
          <a:stretch xmlns:a="http://schemas.openxmlformats.org/drawingml/2006/main"/>
        </p:blipFill>
        <p:spPr>
          <a:xfrm xmlns:a="http://schemas.openxmlformats.org/drawingml/2006/main">
            <a:off x="685800" y="4877774"/>
            <a:ext cx="2350740" cy="863321"/>
          </a:xfrm>
          <a:prstGeom xmlns:a="http://schemas.openxmlformats.org/drawingml/2006/main" prst="rect">
            <a:avLst/>
          </a:prstGeom>
        </p:spPr>
      </p:pic>
    </p:spTree>
    <p:extLst>
      <p:ext uri="{BB962C8B-B14F-4D97-AF65-F5344CB8AC3E}">
        <p14:creationId xmlns:p14="http://schemas.microsoft.com/office/powerpoint/2010/main" val="70211148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326AE97-1B08-4798-AA03-89914DB28D2F}"/>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Symmetric to parametric to vector form</a:t>
            </a:r>
          </a:p>
        </p:txBody>
      </p:sp>
      <p:sp>
        <p:nvSpPr>
          <p:cNvPr id="2" name="page-number">
            <a:extLst xmlns:a="http://schemas.openxmlformats.org/drawingml/2006/main">
              <a:ext uri="{FF2B5EF4-FFF2-40B4-BE49-F238E27FC236}">
                <a16:creationId xmlns:a16="http://schemas.microsoft.com/office/drawing/2014/main" id="{0C1DB70F-CD67-4E7E-A74D-2802B7A3FA1C}"/>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24</a:t>
            </a:r>
          </a:p>
        </p:txBody>
      </p:sp>
      <p:sp>
        <p:nvSpPr>
          <p:cNvPr id="3" name="lead">
            <a:extLst xmlns:a="http://schemas.openxmlformats.org/drawingml/2006/main">
              <a:ext uri="{FF2B5EF4-FFF2-40B4-BE49-F238E27FC236}">
                <a16:creationId xmlns:a16="http://schemas.microsoft.com/office/drawing/2014/main" id="{FB476B7F-92D5-4BD7-9932-4B89599E4811}"/>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Give the common fraction a parameter, then rearrange.</a:t>
            </a:r>
          </a:p>
        </p:txBody>
      </p:sp>
      <p:pic>
        <p:nvPicPr>
          <p:cNvPr id="4" name="equation-0" descr="LaTeX: \frac{x-1}{2}=\frac{y-4}{-3}">
            <a:extLst xmlns:a="http://schemas.openxmlformats.org/drawingml/2006/main">
              <a:ext uri="{FF2B5EF4-FFF2-40B4-BE49-F238E27FC236}">
                <a16:creationId xmlns:a16="http://schemas.microsoft.com/office/drawing/2014/main" id="{64EDF77B-A871-48B0-819D-7B7966E7CC02}"/>
              </a:ext>
            </a:extLst>
          </p:cNvPr>
          <p:cNvPicPr>
            <a:picLocks xmlns:a="http://schemas.openxmlformats.org/drawingml/2006/main" noChangeAspect="1"/>
          </p:cNvPicPr>
          <p:nvPr/>
        </p:nvPicPr>
        <p:blipFill>
          <a:blip xmlns:r="http://schemas.openxmlformats.org/officeDocument/2006/relationships" xmlns:a="http://schemas.openxmlformats.org/drawingml/2006/main" r:embed="R024ddae456744e90">
            <a:extLst>
              <a:ext uri="{96DAC541-7B7A-43D3-8B79-37D633B846F1}">
                <asvg:svgBlip xmlns:asvg="http://schemas.microsoft.com/office/drawing/2016/SVG/main" r:embed="R86c916a2ff7043b7"/>
              </a:ext>
            </a:extLst>
          </a:blip>
          <a:stretch xmlns:a="http://schemas.openxmlformats.org/drawingml/2006/main"/>
        </p:blipFill>
        <p:spPr>
          <a:xfrm xmlns:a="http://schemas.openxmlformats.org/drawingml/2006/main">
            <a:off x="685800" y="2402780"/>
            <a:ext cx="2350740" cy="863321"/>
          </a:xfrm>
          <a:prstGeom xmlns:a="http://schemas.openxmlformats.org/drawingml/2006/main" prst="rect">
            <a:avLst/>
          </a:prstGeom>
        </p:spPr>
      </p:pic>
      <p:pic>
        <p:nvPicPr>
          <p:cNvPr id="5" name="equation-1" descr="LaTeX: \frac{x-1}{2}=s,\qquad\frac{y-4}{-3}=s">
            <a:extLst xmlns:a="http://schemas.openxmlformats.org/drawingml/2006/main">
              <a:ext uri="{FF2B5EF4-FFF2-40B4-BE49-F238E27FC236}">
                <a16:creationId xmlns:a16="http://schemas.microsoft.com/office/drawing/2014/main" id="{AFFDA562-AE4D-4444-B6DE-C6731879C664}"/>
              </a:ext>
            </a:extLst>
          </p:cNvPr>
          <p:cNvPicPr>
            <a:picLocks xmlns:a="http://schemas.openxmlformats.org/drawingml/2006/main" noChangeAspect="1"/>
          </p:cNvPicPr>
          <p:nvPr/>
        </p:nvPicPr>
        <p:blipFill>
          <a:blip xmlns:r="http://schemas.openxmlformats.org/officeDocument/2006/relationships" xmlns:a="http://schemas.openxmlformats.org/drawingml/2006/main" r:embed="R3e104a6f9c114d65">
            <a:extLst>
              <a:ext uri="{96DAC541-7B7A-43D3-8B79-37D633B846F1}">
                <asvg:svgBlip xmlns:asvg="http://schemas.microsoft.com/office/drawing/2016/SVG/main" r:embed="Rb961d9129a524a87"/>
              </a:ext>
            </a:extLst>
          </a:blip>
          <a:stretch xmlns:a="http://schemas.openxmlformats.org/drawingml/2006/main"/>
        </p:blipFill>
        <p:spPr>
          <a:xfrm xmlns:a="http://schemas.openxmlformats.org/drawingml/2006/main">
            <a:off x="685800" y="3532801"/>
            <a:ext cx="4096506" cy="863321"/>
          </a:xfrm>
          <a:prstGeom xmlns:a="http://schemas.openxmlformats.org/drawingml/2006/main" prst="rect">
            <a:avLst/>
          </a:prstGeom>
        </p:spPr>
      </p:pic>
      <p:pic>
        <p:nvPicPr>
          <p:cNvPr id="6" name="equation-2" descr="LaTeX: x=1+2s,\qquad y=4-3s">
            <a:extLst xmlns:a="http://schemas.openxmlformats.org/drawingml/2006/main">
              <a:ext uri="{FF2B5EF4-FFF2-40B4-BE49-F238E27FC236}">
                <a16:creationId xmlns:a16="http://schemas.microsoft.com/office/drawing/2014/main" id="{31893110-BC13-4680-9A22-100FB2E2AFA9}"/>
              </a:ext>
            </a:extLst>
          </p:cNvPr>
          <p:cNvPicPr>
            <a:picLocks xmlns:a="http://schemas.openxmlformats.org/drawingml/2006/main" noChangeAspect="1"/>
          </p:cNvPicPr>
          <p:nvPr/>
        </p:nvPicPr>
        <p:blipFill>
          <a:blip xmlns:r="http://schemas.openxmlformats.org/officeDocument/2006/relationships" xmlns:a="http://schemas.openxmlformats.org/drawingml/2006/main" r:embed="R4deb1ddbca314359">
            <a:extLst>
              <a:ext uri="{96DAC541-7B7A-43D3-8B79-37D633B846F1}">
                <asvg:svgBlip xmlns:asvg="http://schemas.microsoft.com/office/drawing/2016/SVG/main" r:embed="R733391f5ca174623"/>
              </a:ext>
            </a:extLst>
          </a:blip>
          <a:stretch xmlns:a="http://schemas.openxmlformats.org/drawingml/2006/main"/>
        </p:blipFill>
        <p:spPr>
          <a:xfrm xmlns:a="http://schemas.openxmlformats.org/drawingml/2006/main">
            <a:off x="685800" y="4662822"/>
            <a:ext cx="4356697" cy="374698"/>
          </a:xfrm>
          <a:prstGeom xmlns:a="http://schemas.openxmlformats.org/drawingml/2006/main" prst="rect">
            <a:avLst/>
          </a:prstGeom>
        </p:spPr>
      </p:pic>
      <p:pic>
        <p:nvPicPr>
          <p:cNvPr id="7" name="equation-3" descr="LaTeX: \vec r=[1,4]+s[2,-3]">
            <a:extLst xmlns:a="http://schemas.openxmlformats.org/drawingml/2006/main">
              <a:ext uri="{FF2B5EF4-FFF2-40B4-BE49-F238E27FC236}">
                <a16:creationId xmlns:a16="http://schemas.microsoft.com/office/drawing/2014/main" id="{AB923462-2901-4EEC-BC29-9B9AAD6F86E9}"/>
              </a:ext>
            </a:extLst>
          </p:cNvPr>
          <p:cNvPicPr>
            <a:picLocks xmlns:a="http://schemas.openxmlformats.org/drawingml/2006/main" noChangeAspect="1"/>
          </p:cNvPicPr>
          <p:nvPr/>
        </p:nvPicPr>
        <p:blipFill>
          <a:blip xmlns:r="http://schemas.openxmlformats.org/officeDocument/2006/relationships" xmlns:a="http://schemas.openxmlformats.org/drawingml/2006/main" r:embed="R235387a58ad04e32">
            <a:extLst>
              <a:ext uri="{96DAC541-7B7A-43D3-8B79-37D633B846F1}">
                <asvg:svgBlip xmlns:asvg="http://schemas.microsoft.com/office/drawing/2016/SVG/main" r:embed="Reb50238f2d364b2f"/>
              </a:ext>
            </a:extLst>
          </a:blip>
          <a:stretch xmlns:a="http://schemas.openxmlformats.org/drawingml/2006/main"/>
        </p:blipFill>
        <p:spPr>
          <a:xfrm xmlns:a="http://schemas.openxmlformats.org/drawingml/2006/main">
            <a:off x="685800" y="5304220"/>
            <a:ext cx="3115180" cy="436875"/>
          </a:xfrm>
          <a:prstGeom xmlns:a="http://schemas.openxmlformats.org/drawingml/2006/main" prst="rect">
            <a:avLst/>
          </a:prstGeom>
        </p:spPr>
      </p:pic>
    </p:spTree>
    <p:extLst>
      <p:ext uri="{BB962C8B-B14F-4D97-AF65-F5344CB8AC3E}">
        <p14:creationId xmlns:p14="http://schemas.microsoft.com/office/powerpoint/2010/main" val="202911989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095C778-CE45-4270-92B9-562DA69CD0E2}"/>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zero component in space</a:t>
            </a:r>
          </a:p>
        </p:txBody>
      </p:sp>
      <p:sp>
        <p:nvSpPr>
          <p:cNvPr id="2" name="page-number">
            <a:extLst xmlns:a="http://schemas.openxmlformats.org/drawingml/2006/main">
              <a:ext uri="{FF2B5EF4-FFF2-40B4-BE49-F238E27FC236}">
                <a16:creationId xmlns:a16="http://schemas.microsoft.com/office/drawing/2014/main" id="{151F984C-2AC6-4B6E-A822-B25845CBD5C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25</a:t>
            </a:r>
          </a:p>
        </p:txBody>
      </p:sp>
      <p:sp>
        <p:nvSpPr>
          <p:cNvPr id="3" name="lead">
            <a:extLst xmlns:a="http://schemas.openxmlformats.org/drawingml/2006/main">
              <a:ext uri="{FF2B5EF4-FFF2-40B4-BE49-F238E27FC236}">
                <a16:creationId xmlns:a16="http://schemas.microsoft.com/office/drawing/2014/main" id="{7D1E4154-307F-4709-917A-A95B6C990CFF}"/>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P(−2, 3, 5) and Q(−2, 4, −1) have the same x-coordinate.</a:t>
            </a:r>
          </a:p>
        </p:txBody>
      </p:sp>
      <p:pic>
        <p:nvPicPr>
          <p:cNvPr id="4" name="equation-0" descr="LaTeX: \overrightarrow{PQ}=[-2-(-2),4-3,-1-5]">
            <a:extLst xmlns:a="http://schemas.openxmlformats.org/drawingml/2006/main">
              <a:ext uri="{FF2B5EF4-FFF2-40B4-BE49-F238E27FC236}">
                <a16:creationId xmlns:a16="http://schemas.microsoft.com/office/drawing/2014/main" id="{09B3FBAD-CE73-47FC-A25E-566185477E1E}"/>
              </a:ext>
            </a:extLst>
          </p:cNvPr>
          <p:cNvPicPr>
            <a:picLocks xmlns:a="http://schemas.openxmlformats.org/drawingml/2006/main" noChangeAspect="1"/>
          </p:cNvPicPr>
          <p:nvPr/>
        </p:nvPicPr>
        <p:blipFill>
          <a:blip xmlns:r="http://schemas.openxmlformats.org/officeDocument/2006/relationships" xmlns:a="http://schemas.openxmlformats.org/drawingml/2006/main" r:embed="Re0cda1f5165443de">
            <a:extLst>
              <a:ext uri="{96DAC541-7B7A-43D3-8B79-37D633B846F1}">
                <asvg:svgBlip xmlns:asvg="http://schemas.microsoft.com/office/drawing/2016/SVG/main" r:embed="Rea884866c7d140cc"/>
              </a:ext>
            </a:extLst>
          </a:blip>
          <a:stretch xmlns:a="http://schemas.openxmlformats.org/drawingml/2006/main"/>
        </p:blipFill>
        <p:spPr>
          <a:xfrm xmlns:a="http://schemas.openxmlformats.org/drawingml/2006/main">
            <a:off x="685800" y="2711663"/>
            <a:ext cx="5378759" cy="554439"/>
          </a:xfrm>
          <a:prstGeom xmlns:a="http://schemas.openxmlformats.org/drawingml/2006/main" prst="rect">
            <a:avLst/>
          </a:prstGeom>
        </p:spPr>
      </p:pic>
      <p:pic>
        <p:nvPicPr>
          <p:cNvPr id="5" name="equation-1" descr="LaTeX: \overrightarrow{PQ}=[0,1,-6]">
            <a:extLst xmlns:a="http://schemas.openxmlformats.org/drawingml/2006/main">
              <a:ext uri="{FF2B5EF4-FFF2-40B4-BE49-F238E27FC236}">
                <a16:creationId xmlns:a16="http://schemas.microsoft.com/office/drawing/2014/main" id="{68C7360B-7A4A-40B5-9116-E5490AA13F77}"/>
              </a:ext>
            </a:extLst>
          </p:cNvPr>
          <p:cNvPicPr>
            <a:picLocks xmlns:a="http://schemas.openxmlformats.org/drawingml/2006/main" noChangeAspect="1"/>
          </p:cNvPicPr>
          <p:nvPr/>
        </p:nvPicPr>
        <p:blipFill>
          <a:blip xmlns:r="http://schemas.openxmlformats.org/officeDocument/2006/relationships" xmlns:a="http://schemas.openxmlformats.org/drawingml/2006/main" r:embed="R086510f9ea2941d8">
            <a:extLst>
              <a:ext uri="{96DAC541-7B7A-43D3-8B79-37D633B846F1}">
                <asvg:svgBlip xmlns:asvg="http://schemas.microsoft.com/office/drawing/2016/SVG/main" r:embed="Ra074bee794254cf3"/>
              </a:ext>
            </a:extLst>
          </a:blip>
          <a:stretch xmlns:a="http://schemas.openxmlformats.org/drawingml/2006/main"/>
        </p:blipFill>
        <p:spPr>
          <a:xfrm xmlns:a="http://schemas.openxmlformats.org/drawingml/2006/main">
            <a:off x="685800" y="3532801"/>
            <a:ext cx="2525865" cy="554439"/>
          </a:xfrm>
          <a:prstGeom xmlns:a="http://schemas.openxmlformats.org/drawingml/2006/main" prst="rect">
            <a:avLst/>
          </a:prstGeom>
        </p:spPr>
      </p:pic>
      <p:pic>
        <p:nvPicPr>
          <p:cNvPr id="6" name="equation-2" descr="LaTeX: \vec r=[-2,3,5]+t[0,1,-6]">
            <a:extLst xmlns:a="http://schemas.openxmlformats.org/drawingml/2006/main">
              <a:ext uri="{FF2B5EF4-FFF2-40B4-BE49-F238E27FC236}">
                <a16:creationId xmlns:a16="http://schemas.microsoft.com/office/drawing/2014/main" id="{5B0885CD-6A23-425D-AC93-D003E3EB0BFE}"/>
              </a:ext>
            </a:extLst>
          </p:cNvPr>
          <p:cNvPicPr>
            <a:picLocks xmlns:a="http://schemas.openxmlformats.org/drawingml/2006/main" noChangeAspect="1"/>
          </p:cNvPicPr>
          <p:nvPr/>
        </p:nvPicPr>
        <p:blipFill>
          <a:blip xmlns:r="http://schemas.openxmlformats.org/officeDocument/2006/relationships" xmlns:a="http://schemas.openxmlformats.org/drawingml/2006/main" r:embed="R18b314a785e3485e">
            <a:extLst>
              <a:ext uri="{96DAC541-7B7A-43D3-8B79-37D633B846F1}">
                <asvg:svgBlip xmlns:asvg="http://schemas.microsoft.com/office/drawing/2016/SVG/main" r:embed="Rd9eab4a2010b45d5"/>
              </a:ext>
            </a:extLst>
          </a:blip>
          <a:stretch xmlns:a="http://schemas.openxmlformats.org/drawingml/2006/main"/>
        </p:blipFill>
        <p:spPr>
          <a:xfrm xmlns:a="http://schemas.openxmlformats.org/drawingml/2006/main">
            <a:off x="685800" y="4353940"/>
            <a:ext cx="4077555" cy="436875"/>
          </a:xfrm>
          <a:prstGeom xmlns:a="http://schemas.openxmlformats.org/drawingml/2006/main" prst="rect">
            <a:avLst/>
          </a:prstGeom>
        </p:spPr>
      </p:pic>
      <p:pic>
        <p:nvPicPr>
          <p:cNvPr id="7" name="equation-3" descr="LaTeX: x=-2+0t=-2,\quad y=3+t,\quad z=5-6t">
            <a:extLst xmlns:a="http://schemas.openxmlformats.org/drawingml/2006/main">
              <a:ext uri="{FF2B5EF4-FFF2-40B4-BE49-F238E27FC236}">
                <a16:creationId xmlns:a16="http://schemas.microsoft.com/office/drawing/2014/main" id="{589376C1-5578-4EA8-AEE4-28B4C9772B60}"/>
              </a:ext>
            </a:extLst>
          </p:cNvPr>
          <p:cNvPicPr>
            <a:picLocks xmlns:a="http://schemas.openxmlformats.org/drawingml/2006/main" noChangeAspect="1"/>
          </p:cNvPicPr>
          <p:nvPr/>
        </p:nvPicPr>
        <p:blipFill>
          <a:blip xmlns:r="http://schemas.openxmlformats.org/officeDocument/2006/relationships" xmlns:a="http://schemas.openxmlformats.org/drawingml/2006/main" r:embed="Rd2368894dc074a70">
            <a:extLst>
              <a:ext uri="{96DAC541-7B7A-43D3-8B79-37D633B846F1}">
                <asvg:svgBlip xmlns:asvg="http://schemas.microsoft.com/office/drawing/2016/SVG/main" r:embed="R60699fe676ba47e1"/>
              </a:ext>
            </a:extLst>
          </a:blip>
          <a:stretch xmlns:a="http://schemas.openxmlformats.org/drawingml/2006/main"/>
        </p:blipFill>
        <p:spPr>
          <a:xfrm xmlns:a="http://schemas.openxmlformats.org/drawingml/2006/main">
            <a:off x="685800" y="5057514"/>
            <a:ext cx="7193145" cy="374698"/>
          </a:xfrm>
          <a:prstGeom xmlns:a="http://schemas.openxmlformats.org/drawingml/2006/main" prst="rect">
            <a:avLst/>
          </a:prstGeom>
        </p:spPr>
      </p:pic>
    </p:spTree>
    <p:extLst>
      <p:ext uri="{BB962C8B-B14F-4D97-AF65-F5344CB8AC3E}">
        <p14:creationId xmlns:p14="http://schemas.microsoft.com/office/powerpoint/2010/main" val="13835834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22B12AE1-FD05-48FF-B15B-5A3E157666D0}"/>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The fixed coordinate in symmetric form</a:t>
            </a:r>
          </a:p>
        </p:txBody>
      </p:sp>
      <p:sp>
        <p:nvSpPr>
          <p:cNvPr id="2" name="page-number">
            <a:extLst xmlns:a="http://schemas.openxmlformats.org/drawingml/2006/main">
              <a:ext uri="{FF2B5EF4-FFF2-40B4-BE49-F238E27FC236}">
                <a16:creationId xmlns:a16="http://schemas.microsoft.com/office/drawing/2014/main" id="{5A5F6251-1211-4573-A4ED-5BAC9D49F1A2}"/>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26</a:t>
            </a:r>
          </a:p>
        </p:txBody>
      </p:sp>
      <p:sp>
        <p:nvSpPr>
          <p:cNvPr id="3" name="lead">
            <a:extLst xmlns:a="http://schemas.openxmlformats.org/drawingml/2006/main">
              <a:ext uri="{FF2B5EF4-FFF2-40B4-BE49-F238E27FC236}">
                <a16:creationId xmlns:a16="http://schemas.microsoft.com/office/drawing/2014/main" id="{46CECAFE-17BC-4A33-9EF3-46DD91DBEF2B}"/>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nonzero components as denominators and keep x separate.</a:t>
            </a:r>
          </a:p>
        </p:txBody>
      </p:sp>
      <p:pic>
        <p:nvPicPr>
          <p:cNvPr id="4" name="equation-0" descr="LaTeX: x=-2,\quad y=3+t,\quad z=5-6t">
            <a:extLst xmlns:a="http://schemas.openxmlformats.org/drawingml/2006/main">
              <a:ext uri="{FF2B5EF4-FFF2-40B4-BE49-F238E27FC236}">
                <a16:creationId xmlns:a16="http://schemas.microsoft.com/office/drawing/2014/main" id="{08D7BE1B-C599-4D62-8442-87AC5BEEC472}"/>
              </a:ext>
            </a:extLst>
          </p:cNvPr>
          <p:cNvPicPr>
            <a:picLocks xmlns:a="http://schemas.openxmlformats.org/drawingml/2006/main" noChangeAspect="1"/>
          </p:cNvPicPr>
          <p:nvPr/>
        </p:nvPicPr>
        <p:blipFill>
          <a:blip xmlns:r="http://schemas.openxmlformats.org/officeDocument/2006/relationships" xmlns:a="http://schemas.openxmlformats.org/drawingml/2006/main" r:embed="Rf086e05e6214420c">
            <a:extLst>
              <a:ext uri="{96DAC541-7B7A-43D3-8B79-37D633B846F1}">
                <asvg:svgBlip xmlns:asvg="http://schemas.microsoft.com/office/drawing/2016/SVG/main" r:embed="R2463ea2e3bb24ede"/>
              </a:ext>
            </a:extLst>
          </a:blip>
          <a:stretch xmlns:a="http://schemas.openxmlformats.org/drawingml/2006/main"/>
        </p:blipFill>
        <p:spPr>
          <a:xfrm xmlns:a="http://schemas.openxmlformats.org/drawingml/2006/main">
            <a:off x="685800" y="2571750"/>
            <a:ext cx="4681465" cy="322415"/>
          </a:xfrm>
          <a:prstGeom xmlns:a="http://schemas.openxmlformats.org/drawingml/2006/main" prst="rect">
            <a:avLst/>
          </a:prstGeom>
        </p:spPr>
      </p:pic>
      <p:pic>
        <p:nvPicPr>
          <p:cNvPr id="5" name="equation-1" descr="LaTeX: t=\frac{y-3}{1},\qquad t=\frac{z-5}{-6}">
            <a:extLst xmlns:a="http://schemas.openxmlformats.org/drawingml/2006/main">
              <a:ext uri="{FF2B5EF4-FFF2-40B4-BE49-F238E27FC236}">
                <a16:creationId xmlns:a16="http://schemas.microsoft.com/office/drawing/2014/main" id="{E4487EFF-035A-4261-9FA6-5BF3C607FA26}"/>
              </a:ext>
            </a:extLst>
          </p:cNvPr>
          <p:cNvPicPr>
            <a:picLocks xmlns:a="http://schemas.openxmlformats.org/drawingml/2006/main" noChangeAspect="1"/>
          </p:cNvPicPr>
          <p:nvPr/>
        </p:nvPicPr>
        <p:blipFill>
          <a:blip xmlns:r="http://schemas.openxmlformats.org/officeDocument/2006/relationships" xmlns:a="http://schemas.openxmlformats.org/drawingml/2006/main" r:embed="R9c93513001c44afe">
            <a:extLst>
              <a:ext uri="{96DAC541-7B7A-43D3-8B79-37D633B846F1}">
                <asvg:svgBlip xmlns:asvg="http://schemas.microsoft.com/office/drawing/2016/SVG/main" r:embed="Rb5d67a0feee6408d"/>
              </a:ext>
            </a:extLst>
          </a:blip>
          <a:stretch xmlns:a="http://schemas.openxmlformats.org/drawingml/2006/main"/>
        </p:blipFill>
        <p:spPr>
          <a:xfrm xmlns:a="http://schemas.openxmlformats.org/drawingml/2006/main">
            <a:off x="685800" y="3179915"/>
            <a:ext cx="3433419" cy="742858"/>
          </a:xfrm>
          <a:prstGeom xmlns:a="http://schemas.openxmlformats.org/drawingml/2006/main" prst="rect">
            <a:avLst/>
          </a:prstGeom>
        </p:spPr>
      </p:pic>
      <p:pic>
        <p:nvPicPr>
          <p:cNvPr id="6" name="equation-2" descr="LaTeX: x=-2,\qquad\frac{y-3}{1}=\frac{z-5}{-6}">
            <a:extLst xmlns:a="http://schemas.openxmlformats.org/drawingml/2006/main">
              <a:ext uri="{FF2B5EF4-FFF2-40B4-BE49-F238E27FC236}">
                <a16:creationId xmlns:a16="http://schemas.microsoft.com/office/drawing/2014/main" id="{9612606C-9A12-46B7-AD36-3B9627ADFE98}"/>
              </a:ext>
            </a:extLst>
          </p:cNvPr>
          <p:cNvPicPr>
            <a:picLocks xmlns:a="http://schemas.openxmlformats.org/drawingml/2006/main" noChangeAspect="1"/>
          </p:cNvPicPr>
          <p:nvPr/>
        </p:nvPicPr>
        <p:blipFill>
          <a:blip xmlns:r="http://schemas.openxmlformats.org/officeDocument/2006/relationships" xmlns:a="http://schemas.openxmlformats.org/drawingml/2006/main" r:embed="R73a0d099c48f4875">
            <a:extLst>
              <a:ext uri="{96DAC541-7B7A-43D3-8B79-37D633B846F1}">
                <asvg:svgBlip xmlns:asvg="http://schemas.microsoft.com/office/drawing/2016/SVG/main" r:embed="R04a9af3f43f74008"/>
              </a:ext>
            </a:extLst>
          </a:blip>
          <a:stretch xmlns:a="http://schemas.openxmlformats.org/drawingml/2006/main"/>
        </p:blipFill>
        <p:spPr>
          <a:xfrm xmlns:a="http://schemas.openxmlformats.org/drawingml/2006/main">
            <a:off x="685800" y="4208522"/>
            <a:ext cx="3798179" cy="742858"/>
          </a:xfrm>
          <a:prstGeom xmlns:a="http://schemas.openxmlformats.org/drawingml/2006/main" prst="rect">
            <a:avLst/>
          </a:prstGeom>
        </p:spPr>
      </p:pic>
      <p:pic>
        <p:nvPicPr>
          <p:cNvPr id="7" name="equation-3" descr="LaTeX: t=1:\quad[-2,3,5]+[0,1,-6]=[-2,4,-1]">
            <a:extLst xmlns:a="http://schemas.openxmlformats.org/drawingml/2006/main">
              <a:ext uri="{FF2B5EF4-FFF2-40B4-BE49-F238E27FC236}">
                <a16:creationId xmlns:a16="http://schemas.microsoft.com/office/drawing/2014/main" id="{C374B605-BB6C-4DCB-9F00-7EFF715E35E7}"/>
              </a:ext>
            </a:extLst>
          </p:cNvPr>
          <p:cNvPicPr>
            <a:picLocks xmlns:a="http://schemas.openxmlformats.org/drawingml/2006/main" noChangeAspect="1"/>
          </p:cNvPicPr>
          <p:nvPr/>
        </p:nvPicPr>
        <p:blipFill>
          <a:blip xmlns:r="http://schemas.openxmlformats.org/officeDocument/2006/relationships" xmlns:a="http://schemas.openxmlformats.org/drawingml/2006/main" r:embed="R0566c296f51d40ca">
            <a:extLst>
              <a:ext uri="{96DAC541-7B7A-43D3-8B79-37D633B846F1}">
                <asvg:svgBlip xmlns:asvg="http://schemas.microsoft.com/office/drawing/2016/SVG/main" r:embed="Rf9d56f7e34d64ab3"/>
              </a:ext>
            </a:extLst>
          </a:blip>
          <a:stretch xmlns:a="http://schemas.openxmlformats.org/drawingml/2006/main"/>
        </p:blipFill>
        <p:spPr>
          <a:xfrm xmlns:a="http://schemas.openxmlformats.org/drawingml/2006/main">
            <a:off x="685800" y="5237130"/>
            <a:ext cx="5334000" cy="336436"/>
          </a:xfrm>
          <a:prstGeom xmlns:a="http://schemas.openxmlformats.org/drawingml/2006/main" prst="rect">
            <a:avLst/>
          </a:prstGeom>
        </p:spPr>
      </p:pic>
      <p:cxnSp>
        <p:nvCxnSpPr>
          <p:cNvPr id="8" name="3D-x">
            <a:extLst xmlns:a="http://schemas.openxmlformats.org/drawingml/2006/main">
              <a:ext uri="{FF2B5EF4-FFF2-40B4-BE49-F238E27FC236}">
                <a16:creationId xmlns:a16="http://schemas.microsoft.com/office/drawing/2014/main" id="{97A12603-2264-4633-AD76-5FF26524DB39}"/>
              </a:ext>
            </a:extLst>
          </p:cNvPr>
          <p:cNvCxnSpPr/>
          <p:nvPr/>
        </p:nvCxnSpPr>
        <p:spPr>
          <a:xfrm xmlns:a="http://schemas.openxmlformats.org/drawingml/2006/main" rot="9206097">
            <a:off x="7726179" y="5119688"/>
            <a:ext cx="1597391" cy="0"/>
          </a:xfrm>
          <a:prstGeom xmlns:a="http://schemas.openxmlformats.org/drawingml/2006/main" prst="straightConnector1">
            <a:avLst/>
          </a:prstGeom>
          <a:ln xmlns:a="http://schemas.openxmlformats.org/drawingml/2006/main" w="16193">
            <a:solidFill>
              <a:srgbClr val="50565E"/>
            </a:solidFill>
            <a:prstDash val="solid"/>
            <a:tailEnd type="triangle" w="med" len="med"/>
          </a:ln>
        </p:spPr>
      </p:cxnSp>
      <p:cxnSp>
        <p:nvCxnSpPr>
          <p:cNvPr id="9" name="3D-y">
            <a:extLst xmlns:a="http://schemas.openxmlformats.org/drawingml/2006/main">
              <a:ext uri="{FF2B5EF4-FFF2-40B4-BE49-F238E27FC236}">
                <a16:creationId xmlns:a16="http://schemas.microsoft.com/office/drawing/2014/main" id="{5F7ACD93-6BDE-4150-9F44-721E62C218FA}"/>
              </a:ext>
            </a:extLst>
          </p:cNvPr>
          <p:cNvCxnSpPr/>
          <p:nvPr/>
        </p:nvCxnSpPr>
        <p:spPr>
          <a:xfrm xmlns:a="http://schemas.openxmlformats.org/drawingml/2006/main" rot="1106097">
            <a:off x="9200608" y="5000625"/>
            <a:ext cx="1506035" cy="0"/>
          </a:xfrm>
          <a:prstGeom xmlns:a="http://schemas.openxmlformats.org/drawingml/2006/main" prst="straightConnector1">
            <a:avLst/>
          </a:prstGeom>
          <a:ln xmlns:a="http://schemas.openxmlformats.org/drawingml/2006/main" w="16193">
            <a:solidFill>
              <a:srgbClr val="50565E"/>
            </a:solidFill>
            <a:prstDash val="solid"/>
            <a:tailEnd type="triangle" w="med" len="med"/>
          </a:ln>
        </p:spPr>
      </p:cxnSp>
      <p:cxnSp>
        <p:nvCxnSpPr>
          <p:cNvPr id="10" name="3D-z">
            <a:extLst xmlns:a="http://schemas.openxmlformats.org/drawingml/2006/main">
              <a:ext uri="{FF2B5EF4-FFF2-40B4-BE49-F238E27FC236}">
                <a16:creationId xmlns:a16="http://schemas.microsoft.com/office/drawing/2014/main" id="{E8F8F640-5AB9-4999-8C98-E21062270419}"/>
              </a:ext>
            </a:extLst>
          </p:cNvPr>
          <p:cNvCxnSpPr/>
          <p:nvPr/>
        </p:nvCxnSpPr>
        <p:spPr>
          <a:xfrm xmlns:a="http://schemas.openxmlformats.org/drawingml/2006/main" rot="-5400000">
            <a:off x="8305800" y="3829050"/>
            <a:ext cx="1866900" cy="0"/>
          </a:xfrm>
          <a:prstGeom xmlns:a="http://schemas.openxmlformats.org/drawingml/2006/main" prst="straightConnector1">
            <a:avLst/>
          </a:prstGeom>
          <a:ln xmlns:a="http://schemas.openxmlformats.org/drawingml/2006/main" w="16193">
            <a:solidFill>
              <a:srgbClr val="50565E"/>
            </a:solidFill>
            <a:prstDash val="solid"/>
            <a:tailEnd type="triangle" w="med" len="med"/>
          </a:ln>
        </p:spPr>
      </p:cxnSp>
      <p:sp>
        <p:nvSpPr>
          <p:cNvPr id="11" name="axis-x">
            <a:extLst xmlns:a="http://schemas.openxmlformats.org/drawingml/2006/main">
              <a:ext uri="{FF2B5EF4-FFF2-40B4-BE49-F238E27FC236}">
                <a16:creationId xmlns:a16="http://schemas.microsoft.com/office/drawing/2014/main" id="{574A4556-3EB2-4667-BAA6-EC15D82DD39E}"/>
              </a:ext>
            </a:extLst>
          </p:cNvPr>
          <p:cNvSpPr>
            <a:spLocks xmlns:a="http://schemas.openxmlformats.org/drawingml/2006/main" noGrp="1"/>
          </p:cNvSpPr>
          <p:nvPr/>
        </p:nvSpPr>
        <p:spPr>
          <a:xfrm xmlns:a="http://schemas.openxmlformats.org/drawingml/2006/main">
            <a:off x="7477125" y="54102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12" name="axis-y">
            <a:extLst xmlns:a="http://schemas.openxmlformats.org/drawingml/2006/main">
              <a:ext uri="{FF2B5EF4-FFF2-40B4-BE49-F238E27FC236}">
                <a16:creationId xmlns:a16="http://schemas.microsoft.com/office/drawing/2014/main" id="{2061FE0C-FB93-4963-8C06-EF723CBF23BF}"/>
              </a:ext>
            </a:extLst>
          </p:cNvPr>
          <p:cNvSpPr>
            <a:spLocks xmlns:a="http://schemas.openxmlformats.org/drawingml/2006/main" noGrp="1"/>
          </p:cNvSpPr>
          <p:nvPr/>
        </p:nvSpPr>
        <p:spPr>
          <a:xfrm xmlns:a="http://schemas.openxmlformats.org/drawingml/2006/main">
            <a:off x="10429875" y="5314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sp>
        <p:nvSpPr>
          <p:cNvPr id="13" name="axis-z">
            <a:extLst xmlns:a="http://schemas.openxmlformats.org/drawingml/2006/main">
              <a:ext uri="{FF2B5EF4-FFF2-40B4-BE49-F238E27FC236}">
                <a16:creationId xmlns:a16="http://schemas.microsoft.com/office/drawing/2014/main" id="{56004C21-4605-4451-96A1-405DB1998693}"/>
              </a:ext>
            </a:extLst>
          </p:cNvPr>
          <p:cNvSpPr>
            <a:spLocks xmlns:a="http://schemas.openxmlformats.org/drawingml/2006/main" noGrp="1"/>
          </p:cNvSpPr>
          <p:nvPr/>
        </p:nvSpPr>
        <p:spPr>
          <a:xfrm xmlns:a="http://schemas.openxmlformats.org/drawingml/2006/main">
            <a:off x="8953500" y="2457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z</a:t>
            </a:r>
          </a:p>
        </p:txBody>
      </p:sp>
      <p:sp>
        <p:nvSpPr>
          <p:cNvPr id="14" name="origin">
            <a:extLst xmlns:a="http://schemas.openxmlformats.org/drawingml/2006/main">
              <a:ext uri="{FF2B5EF4-FFF2-40B4-BE49-F238E27FC236}">
                <a16:creationId xmlns:a16="http://schemas.microsoft.com/office/drawing/2014/main" id="{241C412C-6991-481E-A166-2CF149D4B283}"/>
              </a:ext>
            </a:extLst>
          </p:cNvPr>
          <p:cNvSpPr>
            <a:spLocks xmlns:a="http://schemas.openxmlformats.org/drawingml/2006/main" noGrp="1"/>
          </p:cNvSpPr>
          <p:nvPr/>
        </p:nvSpPr>
        <p:spPr>
          <a:xfrm xmlns:a="http://schemas.openxmlformats.org/drawingml/2006/main">
            <a:off x="8991600" y="47339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cxnSp>
        <p:nvCxnSpPr>
          <p:cNvPr id="15" name="R3-line">
            <a:extLst xmlns:a="http://schemas.openxmlformats.org/drawingml/2006/main">
              <a:ext uri="{FF2B5EF4-FFF2-40B4-BE49-F238E27FC236}">
                <a16:creationId xmlns:a16="http://schemas.microsoft.com/office/drawing/2014/main" id="{D0C31FEA-9692-4320-A4A5-9C226DAE70EC}"/>
              </a:ext>
            </a:extLst>
          </p:cNvPr>
          <p:cNvCxnSpPr/>
          <p:nvPr/>
        </p:nvCxnSpPr>
        <p:spPr>
          <a:xfrm xmlns:a="http://schemas.openxmlformats.org/drawingml/2006/main" rot="4825998">
            <a:off x="9525000" y="4446270"/>
            <a:ext cx="2628900" cy="0"/>
          </a:xfrm>
          <a:prstGeom xmlns:a="http://schemas.openxmlformats.org/drawingml/2006/main" prst="straightConnector1">
            <a:avLst/>
          </a:prstGeom>
          <a:ln xmlns:a="http://schemas.openxmlformats.org/drawingml/2006/main" w="23813">
            <a:solidFill>
              <a:srgbClr val="F5F5F5"/>
            </a:solidFill>
            <a:prstDash val="solid"/>
          </a:ln>
        </p:spPr>
      </p:cxnSp>
      <p:cxnSp>
        <p:nvCxnSpPr>
          <p:cNvPr id="16" name="PQ">
            <a:extLst xmlns:a="http://schemas.openxmlformats.org/drawingml/2006/main">
              <a:ext uri="{FF2B5EF4-FFF2-40B4-BE49-F238E27FC236}">
                <a16:creationId xmlns:a16="http://schemas.microsoft.com/office/drawing/2014/main" id="{ED3864D4-B6A0-474F-B8E2-7CB92D84139D}"/>
              </a:ext>
            </a:extLst>
          </p:cNvPr>
          <p:cNvCxnSpPr/>
          <p:nvPr/>
        </p:nvCxnSpPr>
        <p:spPr>
          <a:xfrm xmlns:a="http://schemas.openxmlformats.org/drawingml/2006/main" rot="4825999">
            <a:off x="9951194" y="4276725"/>
            <a:ext cx="1719361"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sp>
        <p:nvSpPr>
          <p:cNvPr id="17" name="P">
            <a:extLst xmlns:a="http://schemas.openxmlformats.org/drawingml/2006/main">
              <a:ext uri="{FF2B5EF4-FFF2-40B4-BE49-F238E27FC236}">
                <a16:creationId xmlns:a16="http://schemas.microsoft.com/office/drawing/2014/main" id="{4E23AAC6-5E21-4663-8D12-7582F9F6B4C3}"/>
              </a:ext>
            </a:extLst>
          </p:cNvPr>
          <p:cNvSpPr>
            <a:spLocks xmlns:a="http://schemas.openxmlformats.org/drawingml/2006/main" noGrp="1"/>
          </p:cNvSpPr>
          <p:nvPr/>
        </p:nvSpPr>
        <p:spPr>
          <a:xfrm xmlns:a="http://schemas.openxmlformats.org/drawingml/2006/main">
            <a:off x="10629900" y="33909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8" name="Q">
            <a:extLst xmlns:a="http://schemas.openxmlformats.org/drawingml/2006/main">
              <a:ext uri="{FF2B5EF4-FFF2-40B4-BE49-F238E27FC236}">
                <a16:creationId xmlns:a16="http://schemas.microsoft.com/office/drawing/2014/main" id="{87EE4AA0-C0F2-42B5-9788-21F3C88BFA32}"/>
              </a:ext>
            </a:extLst>
          </p:cNvPr>
          <p:cNvSpPr>
            <a:spLocks xmlns:a="http://schemas.openxmlformats.org/drawingml/2006/main" noGrp="1"/>
          </p:cNvSpPr>
          <p:nvPr/>
        </p:nvSpPr>
        <p:spPr>
          <a:xfrm xmlns:a="http://schemas.openxmlformats.org/drawingml/2006/main">
            <a:off x="10915650" y="5086350"/>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19" name="P-label">
            <a:extLst xmlns:a="http://schemas.openxmlformats.org/drawingml/2006/main">
              <a:ext uri="{FF2B5EF4-FFF2-40B4-BE49-F238E27FC236}">
                <a16:creationId xmlns:a16="http://schemas.microsoft.com/office/drawing/2014/main" id="{9364082C-B75B-4FF3-B088-0BDA372D245F}"/>
              </a:ext>
            </a:extLst>
          </p:cNvPr>
          <p:cNvSpPr>
            <a:spLocks xmlns:a="http://schemas.openxmlformats.org/drawingml/2006/main" noGrp="1"/>
          </p:cNvSpPr>
          <p:nvPr/>
        </p:nvSpPr>
        <p:spPr>
          <a:xfrm xmlns:a="http://schemas.openxmlformats.org/drawingml/2006/main">
            <a:off x="10829925" y="3133725"/>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75" b="0">
                <a:solidFill>
                  <a:srgbClr val="7DD3FC"/>
                </a:solidFill>
                <a:latin typeface="DejaVu Sans"/>
                <a:ea typeface="DejaVu Sans"/>
                <a:cs typeface="DejaVu Sans"/>
              </a:defRPr>
            </a:defPPr>
            <a:lvl1pPr>
              <a:buNone/>
              <a:defRPr sz="2175" b="0">
                <a:solidFill>
                  <a:srgbClr val="7DD3FC"/>
                </a:solidFill>
                <a:latin typeface="DejaVu Sans"/>
                <a:ea typeface="DejaVu Sans"/>
                <a:cs typeface="DejaVu Sans"/>
              </a:defRPr>
            </a:lvl1pPr>
            <a:lvl2pPr>
              <a:buNone/>
              <a:defRPr sz="2175" b="0">
                <a:solidFill>
                  <a:srgbClr val="7DD3FC"/>
                </a:solidFill>
                <a:latin typeface="DejaVu Sans"/>
                <a:ea typeface="DejaVu Sans"/>
                <a:cs typeface="DejaVu Sans"/>
              </a:defRPr>
            </a:lvl2pPr>
            <a:lvl3pPr>
              <a:buNone/>
              <a:defRPr sz="2175" b="0">
                <a:solidFill>
                  <a:srgbClr val="7DD3FC"/>
                </a:solidFill>
                <a:latin typeface="DejaVu Sans"/>
                <a:ea typeface="DejaVu Sans"/>
                <a:cs typeface="DejaVu Sans"/>
              </a:defRPr>
            </a:lvl3pPr>
            <a:lvl4pPr>
              <a:buNone/>
              <a:defRPr sz="2175" b="0">
                <a:solidFill>
                  <a:srgbClr val="7DD3FC"/>
                </a:solidFill>
                <a:latin typeface="DejaVu Sans"/>
                <a:ea typeface="DejaVu Sans"/>
                <a:cs typeface="DejaVu Sans"/>
              </a:defRPr>
            </a:lvl4pPr>
            <a:lvl5pPr>
              <a:buNone/>
              <a:defRPr sz="2175" b="0">
                <a:solidFill>
                  <a:srgbClr val="7DD3FC"/>
                </a:solidFill>
                <a:latin typeface="DejaVu Sans"/>
                <a:ea typeface="DejaVu Sans"/>
                <a:cs typeface="DejaVu Sans"/>
              </a:defRPr>
            </a:lvl5pPr>
            <a:lvl6pPr>
              <a:buNone/>
              <a:defRPr sz="2175" b="0">
                <a:solidFill>
                  <a:srgbClr val="7DD3FC"/>
                </a:solidFill>
                <a:latin typeface="DejaVu Sans"/>
                <a:ea typeface="DejaVu Sans"/>
                <a:cs typeface="DejaVu Sans"/>
              </a:defRPr>
            </a:lvl6pPr>
            <a:lvl7pPr>
              <a:buNone/>
              <a:defRPr sz="2175" b="0">
                <a:solidFill>
                  <a:srgbClr val="7DD3FC"/>
                </a:solidFill>
                <a:latin typeface="DejaVu Sans"/>
                <a:ea typeface="DejaVu Sans"/>
                <a:cs typeface="DejaVu Sans"/>
              </a:defRPr>
            </a:lvl7pPr>
            <a:lvl8pPr>
              <a:buNone/>
              <a:defRPr sz="2175" b="0">
                <a:solidFill>
                  <a:srgbClr val="7DD3FC"/>
                </a:solidFill>
                <a:latin typeface="DejaVu Sans"/>
                <a:ea typeface="DejaVu Sans"/>
                <a:cs typeface="DejaVu Sans"/>
              </a:defRPr>
            </a:lvl8pPr>
            <a:lvl9pPr>
              <a:buNone/>
              <a:defRPr sz="2175" b="0">
                <a:solidFill>
                  <a:srgbClr val="7DD3FC"/>
                </a:solidFill>
                <a:latin typeface="DejaVu Sans"/>
                <a:ea typeface="DejaVu Sans"/>
                <a:cs typeface="DejaVu Sans"/>
              </a:defRPr>
            </a:lvl9pPr>
          </a:lstStyle>
          <a:p xmlns:a="http://schemas.openxmlformats.org/drawingml/2006/main">
            <a:pPr>
              <a:buNone/>
              <a:defRPr sz="2175" b="0">
                <a:solidFill>
                  <a:srgbClr val="7DD3FC"/>
                </a:solidFill>
                <a:latin typeface="DejaVu Sans"/>
                <a:ea typeface="DejaVu Sans"/>
                <a:cs typeface="DejaVu Sans"/>
              </a:defRPr>
            </a:pPr>
            <a:r>
              <a:rPr sz="2175" b="0">
                <a:solidFill>
                  <a:srgbClr val="7DD3FC"/>
                </a:solidFill>
                <a:latin typeface="DejaVu Sans"/>
                <a:ea typeface="DejaVu Sans"/>
                <a:cs typeface="DejaVu Sans"/>
              </a:rPr>
              <a:t>P</a:t>
            </a:r>
          </a:p>
        </p:txBody>
      </p:sp>
      <p:sp>
        <p:nvSpPr>
          <p:cNvPr id="20" name="Q-label">
            <a:extLst xmlns:a="http://schemas.openxmlformats.org/drawingml/2006/main">
              <a:ext uri="{FF2B5EF4-FFF2-40B4-BE49-F238E27FC236}">
                <a16:creationId xmlns:a16="http://schemas.microsoft.com/office/drawing/2014/main" id="{4E68F181-C87F-4900-B5D5-E190BA2E03EC}"/>
              </a:ext>
            </a:extLst>
          </p:cNvPr>
          <p:cNvSpPr>
            <a:spLocks xmlns:a="http://schemas.openxmlformats.org/drawingml/2006/main" noGrp="1"/>
          </p:cNvSpPr>
          <p:nvPr/>
        </p:nvSpPr>
        <p:spPr>
          <a:xfrm xmlns:a="http://schemas.openxmlformats.org/drawingml/2006/main">
            <a:off x="11125200" y="4924425"/>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75" b="0">
                <a:solidFill>
                  <a:srgbClr val="C4B5FD"/>
                </a:solidFill>
                <a:latin typeface="DejaVu Sans"/>
                <a:ea typeface="DejaVu Sans"/>
                <a:cs typeface="DejaVu Sans"/>
              </a:defRPr>
            </a:defPPr>
            <a:lvl1pPr>
              <a:buNone/>
              <a:defRPr sz="2175" b="0">
                <a:solidFill>
                  <a:srgbClr val="C4B5FD"/>
                </a:solidFill>
                <a:latin typeface="DejaVu Sans"/>
                <a:ea typeface="DejaVu Sans"/>
                <a:cs typeface="DejaVu Sans"/>
              </a:defRPr>
            </a:lvl1pPr>
            <a:lvl2pPr>
              <a:buNone/>
              <a:defRPr sz="2175" b="0">
                <a:solidFill>
                  <a:srgbClr val="C4B5FD"/>
                </a:solidFill>
                <a:latin typeface="DejaVu Sans"/>
                <a:ea typeface="DejaVu Sans"/>
                <a:cs typeface="DejaVu Sans"/>
              </a:defRPr>
            </a:lvl2pPr>
            <a:lvl3pPr>
              <a:buNone/>
              <a:defRPr sz="2175" b="0">
                <a:solidFill>
                  <a:srgbClr val="C4B5FD"/>
                </a:solidFill>
                <a:latin typeface="DejaVu Sans"/>
                <a:ea typeface="DejaVu Sans"/>
                <a:cs typeface="DejaVu Sans"/>
              </a:defRPr>
            </a:lvl3pPr>
            <a:lvl4pPr>
              <a:buNone/>
              <a:defRPr sz="2175" b="0">
                <a:solidFill>
                  <a:srgbClr val="C4B5FD"/>
                </a:solidFill>
                <a:latin typeface="DejaVu Sans"/>
                <a:ea typeface="DejaVu Sans"/>
                <a:cs typeface="DejaVu Sans"/>
              </a:defRPr>
            </a:lvl4pPr>
            <a:lvl5pPr>
              <a:buNone/>
              <a:defRPr sz="2175" b="0">
                <a:solidFill>
                  <a:srgbClr val="C4B5FD"/>
                </a:solidFill>
                <a:latin typeface="DejaVu Sans"/>
                <a:ea typeface="DejaVu Sans"/>
                <a:cs typeface="DejaVu Sans"/>
              </a:defRPr>
            </a:lvl5pPr>
            <a:lvl6pPr>
              <a:buNone/>
              <a:defRPr sz="2175" b="0">
                <a:solidFill>
                  <a:srgbClr val="C4B5FD"/>
                </a:solidFill>
                <a:latin typeface="DejaVu Sans"/>
                <a:ea typeface="DejaVu Sans"/>
                <a:cs typeface="DejaVu Sans"/>
              </a:defRPr>
            </a:lvl6pPr>
            <a:lvl7pPr>
              <a:buNone/>
              <a:defRPr sz="2175" b="0">
                <a:solidFill>
                  <a:srgbClr val="C4B5FD"/>
                </a:solidFill>
                <a:latin typeface="DejaVu Sans"/>
                <a:ea typeface="DejaVu Sans"/>
                <a:cs typeface="DejaVu Sans"/>
              </a:defRPr>
            </a:lvl7pPr>
            <a:lvl8pPr>
              <a:buNone/>
              <a:defRPr sz="2175" b="0">
                <a:solidFill>
                  <a:srgbClr val="C4B5FD"/>
                </a:solidFill>
                <a:latin typeface="DejaVu Sans"/>
                <a:ea typeface="DejaVu Sans"/>
                <a:cs typeface="DejaVu Sans"/>
              </a:defRPr>
            </a:lvl8pPr>
            <a:lvl9pPr>
              <a:buNone/>
              <a:defRPr sz="2175" b="0">
                <a:solidFill>
                  <a:srgbClr val="C4B5FD"/>
                </a:solidFill>
                <a:latin typeface="DejaVu Sans"/>
                <a:ea typeface="DejaVu Sans"/>
                <a:cs typeface="DejaVu Sans"/>
              </a:defRPr>
            </a:lvl9pPr>
          </a:lstStyle>
          <a:p xmlns:a="http://schemas.openxmlformats.org/drawingml/2006/main">
            <a:pPr>
              <a:buNone/>
              <a:defRPr sz="2175" b="0">
                <a:solidFill>
                  <a:srgbClr val="C4B5FD"/>
                </a:solidFill>
                <a:latin typeface="DejaVu Sans"/>
                <a:ea typeface="DejaVu Sans"/>
                <a:cs typeface="DejaVu Sans"/>
              </a:defRPr>
            </a:pPr>
            <a:r>
              <a:rPr sz="2175" b="0">
                <a:solidFill>
                  <a:srgbClr val="C4B5FD"/>
                </a:solidFill>
                <a:latin typeface="DejaVu Sans"/>
                <a:ea typeface="DejaVu Sans"/>
                <a:cs typeface="DejaVu Sans"/>
              </a:rPr>
              <a:t>Q</a:t>
            </a:r>
          </a:p>
        </p:txBody>
      </p:sp>
    </p:spTree>
    <p:extLst>
      <p:ext uri="{BB962C8B-B14F-4D97-AF65-F5344CB8AC3E}">
        <p14:creationId xmlns:p14="http://schemas.microsoft.com/office/powerpoint/2010/main" val="105679084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32FF26E-46AB-42CD-8567-2A149745890A}"/>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Two zero direction components in space</a:t>
            </a:r>
          </a:p>
        </p:txBody>
      </p:sp>
      <p:sp>
        <p:nvSpPr>
          <p:cNvPr id="2" name="page-number">
            <a:extLst xmlns:a="http://schemas.openxmlformats.org/drawingml/2006/main">
              <a:ext uri="{FF2B5EF4-FFF2-40B4-BE49-F238E27FC236}">
                <a16:creationId xmlns:a16="http://schemas.microsoft.com/office/drawing/2014/main" id="{806EB3E6-C371-43D5-B793-EBC2F02A5298}"/>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27</a:t>
            </a:r>
          </a:p>
        </p:txBody>
      </p:sp>
      <p:sp>
        <p:nvSpPr>
          <p:cNvPr id="3" name="lead">
            <a:extLst xmlns:a="http://schemas.openxmlformats.org/drawingml/2006/main">
              <a:ext uri="{FF2B5EF4-FFF2-40B4-BE49-F238E27FC236}">
                <a16:creationId xmlns:a16="http://schemas.microsoft.com/office/drawing/2014/main" id="{7A31B531-9A7B-45C9-9B9B-88E084C2F2D8}"/>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Keep both fixed coordinates. Let the remaining coordinate vary.</a:t>
            </a:r>
          </a:p>
        </p:txBody>
      </p:sp>
      <p:pic>
        <p:nvPicPr>
          <p:cNvPr id="4" name="equation-0" descr="LaTeX: \vec r=[1,2,3]+t[0,0,4]">
            <a:extLst xmlns:a="http://schemas.openxmlformats.org/drawingml/2006/main">
              <a:ext uri="{FF2B5EF4-FFF2-40B4-BE49-F238E27FC236}">
                <a16:creationId xmlns:a16="http://schemas.microsoft.com/office/drawing/2014/main" id="{798C3218-91DE-4447-BC75-83D650EA86D8}"/>
              </a:ext>
            </a:extLst>
          </p:cNvPr>
          <p:cNvPicPr>
            <a:picLocks xmlns:a="http://schemas.openxmlformats.org/drawingml/2006/main" noChangeAspect="1"/>
          </p:cNvPicPr>
          <p:nvPr/>
        </p:nvPicPr>
        <p:blipFill>
          <a:blip xmlns:r="http://schemas.openxmlformats.org/officeDocument/2006/relationships" xmlns:a="http://schemas.openxmlformats.org/drawingml/2006/main" r:embed="Rc36d8af37e194f13">
            <a:extLst>
              <a:ext uri="{96DAC541-7B7A-43D3-8B79-37D633B846F1}">
                <asvg:svgBlip xmlns:asvg="http://schemas.microsoft.com/office/drawing/2016/SVG/main" r:embed="R4745dc7f4d9049ef"/>
              </a:ext>
            </a:extLst>
          </a:blip>
          <a:stretch xmlns:a="http://schemas.openxmlformats.org/drawingml/2006/main"/>
        </p:blipFill>
        <p:spPr>
          <a:xfrm xmlns:a="http://schemas.openxmlformats.org/drawingml/2006/main">
            <a:off x="685800" y="2866954"/>
            <a:ext cx="3470156" cy="436875"/>
          </a:xfrm>
          <a:prstGeom xmlns:a="http://schemas.openxmlformats.org/drawingml/2006/main" prst="rect">
            <a:avLst/>
          </a:prstGeom>
        </p:spPr>
      </p:pic>
      <p:pic>
        <p:nvPicPr>
          <p:cNvPr id="5" name="equation-1" descr="LaTeX: x=1,\quad y=2,\quad z=3+4t">
            <a:extLst xmlns:a="http://schemas.openxmlformats.org/drawingml/2006/main">
              <a:ext uri="{FF2B5EF4-FFF2-40B4-BE49-F238E27FC236}">
                <a16:creationId xmlns:a16="http://schemas.microsoft.com/office/drawing/2014/main" id="{61801766-7BCF-4AD5-9418-179F83BA00FB}"/>
              </a:ext>
            </a:extLst>
          </p:cNvPr>
          <p:cNvPicPr>
            <a:picLocks xmlns:a="http://schemas.openxmlformats.org/drawingml/2006/main" noChangeAspect="1"/>
          </p:cNvPicPr>
          <p:nvPr/>
        </p:nvPicPr>
        <p:blipFill>
          <a:blip xmlns:r="http://schemas.openxmlformats.org/officeDocument/2006/relationships" xmlns:a="http://schemas.openxmlformats.org/drawingml/2006/main" r:embed="Re71c155527f348ec">
            <a:extLst>
              <a:ext uri="{96DAC541-7B7A-43D3-8B79-37D633B846F1}">
                <asvg:svgBlip xmlns:asvg="http://schemas.microsoft.com/office/drawing/2016/SVG/main" r:embed="Re1ae99297b374d38"/>
              </a:ext>
            </a:extLst>
          </a:blip>
          <a:stretch xmlns:a="http://schemas.openxmlformats.org/drawingml/2006/main"/>
        </p:blipFill>
        <p:spPr>
          <a:xfrm xmlns:a="http://schemas.openxmlformats.org/drawingml/2006/main">
            <a:off x="685800" y="3570529"/>
            <a:ext cx="4521613" cy="374698"/>
          </a:xfrm>
          <a:prstGeom xmlns:a="http://schemas.openxmlformats.org/drawingml/2006/main" prst="rect">
            <a:avLst/>
          </a:prstGeom>
        </p:spPr>
      </p:pic>
      <p:pic>
        <p:nvPicPr>
          <p:cNvPr id="6" name="equation-2" descr="LaTeX: x=1,\quad y=2,\quad z\in\mathbb R">
            <a:extLst xmlns:a="http://schemas.openxmlformats.org/drawingml/2006/main">
              <a:ext uri="{FF2B5EF4-FFF2-40B4-BE49-F238E27FC236}">
                <a16:creationId xmlns:a16="http://schemas.microsoft.com/office/drawing/2014/main" id="{4C9ACB6A-F772-4C27-A6A3-5D3B9B2A70FC}"/>
              </a:ext>
            </a:extLst>
          </p:cNvPr>
          <p:cNvPicPr>
            <a:picLocks xmlns:a="http://schemas.openxmlformats.org/drawingml/2006/main" noChangeAspect="1"/>
          </p:cNvPicPr>
          <p:nvPr/>
        </p:nvPicPr>
        <p:blipFill>
          <a:blip xmlns:r="http://schemas.openxmlformats.org/officeDocument/2006/relationships" xmlns:a="http://schemas.openxmlformats.org/drawingml/2006/main" r:embed="R5b1ab51d1adf4c1c">
            <a:extLst>
              <a:ext uri="{96DAC541-7B7A-43D3-8B79-37D633B846F1}">
                <asvg:svgBlip xmlns:asvg="http://schemas.microsoft.com/office/drawing/2016/SVG/main" r:embed="Ree6eade2debb45b3"/>
              </a:ext>
            </a:extLst>
          </a:blip>
          <a:stretch xmlns:a="http://schemas.openxmlformats.org/drawingml/2006/main"/>
        </p:blipFill>
        <p:spPr>
          <a:xfrm xmlns:a="http://schemas.openxmlformats.org/drawingml/2006/main">
            <a:off x="685800" y="4211927"/>
            <a:ext cx="3844728" cy="404109"/>
          </a:xfrm>
          <a:prstGeom xmlns:a="http://schemas.openxmlformats.org/drawingml/2006/main" prst="rect">
            <a:avLst/>
          </a:prstGeom>
        </p:spPr>
      </p:pic>
      <p:pic>
        <p:nvPicPr>
          <p:cNvPr id="7" name="equation-3" descr="LaTeX: \text{One line parallel to the z-axis}">
            <a:extLst xmlns:a="http://schemas.openxmlformats.org/drawingml/2006/main">
              <a:ext uri="{FF2B5EF4-FFF2-40B4-BE49-F238E27FC236}">
                <a16:creationId xmlns:a16="http://schemas.microsoft.com/office/drawing/2014/main" id="{40E354B1-7904-4AB4-985D-877F2C8B4BAA}"/>
              </a:ext>
            </a:extLst>
          </p:cNvPr>
          <p:cNvPicPr>
            <a:picLocks xmlns:a="http://schemas.openxmlformats.org/drawingml/2006/main" noChangeAspect="1"/>
          </p:cNvPicPr>
          <p:nvPr/>
        </p:nvPicPr>
        <p:blipFill>
          <a:blip xmlns:r="http://schemas.openxmlformats.org/officeDocument/2006/relationships" xmlns:a="http://schemas.openxmlformats.org/drawingml/2006/main" r:embed="Ra648f0826eed494f">
            <a:extLst>
              <a:ext uri="{96DAC541-7B7A-43D3-8B79-37D633B846F1}">
                <asvg:svgBlip xmlns:asvg="http://schemas.microsoft.com/office/drawing/2016/SVG/main" r:embed="R946b260576004436"/>
              </a:ext>
            </a:extLst>
          </a:blip>
          <a:stretch xmlns:a="http://schemas.openxmlformats.org/drawingml/2006/main"/>
        </p:blipFill>
        <p:spPr>
          <a:xfrm xmlns:a="http://schemas.openxmlformats.org/drawingml/2006/main">
            <a:off x="685800" y="4882736"/>
            <a:ext cx="4672290" cy="394184"/>
          </a:xfrm>
          <a:prstGeom xmlns:a="http://schemas.openxmlformats.org/drawingml/2006/main" prst="rect">
            <a:avLst/>
          </a:prstGeom>
        </p:spPr>
      </p:pic>
    </p:spTree>
    <p:extLst>
      <p:ext uri="{BB962C8B-B14F-4D97-AF65-F5344CB8AC3E}">
        <p14:creationId xmlns:p14="http://schemas.microsoft.com/office/powerpoint/2010/main" val="88585740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0D31F4B-B917-44B8-9511-AA4D2334157A}"/>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3  A line in space</a:t>
            </a:r>
          </a:p>
        </p:txBody>
      </p:sp>
      <p:sp>
        <p:nvSpPr>
          <p:cNvPr id="2" name="page-number">
            <a:extLst xmlns:a="http://schemas.openxmlformats.org/drawingml/2006/main">
              <a:ext uri="{FF2B5EF4-FFF2-40B4-BE49-F238E27FC236}">
                <a16:creationId xmlns:a16="http://schemas.microsoft.com/office/drawing/2014/main" id="{F050103B-92EA-4E87-96B3-DD028EE94A7E}"/>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28</a:t>
            </a:r>
          </a:p>
        </p:txBody>
      </p:sp>
      <p:sp>
        <p:nvSpPr>
          <p:cNvPr id="3" name="lead">
            <a:extLst xmlns:a="http://schemas.openxmlformats.org/drawingml/2006/main">
              <a:ext uri="{FF2B5EF4-FFF2-40B4-BE49-F238E27FC236}">
                <a16:creationId xmlns:a16="http://schemas.microsoft.com/office/drawing/2014/main" id="{6F6DA423-5030-400C-9512-923CBBAD353A}"/>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Find vector, parametric, and symmetric equations through R and S.</a:t>
            </a:r>
          </a:p>
        </p:txBody>
      </p:sp>
      <p:pic>
        <p:nvPicPr>
          <p:cNvPr id="4" name="equation-0" descr="LaTeX: R(3,-1,2),\qquad S(3,2,-4)">
            <a:extLst xmlns:a="http://schemas.openxmlformats.org/drawingml/2006/main">
              <a:ext uri="{FF2B5EF4-FFF2-40B4-BE49-F238E27FC236}">
                <a16:creationId xmlns:a16="http://schemas.microsoft.com/office/drawing/2014/main" id="{22612D2C-05DA-42F9-88A6-D2E548A81EB6}"/>
              </a:ext>
            </a:extLst>
          </p:cNvPr>
          <p:cNvPicPr>
            <a:picLocks xmlns:a="http://schemas.openxmlformats.org/drawingml/2006/main" noChangeAspect="1"/>
          </p:cNvPicPr>
          <p:nvPr/>
        </p:nvPicPr>
        <p:blipFill>
          <a:blip xmlns:r="http://schemas.openxmlformats.org/officeDocument/2006/relationships" xmlns:a="http://schemas.openxmlformats.org/drawingml/2006/main" r:embed="R98c9e7f1f63d4297">
            <a:extLst>
              <a:ext uri="{96DAC541-7B7A-43D3-8B79-37D633B846F1}">
                <asvg:svgBlip xmlns:asvg="http://schemas.microsoft.com/office/drawing/2016/SVG/main" r:embed="Ra3f356e675934d16"/>
              </a:ext>
            </a:extLst>
          </a:blip>
          <a:stretch xmlns:a="http://schemas.openxmlformats.org/drawingml/2006/main"/>
        </p:blipFill>
        <p:spPr>
          <a:xfrm xmlns:a="http://schemas.openxmlformats.org/drawingml/2006/main">
            <a:off x="685800" y="2571750"/>
            <a:ext cx="4406838" cy="436875"/>
          </a:xfrm>
          <a:prstGeom xmlns:a="http://schemas.openxmlformats.org/drawingml/2006/main" prst="rect">
            <a:avLst/>
          </a:prstGeom>
        </p:spPr>
      </p:pic>
      <p:sp>
        <p:nvSpPr>
          <p:cNvPr id="5" name="working-prompt-0">
            <a:extLst xmlns:a="http://schemas.openxmlformats.org/drawingml/2006/main">
              <a:ext uri="{FF2B5EF4-FFF2-40B4-BE49-F238E27FC236}">
                <a16:creationId xmlns:a16="http://schemas.microsoft.com/office/drawing/2014/main" id="{CBCE8F32-97DC-4E12-8A40-670C0F726FDE}"/>
              </a:ext>
            </a:extLst>
          </p:cNvPr>
          <p:cNvSpPr>
            <a:spLocks xmlns:a="http://schemas.openxmlformats.org/drawingml/2006/main" noGrp="1"/>
          </p:cNvSpPr>
          <p:nvPr/>
        </p:nvSpPr>
        <p:spPr>
          <a:xfrm xmlns:a="http://schemas.openxmlformats.org/drawingml/2006/main">
            <a:off x="685800" y="41814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1  Subtract R from S and simplify the direction</a:t>
            </a:r>
          </a:p>
        </p:txBody>
      </p:sp>
      <p:sp>
        <p:nvSpPr>
          <p:cNvPr id="6" name="working-prompt-1">
            <a:extLst xmlns:a="http://schemas.openxmlformats.org/drawingml/2006/main">
              <a:ext uri="{FF2B5EF4-FFF2-40B4-BE49-F238E27FC236}">
                <a16:creationId xmlns:a16="http://schemas.microsoft.com/office/drawing/2014/main" id="{19C7108C-B5A0-4EA6-A65E-1CC7012E1083}"/>
              </a:ext>
            </a:extLst>
          </p:cNvPr>
          <p:cNvSpPr>
            <a:spLocks xmlns:a="http://schemas.openxmlformats.org/drawingml/2006/main" noGrp="1"/>
          </p:cNvSpPr>
          <p:nvPr/>
        </p:nvSpPr>
        <p:spPr>
          <a:xfrm xmlns:a="http://schemas.openxmlformats.org/drawingml/2006/main">
            <a:off x="685800" y="47244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2  Write each form and check the fixed coordinate</a:t>
            </a:r>
          </a:p>
        </p:txBody>
      </p:sp>
      <p:sp>
        <p:nvSpPr>
          <p:cNvPr id="7" name="practice-pause">
            <a:extLst xmlns:a="http://schemas.openxmlformats.org/drawingml/2006/main">
              <a:ext uri="{FF2B5EF4-FFF2-40B4-BE49-F238E27FC236}">
                <a16:creationId xmlns:a16="http://schemas.microsoft.com/office/drawing/2014/main" id="{6176B421-CE18-4194-B415-31E94D234B26}"/>
              </a:ext>
            </a:extLst>
          </p:cNvPr>
          <p:cNvSpPr>
            <a:spLocks xmlns:a="http://schemas.openxmlformats.org/drawingml/2006/main" noGrp="1"/>
          </p:cNvSpPr>
          <p:nvPr/>
        </p:nvSpPr>
        <p:spPr>
          <a:xfrm xmlns:a="http://schemas.openxmlformats.org/drawingml/2006/main">
            <a:off x="685800" y="5667375"/>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596980010"/>
      </p:ext>
    </p:extLst>
  </p:cSld>
  <p:transition spd="med" advClick="1">
    <p:fade/>
  </p:transition>
</p:sld>
</file>

<file path=ppt/slides/slide2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1C1FFC8-0C78-4BAF-B78C-66EE51B2CB88}"/>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3  Solution</a:t>
            </a:r>
          </a:p>
        </p:txBody>
      </p:sp>
      <p:sp>
        <p:nvSpPr>
          <p:cNvPr id="2" name="page-number">
            <a:extLst xmlns:a="http://schemas.openxmlformats.org/drawingml/2006/main">
              <a:ext uri="{FF2B5EF4-FFF2-40B4-BE49-F238E27FC236}">
                <a16:creationId xmlns:a16="http://schemas.microsoft.com/office/drawing/2014/main" id="{BC6C683A-A1C9-41AB-ADCA-7AE8629E8EEF}"/>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29</a:t>
            </a:r>
          </a:p>
        </p:txBody>
      </p:sp>
      <p:sp>
        <p:nvSpPr>
          <p:cNvPr id="3" name="lead">
            <a:extLst xmlns:a="http://schemas.openxmlformats.org/drawingml/2006/main">
              <a:ext uri="{FF2B5EF4-FFF2-40B4-BE49-F238E27FC236}">
                <a16:creationId xmlns:a16="http://schemas.microsoft.com/office/drawing/2014/main" id="{B3C35689-5297-4092-8EC2-75C2CA160BF3}"/>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Simplifying a direction can change the parameter assigned to a point.</a:t>
            </a:r>
          </a:p>
        </p:txBody>
      </p:sp>
      <p:pic>
        <p:nvPicPr>
          <p:cNvPr id="4" name="equation-0" descr="LaTeX: \overrightarrow{RS}=[3-3,2-(-1),-4-2]=[0,3,-6]=3[0,1,-2]">
            <a:extLst xmlns:a="http://schemas.openxmlformats.org/drawingml/2006/main">
              <a:ext uri="{FF2B5EF4-FFF2-40B4-BE49-F238E27FC236}">
                <a16:creationId xmlns:a16="http://schemas.microsoft.com/office/drawing/2014/main" id="{1D416878-ED83-40FD-91B6-0BC437C26E9E}"/>
              </a:ext>
            </a:extLst>
          </p:cNvPr>
          <p:cNvPicPr>
            <a:picLocks xmlns:a="http://schemas.openxmlformats.org/drawingml/2006/main" noChangeAspect="1"/>
          </p:cNvPicPr>
          <p:nvPr/>
        </p:nvPicPr>
        <p:blipFill>
          <a:blip xmlns:r="http://schemas.openxmlformats.org/officeDocument/2006/relationships" xmlns:a="http://schemas.openxmlformats.org/drawingml/2006/main" r:embed="Rdad0a46e851141ec">
            <a:extLst>
              <a:ext uri="{96DAC541-7B7A-43D3-8B79-37D633B846F1}">
                <asvg:svgBlip xmlns:asvg="http://schemas.microsoft.com/office/drawing/2016/SVG/main" r:embed="R95b227e863bb4b3e"/>
              </a:ext>
            </a:extLst>
          </a:blip>
          <a:stretch xmlns:a="http://schemas.openxmlformats.org/drawingml/2006/main"/>
        </p:blipFill>
        <p:spPr>
          <a:xfrm xmlns:a="http://schemas.openxmlformats.org/drawingml/2006/main">
            <a:off x="685800" y="2333625"/>
            <a:ext cx="8095478" cy="501124"/>
          </a:xfrm>
          <a:prstGeom xmlns:a="http://schemas.openxmlformats.org/drawingml/2006/main" prst="rect">
            <a:avLst/>
          </a:prstGeom>
        </p:spPr>
      </p:pic>
      <p:pic>
        <p:nvPicPr>
          <p:cNvPr id="5" name="equation-1" descr="LaTeX: \vec r=[3,-1,2]+t[0,1,-2]">
            <a:extLst xmlns:a="http://schemas.openxmlformats.org/drawingml/2006/main">
              <a:ext uri="{FF2B5EF4-FFF2-40B4-BE49-F238E27FC236}">
                <a16:creationId xmlns:a16="http://schemas.microsoft.com/office/drawing/2014/main" id="{8D06BB02-47F9-4CFD-96AE-B8E68A7BA4CF}"/>
              </a:ext>
            </a:extLst>
          </p:cNvPr>
          <p:cNvPicPr>
            <a:picLocks xmlns:a="http://schemas.openxmlformats.org/drawingml/2006/main" noChangeAspect="1"/>
          </p:cNvPicPr>
          <p:nvPr/>
        </p:nvPicPr>
        <p:blipFill>
          <a:blip xmlns:r="http://schemas.openxmlformats.org/officeDocument/2006/relationships" xmlns:a="http://schemas.openxmlformats.org/drawingml/2006/main" r:embed="Rad1ec2e4805d42ee">
            <a:extLst>
              <a:ext uri="{96DAC541-7B7A-43D3-8B79-37D633B846F1}">
                <asvg:svgBlip xmlns:asvg="http://schemas.microsoft.com/office/drawing/2016/SVG/main" r:embed="R2863aea303e44322"/>
              </a:ext>
            </a:extLst>
          </a:blip>
          <a:stretch xmlns:a="http://schemas.openxmlformats.org/drawingml/2006/main"/>
        </p:blipFill>
        <p:spPr>
          <a:xfrm xmlns:a="http://schemas.openxmlformats.org/drawingml/2006/main">
            <a:off x="685800" y="3101449"/>
            <a:ext cx="3685458" cy="394865"/>
          </a:xfrm>
          <a:prstGeom xmlns:a="http://schemas.openxmlformats.org/drawingml/2006/main" prst="rect">
            <a:avLst/>
          </a:prstGeom>
        </p:spPr>
      </p:pic>
      <p:pic>
        <p:nvPicPr>
          <p:cNvPr id="6" name="equation-2" descr="LaTeX: x=3,\qquad y=-1+t,\qquad z=2-2t">
            <a:extLst xmlns:a="http://schemas.openxmlformats.org/drawingml/2006/main">
              <a:ext uri="{FF2B5EF4-FFF2-40B4-BE49-F238E27FC236}">
                <a16:creationId xmlns:a16="http://schemas.microsoft.com/office/drawing/2014/main" id="{BA0B5346-3E2C-4977-8656-9D20DC11E606}"/>
              </a:ext>
            </a:extLst>
          </p:cNvPr>
          <p:cNvPicPr>
            <a:picLocks xmlns:a="http://schemas.openxmlformats.org/drawingml/2006/main" noChangeAspect="1"/>
          </p:cNvPicPr>
          <p:nvPr/>
        </p:nvPicPr>
        <p:blipFill>
          <a:blip xmlns:r="http://schemas.openxmlformats.org/officeDocument/2006/relationships" xmlns:a="http://schemas.openxmlformats.org/drawingml/2006/main" r:embed="R9516b6f03abe4aab">
            <a:extLst>
              <a:ext uri="{96DAC541-7B7A-43D3-8B79-37D633B846F1}">
                <asvg:svgBlip xmlns:asvg="http://schemas.microsoft.com/office/drawing/2016/SVG/main" r:embed="Rd7662399761d4f57"/>
              </a:ext>
            </a:extLst>
          </a:blip>
          <a:stretch xmlns:a="http://schemas.openxmlformats.org/drawingml/2006/main"/>
        </p:blipFill>
        <p:spPr>
          <a:xfrm xmlns:a="http://schemas.openxmlformats.org/drawingml/2006/main">
            <a:off x="685800" y="3763014"/>
            <a:ext cx="5564872" cy="338667"/>
          </a:xfrm>
          <a:prstGeom xmlns:a="http://schemas.openxmlformats.org/drawingml/2006/main" prst="rect">
            <a:avLst/>
          </a:prstGeom>
        </p:spPr>
      </p:pic>
      <p:pic>
        <p:nvPicPr>
          <p:cNvPr id="7" name="equation-3" descr="LaTeX: x=3,\qquad\frac{y+1}{1}=\frac{z-2}{-2}">
            <a:extLst xmlns:a="http://schemas.openxmlformats.org/drawingml/2006/main">
              <a:ext uri="{FF2B5EF4-FFF2-40B4-BE49-F238E27FC236}">
                <a16:creationId xmlns:a16="http://schemas.microsoft.com/office/drawing/2014/main" id="{C9521B25-A68D-4755-BACC-BBEE6EE119D8}"/>
              </a:ext>
            </a:extLst>
          </p:cNvPr>
          <p:cNvPicPr>
            <a:picLocks xmlns:a="http://schemas.openxmlformats.org/drawingml/2006/main" noChangeAspect="1"/>
          </p:cNvPicPr>
          <p:nvPr/>
        </p:nvPicPr>
        <p:blipFill>
          <a:blip xmlns:r="http://schemas.openxmlformats.org/officeDocument/2006/relationships" xmlns:a="http://schemas.openxmlformats.org/drawingml/2006/main" r:embed="Re7d43efad73b483d">
            <a:extLst>
              <a:ext uri="{96DAC541-7B7A-43D3-8B79-37D633B846F1}">
                <asvg:svgBlip xmlns:asvg="http://schemas.microsoft.com/office/drawing/2016/SVG/main" r:embed="Re9bf0eeb232246c9"/>
              </a:ext>
            </a:extLst>
          </a:blip>
          <a:stretch xmlns:a="http://schemas.openxmlformats.org/drawingml/2006/main"/>
        </p:blipFill>
        <p:spPr>
          <a:xfrm xmlns:a="http://schemas.openxmlformats.org/drawingml/2006/main">
            <a:off x="685800" y="4368381"/>
            <a:ext cx="3694684" cy="780304"/>
          </a:xfrm>
          <a:prstGeom xmlns:a="http://schemas.openxmlformats.org/drawingml/2006/main" prst="rect">
            <a:avLst/>
          </a:prstGeom>
        </p:spPr>
      </p:pic>
      <p:pic>
        <p:nvPicPr>
          <p:cNvPr id="8" name="equation-4" descr="LaTeX: t=3:\quad[3,-1,2]+3[0,1,-2]=[3,2,-4]">
            <a:extLst xmlns:a="http://schemas.openxmlformats.org/drawingml/2006/main">
              <a:ext uri="{FF2B5EF4-FFF2-40B4-BE49-F238E27FC236}">
                <a16:creationId xmlns:a16="http://schemas.microsoft.com/office/drawing/2014/main" id="{866429D0-2B01-4555-9BB9-CEF3A5EEF2AE}"/>
              </a:ext>
            </a:extLst>
          </p:cNvPr>
          <p:cNvPicPr>
            <a:picLocks xmlns:a="http://schemas.openxmlformats.org/drawingml/2006/main" noChangeAspect="1"/>
          </p:cNvPicPr>
          <p:nvPr/>
        </p:nvPicPr>
        <p:blipFill>
          <a:blip xmlns:r="http://schemas.openxmlformats.org/officeDocument/2006/relationships" xmlns:a="http://schemas.openxmlformats.org/drawingml/2006/main" r:embed="Ra826daa64a774c61">
            <a:extLst>
              <a:ext uri="{96DAC541-7B7A-43D3-8B79-37D633B846F1}">
                <asvg:svgBlip xmlns:asvg="http://schemas.microsoft.com/office/drawing/2016/SVG/main" r:embed="Rdf75f46731ac4350"/>
              </a:ext>
            </a:extLst>
          </a:blip>
          <a:stretch xmlns:a="http://schemas.openxmlformats.org/drawingml/2006/main"/>
        </p:blipFill>
        <p:spPr>
          <a:xfrm xmlns:a="http://schemas.openxmlformats.org/drawingml/2006/main">
            <a:off x="685800" y="5415385"/>
            <a:ext cx="6147722" cy="394865"/>
          </a:xfrm>
          <a:prstGeom xmlns:a="http://schemas.openxmlformats.org/drawingml/2006/main" prst="rect">
            <a:avLst/>
          </a:prstGeom>
        </p:spPr>
      </p:pic>
    </p:spTree>
    <p:extLst>
      <p:ext uri="{BB962C8B-B14F-4D97-AF65-F5344CB8AC3E}">
        <p14:creationId xmlns:p14="http://schemas.microsoft.com/office/powerpoint/2010/main" val="120927837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191DBF1-0536-40BF-8591-4980DEC990B6}"/>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Coincident and distinct parallel lines</a:t>
            </a:r>
          </a:p>
        </p:txBody>
      </p:sp>
      <p:sp>
        <p:nvSpPr>
          <p:cNvPr id="2" name="page-number">
            <a:extLst xmlns:a="http://schemas.openxmlformats.org/drawingml/2006/main">
              <a:ext uri="{FF2B5EF4-FFF2-40B4-BE49-F238E27FC236}">
                <a16:creationId xmlns:a16="http://schemas.microsoft.com/office/drawing/2014/main" id="{9C5A2510-1246-4B40-9158-B53EF8382EE7}"/>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30</a:t>
            </a:r>
          </a:p>
        </p:txBody>
      </p:sp>
      <p:sp>
        <p:nvSpPr>
          <p:cNvPr id="3" name="lead">
            <a:extLst xmlns:a="http://schemas.openxmlformats.org/drawingml/2006/main">
              <a:ext uri="{FF2B5EF4-FFF2-40B4-BE49-F238E27FC236}">
                <a16:creationId xmlns:a16="http://schemas.microsoft.com/office/drawing/2014/main" id="{40E12EFA-E47C-4E52-94B9-D8F97D155724}"/>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First compare directions, then test a starting point.</a:t>
            </a:r>
          </a:p>
        </p:txBody>
      </p:sp>
      <p:pic>
        <p:nvPicPr>
          <p:cNvPr id="4" name="equation-0" descr="LaTeX: \vec m_2=k\vec m_1,\qquad k\ne0">
            <a:extLst xmlns:a="http://schemas.openxmlformats.org/drawingml/2006/main">
              <a:ext uri="{FF2B5EF4-FFF2-40B4-BE49-F238E27FC236}">
                <a16:creationId xmlns:a16="http://schemas.microsoft.com/office/drawing/2014/main" id="{931A3232-DF5C-4B61-8BBF-132620C21B40}"/>
              </a:ext>
            </a:extLst>
          </p:cNvPr>
          <p:cNvPicPr>
            <a:picLocks xmlns:a="http://schemas.openxmlformats.org/drawingml/2006/main" noChangeAspect="1"/>
          </p:cNvPicPr>
          <p:nvPr/>
        </p:nvPicPr>
        <p:blipFill>
          <a:blip xmlns:r="http://schemas.openxmlformats.org/officeDocument/2006/relationships" xmlns:a="http://schemas.openxmlformats.org/drawingml/2006/main" r:embed="R472ff6b5f8804efa">
            <a:extLst>
              <a:ext uri="{96DAC541-7B7A-43D3-8B79-37D633B846F1}">
                <asvg:svgBlip xmlns:asvg="http://schemas.microsoft.com/office/drawing/2016/SVG/main" r:embed="R250342ca0a5f43f2"/>
              </a:ext>
            </a:extLst>
          </a:blip>
          <a:stretch xmlns:a="http://schemas.openxmlformats.org/drawingml/2006/main"/>
        </p:blipFill>
        <p:spPr>
          <a:xfrm xmlns:a="http://schemas.openxmlformats.org/drawingml/2006/main">
            <a:off x="685800" y="3210393"/>
            <a:ext cx="3466942" cy="401320"/>
          </a:xfrm>
          <a:prstGeom xmlns:a="http://schemas.openxmlformats.org/drawingml/2006/main" prst="rect">
            <a:avLst/>
          </a:prstGeom>
        </p:spPr>
      </p:pic>
      <p:pic>
        <p:nvPicPr>
          <p:cNvPr id="5" name="equation-1" descr="LaTeX: \text{Parallel directions and a shared point: coincident lines}">
            <a:extLst xmlns:a="http://schemas.openxmlformats.org/drawingml/2006/main">
              <a:ext uri="{FF2B5EF4-FFF2-40B4-BE49-F238E27FC236}">
                <a16:creationId xmlns:a16="http://schemas.microsoft.com/office/drawing/2014/main" id="{4CFFAF46-983D-4717-8D22-7EB58FC1B869}"/>
              </a:ext>
            </a:extLst>
          </p:cNvPr>
          <p:cNvPicPr>
            <a:picLocks xmlns:a="http://schemas.openxmlformats.org/drawingml/2006/main" noChangeAspect="1"/>
          </p:cNvPicPr>
          <p:nvPr/>
        </p:nvPicPr>
        <p:blipFill>
          <a:blip xmlns:r="http://schemas.openxmlformats.org/officeDocument/2006/relationships" xmlns:a="http://schemas.openxmlformats.org/drawingml/2006/main" r:embed="Rc8cdaa548e154dd9">
            <a:extLst>
              <a:ext uri="{96DAC541-7B7A-43D3-8B79-37D633B846F1}">
                <asvg:svgBlip xmlns:asvg="http://schemas.microsoft.com/office/drawing/2016/SVG/main" r:embed="R33ab5c77c4554708"/>
              </a:ext>
            </a:extLst>
          </a:blip>
          <a:stretch xmlns:a="http://schemas.openxmlformats.org/drawingml/2006/main"/>
        </p:blipFill>
        <p:spPr>
          <a:xfrm xmlns:a="http://schemas.openxmlformats.org/drawingml/2006/main">
            <a:off x="685800" y="3878413"/>
            <a:ext cx="8556494" cy="394184"/>
          </a:xfrm>
          <a:prstGeom xmlns:a="http://schemas.openxmlformats.org/drawingml/2006/main" prst="rect">
            <a:avLst/>
          </a:prstGeom>
        </p:spPr>
      </p:pic>
      <p:pic>
        <p:nvPicPr>
          <p:cNvPr id="6" name="equation-2" descr="LaTeX: \text{Parallel directions and no shared point: distinct parallel lines}">
            <a:extLst xmlns:a="http://schemas.openxmlformats.org/drawingml/2006/main">
              <a:ext uri="{FF2B5EF4-FFF2-40B4-BE49-F238E27FC236}">
                <a16:creationId xmlns:a16="http://schemas.microsoft.com/office/drawing/2014/main" id="{FC13242B-0568-4A57-9708-CD224D4B4DB0}"/>
              </a:ext>
            </a:extLst>
          </p:cNvPr>
          <p:cNvPicPr>
            <a:picLocks xmlns:a="http://schemas.openxmlformats.org/drawingml/2006/main" noChangeAspect="1"/>
          </p:cNvPicPr>
          <p:nvPr/>
        </p:nvPicPr>
        <p:blipFill>
          <a:blip xmlns:r="http://schemas.openxmlformats.org/officeDocument/2006/relationships" xmlns:a="http://schemas.openxmlformats.org/drawingml/2006/main" r:embed="R0c908ba52cf44537">
            <a:extLst>
              <a:ext uri="{96DAC541-7B7A-43D3-8B79-37D633B846F1}">
                <asvg:svgBlip xmlns:asvg="http://schemas.microsoft.com/office/drawing/2016/SVG/main" r:embed="Rfd3ece58645c4b7e"/>
              </a:ext>
            </a:extLst>
          </a:blip>
          <a:stretch xmlns:a="http://schemas.openxmlformats.org/drawingml/2006/main"/>
        </p:blipFill>
        <p:spPr>
          <a:xfrm xmlns:a="http://schemas.openxmlformats.org/drawingml/2006/main">
            <a:off x="685800" y="4539298"/>
            <a:ext cx="9613749" cy="394184"/>
          </a:xfrm>
          <a:prstGeom xmlns:a="http://schemas.openxmlformats.org/drawingml/2006/main" prst="rect">
            <a:avLst/>
          </a:prstGeom>
        </p:spPr>
      </p:pic>
    </p:spTree>
    <p:extLst>
      <p:ext uri="{BB962C8B-B14F-4D97-AF65-F5344CB8AC3E}">
        <p14:creationId xmlns:p14="http://schemas.microsoft.com/office/powerpoint/2010/main" val="190974726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CAFC8A7-C63C-4F2C-9C56-C87088554CDE}"/>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An x-intercept</a:t>
            </a:r>
          </a:p>
        </p:txBody>
      </p:sp>
      <p:sp>
        <p:nvSpPr>
          <p:cNvPr id="2" name="page-number">
            <a:extLst xmlns:a="http://schemas.openxmlformats.org/drawingml/2006/main">
              <a:ext uri="{FF2B5EF4-FFF2-40B4-BE49-F238E27FC236}">
                <a16:creationId xmlns:a16="http://schemas.microsoft.com/office/drawing/2014/main" id="{0647C688-A3D0-4FE9-A91D-DACC48E061E4}"/>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31</a:t>
            </a:r>
          </a:p>
        </p:txBody>
      </p:sp>
      <p:sp>
        <p:nvSpPr>
          <p:cNvPr id="3" name="lead">
            <a:extLst xmlns:a="http://schemas.openxmlformats.org/drawingml/2006/main">
              <a:ext uri="{FF2B5EF4-FFF2-40B4-BE49-F238E27FC236}">
                <a16:creationId xmlns:a16="http://schemas.microsoft.com/office/drawing/2014/main" id="{56C624B9-FFEF-4831-87B9-F42A35944FE8}"/>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E(−1, 5) and F(6, 11). At the x-intercept, y = 0.</a:t>
            </a:r>
          </a:p>
        </p:txBody>
      </p:sp>
      <p:pic>
        <p:nvPicPr>
          <p:cNvPr id="4" name="equation-0" descr="LaTeX: \overrightarrow{EF}=[6-(-1),11-5]=[7,6]">
            <a:extLst xmlns:a="http://schemas.openxmlformats.org/drawingml/2006/main">
              <a:ext uri="{FF2B5EF4-FFF2-40B4-BE49-F238E27FC236}">
                <a16:creationId xmlns:a16="http://schemas.microsoft.com/office/drawing/2014/main" id="{CAF7D470-C119-4AE5-AE18-48DAD72BB6C5}"/>
              </a:ext>
            </a:extLst>
          </p:cNvPr>
          <p:cNvPicPr>
            <a:picLocks xmlns:a="http://schemas.openxmlformats.org/drawingml/2006/main" noChangeAspect="1"/>
          </p:cNvPicPr>
          <p:nvPr/>
        </p:nvPicPr>
        <p:blipFill>
          <a:blip xmlns:r="http://schemas.openxmlformats.org/officeDocument/2006/relationships" xmlns:a="http://schemas.openxmlformats.org/drawingml/2006/main" r:embed="R338d9318cecd4adc">
            <a:extLst>
              <a:ext uri="{96DAC541-7B7A-43D3-8B79-37D633B846F1}">
                <asvg:svgBlip xmlns:asvg="http://schemas.microsoft.com/office/drawing/2016/SVG/main" r:embed="R21d1d0bf226641fa"/>
              </a:ext>
            </a:extLst>
          </a:blip>
          <a:stretch xmlns:a="http://schemas.openxmlformats.org/drawingml/2006/main"/>
        </p:blipFill>
        <p:spPr>
          <a:xfrm xmlns:a="http://schemas.openxmlformats.org/drawingml/2006/main">
            <a:off x="685800" y="2333625"/>
            <a:ext cx="3267908" cy="350434"/>
          </a:xfrm>
          <a:prstGeom xmlns:a="http://schemas.openxmlformats.org/drawingml/2006/main" prst="rect">
            <a:avLst/>
          </a:prstGeom>
        </p:spPr>
      </p:pic>
      <p:pic>
        <p:nvPicPr>
          <p:cNvPr id="5" name="equation-1" descr="LaTeX: x=-1+7t,\qquad y=5+6t">
            <a:extLst xmlns:a="http://schemas.openxmlformats.org/drawingml/2006/main">
              <a:ext uri="{FF2B5EF4-FFF2-40B4-BE49-F238E27FC236}">
                <a16:creationId xmlns:a16="http://schemas.microsoft.com/office/drawing/2014/main" id="{AF5E82C3-26DE-4AD2-82E5-8B7D784DA42B}"/>
              </a:ext>
            </a:extLst>
          </p:cNvPr>
          <p:cNvPicPr>
            <a:picLocks xmlns:a="http://schemas.openxmlformats.org/drawingml/2006/main" noChangeAspect="1"/>
          </p:cNvPicPr>
          <p:nvPr/>
        </p:nvPicPr>
        <p:blipFill>
          <a:blip xmlns:r="http://schemas.openxmlformats.org/officeDocument/2006/relationships" xmlns:a="http://schemas.openxmlformats.org/drawingml/2006/main" r:embed="Rb938facd76b949dd">
            <a:extLst>
              <a:ext uri="{96DAC541-7B7A-43D3-8B79-37D633B846F1}">
                <asvg:svgBlip xmlns:asvg="http://schemas.microsoft.com/office/drawing/2016/SVG/main" r:embed="R91ace5c527544cf2"/>
              </a:ext>
            </a:extLst>
          </a:blip>
          <a:stretch xmlns:a="http://schemas.openxmlformats.org/drawingml/2006/main"/>
        </p:blipFill>
        <p:spPr>
          <a:xfrm xmlns:a="http://schemas.openxmlformats.org/drawingml/2006/main">
            <a:off x="685800" y="2950759"/>
            <a:ext cx="2878175" cy="236829"/>
          </a:xfrm>
          <a:prstGeom xmlns:a="http://schemas.openxmlformats.org/drawingml/2006/main" prst="rect">
            <a:avLst/>
          </a:prstGeom>
        </p:spPr>
      </p:pic>
      <p:pic>
        <p:nvPicPr>
          <p:cNvPr id="6" name="equation-2" descr="LaTeX: 0=5+6t\quad\Longrightarrow\quad-5=6t\quad\Longrightarrow\quad t=-\frac56">
            <a:extLst xmlns:a="http://schemas.openxmlformats.org/drawingml/2006/main">
              <a:ext uri="{FF2B5EF4-FFF2-40B4-BE49-F238E27FC236}">
                <a16:creationId xmlns:a16="http://schemas.microsoft.com/office/drawing/2014/main" id="{F8FB6CA5-8592-467E-A458-E373E6D2358F}"/>
              </a:ext>
            </a:extLst>
          </p:cNvPr>
          <p:cNvPicPr>
            <a:picLocks xmlns:a="http://schemas.openxmlformats.org/drawingml/2006/main" noChangeAspect="1"/>
          </p:cNvPicPr>
          <p:nvPr/>
        </p:nvPicPr>
        <p:blipFill>
          <a:blip xmlns:r="http://schemas.openxmlformats.org/officeDocument/2006/relationships" xmlns:a="http://schemas.openxmlformats.org/drawingml/2006/main" r:embed="R58765fee41704a56">
            <a:extLst>
              <a:ext uri="{96DAC541-7B7A-43D3-8B79-37D633B846F1}">
                <asvg:svgBlip xmlns:asvg="http://schemas.microsoft.com/office/drawing/2016/SVG/main" r:embed="R4b3aa3d03047407e"/>
              </a:ext>
            </a:extLst>
          </a:blip>
          <a:stretch xmlns:a="http://schemas.openxmlformats.org/drawingml/2006/main"/>
        </p:blipFill>
        <p:spPr>
          <a:xfrm xmlns:a="http://schemas.openxmlformats.org/drawingml/2006/main">
            <a:off x="685800" y="3454287"/>
            <a:ext cx="4556317" cy="525093"/>
          </a:xfrm>
          <a:prstGeom xmlns:a="http://schemas.openxmlformats.org/drawingml/2006/main" prst="rect">
            <a:avLst/>
          </a:prstGeom>
        </p:spPr>
      </p:pic>
      <p:pic>
        <p:nvPicPr>
          <p:cNvPr id="7" name="equation-3" descr="LaTeX: x=-1+7\left(-\frac56\right)=-\frac66-\frac{35}{6}=-\frac{41}{6}">
            <a:extLst xmlns:a="http://schemas.openxmlformats.org/drawingml/2006/main">
              <a:ext uri="{FF2B5EF4-FFF2-40B4-BE49-F238E27FC236}">
                <a16:creationId xmlns:a16="http://schemas.microsoft.com/office/drawing/2014/main" id="{28750B41-46B8-43D2-A083-D2FE8DE97136}"/>
              </a:ext>
            </a:extLst>
          </p:cNvPr>
          <p:cNvPicPr>
            <a:picLocks xmlns:a="http://schemas.openxmlformats.org/drawingml/2006/main" noChangeAspect="1"/>
          </p:cNvPicPr>
          <p:nvPr/>
        </p:nvPicPr>
        <p:blipFill>
          <a:blip xmlns:r="http://schemas.openxmlformats.org/officeDocument/2006/relationships" xmlns:a="http://schemas.openxmlformats.org/drawingml/2006/main" r:embed="R37edb2b5f7c64f2f">
            <a:extLst>
              <a:ext uri="{96DAC541-7B7A-43D3-8B79-37D633B846F1}">
                <asvg:svgBlip xmlns:asvg="http://schemas.microsoft.com/office/drawing/2016/SVG/main" r:embed="Rb878115e90db4346"/>
              </a:ext>
            </a:extLst>
          </a:blip>
          <a:stretch xmlns:a="http://schemas.openxmlformats.org/drawingml/2006/main"/>
        </p:blipFill>
        <p:spPr>
          <a:xfrm xmlns:a="http://schemas.openxmlformats.org/drawingml/2006/main">
            <a:off x="685800" y="4246081"/>
            <a:ext cx="3889690" cy="648735"/>
          </a:xfrm>
          <a:prstGeom xmlns:a="http://schemas.openxmlformats.org/drawingml/2006/main" prst="rect">
            <a:avLst/>
          </a:prstGeom>
        </p:spPr>
      </p:pic>
      <p:pic>
        <p:nvPicPr>
          <p:cNvPr id="8" name="equation-4" descr="LaTeX: \text{x-intercept}:\quad\left(-\frac{41}{6},0\right)">
            <a:extLst xmlns:a="http://schemas.openxmlformats.org/drawingml/2006/main">
              <a:ext uri="{FF2B5EF4-FFF2-40B4-BE49-F238E27FC236}">
                <a16:creationId xmlns:a16="http://schemas.microsoft.com/office/drawing/2014/main" id="{C5CFF692-9530-4C26-8C8F-44F27A1CD491}"/>
              </a:ext>
            </a:extLst>
          </p:cNvPr>
          <p:cNvPicPr>
            <a:picLocks xmlns:a="http://schemas.openxmlformats.org/drawingml/2006/main" noChangeAspect="1"/>
          </p:cNvPicPr>
          <p:nvPr/>
        </p:nvPicPr>
        <p:blipFill>
          <a:blip xmlns:r="http://schemas.openxmlformats.org/officeDocument/2006/relationships" xmlns:a="http://schemas.openxmlformats.org/drawingml/2006/main" r:embed="R1cd6d87f642943af">
            <a:extLst>
              <a:ext uri="{96DAC541-7B7A-43D3-8B79-37D633B846F1}">
                <asvg:svgBlip xmlns:asvg="http://schemas.microsoft.com/office/drawing/2016/SVG/main" r:embed="Reabcdd108b8f491a"/>
              </a:ext>
            </a:extLst>
          </a:blip>
          <a:stretch xmlns:a="http://schemas.openxmlformats.org/drawingml/2006/main"/>
        </p:blipFill>
        <p:spPr>
          <a:xfrm xmlns:a="http://schemas.openxmlformats.org/drawingml/2006/main">
            <a:off x="685800" y="5161515"/>
            <a:ext cx="2562639" cy="648735"/>
          </a:xfrm>
          <a:prstGeom xmlns:a="http://schemas.openxmlformats.org/drawingml/2006/main" prst="rect">
            <a:avLst/>
          </a:prstGeom>
        </p:spPr>
      </p:pic>
    </p:spTree>
    <p:extLst>
      <p:ext uri="{BB962C8B-B14F-4D97-AF65-F5344CB8AC3E}">
        <p14:creationId xmlns:p14="http://schemas.microsoft.com/office/powerpoint/2010/main" val="185951594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F35737B-9937-4796-BA22-EAB906C0698D}"/>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Equivalent vector equations</a:t>
            </a:r>
          </a:p>
        </p:txBody>
      </p:sp>
      <p:sp>
        <p:nvSpPr>
          <p:cNvPr id="2" name="page-number">
            <a:extLst xmlns:a="http://schemas.openxmlformats.org/drawingml/2006/main">
              <a:ext uri="{FF2B5EF4-FFF2-40B4-BE49-F238E27FC236}">
                <a16:creationId xmlns:a16="http://schemas.microsoft.com/office/drawing/2014/main" id="{84EEAE57-B04D-4294-9C56-16958E39487A}"/>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32</a:t>
            </a:r>
          </a:p>
        </p:txBody>
      </p:sp>
      <p:sp>
        <p:nvSpPr>
          <p:cNvPr id="3" name="lead">
            <a:extLst xmlns:a="http://schemas.openxmlformats.org/drawingml/2006/main">
              <a:ext uri="{FF2B5EF4-FFF2-40B4-BE49-F238E27FC236}">
                <a16:creationId xmlns:a16="http://schemas.microsoft.com/office/drawing/2014/main" id="{95C9F535-C51B-4DF7-8898-58DA53AA667B}"/>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Parallel directions and a shared point establish the same line.</a:t>
            </a:r>
          </a:p>
        </p:txBody>
      </p:sp>
      <p:pic>
        <p:nvPicPr>
          <p:cNvPr id="4" name="equation-0" descr="LaTeX: \vec r=[-1,5]+t[7,6]">
            <a:extLst xmlns:a="http://schemas.openxmlformats.org/drawingml/2006/main">
              <a:ext uri="{FF2B5EF4-FFF2-40B4-BE49-F238E27FC236}">
                <a16:creationId xmlns:a16="http://schemas.microsoft.com/office/drawing/2014/main" id="{75CFCB3A-B330-47B6-8E98-BEE3D75F92D6}"/>
              </a:ext>
            </a:extLst>
          </p:cNvPr>
          <p:cNvPicPr>
            <a:picLocks xmlns:a="http://schemas.openxmlformats.org/drawingml/2006/main" noChangeAspect="1"/>
          </p:cNvPicPr>
          <p:nvPr/>
        </p:nvPicPr>
        <p:blipFill>
          <a:blip xmlns:r="http://schemas.openxmlformats.org/officeDocument/2006/relationships" xmlns:a="http://schemas.openxmlformats.org/drawingml/2006/main" r:embed="Rf8d226772e024d31">
            <a:extLst>
              <a:ext uri="{96DAC541-7B7A-43D3-8B79-37D633B846F1}">
                <asvg:svgBlip xmlns:asvg="http://schemas.microsoft.com/office/drawing/2016/SVG/main" r:embed="R81a8aee14adf41a7"/>
              </a:ext>
            </a:extLst>
          </a:blip>
          <a:stretch xmlns:a="http://schemas.openxmlformats.org/drawingml/2006/main"/>
        </p:blipFill>
        <p:spPr>
          <a:xfrm xmlns:a="http://schemas.openxmlformats.org/drawingml/2006/main">
            <a:off x="685800" y="2333625"/>
            <a:ext cx="2273201" cy="323155"/>
          </a:xfrm>
          <a:prstGeom xmlns:a="http://schemas.openxmlformats.org/drawingml/2006/main" prst="rect">
            <a:avLst/>
          </a:prstGeom>
        </p:spPr>
      </p:pic>
      <p:pic>
        <p:nvPicPr>
          <p:cNvPr id="5" name="equation-1" descr="LaTeX: \vec r=[-15,-7]+s\left[\frac{14}{3},4\right]">
            <a:extLst xmlns:a="http://schemas.openxmlformats.org/drawingml/2006/main">
              <a:ext uri="{FF2B5EF4-FFF2-40B4-BE49-F238E27FC236}">
                <a16:creationId xmlns:a16="http://schemas.microsoft.com/office/drawing/2014/main" id="{4501EB33-4D23-4FE5-9BBF-E98A0F5DB687}"/>
              </a:ext>
            </a:extLst>
          </p:cNvPr>
          <p:cNvPicPr>
            <a:picLocks xmlns:a="http://schemas.openxmlformats.org/drawingml/2006/main" noChangeAspect="1"/>
          </p:cNvPicPr>
          <p:nvPr/>
        </p:nvPicPr>
        <p:blipFill>
          <a:blip xmlns:r="http://schemas.openxmlformats.org/officeDocument/2006/relationships" xmlns:a="http://schemas.openxmlformats.org/drawingml/2006/main" r:embed="R6f533e8c0e3b4018">
            <a:extLst>
              <a:ext uri="{96DAC541-7B7A-43D3-8B79-37D633B846F1}">
                <asvg:svgBlip xmlns:asvg="http://schemas.microsoft.com/office/drawing/2016/SVG/main" r:embed="R4a4d669cd58d4aa0"/>
              </a:ext>
            </a:extLst>
          </a:blip>
          <a:stretch xmlns:a="http://schemas.openxmlformats.org/drawingml/2006/main"/>
        </p:blipFill>
        <p:spPr>
          <a:xfrm xmlns:a="http://schemas.openxmlformats.org/drawingml/2006/main">
            <a:off x="685800" y="2923480"/>
            <a:ext cx="3044238" cy="759221"/>
          </a:xfrm>
          <a:prstGeom xmlns:a="http://schemas.openxmlformats.org/drawingml/2006/main" prst="rect">
            <a:avLst/>
          </a:prstGeom>
        </p:spPr>
      </p:pic>
      <p:pic>
        <p:nvPicPr>
          <p:cNvPr id="6" name="equation-2" descr="LaTeX: \left[\frac{14}{3},4\right]=\frac23[7,6]">
            <a:extLst xmlns:a="http://schemas.openxmlformats.org/drawingml/2006/main">
              <a:ext uri="{FF2B5EF4-FFF2-40B4-BE49-F238E27FC236}">
                <a16:creationId xmlns:a16="http://schemas.microsoft.com/office/drawing/2014/main" id="{83683D2C-7C2D-4539-8A6D-9D27E5C6832D}"/>
              </a:ext>
            </a:extLst>
          </p:cNvPr>
          <p:cNvPicPr>
            <a:picLocks xmlns:a="http://schemas.openxmlformats.org/drawingml/2006/main" noChangeAspect="1"/>
          </p:cNvPicPr>
          <p:nvPr/>
        </p:nvPicPr>
        <p:blipFill>
          <a:blip xmlns:r="http://schemas.openxmlformats.org/officeDocument/2006/relationships" xmlns:a="http://schemas.openxmlformats.org/drawingml/2006/main" r:embed="R62b26953193f4aa2">
            <a:extLst>
              <a:ext uri="{96DAC541-7B7A-43D3-8B79-37D633B846F1}">
                <asvg:svgBlip xmlns:asvg="http://schemas.microsoft.com/office/drawing/2016/SVG/main" r:embed="R6eda78466f194954"/>
              </a:ext>
            </a:extLst>
          </a:blip>
          <a:stretch xmlns:a="http://schemas.openxmlformats.org/drawingml/2006/main"/>
        </p:blipFill>
        <p:spPr>
          <a:xfrm xmlns:a="http://schemas.openxmlformats.org/drawingml/2006/main">
            <a:off x="685800" y="3949401"/>
            <a:ext cx="1969878" cy="759221"/>
          </a:xfrm>
          <a:prstGeom xmlns:a="http://schemas.openxmlformats.org/drawingml/2006/main" prst="rect">
            <a:avLst/>
          </a:prstGeom>
        </p:spPr>
      </p:pic>
      <p:pic>
        <p:nvPicPr>
          <p:cNvPr id="7" name="equation-3" descr="LaTeX: -1+7t=-15\quad\Longrightarrow\quad t=-2">
            <a:extLst xmlns:a="http://schemas.openxmlformats.org/drawingml/2006/main">
              <a:ext uri="{FF2B5EF4-FFF2-40B4-BE49-F238E27FC236}">
                <a16:creationId xmlns:a16="http://schemas.microsoft.com/office/drawing/2014/main" id="{40874674-5382-4A3D-8F9C-78C1B4FD8124}"/>
              </a:ext>
            </a:extLst>
          </p:cNvPr>
          <p:cNvPicPr>
            <a:picLocks xmlns:a="http://schemas.openxmlformats.org/drawingml/2006/main" noChangeAspect="1"/>
          </p:cNvPicPr>
          <p:nvPr/>
        </p:nvPicPr>
        <p:blipFill>
          <a:blip xmlns:r="http://schemas.openxmlformats.org/officeDocument/2006/relationships" xmlns:a="http://schemas.openxmlformats.org/drawingml/2006/main" r:embed="Rda74a2e5411648df">
            <a:extLst>
              <a:ext uri="{96DAC541-7B7A-43D3-8B79-37D633B846F1}">
                <asvg:svgBlip xmlns:asvg="http://schemas.microsoft.com/office/drawing/2016/SVG/main" r:embed="R3bc8968ed8e04837"/>
              </a:ext>
            </a:extLst>
          </a:blip>
          <a:stretch xmlns:a="http://schemas.openxmlformats.org/drawingml/2006/main"/>
        </p:blipFill>
        <p:spPr>
          <a:xfrm xmlns:a="http://schemas.openxmlformats.org/drawingml/2006/main">
            <a:off x="685800" y="4975323"/>
            <a:ext cx="3787239" cy="245072"/>
          </a:xfrm>
          <a:prstGeom xmlns:a="http://schemas.openxmlformats.org/drawingml/2006/main" prst="rect">
            <a:avLst/>
          </a:prstGeom>
        </p:spPr>
      </p:pic>
      <p:pic>
        <p:nvPicPr>
          <p:cNvPr id="8" name="equation-4" descr="LaTeX: [-1,5]-2[7,6]=[-15,-7]\quad\Longrightarrow\quad\text{same line}">
            <a:extLst xmlns:a="http://schemas.openxmlformats.org/drawingml/2006/main">
              <a:ext uri="{FF2B5EF4-FFF2-40B4-BE49-F238E27FC236}">
                <a16:creationId xmlns:a16="http://schemas.microsoft.com/office/drawing/2014/main" id="{AF274D6B-C867-4EC1-977D-04A25E499DA6}"/>
              </a:ext>
            </a:extLst>
          </p:cNvPr>
          <p:cNvPicPr>
            <a:picLocks xmlns:a="http://schemas.openxmlformats.org/drawingml/2006/main" noChangeAspect="1"/>
          </p:cNvPicPr>
          <p:nvPr/>
        </p:nvPicPr>
        <p:blipFill>
          <a:blip xmlns:r="http://schemas.openxmlformats.org/officeDocument/2006/relationships" xmlns:a="http://schemas.openxmlformats.org/drawingml/2006/main" r:embed="R290e8322849a4cfc">
            <a:extLst>
              <a:ext uri="{96DAC541-7B7A-43D3-8B79-37D633B846F1}">
                <asvg:svgBlip xmlns:asvg="http://schemas.microsoft.com/office/drawing/2016/SVG/main" r:embed="R0b710db137264ed7"/>
              </a:ext>
            </a:extLst>
          </a:blip>
          <a:stretch xmlns:a="http://schemas.openxmlformats.org/drawingml/2006/main"/>
        </p:blipFill>
        <p:spPr>
          <a:xfrm xmlns:a="http://schemas.openxmlformats.org/drawingml/2006/main">
            <a:off x="685800" y="5487095"/>
            <a:ext cx="5514399" cy="323155"/>
          </a:xfrm>
          <a:prstGeom xmlns:a="http://schemas.openxmlformats.org/drawingml/2006/main" prst="rect">
            <a:avLst/>
          </a:prstGeom>
        </p:spPr>
      </p:pic>
    </p:spTree>
    <p:extLst>
      <p:ext uri="{BB962C8B-B14F-4D97-AF65-F5344CB8AC3E}">
        <p14:creationId xmlns:p14="http://schemas.microsoft.com/office/powerpoint/2010/main" val="72991619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EB21BD9-0B21-4BB2-A8CE-BEE4EC1129F6}"/>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Coincident lines in space</a:t>
            </a:r>
          </a:p>
        </p:txBody>
      </p:sp>
      <p:sp>
        <p:nvSpPr>
          <p:cNvPr id="2" name="page-number">
            <a:extLst xmlns:a="http://schemas.openxmlformats.org/drawingml/2006/main">
              <a:ext uri="{FF2B5EF4-FFF2-40B4-BE49-F238E27FC236}">
                <a16:creationId xmlns:a16="http://schemas.microsoft.com/office/drawing/2014/main" id="{84A420F5-CC79-4F0E-8797-3169728DF223}"/>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33</a:t>
            </a:r>
          </a:p>
        </p:txBody>
      </p:sp>
      <p:sp>
        <p:nvSpPr>
          <p:cNvPr id="3" name="lead">
            <a:extLst xmlns:a="http://schemas.openxmlformats.org/drawingml/2006/main">
              <a:ext uri="{FF2B5EF4-FFF2-40B4-BE49-F238E27FC236}">
                <a16:creationId xmlns:a16="http://schemas.microsoft.com/office/drawing/2014/main" id="{07D0CC68-1555-4880-A72A-FBD35D332E37}"/>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Compare directions and test an anchor using one parameter.</a:t>
            </a:r>
          </a:p>
        </p:txBody>
      </p:sp>
      <p:pic>
        <p:nvPicPr>
          <p:cNvPr id="4" name="equation-0" descr="LaTeX: L_1:\vec r=[-1,0,4]+s[-1,2,5]">
            <a:extLst xmlns:a="http://schemas.openxmlformats.org/drawingml/2006/main">
              <a:ext uri="{FF2B5EF4-FFF2-40B4-BE49-F238E27FC236}">
                <a16:creationId xmlns:a16="http://schemas.microsoft.com/office/drawing/2014/main" id="{3D3E3D58-D75C-4796-B275-A7FF0754106E}"/>
              </a:ext>
            </a:extLst>
          </p:cNvPr>
          <p:cNvPicPr>
            <a:picLocks xmlns:a="http://schemas.openxmlformats.org/drawingml/2006/main" noChangeAspect="1"/>
          </p:cNvPicPr>
          <p:nvPr/>
        </p:nvPicPr>
        <p:blipFill>
          <a:blip xmlns:r="http://schemas.openxmlformats.org/officeDocument/2006/relationships" xmlns:a="http://schemas.openxmlformats.org/drawingml/2006/main" r:embed="R932d48fc50ae4124">
            <a:extLst>
              <a:ext uri="{96DAC541-7B7A-43D3-8B79-37D633B846F1}">
                <asvg:svgBlip xmlns:asvg="http://schemas.microsoft.com/office/drawing/2016/SVG/main" r:embed="Rdaa9752850504ef7"/>
              </a:ext>
            </a:extLst>
          </a:blip>
          <a:stretch xmlns:a="http://schemas.openxmlformats.org/drawingml/2006/main"/>
        </p:blipFill>
        <p:spPr>
          <a:xfrm xmlns:a="http://schemas.openxmlformats.org/drawingml/2006/main">
            <a:off x="685800" y="2499131"/>
            <a:ext cx="4826337" cy="436875"/>
          </a:xfrm>
          <a:prstGeom xmlns:a="http://schemas.openxmlformats.org/drawingml/2006/main" prst="rect">
            <a:avLst/>
          </a:prstGeom>
        </p:spPr>
      </p:pic>
      <p:pic>
        <p:nvPicPr>
          <p:cNvPr id="5" name="equation-1" descr="LaTeX: L_2:\vec r=[4,-10,-21]+u[-2,4,10]">
            <a:extLst xmlns:a="http://schemas.openxmlformats.org/drawingml/2006/main">
              <a:ext uri="{FF2B5EF4-FFF2-40B4-BE49-F238E27FC236}">
                <a16:creationId xmlns:a16="http://schemas.microsoft.com/office/drawing/2014/main" id="{57D7AFEE-A49E-4FF6-834B-8DBD2E8ADAB1}"/>
              </a:ext>
            </a:extLst>
          </p:cNvPr>
          <p:cNvPicPr>
            <a:picLocks xmlns:a="http://schemas.openxmlformats.org/drawingml/2006/main" noChangeAspect="1"/>
          </p:cNvPicPr>
          <p:nvPr/>
        </p:nvPicPr>
        <p:blipFill>
          <a:blip xmlns:r="http://schemas.openxmlformats.org/officeDocument/2006/relationships" xmlns:a="http://schemas.openxmlformats.org/drawingml/2006/main" r:embed="Rdd58f7c4e96a4c35">
            <a:extLst>
              <a:ext uri="{96DAC541-7B7A-43D3-8B79-37D633B846F1}">
                <asvg:svgBlip xmlns:asvg="http://schemas.microsoft.com/office/drawing/2016/SVG/main" r:embed="R86aa45bc897a4faf"/>
              </a:ext>
            </a:extLst>
          </a:blip>
          <a:stretch xmlns:a="http://schemas.openxmlformats.org/drawingml/2006/main"/>
        </p:blipFill>
        <p:spPr>
          <a:xfrm xmlns:a="http://schemas.openxmlformats.org/drawingml/2006/main">
            <a:off x="685800" y="3202705"/>
            <a:ext cx="5704765" cy="436875"/>
          </a:xfrm>
          <a:prstGeom xmlns:a="http://schemas.openxmlformats.org/drawingml/2006/main" prst="rect">
            <a:avLst/>
          </a:prstGeom>
        </p:spPr>
      </p:pic>
      <p:pic>
        <p:nvPicPr>
          <p:cNvPr id="6" name="equation-2" descr="LaTeX: [-2,4,10]=2[-1,2,5]">
            <a:extLst xmlns:a="http://schemas.openxmlformats.org/drawingml/2006/main">
              <a:ext uri="{FF2B5EF4-FFF2-40B4-BE49-F238E27FC236}">
                <a16:creationId xmlns:a16="http://schemas.microsoft.com/office/drawing/2014/main" id="{70D3139F-C51A-4F03-8EE3-D589DE206B84}"/>
              </a:ext>
            </a:extLst>
          </p:cNvPr>
          <p:cNvPicPr>
            <a:picLocks xmlns:a="http://schemas.openxmlformats.org/drawingml/2006/main" noChangeAspect="1"/>
          </p:cNvPicPr>
          <p:nvPr/>
        </p:nvPicPr>
        <p:blipFill>
          <a:blip xmlns:r="http://schemas.openxmlformats.org/officeDocument/2006/relationships" xmlns:a="http://schemas.openxmlformats.org/drawingml/2006/main" r:embed="Ra3007fa6eca24a05">
            <a:extLst>
              <a:ext uri="{96DAC541-7B7A-43D3-8B79-37D633B846F1}">
                <asvg:svgBlip xmlns:asvg="http://schemas.microsoft.com/office/drawing/2016/SVG/main" r:embed="R636ca86bd50349fa"/>
              </a:ext>
            </a:extLst>
          </a:blip>
          <a:stretch xmlns:a="http://schemas.openxmlformats.org/drawingml/2006/main"/>
        </p:blipFill>
        <p:spPr>
          <a:xfrm xmlns:a="http://schemas.openxmlformats.org/drawingml/2006/main">
            <a:off x="685800" y="3906280"/>
            <a:ext cx="3660104" cy="436875"/>
          </a:xfrm>
          <a:prstGeom xmlns:a="http://schemas.openxmlformats.org/drawingml/2006/main" prst="rect">
            <a:avLst/>
          </a:prstGeom>
        </p:spPr>
      </p:pic>
      <p:pic>
        <p:nvPicPr>
          <p:cNvPr id="7" name="equation-3" descr="LaTeX: -1-s=4\quad\Longrightarrow\quad s=-5">
            <a:extLst xmlns:a="http://schemas.openxmlformats.org/drawingml/2006/main">
              <a:ext uri="{FF2B5EF4-FFF2-40B4-BE49-F238E27FC236}">
                <a16:creationId xmlns:a16="http://schemas.microsoft.com/office/drawing/2014/main" id="{B10FD8C9-ACA8-4149-8255-6F1D74F2FF73}"/>
              </a:ext>
            </a:extLst>
          </p:cNvPr>
          <p:cNvPicPr>
            <a:picLocks xmlns:a="http://schemas.openxmlformats.org/drawingml/2006/main" noChangeAspect="1"/>
          </p:cNvPicPr>
          <p:nvPr/>
        </p:nvPicPr>
        <p:blipFill>
          <a:blip xmlns:r="http://schemas.openxmlformats.org/officeDocument/2006/relationships" xmlns:a="http://schemas.openxmlformats.org/drawingml/2006/main" r:embed="R3f9ec383e83b4d18">
            <a:extLst>
              <a:ext uri="{96DAC541-7B7A-43D3-8B79-37D633B846F1}">
                <asvg:svgBlip xmlns:asvg="http://schemas.microsoft.com/office/drawing/2016/SVG/main" r:embed="R2158cebc5fb3418a"/>
              </a:ext>
            </a:extLst>
          </a:blip>
          <a:stretch xmlns:a="http://schemas.openxmlformats.org/drawingml/2006/main"/>
        </p:blipFill>
        <p:spPr>
          <a:xfrm xmlns:a="http://schemas.openxmlformats.org/drawingml/2006/main">
            <a:off x="685800" y="4609855"/>
            <a:ext cx="4564824" cy="331315"/>
          </a:xfrm>
          <a:prstGeom xmlns:a="http://schemas.openxmlformats.org/drawingml/2006/main" prst="rect">
            <a:avLst/>
          </a:prstGeom>
        </p:spPr>
      </p:pic>
      <p:pic>
        <p:nvPicPr>
          <p:cNvPr id="8" name="equation-4" descr="LaTeX: [-1,0,4]-5[-1,2,5]=[4,-10,-21]\quad\Longrightarrow\quad L_1=L_2">
            <a:extLst xmlns:a="http://schemas.openxmlformats.org/drawingml/2006/main">
              <a:ext uri="{FF2B5EF4-FFF2-40B4-BE49-F238E27FC236}">
                <a16:creationId xmlns:a16="http://schemas.microsoft.com/office/drawing/2014/main" id="{5962AA27-154F-4E25-A3A6-3F1CFD9B6617}"/>
              </a:ext>
            </a:extLst>
          </p:cNvPr>
          <p:cNvPicPr>
            <a:picLocks xmlns:a="http://schemas.openxmlformats.org/drawingml/2006/main" noChangeAspect="1"/>
          </p:cNvPicPr>
          <p:nvPr/>
        </p:nvPicPr>
        <p:blipFill>
          <a:blip xmlns:r="http://schemas.openxmlformats.org/officeDocument/2006/relationships" xmlns:a="http://schemas.openxmlformats.org/drawingml/2006/main" r:embed="R427d78ac0783424a">
            <a:extLst>
              <a:ext uri="{96DAC541-7B7A-43D3-8B79-37D633B846F1}">
                <asvg:svgBlip xmlns:asvg="http://schemas.microsoft.com/office/drawing/2016/SVG/main" r:embed="Rce6f2b93755b4525"/>
              </a:ext>
            </a:extLst>
          </a:blip>
          <a:stretch xmlns:a="http://schemas.openxmlformats.org/drawingml/2006/main"/>
        </p:blipFill>
        <p:spPr>
          <a:xfrm xmlns:a="http://schemas.openxmlformats.org/drawingml/2006/main">
            <a:off x="685800" y="5207870"/>
            <a:ext cx="8820954" cy="436875"/>
          </a:xfrm>
          <a:prstGeom xmlns:a="http://schemas.openxmlformats.org/drawingml/2006/main" prst="rect">
            <a:avLst/>
          </a:prstGeom>
        </p:spPr>
      </p:pic>
    </p:spTree>
    <p:extLst>
      <p:ext uri="{BB962C8B-B14F-4D97-AF65-F5344CB8AC3E}">
        <p14:creationId xmlns:p14="http://schemas.microsoft.com/office/powerpoint/2010/main" val="205449014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ABB22CE-0F9C-4B91-A6F0-79FBB63923EA}"/>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4  Same line or separate</a:t>
            </a:r>
          </a:p>
        </p:txBody>
      </p:sp>
      <p:sp>
        <p:nvSpPr>
          <p:cNvPr id="2" name="page-number">
            <a:extLst xmlns:a="http://schemas.openxmlformats.org/drawingml/2006/main">
              <a:ext uri="{FF2B5EF4-FFF2-40B4-BE49-F238E27FC236}">
                <a16:creationId xmlns:a16="http://schemas.microsoft.com/office/drawing/2014/main" id="{310FFAF4-E7CD-46F0-B87F-803439484BAF}"/>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34</a:t>
            </a:r>
          </a:p>
        </p:txBody>
      </p:sp>
      <p:sp>
        <p:nvSpPr>
          <p:cNvPr id="3" name="lead">
            <a:extLst xmlns:a="http://schemas.openxmlformats.org/drawingml/2006/main">
              <a:ext uri="{FF2B5EF4-FFF2-40B4-BE49-F238E27FC236}">
                <a16:creationId xmlns:a16="http://schemas.microsoft.com/office/drawing/2014/main" id="{335E8C0A-C717-48AD-9685-DD01675C976F}"/>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Determine the relationship. Explain both checks.</a:t>
            </a:r>
          </a:p>
        </p:txBody>
      </p:sp>
      <p:pic>
        <p:nvPicPr>
          <p:cNvPr id="4" name="equation-0" descr="LaTeX: L_3:\vec r=[1,6,1]+t[-1,1,2]">
            <a:extLst xmlns:a="http://schemas.openxmlformats.org/drawingml/2006/main">
              <a:ext uri="{FF2B5EF4-FFF2-40B4-BE49-F238E27FC236}">
                <a16:creationId xmlns:a16="http://schemas.microsoft.com/office/drawing/2014/main" id="{EE2EDC40-7E0B-40AE-BEA4-47B605F63B28}"/>
              </a:ext>
            </a:extLst>
          </p:cNvPr>
          <p:cNvPicPr>
            <a:picLocks xmlns:a="http://schemas.openxmlformats.org/drawingml/2006/main" noChangeAspect="1"/>
          </p:cNvPicPr>
          <p:nvPr/>
        </p:nvPicPr>
        <p:blipFill>
          <a:blip xmlns:r="http://schemas.openxmlformats.org/officeDocument/2006/relationships" xmlns:a="http://schemas.openxmlformats.org/drawingml/2006/main" r:embed="Rfe95abb6fef64949">
            <a:extLst>
              <a:ext uri="{96DAC541-7B7A-43D3-8B79-37D633B846F1}">
                <asvg:svgBlip xmlns:asvg="http://schemas.microsoft.com/office/drawing/2016/SVG/main" r:embed="Rc3887b6f122c4064"/>
              </a:ext>
            </a:extLst>
          </a:blip>
          <a:stretch xmlns:a="http://schemas.openxmlformats.org/drawingml/2006/main"/>
        </p:blipFill>
        <p:spPr>
          <a:xfrm xmlns:a="http://schemas.openxmlformats.org/drawingml/2006/main">
            <a:off x="685800" y="2571750"/>
            <a:ext cx="4480609" cy="436875"/>
          </a:xfrm>
          <a:prstGeom xmlns:a="http://schemas.openxmlformats.org/drawingml/2006/main" prst="rect">
            <a:avLst/>
          </a:prstGeom>
        </p:spPr>
      </p:pic>
      <p:pic>
        <p:nvPicPr>
          <p:cNvPr id="5" name="equation-1" descr="LaTeX: L_4:\vec r=[-3,10,12]+k\left[\frac12,-\frac12,-1\right]">
            <a:extLst xmlns:a="http://schemas.openxmlformats.org/drawingml/2006/main">
              <a:ext uri="{FF2B5EF4-FFF2-40B4-BE49-F238E27FC236}">
                <a16:creationId xmlns:a16="http://schemas.microsoft.com/office/drawing/2014/main" id="{001F49DB-2ECD-4CEC-A166-048486A35AEF}"/>
              </a:ext>
            </a:extLst>
          </p:cNvPr>
          <p:cNvPicPr>
            <a:picLocks xmlns:a="http://schemas.openxmlformats.org/drawingml/2006/main" noChangeAspect="1"/>
          </p:cNvPicPr>
          <p:nvPr/>
        </p:nvPicPr>
        <p:blipFill>
          <a:blip xmlns:r="http://schemas.openxmlformats.org/officeDocument/2006/relationships" xmlns:a="http://schemas.openxmlformats.org/drawingml/2006/main" r:embed="R75d8a616d7974195">
            <a:extLst>
              <a:ext uri="{96DAC541-7B7A-43D3-8B79-37D633B846F1}">
                <asvg:svgBlip xmlns:asvg="http://schemas.microsoft.com/office/drawing/2016/SVG/main" r:embed="Rb767b13fff3842c0"/>
              </a:ext>
            </a:extLst>
          </a:blip>
          <a:stretch xmlns:a="http://schemas.openxmlformats.org/drawingml/2006/main"/>
        </p:blipFill>
        <p:spPr>
          <a:xfrm xmlns:a="http://schemas.openxmlformats.org/drawingml/2006/main">
            <a:off x="685800" y="3275325"/>
            <a:ext cx="5896210" cy="1026395"/>
          </a:xfrm>
          <a:prstGeom xmlns:a="http://schemas.openxmlformats.org/drawingml/2006/main" prst="rect">
            <a:avLst/>
          </a:prstGeom>
        </p:spPr>
      </p:pic>
      <p:sp>
        <p:nvSpPr>
          <p:cNvPr id="6" name="working-prompt-0">
            <a:extLst xmlns:a="http://schemas.openxmlformats.org/drawingml/2006/main">
              <a:ext uri="{FF2B5EF4-FFF2-40B4-BE49-F238E27FC236}">
                <a16:creationId xmlns:a16="http://schemas.microsoft.com/office/drawing/2014/main" id="{64ACE780-214A-4693-B9B8-BA88E50E1DA3}"/>
              </a:ext>
            </a:extLst>
          </p:cNvPr>
          <p:cNvSpPr>
            <a:spLocks xmlns:a="http://schemas.openxmlformats.org/drawingml/2006/main" noGrp="1"/>
          </p:cNvSpPr>
          <p:nvPr/>
        </p:nvSpPr>
        <p:spPr>
          <a:xfrm xmlns:a="http://schemas.openxmlformats.org/drawingml/2006/main">
            <a:off x="685800" y="41814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1  Compare the direction vectors</a:t>
            </a:r>
          </a:p>
        </p:txBody>
      </p:sp>
      <p:sp>
        <p:nvSpPr>
          <p:cNvPr id="7" name="working-prompt-1">
            <a:extLst xmlns:a="http://schemas.openxmlformats.org/drawingml/2006/main">
              <a:ext uri="{FF2B5EF4-FFF2-40B4-BE49-F238E27FC236}">
                <a16:creationId xmlns:a16="http://schemas.microsoft.com/office/drawing/2014/main" id="{8A2E4AE4-8CE3-40BB-93FB-C9E3072F77D8}"/>
              </a:ext>
            </a:extLst>
          </p:cNvPr>
          <p:cNvSpPr>
            <a:spLocks xmlns:a="http://schemas.openxmlformats.org/drawingml/2006/main" noGrp="1"/>
          </p:cNvSpPr>
          <p:nvPr/>
        </p:nvSpPr>
        <p:spPr>
          <a:xfrm xmlns:a="http://schemas.openxmlformats.org/drawingml/2006/main">
            <a:off x="685800" y="47244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2  Test one anchor in all three coordinates</a:t>
            </a:r>
          </a:p>
        </p:txBody>
      </p:sp>
      <p:sp>
        <p:nvSpPr>
          <p:cNvPr id="8" name="practice-pause">
            <a:extLst xmlns:a="http://schemas.openxmlformats.org/drawingml/2006/main">
              <a:ext uri="{FF2B5EF4-FFF2-40B4-BE49-F238E27FC236}">
                <a16:creationId xmlns:a16="http://schemas.microsoft.com/office/drawing/2014/main" id="{A9D67D20-0A43-4444-9C8B-21C8D57EA3A6}"/>
              </a:ext>
            </a:extLst>
          </p:cNvPr>
          <p:cNvSpPr>
            <a:spLocks xmlns:a="http://schemas.openxmlformats.org/drawingml/2006/main" noGrp="1"/>
          </p:cNvSpPr>
          <p:nvPr/>
        </p:nvSpPr>
        <p:spPr>
          <a:xfrm xmlns:a="http://schemas.openxmlformats.org/drawingml/2006/main">
            <a:off x="685800" y="5667375"/>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76532845"/>
      </p:ext>
    </p:extLst>
  </p:cSld>
  <p:transition spd="med" advClick="1">
    <p:fade/>
  </p:transition>
</p:sld>
</file>

<file path=ppt/slides/slide3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2CD7674-49EE-442F-AF85-D7EF8ABF1D6B}"/>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4  Solution</a:t>
            </a:r>
          </a:p>
        </p:txBody>
      </p:sp>
      <p:sp>
        <p:nvSpPr>
          <p:cNvPr id="2" name="page-number">
            <a:extLst xmlns:a="http://schemas.openxmlformats.org/drawingml/2006/main">
              <a:ext uri="{FF2B5EF4-FFF2-40B4-BE49-F238E27FC236}">
                <a16:creationId xmlns:a16="http://schemas.microsoft.com/office/drawing/2014/main" id="{DDE2B549-DF48-4FE8-9985-2B907FE10B0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35</a:t>
            </a:r>
          </a:p>
        </p:txBody>
      </p:sp>
      <p:sp>
        <p:nvSpPr>
          <p:cNvPr id="3" name="lead">
            <a:extLst xmlns:a="http://schemas.openxmlformats.org/drawingml/2006/main">
              <a:ext uri="{FF2B5EF4-FFF2-40B4-BE49-F238E27FC236}">
                <a16:creationId xmlns:a16="http://schemas.microsoft.com/office/drawing/2014/main" id="{840F88CD-4890-4D06-8557-2B481BEB0523}"/>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directions are parallel, but the anchor fails the z-coordinate test.</a:t>
            </a:r>
          </a:p>
        </p:txBody>
      </p:sp>
      <p:pic>
        <p:nvPicPr>
          <p:cNvPr id="4" name="equation-0" descr="LaTeX: \left[\frac12,-\frac12,-1\right]=-\frac12[-1,1,2]">
            <a:extLst xmlns:a="http://schemas.openxmlformats.org/drawingml/2006/main">
              <a:ext uri="{FF2B5EF4-FFF2-40B4-BE49-F238E27FC236}">
                <a16:creationId xmlns:a16="http://schemas.microsoft.com/office/drawing/2014/main" id="{A2B0C987-F1C7-4672-B7E2-EE05A518F97A}"/>
              </a:ext>
            </a:extLst>
          </p:cNvPr>
          <p:cNvPicPr>
            <a:picLocks xmlns:a="http://schemas.openxmlformats.org/drawingml/2006/main" noChangeAspect="1"/>
          </p:cNvPicPr>
          <p:nvPr/>
        </p:nvPicPr>
        <p:blipFill>
          <a:blip xmlns:r="http://schemas.openxmlformats.org/officeDocument/2006/relationships" xmlns:a="http://schemas.openxmlformats.org/drawingml/2006/main" r:embed="R37c222acfc4a4e37">
            <a:extLst>
              <a:ext uri="{96DAC541-7B7A-43D3-8B79-37D633B846F1}">
                <asvg:svgBlip xmlns:asvg="http://schemas.microsoft.com/office/drawing/2016/SVG/main" r:embed="Reb6c92365d074c74"/>
              </a:ext>
            </a:extLst>
          </a:blip>
          <a:stretch xmlns:a="http://schemas.openxmlformats.org/drawingml/2006/main"/>
        </p:blipFill>
        <p:spPr>
          <a:xfrm xmlns:a="http://schemas.openxmlformats.org/drawingml/2006/main">
            <a:off x="685800" y="2333625"/>
            <a:ext cx="4072472" cy="942029"/>
          </a:xfrm>
          <a:prstGeom xmlns:a="http://schemas.openxmlformats.org/drawingml/2006/main" prst="rect">
            <a:avLst/>
          </a:prstGeom>
        </p:spPr>
      </p:pic>
      <p:pic>
        <p:nvPicPr>
          <p:cNvPr id="5" name="equation-1" descr="LaTeX: 1-t=-3\quad\Longrightarrow\quad t=4">
            <a:extLst xmlns:a="http://schemas.openxmlformats.org/drawingml/2006/main">
              <a:ext uri="{FF2B5EF4-FFF2-40B4-BE49-F238E27FC236}">
                <a16:creationId xmlns:a16="http://schemas.microsoft.com/office/drawing/2014/main" id="{A4EFFAFA-7F1A-424A-8AB7-7A22843BF165}"/>
              </a:ext>
            </a:extLst>
          </p:cNvPr>
          <p:cNvPicPr>
            <a:picLocks xmlns:a="http://schemas.openxmlformats.org/drawingml/2006/main" noChangeAspect="1"/>
          </p:cNvPicPr>
          <p:nvPr/>
        </p:nvPicPr>
        <p:blipFill>
          <a:blip xmlns:r="http://schemas.openxmlformats.org/officeDocument/2006/relationships" xmlns:a="http://schemas.openxmlformats.org/drawingml/2006/main" r:embed="Rc1236848c9eb496b">
            <a:extLst>
              <a:ext uri="{96DAC541-7B7A-43D3-8B79-37D633B846F1}">
                <asvg:svgBlip xmlns:asvg="http://schemas.microsoft.com/office/drawing/2016/SVG/main" r:embed="Rc0afa35db8c04355"/>
              </a:ext>
            </a:extLst>
          </a:blip>
          <a:stretch xmlns:a="http://schemas.openxmlformats.org/drawingml/2006/main"/>
        </p:blipFill>
        <p:spPr>
          <a:xfrm xmlns:a="http://schemas.openxmlformats.org/drawingml/2006/main">
            <a:off x="685800" y="3542354"/>
            <a:ext cx="3833726" cy="304082"/>
          </a:xfrm>
          <a:prstGeom xmlns:a="http://schemas.openxmlformats.org/drawingml/2006/main" prst="rect">
            <a:avLst/>
          </a:prstGeom>
        </p:spPr>
      </p:pic>
      <p:pic>
        <p:nvPicPr>
          <p:cNvPr id="6" name="equation-2" descr="LaTeX: y=6+4=10,\qquad z=1+2(4)=9">
            <a:extLst xmlns:a="http://schemas.openxmlformats.org/drawingml/2006/main">
              <a:ext uri="{FF2B5EF4-FFF2-40B4-BE49-F238E27FC236}">
                <a16:creationId xmlns:a16="http://schemas.microsoft.com/office/drawing/2014/main" id="{50F92ADB-37CD-476F-8AA0-181165C7126B}"/>
              </a:ext>
            </a:extLst>
          </p:cNvPr>
          <p:cNvPicPr>
            <a:picLocks xmlns:a="http://schemas.openxmlformats.org/drawingml/2006/main" noChangeAspect="1"/>
          </p:cNvPicPr>
          <p:nvPr/>
        </p:nvPicPr>
        <p:blipFill>
          <a:blip xmlns:r="http://schemas.openxmlformats.org/officeDocument/2006/relationships" xmlns:a="http://schemas.openxmlformats.org/drawingml/2006/main" r:embed="R27b79ce7a69941b9">
            <a:extLst>
              <a:ext uri="{96DAC541-7B7A-43D3-8B79-37D633B846F1}">
                <asvg:svgBlip xmlns:asvg="http://schemas.microsoft.com/office/drawing/2016/SVG/main" r:embed="R203a145b62f749e7"/>
              </a:ext>
            </a:extLst>
          </a:blip>
          <a:stretch xmlns:a="http://schemas.openxmlformats.org/drawingml/2006/main"/>
        </p:blipFill>
        <p:spPr>
          <a:xfrm xmlns:a="http://schemas.openxmlformats.org/drawingml/2006/main">
            <a:off x="685800" y="4113136"/>
            <a:ext cx="5452190" cy="400965"/>
          </a:xfrm>
          <a:prstGeom xmlns:a="http://schemas.openxmlformats.org/drawingml/2006/main" prst="rect">
            <a:avLst/>
          </a:prstGeom>
        </p:spPr>
      </p:pic>
      <p:pic>
        <p:nvPicPr>
          <p:cNvPr id="7" name="equation-3" descr="LaTeX: [-3,10,9]\ne[-3,10,12]">
            <a:extLst xmlns:a="http://schemas.openxmlformats.org/drawingml/2006/main">
              <a:ext uri="{FF2B5EF4-FFF2-40B4-BE49-F238E27FC236}">
                <a16:creationId xmlns:a16="http://schemas.microsoft.com/office/drawing/2014/main" id="{8EDE7364-1715-4C10-AF8C-4E937B9532D0}"/>
              </a:ext>
            </a:extLst>
          </p:cNvPr>
          <p:cNvPicPr>
            <a:picLocks xmlns:a="http://schemas.openxmlformats.org/drawingml/2006/main" noChangeAspect="1"/>
          </p:cNvPicPr>
          <p:nvPr/>
        </p:nvPicPr>
        <p:blipFill>
          <a:blip xmlns:r="http://schemas.openxmlformats.org/officeDocument/2006/relationships" xmlns:a="http://schemas.openxmlformats.org/drawingml/2006/main" r:embed="R7139f1a7ae7e4d6e">
            <a:extLst>
              <a:ext uri="{96DAC541-7B7A-43D3-8B79-37D633B846F1}">
                <asvg:svgBlip xmlns:asvg="http://schemas.microsoft.com/office/drawing/2016/SVG/main" r:embed="R0649b4018d5c4798"/>
              </a:ext>
            </a:extLst>
          </a:blip>
          <a:stretch xmlns:a="http://schemas.openxmlformats.org/drawingml/2006/main"/>
        </p:blipFill>
        <p:spPr>
          <a:xfrm xmlns:a="http://schemas.openxmlformats.org/drawingml/2006/main">
            <a:off x="685800" y="4780801"/>
            <a:ext cx="3523616" cy="400965"/>
          </a:xfrm>
          <a:prstGeom xmlns:a="http://schemas.openxmlformats.org/drawingml/2006/main" prst="rect">
            <a:avLst/>
          </a:prstGeom>
        </p:spPr>
      </p:pic>
      <p:pic>
        <p:nvPicPr>
          <p:cNvPr id="8" name="equation-4" descr="LaTeX: \text{The lines are distinct and parallel.}">
            <a:extLst xmlns:a="http://schemas.openxmlformats.org/drawingml/2006/main">
              <a:ext uri="{FF2B5EF4-FFF2-40B4-BE49-F238E27FC236}">
                <a16:creationId xmlns:a16="http://schemas.microsoft.com/office/drawing/2014/main" id="{6BD27713-E95A-4D75-8977-5484331FF6E2}"/>
              </a:ext>
            </a:extLst>
          </p:cNvPr>
          <p:cNvPicPr>
            <a:picLocks xmlns:a="http://schemas.openxmlformats.org/drawingml/2006/main" noChangeAspect="1"/>
          </p:cNvPicPr>
          <p:nvPr/>
        </p:nvPicPr>
        <p:blipFill>
          <a:blip xmlns:r="http://schemas.openxmlformats.org/officeDocument/2006/relationships" xmlns:a="http://schemas.openxmlformats.org/drawingml/2006/main" r:embed="R5c92d5620ec44d57">
            <a:extLst>
              <a:ext uri="{96DAC541-7B7A-43D3-8B79-37D633B846F1}">
                <asvg:svgBlip xmlns:asvg="http://schemas.microsoft.com/office/drawing/2016/SVG/main" r:embed="Rf7cb8c0b7d564007"/>
              </a:ext>
            </a:extLst>
          </a:blip>
          <a:stretch xmlns:a="http://schemas.openxmlformats.org/drawingml/2006/main"/>
        </p:blipFill>
        <p:spPr>
          <a:xfrm xmlns:a="http://schemas.openxmlformats.org/drawingml/2006/main">
            <a:off x="685800" y="5448466"/>
            <a:ext cx="4971474" cy="361784"/>
          </a:xfrm>
          <a:prstGeom xmlns:a="http://schemas.openxmlformats.org/drawingml/2006/main" prst="rect">
            <a:avLst/>
          </a:prstGeom>
        </p:spPr>
      </p:pic>
    </p:spTree>
    <p:extLst>
      <p:ext uri="{BB962C8B-B14F-4D97-AF65-F5344CB8AC3E}">
        <p14:creationId xmlns:p14="http://schemas.microsoft.com/office/powerpoint/2010/main" val="83225795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CC250EF-56B7-4B54-A671-2EDEF79CDA25}"/>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5  A final check</a:t>
            </a:r>
          </a:p>
        </p:txBody>
      </p:sp>
      <p:sp>
        <p:nvSpPr>
          <p:cNvPr id="2" name="page-number">
            <a:extLst xmlns:a="http://schemas.openxmlformats.org/drawingml/2006/main">
              <a:ext uri="{FF2B5EF4-FFF2-40B4-BE49-F238E27FC236}">
                <a16:creationId xmlns:a16="http://schemas.microsoft.com/office/drawing/2014/main" id="{97FB93C3-AE40-4471-8618-38E527EDE1E7}"/>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36</a:t>
            </a:r>
          </a:p>
        </p:txBody>
      </p:sp>
      <p:sp>
        <p:nvSpPr>
          <p:cNvPr id="3" name="lead">
            <a:extLst xmlns:a="http://schemas.openxmlformats.org/drawingml/2006/main">
              <a:ext uri="{FF2B5EF4-FFF2-40B4-BE49-F238E27FC236}">
                <a16:creationId xmlns:a16="http://schemas.microsoft.com/office/drawing/2014/main" id="{994E295C-0214-4E21-82AB-BE9C1FCC1AA1}"/>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Does A(5, 0, 11) lie on L? Does M describe the same line?</a:t>
            </a:r>
          </a:p>
        </p:txBody>
      </p:sp>
      <p:pic>
        <p:nvPicPr>
          <p:cNvPr id="4" name="equation-0" descr="LaTeX: L:\vec r=[1,2,3]+t[2,-1,4]">
            <a:extLst xmlns:a="http://schemas.openxmlformats.org/drawingml/2006/main">
              <a:ext uri="{FF2B5EF4-FFF2-40B4-BE49-F238E27FC236}">
                <a16:creationId xmlns:a16="http://schemas.microsoft.com/office/drawing/2014/main" id="{5E7F6225-5629-4DF5-AFB3-A185C38A5FA9}"/>
              </a:ext>
            </a:extLst>
          </p:cNvPr>
          <p:cNvPicPr>
            <a:picLocks xmlns:a="http://schemas.openxmlformats.org/drawingml/2006/main" noChangeAspect="1"/>
          </p:cNvPicPr>
          <p:nvPr/>
        </p:nvPicPr>
        <p:blipFill>
          <a:blip xmlns:r="http://schemas.openxmlformats.org/officeDocument/2006/relationships" xmlns:a="http://schemas.openxmlformats.org/drawingml/2006/main" r:embed="Ra0e3c57e41344209">
            <a:extLst>
              <a:ext uri="{96DAC541-7B7A-43D3-8B79-37D633B846F1}">
                <asvg:svgBlip xmlns:asvg="http://schemas.microsoft.com/office/drawing/2016/SVG/main" r:embed="R252cb0c3a6ed4755"/>
              </a:ext>
            </a:extLst>
          </a:blip>
          <a:stretch xmlns:a="http://schemas.openxmlformats.org/drawingml/2006/main"/>
        </p:blipFill>
        <p:spPr>
          <a:xfrm xmlns:a="http://schemas.openxmlformats.org/drawingml/2006/main">
            <a:off x="685800" y="2571750"/>
            <a:ext cx="4348395" cy="436875"/>
          </a:xfrm>
          <a:prstGeom xmlns:a="http://schemas.openxmlformats.org/drawingml/2006/main" prst="rect">
            <a:avLst/>
          </a:prstGeom>
        </p:spPr>
      </p:pic>
      <p:pic>
        <p:nvPicPr>
          <p:cNvPr id="5" name="equation-1" descr="LaTeX: M:\vec r=[5,0,11]+s[-4,2,-8]">
            <a:extLst xmlns:a="http://schemas.openxmlformats.org/drawingml/2006/main">
              <a:ext uri="{FF2B5EF4-FFF2-40B4-BE49-F238E27FC236}">
                <a16:creationId xmlns:a16="http://schemas.microsoft.com/office/drawing/2014/main" id="{57C86B58-0920-4624-B870-16FEA23B6BDC}"/>
              </a:ext>
            </a:extLst>
          </p:cNvPr>
          <p:cNvPicPr>
            <a:picLocks xmlns:a="http://schemas.openxmlformats.org/drawingml/2006/main" noChangeAspect="1"/>
          </p:cNvPicPr>
          <p:nvPr/>
        </p:nvPicPr>
        <p:blipFill>
          <a:blip xmlns:r="http://schemas.openxmlformats.org/officeDocument/2006/relationships" xmlns:a="http://schemas.openxmlformats.org/drawingml/2006/main" r:embed="R1a6b5698cf8b46d1">
            <a:extLst>
              <a:ext uri="{96DAC541-7B7A-43D3-8B79-37D633B846F1}">
                <asvg:svgBlip xmlns:asvg="http://schemas.microsoft.com/office/drawing/2016/SVG/main" r:embed="Raa0fb58e2b424d42"/>
              </a:ext>
            </a:extLst>
          </a:blip>
          <a:stretch xmlns:a="http://schemas.openxmlformats.org/drawingml/2006/main"/>
        </p:blipFill>
        <p:spPr>
          <a:xfrm xmlns:a="http://schemas.openxmlformats.org/drawingml/2006/main">
            <a:off x="685800" y="3275325"/>
            <a:ext cx="5023721" cy="436875"/>
          </a:xfrm>
          <a:prstGeom xmlns:a="http://schemas.openxmlformats.org/drawingml/2006/main" prst="rect">
            <a:avLst/>
          </a:prstGeom>
        </p:spPr>
      </p:pic>
      <p:sp>
        <p:nvSpPr>
          <p:cNvPr id="6" name="working-prompt-0">
            <a:extLst xmlns:a="http://schemas.openxmlformats.org/drawingml/2006/main">
              <a:ext uri="{FF2B5EF4-FFF2-40B4-BE49-F238E27FC236}">
                <a16:creationId xmlns:a16="http://schemas.microsoft.com/office/drawing/2014/main" id="{3DCA7936-5EAE-4EA6-90F8-F95D523E258C}"/>
              </a:ext>
            </a:extLst>
          </p:cNvPr>
          <p:cNvSpPr>
            <a:spLocks xmlns:a="http://schemas.openxmlformats.org/drawingml/2006/main" noGrp="1"/>
          </p:cNvSpPr>
          <p:nvPr/>
        </p:nvSpPr>
        <p:spPr>
          <a:xfrm xmlns:a="http://schemas.openxmlformats.org/drawingml/2006/main">
            <a:off x="685800" y="41814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1  Test A in L using one shared parameter</a:t>
            </a:r>
          </a:p>
        </p:txBody>
      </p:sp>
      <p:sp>
        <p:nvSpPr>
          <p:cNvPr id="7" name="working-prompt-1">
            <a:extLst xmlns:a="http://schemas.openxmlformats.org/drawingml/2006/main">
              <a:ext uri="{FF2B5EF4-FFF2-40B4-BE49-F238E27FC236}">
                <a16:creationId xmlns:a16="http://schemas.microsoft.com/office/drawing/2014/main" id="{B67E895D-6486-400E-BC84-BC52583273B3}"/>
              </a:ext>
            </a:extLst>
          </p:cNvPr>
          <p:cNvSpPr>
            <a:spLocks xmlns:a="http://schemas.openxmlformats.org/drawingml/2006/main" noGrp="1"/>
          </p:cNvSpPr>
          <p:nvPr/>
        </p:nvSpPr>
        <p:spPr>
          <a:xfrm xmlns:a="http://schemas.openxmlformats.org/drawingml/2006/main">
            <a:off x="685800" y="47244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2  Compare directions and use the shared point</a:t>
            </a:r>
          </a:p>
        </p:txBody>
      </p:sp>
      <p:sp>
        <p:nvSpPr>
          <p:cNvPr id="8" name="practice-pause">
            <a:extLst xmlns:a="http://schemas.openxmlformats.org/drawingml/2006/main">
              <a:ext uri="{FF2B5EF4-FFF2-40B4-BE49-F238E27FC236}">
                <a16:creationId xmlns:a16="http://schemas.microsoft.com/office/drawing/2014/main" id="{6D2A3DEC-6F2D-4DEC-896D-FD9C7FE31E1C}"/>
              </a:ext>
            </a:extLst>
          </p:cNvPr>
          <p:cNvSpPr>
            <a:spLocks xmlns:a="http://schemas.openxmlformats.org/drawingml/2006/main" noGrp="1"/>
          </p:cNvSpPr>
          <p:nvPr/>
        </p:nvSpPr>
        <p:spPr>
          <a:xfrm xmlns:a="http://schemas.openxmlformats.org/drawingml/2006/main">
            <a:off x="685800" y="5667375"/>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1691243938"/>
      </p:ext>
    </p:extLst>
  </p:cSld>
  <p:transition spd="med" advClick="1">
    <p:fade/>
  </p:transition>
</p:sld>
</file>

<file path=ppt/slides/slide3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BE174E9-BB53-4342-A045-62D8DFFA81C2}"/>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5  Solution</a:t>
            </a:r>
          </a:p>
        </p:txBody>
      </p:sp>
      <p:sp>
        <p:nvSpPr>
          <p:cNvPr id="2" name="page-number">
            <a:extLst xmlns:a="http://schemas.openxmlformats.org/drawingml/2006/main">
              <a:ext uri="{FF2B5EF4-FFF2-40B4-BE49-F238E27FC236}">
                <a16:creationId xmlns:a16="http://schemas.microsoft.com/office/drawing/2014/main" id="{63C68F62-A8BB-4C01-893C-5251EAC92D47}"/>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37</a:t>
            </a:r>
          </a:p>
        </p:txBody>
      </p:sp>
      <p:sp>
        <p:nvSpPr>
          <p:cNvPr id="3" name="lead">
            <a:extLst xmlns:a="http://schemas.openxmlformats.org/drawingml/2006/main">
              <a:ext uri="{FF2B5EF4-FFF2-40B4-BE49-F238E27FC236}">
                <a16:creationId xmlns:a16="http://schemas.microsoft.com/office/drawing/2014/main" id="{B74F755A-C9DB-4425-A6B6-70BDD8448747}"/>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shared point and parallel directions give the same line.</a:t>
            </a:r>
          </a:p>
        </p:txBody>
      </p:sp>
      <p:pic>
        <p:nvPicPr>
          <p:cNvPr id="4" name="equation-0" descr="LaTeX: 1+2t=5\quad\Longrightarrow\quad t=2">
            <a:extLst xmlns:a="http://schemas.openxmlformats.org/drawingml/2006/main">
              <a:ext uri="{FF2B5EF4-FFF2-40B4-BE49-F238E27FC236}">
                <a16:creationId xmlns:a16="http://schemas.microsoft.com/office/drawing/2014/main" id="{D9AD582F-BAF4-4E66-8CF6-95C9CC3F0BDA}"/>
              </a:ext>
            </a:extLst>
          </p:cNvPr>
          <p:cNvPicPr>
            <a:picLocks xmlns:a="http://schemas.openxmlformats.org/drawingml/2006/main" noChangeAspect="1"/>
          </p:cNvPicPr>
          <p:nvPr/>
        </p:nvPicPr>
        <p:blipFill>
          <a:blip xmlns:r="http://schemas.openxmlformats.org/officeDocument/2006/relationships" xmlns:a="http://schemas.openxmlformats.org/drawingml/2006/main" r:embed="R5e0f61506b2f4983">
            <a:extLst>
              <a:ext uri="{96DAC541-7B7A-43D3-8B79-37D633B846F1}">
                <asvg:svgBlip xmlns:asvg="http://schemas.microsoft.com/office/drawing/2016/SVG/main" r:embed="R97567fb54c814a94"/>
              </a:ext>
            </a:extLst>
          </a:blip>
          <a:stretch xmlns:a="http://schemas.openxmlformats.org/drawingml/2006/main"/>
        </p:blipFill>
        <p:spPr>
          <a:xfrm xmlns:a="http://schemas.openxmlformats.org/drawingml/2006/main">
            <a:off x="685800" y="2878312"/>
            <a:ext cx="4029808" cy="323580"/>
          </a:xfrm>
          <a:prstGeom xmlns:a="http://schemas.openxmlformats.org/drawingml/2006/main" prst="rect">
            <a:avLst/>
          </a:prstGeom>
        </p:spPr>
      </p:pic>
      <p:pic>
        <p:nvPicPr>
          <p:cNvPr id="5" name="equation-1" descr="LaTeX: t=2:\quad[1,2,3]+2[2,-1,4]=[5,0,11]">
            <a:extLst xmlns:a="http://schemas.openxmlformats.org/drawingml/2006/main">
              <a:ext uri="{FF2B5EF4-FFF2-40B4-BE49-F238E27FC236}">
                <a16:creationId xmlns:a16="http://schemas.microsoft.com/office/drawing/2014/main" id="{D4B527B0-B378-418A-94D2-6303D37A8677}"/>
              </a:ext>
            </a:extLst>
          </p:cNvPr>
          <p:cNvPicPr>
            <a:picLocks xmlns:a="http://schemas.openxmlformats.org/drawingml/2006/main" noChangeAspect="1"/>
          </p:cNvPicPr>
          <p:nvPr/>
        </p:nvPicPr>
        <p:blipFill>
          <a:blip xmlns:r="http://schemas.openxmlformats.org/officeDocument/2006/relationships" xmlns:a="http://schemas.openxmlformats.org/drawingml/2006/main" r:embed="R88ce144174d04a72">
            <a:extLst>
              <a:ext uri="{96DAC541-7B7A-43D3-8B79-37D633B846F1}">
                <asvg:svgBlip xmlns:asvg="http://schemas.microsoft.com/office/drawing/2016/SVG/main" r:embed="R2b2e724467264047"/>
              </a:ext>
            </a:extLst>
          </a:blip>
          <a:stretch xmlns:a="http://schemas.openxmlformats.org/drawingml/2006/main"/>
        </p:blipFill>
        <p:spPr>
          <a:xfrm xmlns:a="http://schemas.openxmlformats.org/drawingml/2006/main">
            <a:off x="685800" y="3468592"/>
            <a:ext cx="6373460" cy="436875"/>
          </a:xfrm>
          <a:prstGeom xmlns:a="http://schemas.openxmlformats.org/drawingml/2006/main" prst="rect">
            <a:avLst/>
          </a:prstGeom>
        </p:spPr>
      </p:pic>
      <p:pic>
        <p:nvPicPr>
          <p:cNvPr id="6" name="equation-2" descr="LaTeX: [-4,2,-8]=-2[2,-1,4]">
            <a:extLst xmlns:a="http://schemas.openxmlformats.org/drawingml/2006/main">
              <a:ext uri="{FF2B5EF4-FFF2-40B4-BE49-F238E27FC236}">
                <a16:creationId xmlns:a16="http://schemas.microsoft.com/office/drawing/2014/main" id="{EB166125-CC42-4E31-8049-299528B98EF2}"/>
              </a:ext>
            </a:extLst>
          </p:cNvPr>
          <p:cNvPicPr>
            <a:picLocks xmlns:a="http://schemas.openxmlformats.org/drawingml/2006/main" noChangeAspect="1"/>
          </p:cNvPicPr>
          <p:nvPr/>
        </p:nvPicPr>
        <p:blipFill>
          <a:blip xmlns:r="http://schemas.openxmlformats.org/officeDocument/2006/relationships" xmlns:a="http://schemas.openxmlformats.org/drawingml/2006/main" r:embed="R28c8a0fe9bee4c25">
            <a:extLst>
              <a:ext uri="{96DAC541-7B7A-43D3-8B79-37D633B846F1}">
                <asvg:svgBlip xmlns:asvg="http://schemas.microsoft.com/office/drawing/2016/SVG/main" r:embed="Re20fc59403d448fe"/>
              </a:ext>
            </a:extLst>
          </a:blip>
          <a:stretch xmlns:a="http://schemas.openxmlformats.org/drawingml/2006/main"/>
        </p:blipFill>
        <p:spPr>
          <a:xfrm xmlns:a="http://schemas.openxmlformats.org/drawingml/2006/main">
            <a:off x="685800" y="4172167"/>
            <a:ext cx="4088425" cy="436875"/>
          </a:xfrm>
          <a:prstGeom xmlns:a="http://schemas.openxmlformats.org/drawingml/2006/main" prst="rect">
            <a:avLst/>
          </a:prstGeom>
        </p:spPr>
      </p:pic>
      <p:pic>
        <p:nvPicPr>
          <p:cNvPr id="7" name="equation-3" descr="LaTeX: A\in L,\qquad M=L">
            <a:extLst xmlns:a="http://schemas.openxmlformats.org/drawingml/2006/main">
              <a:ext uri="{FF2B5EF4-FFF2-40B4-BE49-F238E27FC236}">
                <a16:creationId xmlns:a16="http://schemas.microsoft.com/office/drawing/2014/main" id="{1EA8F023-078D-4B2C-B4C7-28CB6A982A62}"/>
              </a:ext>
            </a:extLst>
          </p:cNvPr>
          <p:cNvPicPr>
            <a:picLocks xmlns:a="http://schemas.openxmlformats.org/drawingml/2006/main" noChangeAspect="1"/>
          </p:cNvPicPr>
          <p:nvPr/>
        </p:nvPicPr>
        <p:blipFill>
          <a:blip xmlns:r="http://schemas.openxmlformats.org/officeDocument/2006/relationships" xmlns:a="http://schemas.openxmlformats.org/drawingml/2006/main" r:embed="R752aa5bfbe7d49af">
            <a:extLst>
              <a:ext uri="{96DAC541-7B7A-43D3-8B79-37D633B846F1}">
                <asvg:svgBlip xmlns:asvg="http://schemas.microsoft.com/office/drawing/2016/SVG/main" r:embed="R67fd4660dbd74684"/>
              </a:ext>
            </a:extLst>
          </a:blip>
          <a:stretch xmlns:a="http://schemas.openxmlformats.org/drawingml/2006/main"/>
        </p:blipFill>
        <p:spPr>
          <a:xfrm xmlns:a="http://schemas.openxmlformats.org/drawingml/2006/main">
            <a:off x="685800" y="4875742"/>
            <a:ext cx="3127436" cy="389821"/>
          </a:xfrm>
          <a:prstGeom xmlns:a="http://schemas.openxmlformats.org/drawingml/2006/main" prst="rect">
            <a:avLst/>
          </a:prstGeom>
        </p:spPr>
      </p:pic>
    </p:spTree>
    <p:extLst>
      <p:ext uri="{BB962C8B-B14F-4D97-AF65-F5344CB8AC3E}">
        <p14:creationId xmlns:p14="http://schemas.microsoft.com/office/powerpoint/2010/main" val="69942936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D736F14-6E97-4111-B6EB-4D1948C00F8C}"/>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Section 8.2  Scalar forms in two dimensions</a:t>
            </a:r>
          </a:p>
        </p:txBody>
      </p:sp>
      <p:sp>
        <p:nvSpPr>
          <p:cNvPr id="2" name="page-number">
            <a:extLst xmlns:a="http://schemas.openxmlformats.org/drawingml/2006/main">
              <a:ext uri="{FF2B5EF4-FFF2-40B4-BE49-F238E27FC236}">
                <a16:creationId xmlns:a16="http://schemas.microsoft.com/office/drawing/2014/main" id="{E228DFCB-23AA-4A11-928E-16FF105CCB8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38</a:t>
            </a:r>
          </a:p>
        </p:txBody>
      </p:sp>
      <p:sp>
        <p:nvSpPr>
          <p:cNvPr id="3" name="lead">
            <a:extLst xmlns:a="http://schemas.openxmlformats.org/drawingml/2006/main">
              <a:ext uri="{FF2B5EF4-FFF2-40B4-BE49-F238E27FC236}">
                <a16:creationId xmlns:a16="http://schemas.microsoft.com/office/drawing/2014/main" id="{0F0C866D-7572-4840-B312-E816635DEE0F}"/>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Slope-intercept, point-slope and Cartesian forms describe the same line.</a:t>
            </a:r>
          </a:p>
        </p:txBody>
      </p:sp>
      <p:pic>
        <p:nvPicPr>
          <p:cNvPr id="4" name="equation-0" descr="LaTeX: y-y_1=m(x-x_1)">
            <a:extLst xmlns:a="http://schemas.openxmlformats.org/drawingml/2006/main">
              <a:ext uri="{FF2B5EF4-FFF2-40B4-BE49-F238E27FC236}">
                <a16:creationId xmlns:a16="http://schemas.microsoft.com/office/drawing/2014/main" id="{0BDF7264-8E17-49B3-A720-EF03D66E9D2F}"/>
              </a:ext>
            </a:extLst>
          </p:cNvPr>
          <p:cNvPicPr>
            <a:picLocks xmlns:a="http://schemas.openxmlformats.org/drawingml/2006/main" noChangeAspect="1"/>
          </p:cNvPicPr>
          <p:nvPr/>
        </p:nvPicPr>
        <p:blipFill>
          <a:blip xmlns:r="http://schemas.openxmlformats.org/officeDocument/2006/relationships" xmlns:a="http://schemas.openxmlformats.org/drawingml/2006/main" r:embed="Rea022a3f976d4e5d">
            <a:extLst>
              <a:ext uri="{96DAC541-7B7A-43D3-8B79-37D633B846F1}">
                <asvg:svgBlip xmlns:asvg="http://schemas.microsoft.com/office/drawing/2016/SVG/main" r:embed="R05d60ccea5ed4647"/>
              </a:ext>
            </a:extLst>
          </a:blip>
          <a:stretch xmlns:a="http://schemas.openxmlformats.org/drawingml/2006/main"/>
        </p:blipFill>
        <p:spPr>
          <a:xfrm xmlns:a="http://schemas.openxmlformats.org/drawingml/2006/main">
            <a:off x="685800" y="2860315"/>
            <a:ext cx="3196355" cy="436875"/>
          </a:xfrm>
          <a:prstGeom xmlns:a="http://schemas.openxmlformats.org/drawingml/2006/main" prst="rect">
            <a:avLst/>
          </a:prstGeom>
        </p:spPr>
      </p:pic>
      <p:pic>
        <p:nvPicPr>
          <p:cNvPr id="5" name="equation-1" descr="LaTeX: y-3=2(x-5)">
            <a:extLst xmlns:a="http://schemas.openxmlformats.org/drawingml/2006/main">
              <a:ext uri="{FF2B5EF4-FFF2-40B4-BE49-F238E27FC236}">
                <a16:creationId xmlns:a16="http://schemas.microsoft.com/office/drawing/2014/main" id="{24E1C835-5C72-4F0A-A94A-C3927A98B6A8}"/>
              </a:ext>
            </a:extLst>
          </p:cNvPr>
          <p:cNvPicPr>
            <a:picLocks xmlns:a="http://schemas.openxmlformats.org/drawingml/2006/main" noChangeAspect="1"/>
          </p:cNvPicPr>
          <p:nvPr/>
        </p:nvPicPr>
        <p:blipFill>
          <a:blip xmlns:r="http://schemas.openxmlformats.org/officeDocument/2006/relationships" xmlns:a="http://schemas.openxmlformats.org/drawingml/2006/main" r:embed="Rf7fb02779e3d45fc">
            <a:extLst>
              <a:ext uri="{96DAC541-7B7A-43D3-8B79-37D633B846F1}">
                <asvg:svgBlip xmlns:asvg="http://schemas.microsoft.com/office/drawing/2016/SVG/main" r:embed="R8793a13965614adb"/>
              </a:ext>
            </a:extLst>
          </a:blip>
          <a:stretch xmlns:a="http://schemas.openxmlformats.org/drawingml/2006/main"/>
        </p:blipFill>
        <p:spPr>
          <a:xfrm xmlns:a="http://schemas.openxmlformats.org/drawingml/2006/main">
            <a:off x="685800" y="3563889"/>
            <a:ext cx="2731030" cy="436875"/>
          </a:xfrm>
          <a:prstGeom xmlns:a="http://schemas.openxmlformats.org/drawingml/2006/main" prst="rect">
            <a:avLst/>
          </a:prstGeom>
        </p:spPr>
      </p:pic>
      <p:pic>
        <p:nvPicPr>
          <p:cNvPr id="6" name="equation-2" descr="LaTeX: y=2x-7">
            <a:extLst xmlns:a="http://schemas.openxmlformats.org/drawingml/2006/main">
              <a:ext uri="{FF2B5EF4-FFF2-40B4-BE49-F238E27FC236}">
                <a16:creationId xmlns:a16="http://schemas.microsoft.com/office/drawing/2014/main" id="{118A2CC3-4AC1-4DEB-A861-C60365F4C60D}"/>
              </a:ext>
            </a:extLst>
          </p:cNvPr>
          <p:cNvPicPr>
            <a:picLocks xmlns:a="http://schemas.openxmlformats.org/drawingml/2006/main" noChangeAspect="1"/>
          </p:cNvPicPr>
          <p:nvPr/>
        </p:nvPicPr>
        <p:blipFill>
          <a:blip xmlns:r="http://schemas.openxmlformats.org/officeDocument/2006/relationships" xmlns:a="http://schemas.openxmlformats.org/drawingml/2006/main" r:embed="R80f64aa0f2f34548">
            <a:extLst>
              <a:ext uri="{96DAC541-7B7A-43D3-8B79-37D633B846F1}">
                <asvg:svgBlip xmlns:asvg="http://schemas.microsoft.com/office/drawing/2016/SVG/main" r:embed="R198990f29b1441c1"/>
              </a:ext>
            </a:extLst>
          </a:blip>
          <a:stretch xmlns:a="http://schemas.openxmlformats.org/drawingml/2006/main"/>
        </p:blipFill>
        <p:spPr>
          <a:xfrm xmlns:a="http://schemas.openxmlformats.org/drawingml/2006/main">
            <a:off x="685800" y="4267464"/>
            <a:ext cx="1798160" cy="374698"/>
          </a:xfrm>
          <a:prstGeom xmlns:a="http://schemas.openxmlformats.org/drawingml/2006/main" prst="rect">
            <a:avLst/>
          </a:prstGeom>
        </p:spPr>
      </p:pic>
      <p:pic>
        <p:nvPicPr>
          <p:cNvPr id="7" name="equation-3" descr="LaTeX: 2x-y-7=0">
            <a:extLst xmlns:a="http://schemas.openxmlformats.org/drawingml/2006/main">
              <a:ext uri="{FF2B5EF4-FFF2-40B4-BE49-F238E27FC236}">
                <a16:creationId xmlns:a16="http://schemas.microsoft.com/office/drawing/2014/main" id="{440CFF67-4652-412C-9483-CA42CCDF6378}"/>
              </a:ext>
            </a:extLst>
          </p:cNvPr>
          <p:cNvPicPr>
            <a:picLocks xmlns:a="http://schemas.openxmlformats.org/drawingml/2006/main" noChangeAspect="1"/>
          </p:cNvPicPr>
          <p:nvPr/>
        </p:nvPicPr>
        <p:blipFill>
          <a:blip xmlns:r="http://schemas.openxmlformats.org/officeDocument/2006/relationships" xmlns:a="http://schemas.openxmlformats.org/drawingml/2006/main" r:embed="R25668d6c82de4f76">
            <a:extLst>
              <a:ext uri="{96DAC541-7B7A-43D3-8B79-37D633B846F1}">
                <asvg:svgBlip xmlns:asvg="http://schemas.microsoft.com/office/drawing/2016/SVG/main" r:embed="R94966c05540f47d6"/>
              </a:ext>
            </a:extLst>
          </a:blip>
          <a:stretch xmlns:a="http://schemas.openxmlformats.org/drawingml/2006/main"/>
        </p:blipFill>
        <p:spPr>
          <a:xfrm xmlns:a="http://schemas.openxmlformats.org/drawingml/2006/main">
            <a:off x="685800" y="4908862"/>
            <a:ext cx="2454473" cy="374698"/>
          </a:xfrm>
          <a:prstGeom xmlns:a="http://schemas.openxmlformats.org/drawingml/2006/main" prst="rect">
            <a:avLst/>
          </a:prstGeom>
        </p:spPr>
      </p:pic>
    </p:spTree>
    <p:extLst>
      <p:ext uri="{BB962C8B-B14F-4D97-AF65-F5344CB8AC3E}">
        <p14:creationId xmlns:p14="http://schemas.microsoft.com/office/powerpoint/2010/main" val="6159596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5FC6AD7F-108B-42BD-90A6-238F5B7405B8}"/>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Direction vectors and normal vectors</a:t>
            </a:r>
          </a:p>
        </p:txBody>
      </p:sp>
      <p:sp>
        <p:nvSpPr>
          <p:cNvPr id="2" name="page-number">
            <a:extLst xmlns:a="http://schemas.openxmlformats.org/drawingml/2006/main">
              <a:ext uri="{FF2B5EF4-FFF2-40B4-BE49-F238E27FC236}">
                <a16:creationId xmlns:a16="http://schemas.microsoft.com/office/drawing/2014/main" id="{5DA7B3A5-5674-44F7-90AC-E06EA0ED91C4}"/>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39</a:t>
            </a:r>
          </a:p>
        </p:txBody>
      </p:sp>
      <p:sp>
        <p:nvSpPr>
          <p:cNvPr id="3" name="lead">
            <a:extLst xmlns:a="http://schemas.openxmlformats.org/drawingml/2006/main">
              <a:ext uri="{FF2B5EF4-FFF2-40B4-BE49-F238E27FC236}">
                <a16:creationId xmlns:a16="http://schemas.microsoft.com/office/drawing/2014/main" id="{FF2680BE-11C4-493E-A9FF-0EB61DB97539}"/>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direction runs along the line. A normal is perpendicular to it in two dimensions.</a:t>
            </a:r>
          </a:p>
        </p:txBody>
      </p:sp>
      <p:pic>
        <p:nvPicPr>
          <p:cNvPr id="4" name="equation-0" descr="LaTeX: \vec m\cdot\vec n=0">
            <a:extLst xmlns:a="http://schemas.openxmlformats.org/drawingml/2006/main">
              <a:ext uri="{FF2B5EF4-FFF2-40B4-BE49-F238E27FC236}">
                <a16:creationId xmlns:a16="http://schemas.microsoft.com/office/drawing/2014/main" id="{9AE0994F-7FFD-43E1-A96A-D2976B3071F5}"/>
              </a:ext>
            </a:extLst>
          </p:cNvPr>
          <p:cNvPicPr>
            <a:picLocks xmlns:a="http://schemas.openxmlformats.org/drawingml/2006/main" noChangeAspect="1"/>
          </p:cNvPicPr>
          <p:nvPr/>
        </p:nvPicPr>
        <p:blipFill>
          <a:blip xmlns:r="http://schemas.openxmlformats.org/officeDocument/2006/relationships" xmlns:a="http://schemas.openxmlformats.org/drawingml/2006/main" r:embed="Ra757c39f722942bb">
            <a:extLst>
              <a:ext uri="{96DAC541-7B7A-43D3-8B79-37D633B846F1}">
                <asvg:svgBlip xmlns:asvg="http://schemas.microsoft.com/office/drawing/2016/SVG/main" r:embed="Rf8b644e0076a4fdd"/>
              </a:ext>
            </a:extLst>
          </a:blip>
          <a:stretch xmlns:a="http://schemas.openxmlformats.org/drawingml/2006/main"/>
        </p:blipFill>
        <p:spPr>
          <a:xfrm xmlns:a="http://schemas.openxmlformats.org/drawingml/2006/main">
            <a:off x="685800" y="2571750"/>
            <a:ext cx="1349910" cy="279988"/>
          </a:xfrm>
          <a:prstGeom xmlns:a="http://schemas.openxmlformats.org/drawingml/2006/main" prst="rect">
            <a:avLst/>
          </a:prstGeom>
        </p:spPr>
      </p:pic>
      <p:pic>
        <p:nvPicPr>
          <p:cNvPr id="5" name="equation-1" descr="LaTeX: \vec m=[a,b]\quad\Rightarrow\quad\vec n=[b,-a]">
            <a:extLst xmlns:a="http://schemas.openxmlformats.org/drawingml/2006/main">
              <a:ext uri="{FF2B5EF4-FFF2-40B4-BE49-F238E27FC236}">
                <a16:creationId xmlns:a16="http://schemas.microsoft.com/office/drawing/2014/main" id="{09FFE28F-D83D-4914-9318-0EB47F24457B}"/>
              </a:ext>
            </a:extLst>
          </p:cNvPr>
          <p:cNvPicPr>
            <a:picLocks xmlns:a="http://schemas.openxmlformats.org/drawingml/2006/main" noChangeAspect="1"/>
          </p:cNvPicPr>
          <p:nvPr/>
        </p:nvPicPr>
        <p:blipFill>
          <a:blip xmlns:r="http://schemas.openxmlformats.org/officeDocument/2006/relationships" xmlns:a="http://schemas.openxmlformats.org/drawingml/2006/main" r:embed="R71fd621a6a554c6b">
            <a:extLst>
              <a:ext uri="{96DAC541-7B7A-43D3-8B79-37D633B846F1}">
                <asvg:svgBlip xmlns:asvg="http://schemas.microsoft.com/office/drawing/2016/SVG/main" r:embed="R2a3c4233c2f647fe"/>
              </a:ext>
            </a:extLst>
          </a:blip>
          <a:stretch xmlns:a="http://schemas.openxmlformats.org/drawingml/2006/main"/>
        </p:blipFill>
        <p:spPr>
          <a:xfrm xmlns:a="http://schemas.openxmlformats.org/drawingml/2006/main">
            <a:off x="685800" y="3137488"/>
            <a:ext cx="4037394" cy="375915"/>
          </a:xfrm>
          <a:prstGeom xmlns:a="http://schemas.openxmlformats.org/drawingml/2006/main" prst="rect">
            <a:avLst/>
          </a:prstGeom>
        </p:spPr>
      </p:pic>
      <p:pic>
        <p:nvPicPr>
          <p:cNvPr id="6" name="equation-2" descr="LaTeX: [-3,2]\cdot[2,3]=-6+6=0">
            <a:extLst xmlns:a="http://schemas.openxmlformats.org/drawingml/2006/main">
              <a:ext uri="{FF2B5EF4-FFF2-40B4-BE49-F238E27FC236}">
                <a16:creationId xmlns:a16="http://schemas.microsoft.com/office/drawing/2014/main" id="{E23CE63C-8209-40AB-94D9-CAF3B5FA8E1A}"/>
              </a:ext>
            </a:extLst>
          </p:cNvPr>
          <p:cNvPicPr>
            <a:picLocks xmlns:a="http://schemas.openxmlformats.org/drawingml/2006/main" noChangeAspect="1"/>
          </p:cNvPicPr>
          <p:nvPr/>
        </p:nvPicPr>
        <p:blipFill>
          <a:blip xmlns:r="http://schemas.openxmlformats.org/officeDocument/2006/relationships" xmlns:a="http://schemas.openxmlformats.org/drawingml/2006/main" r:embed="Rde8e5ad6ac5f4a57">
            <a:extLst>
              <a:ext uri="{96DAC541-7B7A-43D3-8B79-37D633B846F1}">
                <asvg:svgBlip xmlns:asvg="http://schemas.microsoft.com/office/drawing/2016/SVG/main" r:embed="Re262199f900e48ae"/>
              </a:ext>
            </a:extLst>
          </a:blip>
          <a:stretch xmlns:a="http://schemas.openxmlformats.org/drawingml/2006/main"/>
        </p:blipFill>
        <p:spPr>
          <a:xfrm xmlns:a="http://schemas.openxmlformats.org/drawingml/2006/main">
            <a:off x="685800" y="3799154"/>
            <a:ext cx="3762896" cy="375915"/>
          </a:xfrm>
          <a:prstGeom xmlns:a="http://schemas.openxmlformats.org/drawingml/2006/main" prst="rect">
            <a:avLst/>
          </a:prstGeom>
        </p:spPr>
      </p:pic>
      <p:cxnSp>
        <p:nvCxnSpPr>
          <p:cNvPr id="7" name="normal-line">
            <a:extLst xmlns:a="http://schemas.openxmlformats.org/drawingml/2006/main">
              <a:ext uri="{FF2B5EF4-FFF2-40B4-BE49-F238E27FC236}">
                <a16:creationId xmlns:a16="http://schemas.microsoft.com/office/drawing/2014/main" id="{AE818A8A-46E4-40BF-9834-66857B256B24}"/>
              </a:ext>
            </a:extLst>
          </p:cNvPr>
          <p:cNvCxnSpPr/>
          <p:nvPr/>
        </p:nvCxnSpPr>
        <p:spPr>
          <a:xfrm xmlns:a="http://schemas.openxmlformats.org/drawingml/2006/main" rot="3542175">
            <a:off x="6295231" y="4143375"/>
            <a:ext cx="3887787" cy="0"/>
          </a:xfrm>
          <a:prstGeom xmlns:a="http://schemas.openxmlformats.org/drawingml/2006/main" prst="straightConnector1">
            <a:avLst/>
          </a:prstGeom>
          <a:ln xmlns:a="http://schemas.openxmlformats.org/drawingml/2006/main" w="23813">
            <a:solidFill>
              <a:srgbClr val="F5F5F5"/>
            </a:solidFill>
            <a:prstDash val="solid"/>
          </a:ln>
        </p:spPr>
      </p:cxnSp>
      <p:cxnSp>
        <p:nvCxnSpPr>
          <p:cNvPr id="8" name="m-arrow">
            <a:extLst xmlns:a="http://schemas.openxmlformats.org/drawingml/2006/main">
              <a:ext uri="{FF2B5EF4-FFF2-40B4-BE49-F238E27FC236}">
                <a16:creationId xmlns:a16="http://schemas.microsoft.com/office/drawing/2014/main" id="{9834AF27-32FA-4668-957A-13BEF97786D8}"/>
              </a:ext>
            </a:extLst>
          </p:cNvPr>
          <p:cNvCxnSpPr/>
          <p:nvPr/>
        </p:nvCxnSpPr>
        <p:spPr>
          <a:xfrm xmlns:a="http://schemas.openxmlformats.org/drawingml/2006/main" rot="3542175">
            <a:off x="7691778" y="4619625"/>
            <a:ext cx="1666195"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cxnSp>
        <p:nvCxnSpPr>
          <p:cNvPr id="9" name="n-arrow">
            <a:extLst xmlns:a="http://schemas.openxmlformats.org/drawingml/2006/main">
              <a:ext uri="{FF2B5EF4-FFF2-40B4-BE49-F238E27FC236}">
                <a16:creationId xmlns:a16="http://schemas.microsoft.com/office/drawing/2014/main" id="{F473DA57-DBF7-439B-A58D-EF2BF27F7C52}"/>
              </a:ext>
            </a:extLst>
          </p:cNvPr>
          <p:cNvCxnSpPr/>
          <p:nvPr/>
        </p:nvCxnSpPr>
        <p:spPr>
          <a:xfrm xmlns:a="http://schemas.openxmlformats.org/drawingml/2006/main" rot="-1857825">
            <a:off x="7977528" y="3476625"/>
            <a:ext cx="1666195" cy="0"/>
          </a:xfrm>
          <a:prstGeom xmlns:a="http://schemas.openxmlformats.org/drawingml/2006/main" prst="straightConnector1">
            <a:avLst/>
          </a:prstGeom>
          <a:ln xmlns:a="http://schemas.openxmlformats.org/drawingml/2006/main" w="38100">
            <a:solidFill>
              <a:srgbClr val="7DD3FC"/>
            </a:solidFill>
            <a:prstDash val="solid"/>
            <a:tailEnd type="triangle" w="med" len="med"/>
          </a:ln>
        </p:spPr>
      </p:cxnSp>
      <p:cxnSp>
        <p:nvCxnSpPr>
          <p:cNvPr id="10" name="right-angle-a">
            <a:extLst xmlns:a="http://schemas.openxmlformats.org/drawingml/2006/main">
              <a:ext uri="{FF2B5EF4-FFF2-40B4-BE49-F238E27FC236}">
                <a16:creationId xmlns:a16="http://schemas.microsoft.com/office/drawing/2014/main" id="{D9C68D92-1759-4ECC-BA22-BAB7DA48A93C}"/>
              </a:ext>
            </a:extLst>
          </p:cNvPr>
          <p:cNvCxnSpPr/>
          <p:nvPr/>
        </p:nvCxnSpPr>
        <p:spPr>
          <a:xfrm xmlns:a="http://schemas.openxmlformats.org/drawingml/2006/main" rot="-1857825">
            <a:off x="8194720" y="4038600"/>
            <a:ext cx="222159" cy="0"/>
          </a:xfrm>
          <a:prstGeom xmlns:a="http://schemas.openxmlformats.org/drawingml/2006/main" prst="straightConnector1">
            <a:avLst/>
          </a:prstGeom>
          <a:ln xmlns:a="http://schemas.openxmlformats.org/drawingml/2006/main" w="19050">
            <a:solidFill>
              <a:srgbClr val="ADB5BF"/>
            </a:solidFill>
            <a:prstDash val="solid"/>
          </a:ln>
        </p:spPr>
      </p:cxnSp>
      <p:cxnSp>
        <p:nvCxnSpPr>
          <p:cNvPr id="11" name="right-angle-b">
            <a:extLst xmlns:a="http://schemas.openxmlformats.org/drawingml/2006/main">
              <a:ext uri="{FF2B5EF4-FFF2-40B4-BE49-F238E27FC236}">
                <a16:creationId xmlns:a16="http://schemas.microsoft.com/office/drawing/2014/main" id="{0AEFDC23-14EC-451E-8AE2-C076D197942F}"/>
              </a:ext>
            </a:extLst>
          </p:cNvPr>
          <p:cNvCxnSpPr/>
          <p:nvPr/>
        </p:nvCxnSpPr>
        <p:spPr>
          <a:xfrm xmlns:a="http://schemas.openxmlformats.org/drawingml/2006/main" rot="-7257825">
            <a:off x="8232820" y="3886200"/>
            <a:ext cx="222159" cy="0"/>
          </a:xfrm>
          <a:prstGeom xmlns:a="http://schemas.openxmlformats.org/drawingml/2006/main" prst="straightConnector1">
            <a:avLst/>
          </a:prstGeom>
          <a:ln xmlns:a="http://schemas.openxmlformats.org/drawingml/2006/main" w="19050">
            <a:solidFill>
              <a:srgbClr val="ADB5BF"/>
            </a:solidFill>
            <a:prstDash val="solid"/>
          </a:ln>
        </p:spPr>
      </p:cxnSp>
      <p:pic>
        <p:nvPicPr>
          <p:cNvPr id="12" name="normal-label" descr="LaTeX: \vec n">
            <a:extLst xmlns:a="http://schemas.openxmlformats.org/drawingml/2006/main">
              <a:ext uri="{FF2B5EF4-FFF2-40B4-BE49-F238E27FC236}">
                <a16:creationId xmlns:a16="http://schemas.microsoft.com/office/drawing/2014/main" id="{29F44FFE-C07F-4DBE-8CDD-7009F494B5B8}"/>
              </a:ext>
            </a:extLst>
          </p:cNvPr>
          <p:cNvPicPr>
            <a:picLocks xmlns:a="http://schemas.openxmlformats.org/drawingml/2006/main" noChangeAspect="1"/>
          </p:cNvPicPr>
          <p:nvPr/>
        </p:nvPicPr>
        <p:blipFill>
          <a:blip xmlns:r="http://schemas.openxmlformats.org/officeDocument/2006/relationships" xmlns:a="http://schemas.openxmlformats.org/drawingml/2006/main" r:embed="R42dfab6335a24067">
            <a:extLst>
              <a:ext uri="{96DAC541-7B7A-43D3-8B79-37D633B846F1}">
                <asvg:svgBlip xmlns:asvg="http://schemas.microsoft.com/office/drawing/2016/SVG/main" r:embed="R5c85316c03d9444f"/>
              </a:ext>
            </a:extLst>
          </a:blip>
          <a:stretch xmlns:a="http://schemas.openxmlformats.org/drawingml/2006/main"/>
        </p:blipFill>
        <p:spPr>
          <a:xfrm xmlns:a="http://schemas.openxmlformats.org/drawingml/2006/main">
            <a:off x="9667875" y="2857500"/>
            <a:ext cx="230482" cy="272421"/>
          </a:xfrm>
          <a:prstGeom xmlns:a="http://schemas.openxmlformats.org/drawingml/2006/main" prst="rect">
            <a:avLst/>
          </a:prstGeom>
        </p:spPr>
      </p:pic>
      <p:pic>
        <p:nvPicPr>
          <p:cNvPr id="13" name="direction-label" descr="LaTeX: \vec m">
            <a:extLst xmlns:a="http://schemas.openxmlformats.org/drawingml/2006/main">
              <a:ext uri="{FF2B5EF4-FFF2-40B4-BE49-F238E27FC236}">
                <a16:creationId xmlns:a16="http://schemas.microsoft.com/office/drawing/2014/main" id="{1DBC1360-3729-4637-A457-72D399ECD5C2}"/>
              </a:ext>
            </a:extLst>
          </p:cNvPr>
          <p:cNvPicPr>
            <a:picLocks xmlns:a="http://schemas.openxmlformats.org/drawingml/2006/main" noChangeAspect="1"/>
          </p:cNvPicPr>
          <p:nvPr/>
        </p:nvPicPr>
        <p:blipFill>
          <a:blip xmlns:r="http://schemas.openxmlformats.org/officeDocument/2006/relationships" xmlns:a="http://schemas.openxmlformats.org/drawingml/2006/main" r:embed="R48d068ee55884e9c">
            <a:extLst>
              <a:ext uri="{96DAC541-7B7A-43D3-8B79-37D633B846F1}">
                <asvg:svgBlip xmlns:asvg="http://schemas.microsoft.com/office/drawing/2016/SVG/main" r:embed="R9d417bc236004587"/>
              </a:ext>
            </a:extLst>
          </a:blip>
          <a:stretch xmlns:a="http://schemas.openxmlformats.org/drawingml/2006/main"/>
        </p:blipFill>
        <p:spPr>
          <a:xfrm xmlns:a="http://schemas.openxmlformats.org/drawingml/2006/main">
            <a:off x="9124950" y="5191125"/>
            <a:ext cx="319398" cy="272421"/>
          </a:xfrm>
          <a:prstGeom xmlns:a="http://schemas.openxmlformats.org/drawingml/2006/main" prst="rect">
            <a:avLst/>
          </a:prstGeom>
        </p:spPr>
      </p:pic>
    </p:spTree>
    <p:extLst>
      <p:ext uri="{BB962C8B-B14F-4D97-AF65-F5344CB8AC3E}">
        <p14:creationId xmlns:p14="http://schemas.microsoft.com/office/powerpoint/2010/main" val="32912363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4AB68C60-503A-46CD-8B29-277B2D7BD5DD}"/>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Why the coefficients give a normal</a:t>
            </a:r>
          </a:p>
        </p:txBody>
      </p:sp>
      <p:sp>
        <p:nvSpPr>
          <p:cNvPr id="2" name="page-number">
            <a:extLst xmlns:a="http://schemas.openxmlformats.org/drawingml/2006/main">
              <a:ext uri="{FF2B5EF4-FFF2-40B4-BE49-F238E27FC236}">
                <a16:creationId xmlns:a16="http://schemas.microsoft.com/office/drawing/2014/main" id="{DA0E3AD5-1670-424E-A855-C1BAB57C42D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40</a:t>
            </a:r>
          </a:p>
        </p:txBody>
      </p:sp>
      <p:sp>
        <p:nvSpPr>
          <p:cNvPr id="3" name="lead">
            <a:extLst xmlns:a="http://schemas.openxmlformats.org/drawingml/2006/main">
              <a:ext uri="{FF2B5EF4-FFF2-40B4-BE49-F238E27FC236}">
                <a16:creationId xmlns:a16="http://schemas.microsoft.com/office/drawing/2014/main" id="{813EC6CC-122F-4A83-B62E-A21B64E3F841}"/>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normal is perpendicular to every displacement along the line.</a:t>
            </a:r>
          </a:p>
        </p:txBody>
      </p:sp>
      <p:pic>
        <p:nvPicPr>
          <p:cNvPr id="4" name="equation-0" descr="LaTeX: \vec n=[A,B],\qquad\overrightarrow{P_0P}=[x-x_0,y-y_0]">
            <a:extLst xmlns:a="http://schemas.openxmlformats.org/drawingml/2006/main">
              <a:ext uri="{FF2B5EF4-FFF2-40B4-BE49-F238E27FC236}">
                <a16:creationId xmlns:a16="http://schemas.microsoft.com/office/drawing/2014/main" id="{10FA016A-CDEE-437A-930C-3213DA0C1BE2}"/>
              </a:ext>
            </a:extLst>
          </p:cNvPr>
          <p:cNvPicPr>
            <a:picLocks xmlns:a="http://schemas.openxmlformats.org/drawingml/2006/main" noChangeAspect="1"/>
          </p:cNvPicPr>
          <p:nvPr/>
        </p:nvPicPr>
        <p:blipFill>
          <a:blip xmlns:r="http://schemas.openxmlformats.org/officeDocument/2006/relationships" xmlns:a="http://schemas.openxmlformats.org/drawingml/2006/main" r:embed="Rc5296275608f43f3">
            <a:extLst>
              <a:ext uri="{96DAC541-7B7A-43D3-8B79-37D633B846F1}">
                <asvg:svgBlip xmlns:asvg="http://schemas.microsoft.com/office/drawing/2016/SVG/main" r:embed="R81300da0a0ea4835"/>
              </a:ext>
            </a:extLst>
          </a:blip>
          <a:stretch xmlns:a="http://schemas.openxmlformats.org/drawingml/2006/main"/>
        </p:blipFill>
        <p:spPr>
          <a:xfrm xmlns:a="http://schemas.openxmlformats.org/drawingml/2006/main">
            <a:off x="685800" y="2395201"/>
            <a:ext cx="6206605" cy="554439"/>
          </a:xfrm>
          <a:prstGeom xmlns:a="http://schemas.openxmlformats.org/drawingml/2006/main" prst="rect">
            <a:avLst/>
          </a:prstGeom>
        </p:spPr>
      </p:pic>
      <p:pic>
        <p:nvPicPr>
          <p:cNvPr id="5" name="equation-1" descr="LaTeX: \vec n\cdot\overrightarrow{P_0P}=0">
            <a:extLst xmlns:a="http://schemas.openxmlformats.org/drawingml/2006/main">
              <a:ext uri="{FF2B5EF4-FFF2-40B4-BE49-F238E27FC236}">
                <a16:creationId xmlns:a16="http://schemas.microsoft.com/office/drawing/2014/main" id="{234D193A-657E-4ACC-97C2-701601A1D06E}"/>
              </a:ext>
            </a:extLst>
          </p:cNvPr>
          <p:cNvPicPr>
            <a:picLocks xmlns:a="http://schemas.openxmlformats.org/drawingml/2006/main" noChangeAspect="1"/>
          </p:cNvPicPr>
          <p:nvPr/>
        </p:nvPicPr>
        <p:blipFill>
          <a:blip xmlns:r="http://schemas.openxmlformats.org/officeDocument/2006/relationships" xmlns:a="http://schemas.openxmlformats.org/drawingml/2006/main" r:embed="R56bdb4c3f6a64d7d">
            <a:extLst>
              <a:ext uri="{96DAC541-7B7A-43D3-8B79-37D633B846F1}">
                <asvg:svgBlip xmlns:asvg="http://schemas.microsoft.com/office/drawing/2016/SVG/main" r:embed="Rf4810d90b50243cc"/>
              </a:ext>
            </a:extLst>
          </a:blip>
          <a:stretch xmlns:a="http://schemas.openxmlformats.org/drawingml/2006/main"/>
        </p:blipFill>
        <p:spPr>
          <a:xfrm xmlns:a="http://schemas.openxmlformats.org/drawingml/2006/main">
            <a:off x="685800" y="3216340"/>
            <a:ext cx="1912573" cy="515718"/>
          </a:xfrm>
          <a:prstGeom xmlns:a="http://schemas.openxmlformats.org/drawingml/2006/main" prst="rect">
            <a:avLst/>
          </a:prstGeom>
        </p:spPr>
      </p:pic>
      <p:pic>
        <p:nvPicPr>
          <p:cNvPr id="6" name="equation-2" descr="LaTeX: A(x-x_0)+B(y-y_0)=0">
            <a:extLst xmlns:a="http://schemas.openxmlformats.org/drawingml/2006/main">
              <a:ext uri="{FF2B5EF4-FFF2-40B4-BE49-F238E27FC236}">
                <a16:creationId xmlns:a16="http://schemas.microsoft.com/office/drawing/2014/main" id="{F48CE929-F4B7-49E9-9730-82AB16573741}"/>
              </a:ext>
            </a:extLst>
          </p:cNvPr>
          <p:cNvPicPr>
            <a:picLocks xmlns:a="http://schemas.openxmlformats.org/drawingml/2006/main" noChangeAspect="1"/>
          </p:cNvPicPr>
          <p:nvPr/>
        </p:nvPicPr>
        <p:blipFill>
          <a:blip xmlns:r="http://schemas.openxmlformats.org/officeDocument/2006/relationships" xmlns:a="http://schemas.openxmlformats.org/drawingml/2006/main" r:embed="R1946d77816c24144">
            <a:extLst>
              <a:ext uri="{96DAC541-7B7A-43D3-8B79-37D633B846F1}">
                <asvg:svgBlip xmlns:asvg="http://schemas.microsoft.com/office/drawing/2016/SVG/main" r:embed="R72ea01d8484e4c08"/>
              </a:ext>
            </a:extLst>
          </a:blip>
          <a:stretch xmlns:a="http://schemas.openxmlformats.org/drawingml/2006/main"/>
        </p:blipFill>
        <p:spPr>
          <a:xfrm xmlns:a="http://schemas.openxmlformats.org/drawingml/2006/main">
            <a:off x="685800" y="3998757"/>
            <a:ext cx="4368937" cy="436875"/>
          </a:xfrm>
          <a:prstGeom xmlns:a="http://schemas.openxmlformats.org/drawingml/2006/main" prst="rect">
            <a:avLst/>
          </a:prstGeom>
        </p:spPr>
      </p:pic>
      <p:pic>
        <p:nvPicPr>
          <p:cNvPr id="7" name="equation-3" descr="LaTeX: Ax+By-Ax_0-By_0=0">
            <a:extLst xmlns:a="http://schemas.openxmlformats.org/drawingml/2006/main">
              <a:ext uri="{FF2B5EF4-FFF2-40B4-BE49-F238E27FC236}">
                <a16:creationId xmlns:a16="http://schemas.microsoft.com/office/drawing/2014/main" id="{4CA42525-490F-4F47-AC9F-B8E4173DE2B5}"/>
              </a:ext>
            </a:extLst>
          </p:cNvPr>
          <p:cNvPicPr>
            <a:picLocks xmlns:a="http://schemas.openxmlformats.org/drawingml/2006/main" noChangeAspect="1"/>
          </p:cNvPicPr>
          <p:nvPr/>
        </p:nvPicPr>
        <p:blipFill>
          <a:blip xmlns:r="http://schemas.openxmlformats.org/officeDocument/2006/relationships" xmlns:a="http://schemas.openxmlformats.org/drawingml/2006/main" r:embed="R135e84c10f7842d8">
            <a:extLst>
              <a:ext uri="{96DAC541-7B7A-43D3-8B79-37D633B846F1}">
                <asvg:svgBlip xmlns:asvg="http://schemas.microsoft.com/office/drawing/2016/SVG/main" r:embed="R4a50f1cd000342dd"/>
              </a:ext>
            </a:extLst>
          </a:blip>
          <a:stretch xmlns:a="http://schemas.openxmlformats.org/drawingml/2006/main"/>
        </p:blipFill>
        <p:spPr>
          <a:xfrm xmlns:a="http://schemas.openxmlformats.org/drawingml/2006/main">
            <a:off x="685800" y="4702332"/>
            <a:ext cx="4412604" cy="389821"/>
          </a:xfrm>
          <a:prstGeom xmlns:a="http://schemas.openxmlformats.org/drawingml/2006/main" prst="rect">
            <a:avLst/>
          </a:prstGeom>
        </p:spPr>
      </p:pic>
      <p:pic>
        <p:nvPicPr>
          <p:cNvPr id="8" name="equation-4" descr="LaTeX: Ax+By+C=0,\quad C=-Ax_0-By_0">
            <a:extLst xmlns:a="http://schemas.openxmlformats.org/drawingml/2006/main">
              <a:ext uri="{FF2B5EF4-FFF2-40B4-BE49-F238E27FC236}">
                <a16:creationId xmlns:a16="http://schemas.microsoft.com/office/drawing/2014/main" id="{12703AC6-1DD5-45B9-BF50-6E1711188A8D}"/>
              </a:ext>
            </a:extLst>
          </p:cNvPr>
          <p:cNvPicPr>
            <a:picLocks xmlns:a="http://schemas.openxmlformats.org/drawingml/2006/main" noChangeAspect="1"/>
          </p:cNvPicPr>
          <p:nvPr/>
        </p:nvPicPr>
        <p:blipFill>
          <a:blip xmlns:r="http://schemas.openxmlformats.org/officeDocument/2006/relationships" xmlns:a="http://schemas.openxmlformats.org/drawingml/2006/main" r:embed="R3ba31ee0f013436e">
            <a:extLst>
              <a:ext uri="{96DAC541-7B7A-43D3-8B79-37D633B846F1}">
                <asvg:svgBlip xmlns:asvg="http://schemas.microsoft.com/office/drawing/2016/SVG/main" r:embed="R0b92aded90b94e6c"/>
              </a:ext>
            </a:extLst>
          </a:blip>
          <a:stretch xmlns:a="http://schemas.openxmlformats.org/drawingml/2006/main"/>
        </p:blipFill>
        <p:spPr>
          <a:xfrm xmlns:a="http://schemas.openxmlformats.org/drawingml/2006/main">
            <a:off x="685800" y="5358853"/>
            <a:ext cx="6324263" cy="389821"/>
          </a:xfrm>
          <a:prstGeom xmlns:a="http://schemas.openxmlformats.org/drawingml/2006/main" prst="rect">
            <a:avLst/>
          </a:prstGeom>
        </p:spPr>
      </p:pic>
      <p:sp>
        <p:nvSpPr>
          <p:cNvPr id="9" name="takeaway">
            <a:extLst xmlns:a="http://schemas.openxmlformats.org/drawingml/2006/main">
              <a:ext uri="{FF2B5EF4-FFF2-40B4-BE49-F238E27FC236}">
                <a16:creationId xmlns:a16="http://schemas.microsoft.com/office/drawing/2014/main" id="{E83ED5AB-0E04-4707-BC76-1EB69A84FAA5}"/>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A and B cannot both be zero.</a:t>
            </a:r>
          </a:p>
        </p:txBody>
      </p:sp>
    </p:spTree>
    <p:extLst>
      <p:ext uri="{BB962C8B-B14F-4D97-AF65-F5344CB8AC3E}">
        <p14:creationId xmlns:p14="http://schemas.microsoft.com/office/powerpoint/2010/main" val="1080679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59DC013B-417F-4330-9103-A7184563CD33}"/>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Cartesian form and a normal</a:t>
            </a:r>
          </a:p>
        </p:txBody>
      </p:sp>
      <p:sp>
        <p:nvSpPr>
          <p:cNvPr id="2" name="page-number">
            <a:extLst xmlns:a="http://schemas.openxmlformats.org/drawingml/2006/main">
              <a:ext uri="{FF2B5EF4-FFF2-40B4-BE49-F238E27FC236}">
                <a16:creationId xmlns:a16="http://schemas.microsoft.com/office/drawing/2014/main" id="{F0589AFE-E6A1-47A3-8EE5-DB2ED979431D}"/>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41</a:t>
            </a:r>
          </a:p>
        </p:txBody>
      </p:sp>
      <p:sp>
        <p:nvSpPr>
          <p:cNvPr id="3" name="lead">
            <a:extLst xmlns:a="http://schemas.openxmlformats.org/drawingml/2006/main">
              <a:ext uri="{FF2B5EF4-FFF2-40B4-BE49-F238E27FC236}">
                <a16:creationId xmlns:a16="http://schemas.microsoft.com/office/drawing/2014/main" id="{D2C72003-DFC5-4BB4-A8D3-DD09E63A994F}"/>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x and y coefficients give a nonzero normal to the line.</a:t>
            </a:r>
          </a:p>
        </p:txBody>
      </p:sp>
      <p:pic>
        <p:nvPicPr>
          <p:cNvPr id="4" name="equation-0" descr="LaTeX: \vec n=[5,3],\qquad P_0(4,-2)">
            <a:extLst xmlns:a="http://schemas.openxmlformats.org/drawingml/2006/main">
              <a:ext uri="{FF2B5EF4-FFF2-40B4-BE49-F238E27FC236}">
                <a16:creationId xmlns:a16="http://schemas.microsoft.com/office/drawing/2014/main" id="{B7716477-6DBA-4F9C-91D7-D5E06E7FB44B}"/>
              </a:ext>
            </a:extLst>
          </p:cNvPr>
          <p:cNvPicPr>
            <a:picLocks xmlns:a="http://schemas.openxmlformats.org/drawingml/2006/main" noChangeAspect="1"/>
          </p:cNvPicPr>
          <p:nvPr/>
        </p:nvPicPr>
        <p:blipFill>
          <a:blip xmlns:r="http://schemas.openxmlformats.org/officeDocument/2006/relationships" xmlns:a="http://schemas.openxmlformats.org/drawingml/2006/main" r:embed="R9298ac322f7a4d64">
            <a:extLst>
              <a:ext uri="{96DAC541-7B7A-43D3-8B79-37D633B846F1}">
                <asvg:svgBlip xmlns:asvg="http://schemas.microsoft.com/office/drawing/2016/SVG/main" r:embed="R0135132225d24811"/>
              </a:ext>
            </a:extLst>
          </a:blip>
          <a:stretch xmlns:a="http://schemas.openxmlformats.org/drawingml/2006/main"/>
        </p:blipFill>
        <p:spPr>
          <a:xfrm xmlns:a="http://schemas.openxmlformats.org/drawingml/2006/main">
            <a:off x="685800" y="2571750"/>
            <a:ext cx="3333100" cy="375915"/>
          </a:xfrm>
          <a:prstGeom xmlns:a="http://schemas.openxmlformats.org/drawingml/2006/main" prst="rect">
            <a:avLst/>
          </a:prstGeom>
        </p:spPr>
      </p:pic>
      <p:pic>
        <p:nvPicPr>
          <p:cNvPr id="5" name="equation-1" descr="LaTeX: 5x+3y+C=0">
            <a:extLst xmlns:a="http://schemas.openxmlformats.org/drawingml/2006/main">
              <a:ext uri="{FF2B5EF4-FFF2-40B4-BE49-F238E27FC236}">
                <a16:creationId xmlns:a16="http://schemas.microsoft.com/office/drawing/2014/main" id="{406DEFE7-5173-4E66-AD77-AC2F4D6ABF7D}"/>
              </a:ext>
            </a:extLst>
          </p:cNvPr>
          <p:cNvPicPr>
            <a:picLocks xmlns:a="http://schemas.openxmlformats.org/drawingml/2006/main" noChangeAspect="1"/>
          </p:cNvPicPr>
          <p:nvPr/>
        </p:nvPicPr>
        <p:blipFill>
          <a:blip xmlns:r="http://schemas.openxmlformats.org/officeDocument/2006/relationships" xmlns:a="http://schemas.openxmlformats.org/drawingml/2006/main" r:embed="Ra27940c66e0843de">
            <a:extLst>
              <a:ext uri="{96DAC541-7B7A-43D3-8B79-37D633B846F1}">
                <asvg:svgBlip xmlns:asvg="http://schemas.microsoft.com/office/drawing/2016/SVG/main" r:embed="Rc59e1ad0b4974bb4"/>
              </a:ext>
            </a:extLst>
          </a:blip>
          <a:stretch xmlns:a="http://schemas.openxmlformats.org/drawingml/2006/main"/>
        </p:blipFill>
        <p:spPr>
          <a:xfrm xmlns:a="http://schemas.openxmlformats.org/drawingml/2006/main">
            <a:off x="685800" y="3233415"/>
            <a:ext cx="2332552" cy="335427"/>
          </a:xfrm>
          <a:prstGeom xmlns:a="http://schemas.openxmlformats.org/drawingml/2006/main" prst="rect">
            <a:avLst/>
          </a:prstGeom>
        </p:spPr>
      </p:pic>
      <p:pic>
        <p:nvPicPr>
          <p:cNvPr id="6" name="equation-2" descr="LaTeX: 5(4)+3(-2)+C=0">
            <a:extLst xmlns:a="http://schemas.openxmlformats.org/drawingml/2006/main">
              <a:ext uri="{FF2B5EF4-FFF2-40B4-BE49-F238E27FC236}">
                <a16:creationId xmlns:a16="http://schemas.microsoft.com/office/drawing/2014/main" id="{8D039098-0212-4C7C-B123-F0DEB368A55C}"/>
              </a:ext>
            </a:extLst>
          </p:cNvPr>
          <p:cNvPicPr>
            <a:picLocks xmlns:a="http://schemas.openxmlformats.org/drawingml/2006/main" noChangeAspect="1"/>
          </p:cNvPicPr>
          <p:nvPr/>
        </p:nvPicPr>
        <p:blipFill>
          <a:blip xmlns:r="http://schemas.openxmlformats.org/officeDocument/2006/relationships" xmlns:a="http://schemas.openxmlformats.org/drawingml/2006/main" r:embed="R5cfc4751ad994d55">
            <a:extLst>
              <a:ext uri="{96DAC541-7B7A-43D3-8B79-37D633B846F1}">
                <asvg:svgBlip xmlns:asvg="http://schemas.microsoft.com/office/drawing/2016/SVG/main" r:embed="R5edb7221468d43ac"/>
              </a:ext>
            </a:extLst>
          </a:blip>
          <a:stretch xmlns:a="http://schemas.openxmlformats.org/drawingml/2006/main"/>
        </p:blipFill>
        <p:spPr>
          <a:xfrm xmlns:a="http://schemas.openxmlformats.org/drawingml/2006/main">
            <a:off x="685800" y="3854593"/>
            <a:ext cx="3018574" cy="375915"/>
          </a:xfrm>
          <a:prstGeom xmlns:a="http://schemas.openxmlformats.org/drawingml/2006/main" prst="rect">
            <a:avLst/>
          </a:prstGeom>
        </p:spPr>
      </p:pic>
      <p:pic>
        <p:nvPicPr>
          <p:cNvPr id="7" name="equation-3" descr="LaTeX: 20-6+C=0\quad\Longrightarrow\quad C=-14">
            <a:extLst xmlns:a="http://schemas.openxmlformats.org/drawingml/2006/main">
              <a:ext uri="{FF2B5EF4-FFF2-40B4-BE49-F238E27FC236}">
                <a16:creationId xmlns:a16="http://schemas.microsoft.com/office/drawing/2014/main" id="{D97D9A81-0719-4E7C-87C1-377055E732FF}"/>
              </a:ext>
            </a:extLst>
          </p:cNvPr>
          <p:cNvPicPr>
            <a:picLocks xmlns:a="http://schemas.openxmlformats.org/drawingml/2006/main" noChangeAspect="1"/>
          </p:cNvPicPr>
          <p:nvPr/>
        </p:nvPicPr>
        <p:blipFill>
          <a:blip xmlns:r="http://schemas.openxmlformats.org/officeDocument/2006/relationships" xmlns:a="http://schemas.openxmlformats.org/drawingml/2006/main" r:embed="Rf82e0eef4303485b">
            <a:extLst>
              <a:ext uri="{96DAC541-7B7A-43D3-8B79-37D633B846F1}">
                <asvg:svgBlip xmlns:asvg="http://schemas.microsoft.com/office/drawing/2016/SVG/main" r:embed="R567e7ae291904abc"/>
              </a:ext>
            </a:extLst>
          </a:blip>
          <a:stretch xmlns:a="http://schemas.openxmlformats.org/drawingml/2006/main"/>
        </p:blipFill>
        <p:spPr>
          <a:xfrm xmlns:a="http://schemas.openxmlformats.org/drawingml/2006/main">
            <a:off x="685800" y="4516258"/>
            <a:ext cx="4729056" cy="298097"/>
          </a:xfrm>
          <a:prstGeom xmlns:a="http://schemas.openxmlformats.org/drawingml/2006/main" prst="rect">
            <a:avLst/>
          </a:prstGeom>
        </p:spPr>
      </p:pic>
      <p:pic>
        <p:nvPicPr>
          <p:cNvPr id="8" name="equation-4" descr="LaTeX: 5x+3y-14=0">
            <a:extLst xmlns:a="http://schemas.openxmlformats.org/drawingml/2006/main">
              <a:ext uri="{FF2B5EF4-FFF2-40B4-BE49-F238E27FC236}">
                <a16:creationId xmlns:a16="http://schemas.microsoft.com/office/drawing/2014/main" id="{2F35A78E-D478-48D1-A08C-70B7E47BAA27}"/>
              </a:ext>
            </a:extLst>
          </p:cNvPr>
          <p:cNvPicPr>
            <a:picLocks xmlns:a="http://schemas.openxmlformats.org/drawingml/2006/main" noChangeAspect="1"/>
          </p:cNvPicPr>
          <p:nvPr/>
        </p:nvPicPr>
        <p:blipFill>
          <a:blip xmlns:r="http://schemas.openxmlformats.org/officeDocument/2006/relationships" xmlns:a="http://schemas.openxmlformats.org/drawingml/2006/main" r:embed="Rb5f16d6d72d0420c">
            <a:extLst>
              <a:ext uri="{96DAC541-7B7A-43D3-8B79-37D633B846F1}">
                <asvg:svgBlip xmlns:asvg="http://schemas.microsoft.com/office/drawing/2016/SVG/main" r:embed="Reddee70658a54c63"/>
              </a:ext>
            </a:extLst>
          </a:blip>
          <a:stretch xmlns:a="http://schemas.openxmlformats.org/drawingml/2006/main"/>
        </p:blipFill>
        <p:spPr>
          <a:xfrm xmlns:a="http://schemas.openxmlformats.org/drawingml/2006/main">
            <a:off x="685800" y="5100106"/>
            <a:ext cx="2400706" cy="322415"/>
          </a:xfrm>
          <a:prstGeom xmlns:a="http://schemas.openxmlformats.org/drawingml/2006/main" prst="rect">
            <a:avLst/>
          </a:prstGeom>
        </p:spPr>
      </p:pic>
      <p:cxnSp>
        <p:nvCxnSpPr>
          <p:cNvPr id="9" name="normal-line">
            <a:extLst xmlns:a="http://schemas.openxmlformats.org/drawingml/2006/main">
              <a:ext uri="{FF2B5EF4-FFF2-40B4-BE49-F238E27FC236}">
                <a16:creationId xmlns:a16="http://schemas.microsoft.com/office/drawing/2014/main" id="{13C5F26C-E973-447A-8779-7F0689CCA456}"/>
              </a:ext>
            </a:extLst>
          </p:cNvPr>
          <p:cNvCxnSpPr/>
          <p:nvPr/>
        </p:nvCxnSpPr>
        <p:spPr>
          <a:xfrm xmlns:a="http://schemas.openxmlformats.org/drawingml/2006/main" rot="3542175">
            <a:off x="6295231" y="4143375"/>
            <a:ext cx="3887787" cy="0"/>
          </a:xfrm>
          <a:prstGeom xmlns:a="http://schemas.openxmlformats.org/drawingml/2006/main" prst="straightConnector1">
            <a:avLst/>
          </a:prstGeom>
          <a:ln xmlns:a="http://schemas.openxmlformats.org/drawingml/2006/main" w="23813">
            <a:solidFill>
              <a:srgbClr val="F5F5F5"/>
            </a:solidFill>
            <a:prstDash val="solid"/>
          </a:ln>
        </p:spPr>
      </p:cxnSp>
      <p:cxnSp>
        <p:nvCxnSpPr>
          <p:cNvPr id="10" name="m-arrow">
            <a:extLst xmlns:a="http://schemas.openxmlformats.org/drawingml/2006/main">
              <a:ext uri="{FF2B5EF4-FFF2-40B4-BE49-F238E27FC236}">
                <a16:creationId xmlns:a16="http://schemas.microsoft.com/office/drawing/2014/main" id="{1FCD984C-4462-4EFA-9863-ECD327A0D044}"/>
              </a:ext>
            </a:extLst>
          </p:cNvPr>
          <p:cNvCxnSpPr/>
          <p:nvPr/>
        </p:nvCxnSpPr>
        <p:spPr>
          <a:xfrm xmlns:a="http://schemas.openxmlformats.org/drawingml/2006/main" rot="3542175">
            <a:off x="7691778" y="4619625"/>
            <a:ext cx="1666195"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cxnSp>
        <p:nvCxnSpPr>
          <p:cNvPr id="11" name="n-arrow">
            <a:extLst xmlns:a="http://schemas.openxmlformats.org/drawingml/2006/main">
              <a:ext uri="{FF2B5EF4-FFF2-40B4-BE49-F238E27FC236}">
                <a16:creationId xmlns:a16="http://schemas.microsoft.com/office/drawing/2014/main" id="{DE491CFF-BDE2-4648-BB53-AB66418C6261}"/>
              </a:ext>
            </a:extLst>
          </p:cNvPr>
          <p:cNvCxnSpPr/>
          <p:nvPr/>
        </p:nvCxnSpPr>
        <p:spPr>
          <a:xfrm xmlns:a="http://schemas.openxmlformats.org/drawingml/2006/main" rot="-1857825">
            <a:off x="7977528" y="3476625"/>
            <a:ext cx="1666195" cy="0"/>
          </a:xfrm>
          <a:prstGeom xmlns:a="http://schemas.openxmlformats.org/drawingml/2006/main" prst="straightConnector1">
            <a:avLst/>
          </a:prstGeom>
          <a:ln xmlns:a="http://schemas.openxmlformats.org/drawingml/2006/main" w="38100">
            <a:solidFill>
              <a:srgbClr val="7DD3FC"/>
            </a:solidFill>
            <a:prstDash val="solid"/>
            <a:tailEnd type="triangle" w="med" len="med"/>
          </a:ln>
        </p:spPr>
      </p:cxnSp>
      <p:cxnSp>
        <p:nvCxnSpPr>
          <p:cNvPr id="12" name="right-angle-a">
            <a:extLst xmlns:a="http://schemas.openxmlformats.org/drawingml/2006/main">
              <a:ext uri="{FF2B5EF4-FFF2-40B4-BE49-F238E27FC236}">
                <a16:creationId xmlns:a16="http://schemas.microsoft.com/office/drawing/2014/main" id="{260C28E8-6A1B-40E3-989F-FCF2985B32D2}"/>
              </a:ext>
            </a:extLst>
          </p:cNvPr>
          <p:cNvCxnSpPr/>
          <p:nvPr/>
        </p:nvCxnSpPr>
        <p:spPr>
          <a:xfrm xmlns:a="http://schemas.openxmlformats.org/drawingml/2006/main" rot="-1857825">
            <a:off x="8194720" y="4038600"/>
            <a:ext cx="222159" cy="0"/>
          </a:xfrm>
          <a:prstGeom xmlns:a="http://schemas.openxmlformats.org/drawingml/2006/main" prst="straightConnector1">
            <a:avLst/>
          </a:prstGeom>
          <a:ln xmlns:a="http://schemas.openxmlformats.org/drawingml/2006/main" w="19050">
            <a:solidFill>
              <a:srgbClr val="ADB5BF"/>
            </a:solidFill>
            <a:prstDash val="solid"/>
          </a:ln>
        </p:spPr>
      </p:cxnSp>
      <p:cxnSp>
        <p:nvCxnSpPr>
          <p:cNvPr id="13" name="right-angle-b">
            <a:extLst xmlns:a="http://schemas.openxmlformats.org/drawingml/2006/main">
              <a:ext uri="{FF2B5EF4-FFF2-40B4-BE49-F238E27FC236}">
                <a16:creationId xmlns:a16="http://schemas.microsoft.com/office/drawing/2014/main" id="{CF6C557B-D7C3-476E-8C69-07EFB00ABB2D}"/>
              </a:ext>
            </a:extLst>
          </p:cNvPr>
          <p:cNvCxnSpPr/>
          <p:nvPr/>
        </p:nvCxnSpPr>
        <p:spPr>
          <a:xfrm xmlns:a="http://schemas.openxmlformats.org/drawingml/2006/main" rot="-7257825">
            <a:off x="8232820" y="3886200"/>
            <a:ext cx="222159" cy="0"/>
          </a:xfrm>
          <a:prstGeom xmlns:a="http://schemas.openxmlformats.org/drawingml/2006/main" prst="straightConnector1">
            <a:avLst/>
          </a:prstGeom>
          <a:ln xmlns:a="http://schemas.openxmlformats.org/drawingml/2006/main" w="19050">
            <a:solidFill>
              <a:srgbClr val="ADB5BF"/>
            </a:solidFill>
            <a:prstDash val="solid"/>
          </a:ln>
        </p:spPr>
      </p:cxnSp>
      <p:pic>
        <p:nvPicPr>
          <p:cNvPr id="14" name="normal-label" descr="LaTeX: \vec n">
            <a:extLst xmlns:a="http://schemas.openxmlformats.org/drawingml/2006/main">
              <a:ext uri="{FF2B5EF4-FFF2-40B4-BE49-F238E27FC236}">
                <a16:creationId xmlns:a16="http://schemas.microsoft.com/office/drawing/2014/main" id="{6F281DF5-CDA3-4B2A-987A-1E1746FC74BE}"/>
              </a:ext>
            </a:extLst>
          </p:cNvPr>
          <p:cNvPicPr>
            <a:picLocks xmlns:a="http://schemas.openxmlformats.org/drawingml/2006/main" noChangeAspect="1"/>
          </p:cNvPicPr>
          <p:nvPr/>
        </p:nvPicPr>
        <p:blipFill>
          <a:blip xmlns:r="http://schemas.openxmlformats.org/officeDocument/2006/relationships" xmlns:a="http://schemas.openxmlformats.org/drawingml/2006/main" r:embed="R9b9fe6795015449b">
            <a:extLst>
              <a:ext uri="{96DAC541-7B7A-43D3-8B79-37D633B846F1}">
                <asvg:svgBlip xmlns:asvg="http://schemas.microsoft.com/office/drawing/2016/SVG/main" r:embed="R6c9dac26433f4539"/>
              </a:ext>
            </a:extLst>
          </a:blip>
          <a:stretch xmlns:a="http://schemas.openxmlformats.org/drawingml/2006/main"/>
        </p:blipFill>
        <p:spPr>
          <a:xfrm xmlns:a="http://schemas.openxmlformats.org/drawingml/2006/main">
            <a:off x="9667875" y="2857500"/>
            <a:ext cx="230482" cy="272421"/>
          </a:xfrm>
          <a:prstGeom xmlns:a="http://schemas.openxmlformats.org/drawingml/2006/main" prst="rect">
            <a:avLst/>
          </a:prstGeom>
        </p:spPr>
      </p:pic>
      <p:pic>
        <p:nvPicPr>
          <p:cNvPr id="15" name="direction-label" descr="LaTeX: \vec m">
            <a:extLst xmlns:a="http://schemas.openxmlformats.org/drawingml/2006/main">
              <a:ext uri="{FF2B5EF4-FFF2-40B4-BE49-F238E27FC236}">
                <a16:creationId xmlns:a16="http://schemas.microsoft.com/office/drawing/2014/main" id="{4051B398-BE43-4BBA-9DEA-B749D6E7D61E}"/>
              </a:ext>
            </a:extLst>
          </p:cNvPr>
          <p:cNvPicPr>
            <a:picLocks xmlns:a="http://schemas.openxmlformats.org/drawingml/2006/main" noChangeAspect="1"/>
          </p:cNvPicPr>
          <p:nvPr/>
        </p:nvPicPr>
        <p:blipFill>
          <a:blip xmlns:r="http://schemas.openxmlformats.org/officeDocument/2006/relationships" xmlns:a="http://schemas.openxmlformats.org/drawingml/2006/main" r:embed="R15b7a0e1294740c2">
            <a:extLst>
              <a:ext uri="{96DAC541-7B7A-43D3-8B79-37D633B846F1}">
                <asvg:svgBlip xmlns:asvg="http://schemas.microsoft.com/office/drawing/2016/SVG/main" r:embed="Rd15e275b32f24190"/>
              </a:ext>
            </a:extLst>
          </a:blip>
          <a:stretch xmlns:a="http://schemas.openxmlformats.org/drawingml/2006/main"/>
        </p:blipFill>
        <p:spPr>
          <a:xfrm xmlns:a="http://schemas.openxmlformats.org/drawingml/2006/main">
            <a:off x="9124950" y="5191125"/>
            <a:ext cx="319398" cy="272421"/>
          </a:xfrm>
          <a:prstGeom xmlns:a="http://schemas.openxmlformats.org/drawingml/2006/main" prst="rect">
            <a:avLst/>
          </a:prstGeom>
        </p:spPr>
      </p:pic>
      <p:sp>
        <p:nvSpPr>
          <p:cNvPr id="16" name="condition">
            <a:extLst xmlns:a="http://schemas.openxmlformats.org/drawingml/2006/main">
              <a:ext uri="{FF2B5EF4-FFF2-40B4-BE49-F238E27FC236}">
                <a16:creationId xmlns:a16="http://schemas.microsoft.com/office/drawing/2014/main" id="{2A6804BD-09B4-44A5-9E26-C0A4A41CA93A}"/>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Class example: point (4, −2), normal [5, 3]</a:t>
            </a:r>
          </a:p>
        </p:txBody>
      </p:sp>
    </p:spTree>
    <p:extLst>
      <p:ext uri="{BB962C8B-B14F-4D97-AF65-F5344CB8AC3E}">
        <p14:creationId xmlns:p14="http://schemas.microsoft.com/office/powerpoint/2010/main" val="2879854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3A91C52-0274-4EDC-A375-82B17C98FF29}"/>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6  A normal and a point</a:t>
            </a:r>
          </a:p>
        </p:txBody>
      </p:sp>
      <p:sp>
        <p:nvSpPr>
          <p:cNvPr id="2" name="page-number">
            <a:extLst xmlns:a="http://schemas.openxmlformats.org/drawingml/2006/main">
              <a:ext uri="{FF2B5EF4-FFF2-40B4-BE49-F238E27FC236}">
                <a16:creationId xmlns:a16="http://schemas.microsoft.com/office/drawing/2014/main" id="{E51E4345-DF41-496B-902B-3B353C8B960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42</a:t>
            </a:r>
          </a:p>
        </p:txBody>
      </p:sp>
      <p:sp>
        <p:nvSpPr>
          <p:cNvPr id="3" name="lead">
            <a:extLst xmlns:a="http://schemas.openxmlformats.org/drawingml/2006/main">
              <a:ext uri="{FF2B5EF4-FFF2-40B4-BE49-F238E27FC236}">
                <a16:creationId xmlns:a16="http://schemas.microsoft.com/office/drawing/2014/main" id="{E945A1EB-4CF2-4672-8060-524E1536040A}"/>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Find a Cartesian equation through (1, 4) with normal [2, −3].</a:t>
            </a:r>
          </a:p>
        </p:txBody>
      </p:sp>
      <p:pic>
        <p:nvPicPr>
          <p:cNvPr id="4" name="equation-0" descr="LaTeX: P(1,4),\qquad\vec n=[2,-3]">
            <a:extLst xmlns:a="http://schemas.openxmlformats.org/drawingml/2006/main">
              <a:ext uri="{FF2B5EF4-FFF2-40B4-BE49-F238E27FC236}">
                <a16:creationId xmlns:a16="http://schemas.microsoft.com/office/drawing/2014/main" id="{4012AE13-81B7-4A1C-81C4-795C0D8247EA}"/>
              </a:ext>
            </a:extLst>
          </p:cNvPr>
          <p:cNvPicPr>
            <a:picLocks xmlns:a="http://schemas.openxmlformats.org/drawingml/2006/main" noChangeAspect="1"/>
          </p:cNvPicPr>
          <p:nvPr/>
        </p:nvPicPr>
        <p:blipFill>
          <a:blip xmlns:r="http://schemas.openxmlformats.org/officeDocument/2006/relationships" xmlns:a="http://schemas.openxmlformats.org/drawingml/2006/main" r:embed="Rd8078aa25e614151">
            <a:extLst>
              <a:ext uri="{96DAC541-7B7A-43D3-8B79-37D633B846F1}">
                <asvg:svgBlip xmlns:asvg="http://schemas.microsoft.com/office/drawing/2016/SVG/main" r:embed="R5ed2b5114ac74dae"/>
              </a:ext>
            </a:extLst>
          </a:blip>
          <a:stretch xmlns:a="http://schemas.openxmlformats.org/drawingml/2006/main"/>
        </p:blipFill>
        <p:spPr>
          <a:xfrm xmlns:a="http://schemas.openxmlformats.org/drawingml/2006/main">
            <a:off x="685800" y="2571750"/>
            <a:ext cx="3794492" cy="436875"/>
          </a:xfrm>
          <a:prstGeom xmlns:a="http://schemas.openxmlformats.org/drawingml/2006/main" prst="rect">
            <a:avLst/>
          </a:prstGeom>
        </p:spPr>
      </p:pic>
      <p:sp>
        <p:nvSpPr>
          <p:cNvPr id="5" name="working-prompt-0">
            <a:extLst xmlns:a="http://schemas.openxmlformats.org/drawingml/2006/main">
              <a:ext uri="{FF2B5EF4-FFF2-40B4-BE49-F238E27FC236}">
                <a16:creationId xmlns:a16="http://schemas.microsoft.com/office/drawing/2014/main" id="{FA671489-3686-479F-97EE-5B03C5CB411F}"/>
              </a:ext>
            </a:extLst>
          </p:cNvPr>
          <p:cNvSpPr>
            <a:spLocks xmlns:a="http://schemas.openxmlformats.org/drawingml/2006/main" noGrp="1"/>
          </p:cNvSpPr>
          <p:nvPr/>
        </p:nvSpPr>
        <p:spPr>
          <a:xfrm xmlns:a="http://schemas.openxmlformats.org/drawingml/2006/main">
            <a:off x="685800" y="41814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1  Use the normal as the x and y coefficients</a:t>
            </a:r>
          </a:p>
        </p:txBody>
      </p:sp>
      <p:sp>
        <p:nvSpPr>
          <p:cNvPr id="6" name="working-prompt-1">
            <a:extLst xmlns:a="http://schemas.openxmlformats.org/drawingml/2006/main">
              <a:ext uri="{FF2B5EF4-FFF2-40B4-BE49-F238E27FC236}">
                <a16:creationId xmlns:a16="http://schemas.microsoft.com/office/drawing/2014/main" id="{4C9445D5-AD1E-4216-8EDD-13D66A17A079}"/>
              </a:ext>
            </a:extLst>
          </p:cNvPr>
          <p:cNvSpPr>
            <a:spLocks xmlns:a="http://schemas.openxmlformats.org/drawingml/2006/main" noGrp="1"/>
          </p:cNvSpPr>
          <p:nvPr/>
        </p:nvSpPr>
        <p:spPr>
          <a:xfrm xmlns:a="http://schemas.openxmlformats.org/drawingml/2006/main">
            <a:off x="685800" y="47244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2  Substitute (1, 4) to find the constant</a:t>
            </a:r>
          </a:p>
        </p:txBody>
      </p:sp>
      <p:sp>
        <p:nvSpPr>
          <p:cNvPr id="7" name="practice-pause">
            <a:extLst xmlns:a="http://schemas.openxmlformats.org/drawingml/2006/main">
              <a:ext uri="{FF2B5EF4-FFF2-40B4-BE49-F238E27FC236}">
                <a16:creationId xmlns:a16="http://schemas.microsoft.com/office/drawing/2014/main" id="{C3477045-1BC2-4F7E-A502-0AD1F1A27841}"/>
              </a:ext>
            </a:extLst>
          </p:cNvPr>
          <p:cNvSpPr>
            <a:spLocks xmlns:a="http://schemas.openxmlformats.org/drawingml/2006/main" noGrp="1"/>
          </p:cNvSpPr>
          <p:nvPr/>
        </p:nvSpPr>
        <p:spPr>
          <a:xfrm xmlns:a="http://schemas.openxmlformats.org/drawingml/2006/main">
            <a:off x="685800" y="5667375"/>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1192757899"/>
      </p:ext>
    </p:extLst>
  </p:cSld>
  <p:transition spd="med" advClick="1">
    <p:fade/>
  </p:transition>
</p:sld>
</file>

<file path=ppt/slides/slide4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E46A963-5D50-4EB9-B587-D4E425A36C74}"/>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6  Solution</a:t>
            </a:r>
          </a:p>
        </p:txBody>
      </p:sp>
      <p:sp>
        <p:nvSpPr>
          <p:cNvPr id="2" name="page-number">
            <a:extLst xmlns:a="http://schemas.openxmlformats.org/drawingml/2006/main">
              <a:ext uri="{FF2B5EF4-FFF2-40B4-BE49-F238E27FC236}">
                <a16:creationId xmlns:a16="http://schemas.microsoft.com/office/drawing/2014/main" id="{59756DA1-DC0A-4ACE-A448-6C16DF833293}"/>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43</a:t>
            </a:r>
          </a:p>
        </p:txBody>
      </p:sp>
      <p:sp>
        <p:nvSpPr>
          <p:cNvPr id="3" name="lead">
            <a:extLst xmlns:a="http://schemas.openxmlformats.org/drawingml/2006/main">
              <a:ext uri="{FF2B5EF4-FFF2-40B4-BE49-F238E27FC236}">
                <a16:creationId xmlns:a16="http://schemas.microsoft.com/office/drawing/2014/main" id="{A71E845B-CE9E-425E-A49E-24637ED895D4}"/>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Substitute the point to determine C.</a:t>
            </a:r>
          </a:p>
        </p:txBody>
      </p:sp>
      <p:pic>
        <p:nvPicPr>
          <p:cNvPr id="4" name="equation-0" descr="LaTeX: 2x-3y+C=0">
            <a:extLst xmlns:a="http://schemas.openxmlformats.org/drawingml/2006/main">
              <a:ext uri="{FF2B5EF4-FFF2-40B4-BE49-F238E27FC236}">
                <a16:creationId xmlns:a16="http://schemas.microsoft.com/office/drawing/2014/main" id="{29C9E3AA-9190-4C0A-AC1C-583B28039B64}"/>
              </a:ext>
            </a:extLst>
          </p:cNvPr>
          <p:cNvPicPr>
            <a:picLocks xmlns:a="http://schemas.openxmlformats.org/drawingml/2006/main" noChangeAspect="1"/>
          </p:cNvPicPr>
          <p:nvPr/>
        </p:nvPicPr>
        <p:blipFill>
          <a:blip xmlns:r="http://schemas.openxmlformats.org/officeDocument/2006/relationships" xmlns:a="http://schemas.openxmlformats.org/drawingml/2006/main" r:embed="R47707b384780465f">
            <a:extLst>
              <a:ext uri="{96DAC541-7B7A-43D3-8B79-37D633B846F1}">
                <asvg:svgBlip xmlns:asvg="http://schemas.microsoft.com/office/drawing/2016/SVG/main" r:embed="R08c99db0d7bf45ee"/>
              </a:ext>
            </a:extLst>
          </a:blip>
          <a:stretch xmlns:a="http://schemas.openxmlformats.org/drawingml/2006/main"/>
        </p:blipFill>
        <p:spPr>
          <a:xfrm xmlns:a="http://schemas.openxmlformats.org/drawingml/2006/main">
            <a:off x="685800" y="2546185"/>
            <a:ext cx="2733425" cy="389821"/>
          </a:xfrm>
          <a:prstGeom xmlns:a="http://schemas.openxmlformats.org/drawingml/2006/main" prst="rect">
            <a:avLst/>
          </a:prstGeom>
        </p:spPr>
      </p:pic>
      <p:pic>
        <p:nvPicPr>
          <p:cNvPr id="5" name="equation-1" descr="LaTeX: 2(1)-3(4)+C=0">
            <a:extLst xmlns:a="http://schemas.openxmlformats.org/drawingml/2006/main">
              <a:ext uri="{FF2B5EF4-FFF2-40B4-BE49-F238E27FC236}">
                <a16:creationId xmlns:a16="http://schemas.microsoft.com/office/drawing/2014/main" id="{FDE1A7BB-68BF-4517-8614-6862EBC6FA97}"/>
              </a:ext>
            </a:extLst>
          </p:cNvPr>
          <p:cNvPicPr>
            <a:picLocks xmlns:a="http://schemas.openxmlformats.org/drawingml/2006/main" noChangeAspect="1"/>
          </p:cNvPicPr>
          <p:nvPr/>
        </p:nvPicPr>
        <p:blipFill>
          <a:blip xmlns:r="http://schemas.openxmlformats.org/officeDocument/2006/relationships" xmlns:a="http://schemas.openxmlformats.org/drawingml/2006/main" r:embed="R307d9dcdba484627">
            <a:extLst>
              <a:ext uri="{96DAC541-7B7A-43D3-8B79-37D633B846F1}">
                <asvg:svgBlip xmlns:asvg="http://schemas.microsoft.com/office/drawing/2016/SVG/main" r:embed="Rd321cc7520884bd5"/>
              </a:ext>
            </a:extLst>
          </a:blip>
          <a:stretch xmlns:a="http://schemas.openxmlformats.org/drawingml/2006/main"/>
        </p:blipFill>
        <p:spPr>
          <a:xfrm xmlns:a="http://schemas.openxmlformats.org/drawingml/2006/main">
            <a:off x="685800" y="3202705"/>
            <a:ext cx="3226994" cy="436875"/>
          </a:xfrm>
          <a:prstGeom xmlns:a="http://schemas.openxmlformats.org/drawingml/2006/main" prst="rect">
            <a:avLst/>
          </a:prstGeom>
        </p:spPr>
      </p:pic>
      <p:pic>
        <p:nvPicPr>
          <p:cNvPr id="6" name="equation-2" descr="LaTeX: -10+C=0\quad\Longrightarrow\quad C=10">
            <a:extLst xmlns:a="http://schemas.openxmlformats.org/drawingml/2006/main">
              <a:ext uri="{FF2B5EF4-FFF2-40B4-BE49-F238E27FC236}">
                <a16:creationId xmlns:a16="http://schemas.microsoft.com/office/drawing/2014/main" id="{EDFDE97B-414B-4C4F-AD6F-1336495730DA}"/>
              </a:ext>
            </a:extLst>
          </p:cNvPr>
          <p:cNvPicPr>
            <a:picLocks xmlns:a="http://schemas.openxmlformats.org/drawingml/2006/main" noChangeAspect="1"/>
          </p:cNvPicPr>
          <p:nvPr/>
        </p:nvPicPr>
        <p:blipFill>
          <a:blip xmlns:r="http://schemas.openxmlformats.org/officeDocument/2006/relationships" xmlns:a="http://schemas.openxmlformats.org/drawingml/2006/main" r:embed="Rf832627df80f4532">
            <a:extLst>
              <a:ext uri="{96DAC541-7B7A-43D3-8B79-37D633B846F1}">
                <asvg:svgBlip xmlns:asvg="http://schemas.microsoft.com/office/drawing/2016/SVG/main" r:embed="Rf44f91de0da74e06"/>
              </a:ext>
            </a:extLst>
          </a:blip>
          <a:stretch xmlns:a="http://schemas.openxmlformats.org/drawingml/2006/main"/>
        </p:blipFill>
        <p:spPr>
          <a:xfrm xmlns:a="http://schemas.openxmlformats.org/drawingml/2006/main">
            <a:off x="685800" y="3906280"/>
            <a:ext cx="4839617" cy="346437"/>
          </a:xfrm>
          <a:prstGeom xmlns:a="http://schemas.openxmlformats.org/drawingml/2006/main" prst="rect">
            <a:avLst/>
          </a:prstGeom>
        </p:spPr>
      </p:pic>
      <p:pic>
        <p:nvPicPr>
          <p:cNvPr id="7" name="equation-3" descr="LaTeX: 2x-3y+10=0">
            <a:extLst xmlns:a="http://schemas.openxmlformats.org/drawingml/2006/main">
              <a:ext uri="{FF2B5EF4-FFF2-40B4-BE49-F238E27FC236}">
                <a16:creationId xmlns:a16="http://schemas.microsoft.com/office/drawing/2014/main" id="{084962F4-EA68-4D3F-B32F-0938579E363E}"/>
              </a:ext>
            </a:extLst>
          </p:cNvPr>
          <p:cNvPicPr>
            <a:picLocks xmlns:a="http://schemas.openxmlformats.org/drawingml/2006/main" noChangeAspect="1"/>
          </p:cNvPicPr>
          <p:nvPr/>
        </p:nvPicPr>
        <p:blipFill>
          <a:blip xmlns:r="http://schemas.openxmlformats.org/officeDocument/2006/relationships" xmlns:a="http://schemas.openxmlformats.org/drawingml/2006/main" r:embed="R9505af22802e476d">
            <a:extLst>
              <a:ext uri="{96DAC541-7B7A-43D3-8B79-37D633B846F1}">
                <asvg:svgBlip xmlns:asvg="http://schemas.microsoft.com/office/drawing/2016/SVG/main" r:embed="Ra27cbb8edaaf4c36"/>
              </a:ext>
            </a:extLst>
          </a:blip>
          <a:stretch xmlns:a="http://schemas.openxmlformats.org/drawingml/2006/main"/>
        </p:blipFill>
        <p:spPr>
          <a:xfrm xmlns:a="http://schemas.openxmlformats.org/drawingml/2006/main">
            <a:off x="685800" y="4519418"/>
            <a:ext cx="2790009" cy="374698"/>
          </a:xfrm>
          <a:prstGeom xmlns:a="http://schemas.openxmlformats.org/drawingml/2006/main" prst="rect">
            <a:avLst/>
          </a:prstGeom>
        </p:spPr>
      </p:pic>
      <p:pic>
        <p:nvPicPr>
          <p:cNvPr id="8" name="equation-4" descr="LaTeX: 2(1)-3(4)+10=0">
            <a:extLst xmlns:a="http://schemas.openxmlformats.org/drawingml/2006/main">
              <a:ext uri="{FF2B5EF4-FFF2-40B4-BE49-F238E27FC236}">
                <a16:creationId xmlns:a16="http://schemas.microsoft.com/office/drawing/2014/main" id="{BAB9E086-2F09-4A43-92F0-BD436CA90A34}"/>
              </a:ext>
            </a:extLst>
          </p:cNvPr>
          <p:cNvPicPr>
            <a:picLocks xmlns:a="http://schemas.openxmlformats.org/drawingml/2006/main" noChangeAspect="1"/>
          </p:cNvPicPr>
          <p:nvPr/>
        </p:nvPicPr>
        <p:blipFill>
          <a:blip xmlns:r="http://schemas.openxmlformats.org/officeDocument/2006/relationships" xmlns:a="http://schemas.openxmlformats.org/drawingml/2006/main" r:embed="R00a0b0adcb2646fc">
            <a:extLst>
              <a:ext uri="{96DAC541-7B7A-43D3-8B79-37D633B846F1}">
                <asvg:svgBlip xmlns:asvg="http://schemas.microsoft.com/office/drawing/2016/SVG/main" r:embed="Re140efef31ec4343"/>
              </a:ext>
            </a:extLst>
          </a:blip>
          <a:stretch xmlns:a="http://schemas.openxmlformats.org/drawingml/2006/main"/>
        </p:blipFill>
        <p:spPr>
          <a:xfrm xmlns:a="http://schemas.openxmlformats.org/drawingml/2006/main">
            <a:off x="685800" y="5160816"/>
            <a:ext cx="3283563" cy="436875"/>
          </a:xfrm>
          <a:prstGeom xmlns:a="http://schemas.openxmlformats.org/drawingml/2006/main" prst="rect">
            <a:avLst/>
          </a:prstGeom>
        </p:spPr>
      </p:pic>
    </p:spTree>
    <p:extLst>
      <p:ext uri="{BB962C8B-B14F-4D97-AF65-F5344CB8AC3E}">
        <p14:creationId xmlns:p14="http://schemas.microsoft.com/office/powerpoint/2010/main" val="61018797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97105EC-A9A3-4641-9A9C-B7007D8CD2C4}"/>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perpendicular line in two dimensions</a:t>
            </a:r>
          </a:p>
        </p:txBody>
      </p:sp>
      <p:sp>
        <p:nvSpPr>
          <p:cNvPr id="2" name="page-number">
            <a:extLst xmlns:a="http://schemas.openxmlformats.org/drawingml/2006/main">
              <a:ext uri="{FF2B5EF4-FFF2-40B4-BE49-F238E27FC236}">
                <a16:creationId xmlns:a16="http://schemas.microsoft.com/office/drawing/2014/main" id="{C12AB83B-DE15-4DF2-9B37-B84E3596ABA9}"/>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44</a:t>
            </a:r>
          </a:p>
        </p:txBody>
      </p:sp>
      <p:sp>
        <p:nvSpPr>
          <p:cNvPr id="3" name="lead">
            <a:extLst xmlns:a="http://schemas.openxmlformats.org/drawingml/2006/main">
              <a:ext uri="{FF2B5EF4-FFF2-40B4-BE49-F238E27FC236}">
                <a16:creationId xmlns:a16="http://schemas.microsoft.com/office/drawing/2014/main" id="{02FD8E76-47A0-4EC8-953F-D7ECFAA76FBB}"/>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Find the line through P(6, 5) perpendicular to the given line.</a:t>
            </a:r>
          </a:p>
        </p:txBody>
      </p:sp>
      <p:pic>
        <p:nvPicPr>
          <p:cNvPr id="4" name="equation-0" descr="LaTeX: \vec r=[4,1]+s[-3,2]">
            <a:extLst xmlns:a="http://schemas.openxmlformats.org/drawingml/2006/main">
              <a:ext uri="{FF2B5EF4-FFF2-40B4-BE49-F238E27FC236}">
                <a16:creationId xmlns:a16="http://schemas.microsoft.com/office/drawing/2014/main" id="{6ED8F030-E2CA-460F-93AE-BA95B5D8520D}"/>
              </a:ext>
            </a:extLst>
          </p:cNvPr>
          <p:cNvPicPr>
            <a:picLocks xmlns:a="http://schemas.openxmlformats.org/drawingml/2006/main" noChangeAspect="1"/>
          </p:cNvPicPr>
          <p:nvPr/>
        </p:nvPicPr>
        <p:blipFill>
          <a:blip xmlns:r="http://schemas.openxmlformats.org/officeDocument/2006/relationships" xmlns:a="http://schemas.openxmlformats.org/drawingml/2006/main" r:embed="Re3a3f10e8fd14295">
            <a:extLst>
              <a:ext uri="{96DAC541-7B7A-43D3-8B79-37D633B846F1}">
                <asvg:svgBlip xmlns:asvg="http://schemas.microsoft.com/office/drawing/2016/SVG/main" r:embed="Rb2d6484f1df442d9"/>
              </a:ext>
            </a:extLst>
          </a:blip>
          <a:stretch xmlns:a="http://schemas.openxmlformats.org/drawingml/2006/main"/>
        </p:blipFill>
        <p:spPr>
          <a:xfrm xmlns:a="http://schemas.openxmlformats.org/drawingml/2006/main">
            <a:off x="685800" y="2798138"/>
            <a:ext cx="3115180" cy="436875"/>
          </a:xfrm>
          <a:prstGeom xmlns:a="http://schemas.openxmlformats.org/drawingml/2006/main" prst="rect">
            <a:avLst/>
          </a:prstGeom>
        </p:spPr>
      </p:pic>
      <p:pic>
        <p:nvPicPr>
          <p:cNvPr id="5" name="equation-1" descr="LaTeX: [-3,2]\cdot[a,b]=-3a+2b=0">
            <a:extLst xmlns:a="http://schemas.openxmlformats.org/drawingml/2006/main">
              <a:ext uri="{FF2B5EF4-FFF2-40B4-BE49-F238E27FC236}">
                <a16:creationId xmlns:a16="http://schemas.microsoft.com/office/drawing/2014/main" id="{D92C6D1C-7498-4D5B-B9EE-896CE414DAA1}"/>
              </a:ext>
            </a:extLst>
          </p:cNvPr>
          <p:cNvPicPr>
            <a:picLocks xmlns:a="http://schemas.openxmlformats.org/drawingml/2006/main" noChangeAspect="1"/>
          </p:cNvPicPr>
          <p:nvPr/>
        </p:nvPicPr>
        <p:blipFill>
          <a:blip xmlns:r="http://schemas.openxmlformats.org/officeDocument/2006/relationships" xmlns:a="http://schemas.openxmlformats.org/drawingml/2006/main" r:embed="R14cc479b577f4c67">
            <a:extLst>
              <a:ext uri="{96DAC541-7B7A-43D3-8B79-37D633B846F1}">
                <asvg:svgBlip xmlns:asvg="http://schemas.microsoft.com/office/drawing/2016/SVG/main" r:embed="R0fbdfa1661d94419"/>
              </a:ext>
            </a:extLst>
          </a:blip>
          <a:stretch xmlns:a="http://schemas.openxmlformats.org/drawingml/2006/main"/>
        </p:blipFill>
        <p:spPr>
          <a:xfrm xmlns:a="http://schemas.openxmlformats.org/drawingml/2006/main">
            <a:off x="685800" y="3501713"/>
            <a:ext cx="4741461" cy="436875"/>
          </a:xfrm>
          <a:prstGeom xmlns:a="http://schemas.openxmlformats.org/drawingml/2006/main" prst="rect">
            <a:avLst/>
          </a:prstGeom>
        </p:spPr>
      </p:pic>
      <p:pic>
        <p:nvPicPr>
          <p:cNvPr id="6" name="equation-2" descr="LaTeX: a=2,\quad b=3:\quad-3(2)+2(3)=0">
            <a:extLst xmlns:a="http://schemas.openxmlformats.org/drawingml/2006/main">
              <a:ext uri="{FF2B5EF4-FFF2-40B4-BE49-F238E27FC236}">
                <a16:creationId xmlns:a16="http://schemas.microsoft.com/office/drawing/2014/main" id="{EB8B5556-747E-4FF3-B3EE-09F95813C788}"/>
              </a:ext>
            </a:extLst>
          </p:cNvPr>
          <p:cNvPicPr>
            <a:picLocks xmlns:a="http://schemas.openxmlformats.org/drawingml/2006/main" noChangeAspect="1"/>
          </p:cNvPicPr>
          <p:nvPr/>
        </p:nvPicPr>
        <p:blipFill>
          <a:blip xmlns:r="http://schemas.openxmlformats.org/officeDocument/2006/relationships" xmlns:a="http://schemas.openxmlformats.org/drawingml/2006/main" r:embed="R95f56ebd2e404b9e">
            <a:extLst>
              <a:ext uri="{96DAC541-7B7A-43D3-8B79-37D633B846F1}">
                <asvg:svgBlip xmlns:asvg="http://schemas.microsoft.com/office/drawing/2016/SVG/main" r:embed="R8c4404a8ae3a473b"/>
              </a:ext>
            </a:extLst>
          </a:blip>
          <a:stretch xmlns:a="http://schemas.openxmlformats.org/drawingml/2006/main"/>
        </p:blipFill>
        <p:spPr>
          <a:xfrm xmlns:a="http://schemas.openxmlformats.org/drawingml/2006/main">
            <a:off x="685800" y="4205288"/>
            <a:ext cx="5671259" cy="436875"/>
          </a:xfrm>
          <a:prstGeom xmlns:a="http://schemas.openxmlformats.org/drawingml/2006/main" prst="rect">
            <a:avLst/>
          </a:prstGeom>
        </p:spPr>
      </p:pic>
      <p:pic>
        <p:nvPicPr>
          <p:cNvPr id="7" name="equation-3" descr="LaTeX: \vec r=[6,5]+t[2,3]">
            <a:extLst xmlns:a="http://schemas.openxmlformats.org/drawingml/2006/main">
              <a:ext uri="{FF2B5EF4-FFF2-40B4-BE49-F238E27FC236}">
                <a16:creationId xmlns:a16="http://schemas.microsoft.com/office/drawing/2014/main" id="{D9C3DBF7-B03A-4568-943A-DEDD7FAF1A03}"/>
              </a:ext>
            </a:extLst>
          </p:cNvPr>
          <p:cNvPicPr>
            <a:picLocks xmlns:a="http://schemas.openxmlformats.org/drawingml/2006/main" noChangeAspect="1"/>
          </p:cNvPicPr>
          <p:nvPr/>
        </p:nvPicPr>
        <p:blipFill>
          <a:blip xmlns:r="http://schemas.openxmlformats.org/officeDocument/2006/relationships" xmlns:a="http://schemas.openxmlformats.org/drawingml/2006/main" r:embed="Ree8537cb87c042af">
            <a:extLst>
              <a:ext uri="{96DAC541-7B7A-43D3-8B79-37D633B846F1}">
                <asvg:svgBlip xmlns:asvg="http://schemas.microsoft.com/office/drawing/2016/SVG/main" r:embed="Rfa1591f7fd814b98"/>
              </a:ext>
            </a:extLst>
          </a:blip>
          <a:stretch xmlns:a="http://schemas.openxmlformats.org/drawingml/2006/main"/>
        </p:blipFill>
        <p:spPr>
          <a:xfrm xmlns:a="http://schemas.openxmlformats.org/drawingml/2006/main">
            <a:off x="685800" y="4908862"/>
            <a:ext cx="2769452" cy="436875"/>
          </a:xfrm>
          <a:prstGeom xmlns:a="http://schemas.openxmlformats.org/drawingml/2006/main" prst="rect">
            <a:avLst/>
          </a:prstGeom>
        </p:spPr>
      </p:pic>
    </p:spTree>
    <p:extLst>
      <p:ext uri="{BB962C8B-B14F-4D97-AF65-F5344CB8AC3E}">
        <p14:creationId xmlns:p14="http://schemas.microsoft.com/office/powerpoint/2010/main" val="67660295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C75148F-8F69-41B0-A825-8EF2C7E689FF}"/>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Cartesian to vector and parametric forms</a:t>
            </a:r>
          </a:p>
        </p:txBody>
      </p:sp>
      <p:sp>
        <p:nvSpPr>
          <p:cNvPr id="2" name="page-number">
            <a:extLst xmlns:a="http://schemas.openxmlformats.org/drawingml/2006/main">
              <a:ext uri="{FF2B5EF4-FFF2-40B4-BE49-F238E27FC236}">
                <a16:creationId xmlns:a16="http://schemas.microsoft.com/office/drawing/2014/main" id="{0B04A9D6-A177-495C-88F7-465F06D59848}"/>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45</a:t>
            </a:r>
          </a:p>
        </p:txBody>
      </p:sp>
      <p:sp>
        <p:nvSpPr>
          <p:cNvPr id="3" name="lead">
            <a:extLst xmlns:a="http://schemas.openxmlformats.org/drawingml/2006/main">
              <a:ext uri="{FF2B5EF4-FFF2-40B4-BE49-F238E27FC236}">
                <a16:creationId xmlns:a16="http://schemas.microsoft.com/office/drawing/2014/main" id="{A61AE61F-9792-4AD0-96C1-1EC5C6718AEC}"/>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Read a normal, choose a perpendicular direction, then find a point.</a:t>
            </a:r>
          </a:p>
        </p:txBody>
      </p:sp>
      <p:pic>
        <p:nvPicPr>
          <p:cNvPr id="4" name="equation-0" descr="LaTeX: 2x-3y+6=0:\quad\vec n=[2,-3]">
            <a:extLst xmlns:a="http://schemas.openxmlformats.org/drawingml/2006/main">
              <a:ext uri="{FF2B5EF4-FFF2-40B4-BE49-F238E27FC236}">
                <a16:creationId xmlns:a16="http://schemas.microsoft.com/office/drawing/2014/main" id="{7087F8DB-0891-4B16-929F-29A00001D63F}"/>
              </a:ext>
            </a:extLst>
          </p:cNvPr>
          <p:cNvPicPr>
            <a:picLocks xmlns:a="http://schemas.openxmlformats.org/drawingml/2006/main" noChangeAspect="1"/>
          </p:cNvPicPr>
          <p:nvPr/>
        </p:nvPicPr>
        <p:blipFill>
          <a:blip xmlns:r="http://schemas.openxmlformats.org/officeDocument/2006/relationships" xmlns:a="http://schemas.openxmlformats.org/drawingml/2006/main" r:embed="R3e634573191745a8">
            <a:extLst>
              <a:ext uri="{96DAC541-7B7A-43D3-8B79-37D633B846F1}">
                <asvg:svgBlip xmlns:asvg="http://schemas.microsoft.com/office/drawing/2016/SVG/main" r:embed="Re6aaad224274471d"/>
              </a:ext>
            </a:extLst>
          </a:blip>
          <a:stretch xmlns:a="http://schemas.openxmlformats.org/drawingml/2006/main"/>
        </p:blipFill>
        <p:spPr>
          <a:xfrm xmlns:a="http://schemas.openxmlformats.org/drawingml/2006/main">
            <a:off x="685800" y="2446351"/>
            <a:ext cx="5037788" cy="436875"/>
          </a:xfrm>
          <a:prstGeom xmlns:a="http://schemas.openxmlformats.org/drawingml/2006/main" prst="rect">
            <a:avLst/>
          </a:prstGeom>
        </p:spPr>
      </p:pic>
      <p:pic>
        <p:nvPicPr>
          <p:cNvPr id="5" name="equation-1" descr="LaTeX: \vec m=[3,2],\quad[2,-3]\cdot[3,2]=0">
            <a:extLst xmlns:a="http://schemas.openxmlformats.org/drawingml/2006/main">
              <a:ext uri="{FF2B5EF4-FFF2-40B4-BE49-F238E27FC236}">
                <a16:creationId xmlns:a16="http://schemas.microsoft.com/office/drawing/2014/main" id="{2230E316-C6AE-4312-8E52-CC6D99252C35}"/>
              </a:ext>
            </a:extLst>
          </p:cNvPr>
          <p:cNvPicPr>
            <a:picLocks xmlns:a="http://schemas.openxmlformats.org/drawingml/2006/main" noChangeAspect="1"/>
          </p:cNvPicPr>
          <p:nvPr/>
        </p:nvPicPr>
        <p:blipFill>
          <a:blip xmlns:r="http://schemas.openxmlformats.org/officeDocument/2006/relationships" xmlns:a="http://schemas.openxmlformats.org/drawingml/2006/main" r:embed="R5746095a6d114007">
            <a:extLst>
              <a:ext uri="{96DAC541-7B7A-43D3-8B79-37D633B846F1}">
                <asvg:svgBlip xmlns:asvg="http://schemas.microsoft.com/office/drawing/2016/SVG/main" r:embed="Re213c59c7f8446a5"/>
              </a:ext>
            </a:extLst>
          </a:blip>
          <a:stretch xmlns:a="http://schemas.openxmlformats.org/drawingml/2006/main"/>
        </p:blipFill>
        <p:spPr>
          <a:xfrm xmlns:a="http://schemas.openxmlformats.org/drawingml/2006/main">
            <a:off x="685800" y="3149925"/>
            <a:ext cx="4844878" cy="436875"/>
          </a:xfrm>
          <a:prstGeom xmlns:a="http://schemas.openxmlformats.org/drawingml/2006/main" prst="rect">
            <a:avLst/>
          </a:prstGeom>
        </p:spPr>
      </p:pic>
      <p:pic>
        <p:nvPicPr>
          <p:cNvPr id="6" name="equation-2" descr="LaTeX: x=0:\quad-3y+6=0\quad\Rightarrow\quad P(0,2)">
            <a:extLst xmlns:a="http://schemas.openxmlformats.org/drawingml/2006/main">
              <a:ext uri="{FF2B5EF4-FFF2-40B4-BE49-F238E27FC236}">
                <a16:creationId xmlns:a16="http://schemas.microsoft.com/office/drawing/2014/main" id="{C5F2C8D0-B829-4393-B593-319E6857CC8E}"/>
              </a:ext>
            </a:extLst>
          </p:cNvPr>
          <p:cNvPicPr>
            <a:picLocks xmlns:a="http://schemas.openxmlformats.org/drawingml/2006/main" noChangeAspect="1"/>
          </p:cNvPicPr>
          <p:nvPr/>
        </p:nvPicPr>
        <p:blipFill>
          <a:blip xmlns:r="http://schemas.openxmlformats.org/officeDocument/2006/relationships" xmlns:a="http://schemas.openxmlformats.org/drawingml/2006/main" r:embed="R557d83af590e4ba6">
            <a:extLst>
              <a:ext uri="{96DAC541-7B7A-43D3-8B79-37D633B846F1}">
                <asvg:svgBlip xmlns:asvg="http://schemas.microsoft.com/office/drawing/2016/SVG/main" r:embed="R58b37ed729744825"/>
              </a:ext>
            </a:extLst>
          </a:blip>
          <a:stretch xmlns:a="http://schemas.openxmlformats.org/drawingml/2006/main"/>
        </p:blipFill>
        <p:spPr>
          <a:xfrm xmlns:a="http://schemas.openxmlformats.org/drawingml/2006/main">
            <a:off x="685800" y="3853500"/>
            <a:ext cx="6037151" cy="436875"/>
          </a:xfrm>
          <a:prstGeom xmlns:a="http://schemas.openxmlformats.org/drawingml/2006/main" prst="rect">
            <a:avLst/>
          </a:prstGeom>
        </p:spPr>
      </p:pic>
      <p:pic>
        <p:nvPicPr>
          <p:cNvPr id="7" name="equation-3" descr="LaTeX: \vec r=[0,2]+t[3,2],\quad x=3t,\ y=2+2t">
            <a:extLst xmlns:a="http://schemas.openxmlformats.org/drawingml/2006/main">
              <a:ext uri="{FF2B5EF4-FFF2-40B4-BE49-F238E27FC236}">
                <a16:creationId xmlns:a16="http://schemas.microsoft.com/office/drawing/2014/main" id="{876FEF5F-30BF-4F2F-A74A-E8BA61A003D0}"/>
              </a:ext>
            </a:extLst>
          </p:cNvPr>
          <p:cNvPicPr>
            <a:picLocks xmlns:a="http://schemas.openxmlformats.org/drawingml/2006/main" noChangeAspect="1"/>
          </p:cNvPicPr>
          <p:nvPr/>
        </p:nvPicPr>
        <p:blipFill>
          <a:blip xmlns:r="http://schemas.openxmlformats.org/officeDocument/2006/relationships" xmlns:a="http://schemas.openxmlformats.org/drawingml/2006/main" r:embed="R1c65f0a581fe46ca">
            <a:extLst>
              <a:ext uri="{96DAC541-7B7A-43D3-8B79-37D633B846F1}">
                <asvg:svgBlip xmlns:asvg="http://schemas.microsoft.com/office/drawing/2016/SVG/main" r:embed="Re76bb4a9ae59472a"/>
              </a:ext>
            </a:extLst>
          </a:blip>
          <a:stretch xmlns:a="http://schemas.openxmlformats.org/drawingml/2006/main"/>
        </p:blipFill>
        <p:spPr>
          <a:xfrm xmlns:a="http://schemas.openxmlformats.org/drawingml/2006/main">
            <a:off x="685800" y="4557075"/>
            <a:ext cx="6269695" cy="436875"/>
          </a:xfrm>
          <a:prstGeom xmlns:a="http://schemas.openxmlformats.org/drawingml/2006/main" prst="rect">
            <a:avLst/>
          </a:prstGeom>
        </p:spPr>
      </p:pic>
      <p:pic>
        <p:nvPicPr>
          <p:cNvPr id="8" name="equation-4" descr="LaTeX: 2(3t)-3(2+2t)+6=0">
            <a:extLst xmlns:a="http://schemas.openxmlformats.org/drawingml/2006/main">
              <a:ext uri="{FF2B5EF4-FFF2-40B4-BE49-F238E27FC236}">
                <a16:creationId xmlns:a16="http://schemas.microsoft.com/office/drawing/2014/main" id="{0CE929AC-DCA9-45CA-8187-F76685B7B118}"/>
              </a:ext>
            </a:extLst>
          </p:cNvPr>
          <p:cNvPicPr>
            <a:picLocks xmlns:a="http://schemas.openxmlformats.org/drawingml/2006/main" noChangeAspect="1"/>
          </p:cNvPicPr>
          <p:nvPr/>
        </p:nvPicPr>
        <p:blipFill>
          <a:blip xmlns:r="http://schemas.openxmlformats.org/officeDocument/2006/relationships" xmlns:a="http://schemas.openxmlformats.org/drawingml/2006/main" r:embed="Rf558914984244303">
            <a:extLst>
              <a:ext uri="{96DAC541-7B7A-43D3-8B79-37D633B846F1}">
                <asvg:svgBlip xmlns:asvg="http://schemas.microsoft.com/office/drawing/2016/SVG/main" r:embed="R65659dcf5feb40b4"/>
              </a:ext>
            </a:extLst>
          </a:blip>
          <a:stretch xmlns:a="http://schemas.openxmlformats.org/drawingml/2006/main"/>
        </p:blipFill>
        <p:spPr>
          <a:xfrm xmlns:a="http://schemas.openxmlformats.org/drawingml/2006/main">
            <a:off x="685800" y="5260650"/>
            <a:ext cx="4014308" cy="436875"/>
          </a:xfrm>
          <a:prstGeom xmlns:a="http://schemas.openxmlformats.org/drawingml/2006/main" prst="rect">
            <a:avLst/>
          </a:prstGeom>
        </p:spPr>
      </p:pic>
    </p:spTree>
    <p:extLst>
      <p:ext uri="{BB962C8B-B14F-4D97-AF65-F5344CB8AC3E}">
        <p14:creationId xmlns:p14="http://schemas.microsoft.com/office/powerpoint/2010/main" val="91442995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306F09B-6647-490E-8369-D3D5FE9B1F71}"/>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Vector and parametric to Cartesian form</a:t>
            </a:r>
          </a:p>
        </p:txBody>
      </p:sp>
      <p:sp>
        <p:nvSpPr>
          <p:cNvPr id="2" name="page-number">
            <a:extLst xmlns:a="http://schemas.openxmlformats.org/drawingml/2006/main">
              <a:ext uri="{FF2B5EF4-FFF2-40B4-BE49-F238E27FC236}">
                <a16:creationId xmlns:a16="http://schemas.microsoft.com/office/drawing/2014/main" id="{42DC5B98-1AFE-400D-B229-0DA8A76367A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46</a:t>
            </a:r>
          </a:p>
        </p:txBody>
      </p:sp>
      <p:sp>
        <p:nvSpPr>
          <p:cNvPr id="3" name="lead">
            <a:extLst xmlns:a="http://schemas.openxmlformats.org/drawingml/2006/main">
              <a:ext uri="{FF2B5EF4-FFF2-40B4-BE49-F238E27FC236}">
                <a16:creationId xmlns:a16="http://schemas.microsoft.com/office/drawing/2014/main" id="{4EF48077-9075-48DE-BC11-C94D8407F67D}"/>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Eliminate the shared parameter and check the normal.</a:t>
            </a:r>
          </a:p>
        </p:txBody>
      </p:sp>
      <p:pic>
        <p:nvPicPr>
          <p:cNvPr id="4" name="equation-0" descr="LaTeX: \vec r=[2,-1]+t[3,2]">
            <a:extLst xmlns:a="http://schemas.openxmlformats.org/drawingml/2006/main">
              <a:ext uri="{FF2B5EF4-FFF2-40B4-BE49-F238E27FC236}">
                <a16:creationId xmlns:a16="http://schemas.microsoft.com/office/drawing/2014/main" id="{9A399A7D-C7F2-4745-80E7-EBA0DDF09616}"/>
              </a:ext>
            </a:extLst>
          </p:cNvPr>
          <p:cNvPicPr>
            <a:picLocks xmlns:a="http://schemas.openxmlformats.org/drawingml/2006/main" noChangeAspect="1"/>
          </p:cNvPicPr>
          <p:nvPr/>
        </p:nvPicPr>
        <p:blipFill>
          <a:blip xmlns:r="http://schemas.openxmlformats.org/officeDocument/2006/relationships" xmlns:a="http://schemas.openxmlformats.org/drawingml/2006/main" r:embed="Rfdebdf8b65c1440e">
            <a:extLst>
              <a:ext uri="{96DAC541-7B7A-43D3-8B79-37D633B846F1}">
                <asvg:svgBlip xmlns:asvg="http://schemas.microsoft.com/office/drawing/2016/SVG/main" r:embed="R8ed74c51ca954c25"/>
              </a:ext>
            </a:extLst>
          </a:blip>
          <a:stretch xmlns:a="http://schemas.openxmlformats.org/drawingml/2006/main"/>
        </p:blipFill>
        <p:spPr>
          <a:xfrm xmlns:a="http://schemas.openxmlformats.org/drawingml/2006/main">
            <a:off x="685800" y="2333625"/>
            <a:ext cx="2943350" cy="418422"/>
          </a:xfrm>
          <a:prstGeom xmlns:a="http://schemas.openxmlformats.org/drawingml/2006/main" prst="rect">
            <a:avLst/>
          </a:prstGeom>
        </p:spPr>
      </p:pic>
      <p:pic>
        <p:nvPicPr>
          <p:cNvPr id="5" name="equation-1" descr="LaTeX: x=2+3t,\quad y=-1+2t">
            <a:extLst xmlns:a="http://schemas.openxmlformats.org/drawingml/2006/main">
              <a:ext uri="{FF2B5EF4-FFF2-40B4-BE49-F238E27FC236}">
                <a16:creationId xmlns:a16="http://schemas.microsoft.com/office/drawing/2014/main" id="{F4EB5150-B621-46A9-85F8-25954A5080E2}"/>
              </a:ext>
            </a:extLst>
          </p:cNvPr>
          <p:cNvPicPr>
            <a:picLocks xmlns:a="http://schemas.openxmlformats.org/drawingml/2006/main" noChangeAspect="1"/>
          </p:cNvPicPr>
          <p:nvPr/>
        </p:nvPicPr>
        <p:blipFill>
          <a:blip xmlns:r="http://schemas.openxmlformats.org/officeDocument/2006/relationships" xmlns:a="http://schemas.openxmlformats.org/drawingml/2006/main" r:embed="R781c9d67ab354f68">
            <a:extLst>
              <a:ext uri="{96DAC541-7B7A-43D3-8B79-37D633B846F1}">
                <asvg:svgBlip xmlns:asvg="http://schemas.microsoft.com/office/drawing/2016/SVG/main" r:embed="R4112290772574d6c"/>
              </a:ext>
            </a:extLst>
          </a:blip>
          <a:stretch xmlns:a="http://schemas.openxmlformats.org/drawingml/2006/main"/>
        </p:blipFill>
        <p:spPr>
          <a:xfrm xmlns:a="http://schemas.openxmlformats.org/drawingml/2006/main">
            <a:off x="685800" y="3018747"/>
            <a:ext cx="4018351" cy="358872"/>
          </a:xfrm>
          <a:prstGeom xmlns:a="http://schemas.openxmlformats.org/drawingml/2006/main" prst="rect">
            <a:avLst/>
          </a:prstGeom>
        </p:spPr>
      </p:pic>
      <p:pic>
        <p:nvPicPr>
          <p:cNvPr id="6" name="equation-2" descr="LaTeX: \frac{x-2}{3}=\frac{y+1}{2}">
            <a:extLst xmlns:a="http://schemas.openxmlformats.org/drawingml/2006/main">
              <a:ext uri="{FF2B5EF4-FFF2-40B4-BE49-F238E27FC236}">
                <a16:creationId xmlns:a16="http://schemas.microsoft.com/office/drawing/2014/main" id="{F56694DD-F71A-4E70-82E3-2B29656BF52F}"/>
              </a:ext>
            </a:extLst>
          </p:cNvPr>
          <p:cNvPicPr>
            <a:picLocks xmlns:a="http://schemas.openxmlformats.org/drawingml/2006/main" noChangeAspect="1"/>
          </p:cNvPicPr>
          <p:nvPr/>
        </p:nvPicPr>
        <p:blipFill>
          <a:blip xmlns:r="http://schemas.openxmlformats.org/officeDocument/2006/relationships" xmlns:a="http://schemas.openxmlformats.org/drawingml/2006/main" r:embed="Rb5608a5cabcd4ee9">
            <a:extLst>
              <a:ext uri="{96DAC541-7B7A-43D3-8B79-37D633B846F1}">
                <asvg:svgBlip xmlns:asvg="http://schemas.microsoft.com/office/drawing/2016/SVG/main" r:embed="R789d9f5867e24c3d"/>
              </a:ext>
            </a:extLst>
          </a:blip>
          <a:stretch xmlns:a="http://schemas.openxmlformats.org/drawingml/2006/main"/>
        </p:blipFill>
        <p:spPr>
          <a:xfrm xmlns:a="http://schemas.openxmlformats.org/drawingml/2006/main">
            <a:off x="685800" y="3644319"/>
            <a:ext cx="2229770" cy="795686"/>
          </a:xfrm>
          <a:prstGeom xmlns:a="http://schemas.openxmlformats.org/drawingml/2006/main" prst="rect">
            <a:avLst/>
          </a:prstGeom>
        </p:spPr>
      </p:pic>
      <p:pic>
        <p:nvPicPr>
          <p:cNvPr id="7" name="equation-3" descr="LaTeX: 2(x-2)=3(y+1)\quad\Rightarrow\quad2x-3y-7=0">
            <a:extLst xmlns:a="http://schemas.openxmlformats.org/drawingml/2006/main">
              <a:ext uri="{FF2B5EF4-FFF2-40B4-BE49-F238E27FC236}">
                <a16:creationId xmlns:a16="http://schemas.microsoft.com/office/drawing/2014/main" id="{D8317404-CEF7-47F0-B0F4-E9A792EB72E4}"/>
              </a:ext>
            </a:extLst>
          </p:cNvPr>
          <p:cNvPicPr>
            <a:picLocks xmlns:a="http://schemas.openxmlformats.org/drawingml/2006/main" noChangeAspect="1"/>
          </p:cNvPicPr>
          <p:nvPr/>
        </p:nvPicPr>
        <p:blipFill>
          <a:blip xmlns:r="http://schemas.openxmlformats.org/officeDocument/2006/relationships" xmlns:a="http://schemas.openxmlformats.org/drawingml/2006/main" r:embed="Ra1c2b41c69514fbc">
            <a:extLst>
              <a:ext uri="{96DAC541-7B7A-43D3-8B79-37D633B846F1}">
                <asvg:svgBlip xmlns:asvg="http://schemas.microsoft.com/office/drawing/2016/SVG/main" r:embed="R0ebc2c7c2e3b4632"/>
              </a:ext>
            </a:extLst>
          </a:blip>
          <a:stretch xmlns:a="http://schemas.openxmlformats.org/drawingml/2006/main"/>
        </p:blipFill>
        <p:spPr>
          <a:xfrm xmlns:a="http://schemas.openxmlformats.org/drawingml/2006/main">
            <a:off x="685800" y="4706705"/>
            <a:ext cx="6775401" cy="418422"/>
          </a:xfrm>
          <a:prstGeom xmlns:a="http://schemas.openxmlformats.org/drawingml/2006/main" prst="rect">
            <a:avLst/>
          </a:prstGeom>
        </p:spPr>
      </p:pic>
      <p:pic>
        <p:nvPicPr>
          <p:cNvPr id="8" name="equation-4" descr="LaTeX: \vec n=[2,-3],\quad\vec n\cdot[3,2]=0">
            <a:extLst xmlns:a="http://schemas.openxmlformats.org/drawingml/2006/main">
              <a:ext uri="{FF2B5EF4-FFF2-40B4-BE49-F238E27FC236}">
                <a16:creationId xmlns:a16="http://schemas.microsoft.com/office/drawing/2014/main" id="{0419C4A9-6FAB-48D9-98ED-3D7EAFAF0536}"/>
              </a:ext>
            </a:extLst>
          </p:cNvPr>
          <p:cNvPicPr>
            <a:picLocks xmlns:a="http://schemas.openxmlformats.org/drawingml/2006/main" noChangeAspect="1"/>
          </p:cNvPicPr>
          <p:nvPr/>
        </p:nvPicPr>
        <p:blipFill>
          <a:blip xmlns:r="http://schemas.openxmlformats.org/officeDocument/2006/relationships" xmlns:a="http://schemas.openxmlformats.org/drawingml/2006/main" r:embed="R16786cc6514d474c">
            <a:extLst>
              <a:ext uri="{96DAC541-7B7A-43D3-8B79-37D633B846F1}">
                <asvg:svgBlip xmlns:asvg="http://schemas.microsoft.com/office/drawing/2016/SVG/main" r:embed="R6a33080522024c67"/>
              </a:ext>
            </a:extLst>
          </a:blip>
          <a:stretch xmlns:a="http://schemas.openxmlformats.org/drawingml/2006/main"/>
        </p:blipFill>
        <p:spPr>
          <a:xfrm xmlns:a="http://schemas.openxmlformats.org/drawingml/2006/main">
            <a:off x="685800" y="5391828"/>
            <a:ext cx="4063312" cy="418422"/>
          </a:xfrm>
          <a:prstGeom xmlns:a="http://schemas.openxmlformats.org/drawingml/2006/main" prst="rect">
            <a:avLst/>
          </a:prstGeom>
        </p:spPr>
      </p:pic>
    </p:spTree>
    <p:extLst>
      <p:ext uri="{BB962C8B-B14F-4D97-AF65-F5344CB8AC3E}">
        <p14:creationId xmlns:p14="http://schemas.microsoft.com/office/powerpoint/2010/main" val="69892818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2BB0D04-5CAF-4AD2-8A99-29E10CDE11E3}"/>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Slope to vector form</a:t>
            </a:r>
          </a:p>
        </p:txBody>
      </p:sp>
      <p:sp>
        <p:nvSpPr>
          <p:cNvPr id="2" name="page-number">
            <a:extLst xmlns:a="http://schemas.openxmlformats.org/drawingml/2006/main">
              <a:ext uri="{FF2B5EF4-FFF2-40B4-BE49-F238E27FC236}">
                <a16:creationId xmlns:a16="http://schemas.microsoft.com/office/drawing/2014/main" id="{F254430B-2C6C-4A69-B24C-EB79CA5E4CB3}"/>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47</a:t>
            </a:r>
          </a:p>
        </p:txBody>
      </p:sp>
      <p:sp>
        <p:nvSpPr>
          <p:cNvPr id="3" name="lead">
            <a:extLst xmlns:a="http://schemas.openxmlformats.org/drawingml/2006/main">
              <a:ext uri="{FF2B5EF4-FFF2-40B4-BE49-F238E27FC236}">
                <a16:creationId xmlns:a16="http://schemas.microsoft.com/office/drawing/2014/main" id="{A824B5AC-453E-4038-920F-1D48FF4DF90D}"/>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slope gives rise over run. The intercept supplies a known point.</a:t>
            </a:r>
          </a:p>
        </p:txBody>
      </p:sp>
      <p:pic>
        <p:nvPicPr>
          <p:cNvPr id="4" name="equation-0" descr="LaTeX: y=\frac34x+2">
            <a:extLst xmlns:a="http://schemas.openxmlformats.org/drawingml/2006/main">
              <a:ext uri="{FF2B5EF4-FFF2-40B4-BE49-F238E27FC236}">
                <a16:creationId xmlns:a16="http://schemas.microsoft.com/office/drawing/2014/main" id="{2BA786A6-C838-42CB-97DF-69DF5A13E448}"/>
              </a:ext>
            </a:extLst>
          </p:cNvPr>
          <p:cNvPicPr>
            <a:picLocks xmlns:a="http://schemas.openxmlformats.org/drawingml/2006/main" noChangeAspect="1"/>
          </p:cNvPicPr>
          <p:nvPr/>
        </p:nvPicPr>
        <p:blipFill>
          <a:blip xmlns:r="http://schemas.openxmlformats.org/officeDocument/2006/relationships" xmlns:a="http://schemas.openxmlformats.org/drawingml/2006/main" r:embed="Ra1f51c1d764d441b">
            <a:extLst>
              <a:ext uri="{96DAC541-7B7A-43D3-8B79-37D633B846F1}">
                <asvg:svgBlip xmlns:asvg="http://schemas.microsoft.com/office/drawing/2016/SVG/main" r:embed="R348b1b1b91a94630"/>
              </a:ext>
            </a:extLst>
          </a:blip>
          <a:stretch xmlns:a="http://schemas.openxmlformats.org/drawingml/2006/main"/>
        </p:blipFill>
        <p:spPr>
          <a:xfrm xmlns:a="http://schemas.openxmlformats.org/drawingml/2006/main">
            <a:off x="685800" y="2333625"/>
            <a:ext cx="1493818" cy="684439"/>
          </a:xfrm>
          <a:prstGeom xmlns:a="http://schemas.openxmlformats.org/drawingml/2006/main" prst="rect">
            <a:avLst/>
          </a:prstGeom>
        </p:spPr>
      </p:pic>
      <p:pic>
        <p:nvPicPr>
          <p:cNvPr id="5" name="equation-1" descr="LaTeX: \frac{\Delta y}{\Delta x}=\frac34\quad\Longrightarrow\quad\vec m=[4,3]">
            <a:extLst xmlns:a="http://schemas.openxmlformats.org/drawingml/2006/main">
              <a:ext uri="{FF2B5EF4-FFF2-40B4-BE49-F238E27FC236}">
                <a16:creationId xmlns:a16="http://schemas.microsoft.com/office/drawing/2014/main" id="{3F11DBE0-E7D9-4211-B0B5-3F29AAD107D2}"/>
              </a:ext>
            </a:extLst>
          </p:cNvPr>
          <p:cNvPicPr>
            <a:picLocks xmlns:a="http://schemas.openxmlformats.org/drawingml/2006/main" noChangeAspect="1"/>
          </p:cNvPicPr>
          <p:nvPr/>
        </p:nvPicPr>
        <p:blipFill>
          <a:blip xmlns:r="http://schemas.openxmlformats.org/officeDocument/2006/relationships" xmlns:a="http://schemas.openxmlformats.org/drawingml/2006/main" r:embed="R95d10dc047b74858">
            <a:extLst>
              <a:ext uri="{96DAC541-7B7A-43D3-8B79-37D633B846F1}">
                <asvg:svgBlip xmlns:asvg="http://schemas.microsoft.com/office/drawing/2016/SVG/main" r:embed="Rd52ef7df153c4a05"/>
              </a:ext>
            </a:extLst>
          </a:blip>
          <a:stretch xmlns:a="http://schemas.openxmlformats.org/drawingml/2006/main"/>
        </p:blipFill>
        <p:spPr>
          <a:xfrm xmlns:a="http://schemas.openxmlformats.org/drawingml/2006/main">
            <a:off x="685800" y="3284764"/>
            <a:ext cx="3637099" cy="696846"/>
          </a:xfrm>
          <a:prstGeom xmlns:a="http://schemas.openxmlformats.org/drawingml/2006/main" prst="rect">
            <a:avLst/>
          </a:prstGeom>
        </p:spPr>
      </p:pic>
      <p:pic>
        <p:nvPicPr>
          <p:cNvPr id="6" name="equation-2" descr="LaTeX: x=0\quad\Longrightarrow\quad y=2,\quad P_0(0,2)">
            <a:extLst xmlns:a="http://schemas.openxmlformats.org/drawingml/2006/main">
              <a:ext uri="{FF2B5EF4-FFF2-40B4-BE49-F238E27FC236}">
                <a16:creationId xmlns:a16="http://schemas.microsoft.com/office/drawing/2014/main" id="{71CD2BE4-B982-464C-AEE0-C9CF5EB0FA98}"/>
              </a:ext>
            </a:extLst>
          </p:cNvPr>
          <p:cNvPicPr>
            <a:picLocks xmlns:a="http://schemas.openxmlformats.org/drawingml/2006/main" noChangeAspect="1"/>
          </p:cNvPicPr>
          <p:nvPr/>
        </p:nvPicPr>
        <p:blipFill>
          <a:blip xmlns:r="http://schemas.openxmlformats.org/officeDocument/2006/relationships" xmlns:a="http://schemas.openxmlformats.org/drawingml/2006/main" r:embed="R427920ba985e4a9b">
            <a:extLst>
              <a:ext uri="{96DAC541-7B7A-43D3-8B79-37D633B846F1}">
                <asvg:svgBlip xmlns:asvg="http://schemas.microsoft.com/office/drawing/2016/SVG/main" r:embed="Rce5021ca424144ea"/>
              </a:ext>
            </a:extLst>
          </a:blip>
          <a:stretch xmlns:a="http://schemas.openxmlformats.org/drawingml/2006/main"/>
        </p:blipFill>
        <p:spPr>
          <a:xfrm xmlns:a="http://schemas.openxmlformats.org/drawingml/2006/main">
            <a:off x="685800" y="4248310"/>
            <a:ext cx="4179155" cy="359922"/>
          </a:xfrm>
          <a:prstGeom xmlns:a="http://schemas.openxmlformats.org/drawingml/2006/main" prst="rect">
            <a:avLst/>
          </a:prstGeom>
        </p:spPr>
      </p:pic>
      <p:pic>
        <p:nvPicPr>
          <p:cNvPr id="7" name="equation-3" descr="LaTeX: \vec r=[0,2]+t[4,3]">
            <a:extLst xmlns:a="http://schemas.openxmlformats.org/drawingml/2006/main">
              <a:ext uri="{FF2B5EF4-FFF2-40B4-BE49-F238E27FC236}">
                <a16:creationId xmlns:a16="http://schemas.microsoft.com/office/drawing/2014/main" id="{1FCDCECA-BD65-4488-9FAA-24F45B6AAB72}"/>
              </a:ext>
            </a:extLst>
          </p:cNvPr>
          <p:cNvPicPr>
            <a:picLocks xmlns:a="http://schemas.openxmlformats.org/drawingml/2006/main" noChangeAspect="1"/>
          </p:cNvPicPr>
          <p:nvPr/>
        </p:nvPicPr>
        <p:blipFill>
          <a:blip xmlns:r="http://schemas.openxmlformats.org/officeDocument/2006/relationships" xmlns:a="http://schemas.openxmlformats.org/drawingml/2006/main" r:embed="R65b0ef30d7874d2d">
            <a:extLst>
              <a:ext uri="{96DAC541-7B7A-43D3-8B79-37D633B846F1}">
                <asvg:svgBlip xmlns:asvg="http://schemas.microsoft.com/office/drawing/2016/SVG/main" r:embed="R39551de8474b4b39"/>
              </a:ext>
            </a:extLst>
          </a:blip>
          <a:stretch xmlns:a="http://schemas.openxmlformats.org/drawingml/2006/main"/>
        </p:blipFill>
        <p:spPr>
          <a:xfrm xmlns:a="http://schemas.openxmlformats.org/drawingml/2006/main">
            <a:off x="685800" y="4874931"/>
            <a:ext cx="2281627" cy="359922"/>
          </a:xfrm>
          <a:prstGeom xmlns:a="http://schemas.openxmlformats.org/drawingml/2006/main" prst="rect">
            <a:avLst/>
          </a:prstGeom>
        </p:spPr>
      </p:pic>
      <p:pic>
        <p:nvPicPr>
          <p:cNvPr id="8" name="equation-4" descr="LaTeX: x=4t,\qquad y=2+3t">
            <a:extLst xmlns:a="http://schemas.openxmlformats.org/drawingml/2006/main">
              <a:ext uri="{FF2B5EF4-FFF2-40B4-BE49-F238E27FC236}">
                <a16:creationId xmlns:a16="http://schemas.microsoft.com/office/drawing/2014/main" id="{93E33B9B-52EA-466D-9873-C764C3FD228A}"/>
              </a:ext>
            </a:extLst>
          </p:cNvPr>
          <p:cNvPicPr>
            <a:picLocks xmlns:a="http://schemas.openxmlformats.org/drawingml/2006/main" noChangeAspect="1"/>
          </p:cNvPicPr>
          <p:nvPr/>
        </p:nvPicPr>
        <p:blipFill>
          <a:blip xmlns:r="http://schemas.openxmlformats.org/officeDocument/2006/relationships" xmlns:a="http://schemas.openxmlformats.org/drawingml/2006/main" r:embed="R42b3756c12e3406e">
            <a:extLst>
              <a:ext uri="{96DAC541-7B7A-43D3-8B79-37D633B846F1}">
                <asvg:svgBlip xmlns:asvg="http://schemas.microsoft.com/office/drawing/2016/SVG/main" r:embed="R78fb78a7f7f94626"/>
              </a:ext>
            </a:extLst>
          </a:blip>
          <a:stretch xmlns:a="http://schemas.openxmlformats.org/drawingml/2006/main"/>
        </p:blipFill>
        <p:spPr>
          <a:xfrm xmlns:a="http://schemas.openxmlformats.org/drawingml/2006/main">
            <a:off x="685800" y="5501553"/>
            <a:ext cx="2979330" cy="308697"/>
          </a:xfrm>
          <a:prstGeom xmlns:a="http://schemas.openxmlformats.org/drawingml/2006/main" prst="rect">
            <a:avLst/>
          </a:prstGeom>
        </p:spPr>
      </p:pic>
    </p:spTree>
    <p:extLst>
      <p:ext uri="{BB962C8B-B14F-4D97-AF65-F5344CB8AC3E}">
        <p14:creationId xmlns:p14="http://schemas.microsoft.com/office/powerpoint/2010/main" val="128948259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8E314BF-E660-4BBB-9C39-ED01C07A64BE}"/>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Vector to slope intercept form</a:t>
            </a:r>
          </a:p>
        </p:txBody>
      </p:sp>
      <p:sp>
        <p:nvSpPr>
          <p:cNvPr id="2" name="page-number">
            <a:extLst xmlns:a="http://schemas.openxmlformats.org/drawingml/2006/main">
              <a:ext uri="{FF2B5EF4-FFF2-40B4-BE49-F238E27FC236}">
                <a16:creationId xmlns:a16="http://schemas.microsoft.com/office/drawing/2014/main" id="{1458C02C-C941-4539-87E1-5AEFDD460F72}"/>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48</a:t>
            </a:r>
          </a:p>
        </p:txBody>
      </p:sp>
      <p:sp>
        <p:nvSpPr>
          <p:cNvPr id="3" name="lead">
            <a:extLst xmlns:a="http://schemas.openxmlformats.org/drawingml/2006/main">
              <a:ext uri="{FF2B5EF4-FFF2-40B4-BE49-F238E27FC236}">
                <a16:creationId xmlns:a16="http://schemas.microsoft.com/office/drawing/2014/main" id="{537FF34F-48C9-4A28-8EA6-7337A3F42508}"/>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the direction for the slope and the known point for the intercept.</a:t>
            </a:r>
          </a:p>
        </p:txBody>
      </p:sp>
      <p:pic>
        <p:nvPicPr>
          <p:cNvPr id="4" name="equation-0" descr="LaTeX: \vec r=[3,-6]+s[-1,-4]">
            <a:extLst xmlns:a="http://schemas.openxmlformats.org/drawingml/2006/main">
              <a:ext uri="{FF2B5EF4-FFF2-40B4-BE49-F238E27FC236}">
                <a16:creationId xmlns:a16="http://schemas.microsoft.com/office/drawing/2014/main" id="{0A51958F-D975-409E-B57B-97D2AA1EB6B4}"/>
              </a:ext>
            </a:extLst>
          </p:cNvPr>
          <p:cNvPicPr>
            <a:picLocks xmlns:a="http://schemas.openxmlformats.org/drawingml/2006/main" noChangeAspect="1"/>
          </p:cNvPicPr>
          <p:nvPr/>
        </p:nvPicPr>
        <p:blipFill>
          <a:blip xmlns:r="http://schemas.openxmlformats.org/officeDocument/2006/relationships" xmlns:a="http://schemas.openxmlformats.org/drawingml/2006/main" r:embed="Rdd7868f7430c46de">
            <a:extLst>
              <a:ext uri="{96DAC541-7B7A-43D3-8B79-37D633B846F1}">
                <asvg:svgBlip xmlns:asvg="http://schemas.microsoft.com/office/drawing/2016/SVG/main" r:embed="R09b9528801614ca1"/>
              </a:ext>
            </a:extLst>
          </a:blip>
          <a:stretch xmlns:a="http://schemas.openxmlformats.org/drawingml/2006/main"/>
        </p:blipFill>
        <p:spPr>
          <a:xfrm xmlns:a="http://schemas.openxmlformats.org/drawingml/2006/main">
            <a:off x="685800" y="2333625"/>
            <a:ext cx="3558405" cy="417609"/>
          </a:xfrm>
          <a:prstGeom xmlns:a="http://schemas.openxmlformats.org/drawingml/2006/main" prst="rect">
            <a:avLst/>
          </a:prstGeom>
        </p:spPr>
      </p:pic>
      <p:pic>
        <p:nvPicPr>
          <p:cNvPr id="5" name="equation-1" descr="LaTeX: \text{slope}=\frac{\Delta y}{\Delta x}=\frac{-4}{-1}=4">
            <a:extLst xmlns:a="http://schemas.openxmlformats.org/drawingml/2006/main">
              <a:ext uri="{FF2B5EF4-FFF2-40B4-BE49-F238E27FC236}">
                <a16:creationId xmlns:a16="http://schemas.microsoft.com/office/drawing/2014/main" id="{341ACEB9-E485-48CD-95A6-CE812D59BD57}"/>
              </a:ext>
            </a:extLst>
          </p:cNvPr>
          <p:cNvPicPr>
            <a:picLocks xmlns:a="http://schemas.openxmlformats.org/drawingml/2006/main" noChangeAspect="1"/>
          </p:cNvPicPr>
          <p:nvPr/>
        </p:nvPicPr>
        <p:blipFill>
          <a:blip xmlns:r="http://schemas.openxmlformats.org/officeDocument/2006/relationships" xmlns:a="http://schemas.openxmlformats.org/drawingml/2006/main" r:embed="R203697fb0b354999">
            <a:extLst>
              <a:ext uri="{96DAC541-7B7A-43D3-8B79-37D633B846F1}">
                <asvg:svgBlip xmlns:asvg="http://schemas.microsoft.com/office/drawing/2016/SVG/main" r:embed="R8c18b8f1e6474d0a"/>
              </a:ext>
            </a:extLst>
          </a:blip>
          <a:stretch xmlns:a="http://schemas.openxmlformats.org/drawingml/2006/main"/>
        </p:blipFill>
        <p:spPr>
          <a:xfrm xmlns:a="http://schemas.openxmlformats.org/drawingml/2006/main">
            <a:off x="685800" y="3017934"/>
            <a:ext cx="3424251" cy="839646"/>
          </a:xfrm>
          <a:prstGeom xmlns:a="http://schemas.openxmlformats.org/drawingml/2006/main" prst="rect">
            <a:avLst/>
          </a:prstGeom>
        </p:spPr>
      </p:pic>
      <p:pic>
        <p:nvPicPr>
          <p:cNvPr id="6" name="equation-2" descr="LaTeX: y=4x+b">
            <a:extLst xmlns:a="http://schemas.openxmlformats.org/drawingml/2006/main">
              <a:ext uri="{FF2B5EF4-FFF2-40B4-BE49-F238E27FC236}">
                <a16:creationId xmlns:a16="http://schemas.microsoft.com/office/drawing/2014/main" id="{329EC228-744C-4736-8FEA-28D0DD49EC6B}"/>
              </a:ext>
            </a:extLst>
          </p:cNvPr>
          <p:cNvPicPr>
            <a:picLocks xmlns:a="http://schemas.openxmlformats.org/drawingml/2006/main" noChangeAspect="1"/>
          </p:cNvPicPr>
          <p:nvPr/>
        </p:nvPicPr>
        <p:blipFill>
          <a:blip xmlns:r="http://schemas.openxmlformats.org/officeDocument/2006/relationships" xmlns:a="http://schemas.openxmlformats.org/drawingml/2006/main" r:embed="R4395f9ec0bb64ad0">
            <a:extLst>
              <a:ext uri="{96DAC541-7B7A-43D3-8B79-37D633B846F1}">
                <asvg:svgBlip xmlns:asvg="http://schemas.microsoft.com/office/drawing/2016/SVG/main" r:embed="R6b3556e2fa7a4dbe"/>
              </a:ext>
            </a:extLst>
          </a:blip>
          <a:stretch xmlns:a="http://schemas.openxmlformats.org/drawingml/2006/main"/>
        </p:blipFill>
        <p:spPr>
          <a:xfrm xmlns:a="http://schemas.openxmlformats.org/drawingml/2006/main">
            <a:off x="685800" y="4124280"/>
            <a:ext cx="1681444" cy="376786"/>
          </a:xfrm>
          <a:prstGeom xmlns:a="http://schemas.openxmlformats.org/drawingml/2006/main" prst="rect">
            <a:avLst/>
          </a:prstGeom>
        </p:spPr>
      </p:pic>
      <p:pic>
        <p:nvPicPr>
          <p:cNvPr id="7" name="equation-3" descr="LaTeX: -6=4(3)+b\quad\Longrightarrow\quad b=-6-12=-18">
            <a:extLst xmlns:a="http://schemas.openxmlformats.org/drawingml/2006/main">
              <a:ext uri="{FF2B5EF4-FFF2-40B4-BE49-F238E27FC236}">
                <a16:creationId xmlns:a16="http://schemas.microsoft.com/office/drawing/2014/main" id="{E823F10B-B56E-40A1-8FDC-096650082CF4}"/>
              </a:ext>
            </a:extLst>
          </p:cNvPr>
          <p:cNvPicPr>
            <a:picLocks xmlns:a="http://schemas.openxmlformats.org/drawingml/2006/main" noChangeAspect="1"/>
          </p:cNvPicPr>
          <p:nvPr/>
        </p:nvPicPr>
        <p:blipFill>
          <a:blip xmlns:r="http://schemas.openxmlformats.org/officeDocument/2006/relationships" xmlns:a="http://schemas.openxmlformats.org/drawingml/2006/main" r:embed="Ra1795b5c00a94b55">
            <a:extLst>
              <a:ext uri="{96DAC541-7B7A-43D3-8B79-37D633B846F1}">
                <asvg:svgBlip xmlns:asvg="http://schemas.microsoft.com/office/drawing/2016/SVG/main" r:embed="R5047d506ee9e4633"/>
              </a:ext>
            </a:extLst>
          </a:blip>
          <a:stretch xmlns:a="http://schemas.openxmlformats.org/drawingml/2006/main"/>
        </p:blipFill>
        <p:spPr>
          <a:xfrm xmlns:a="http://schemas.openxmlformats.org/drawingml/2006/main">
            <a:off x="685800" y="4767766"/>
            <a:ext cx="6651150" cy="417609"/>
          </a:xfrm>
          <a:prstGeom xmlns:a="http://schemas.openxmlformats.org/drawingml/2006/main" prst="rect">
            <a:avLst/>
          </a:prstGeom>
        </p:spPr>
      </p:pic>
      <p:pic>
        <p:nvPicPr>
          <p:cNvPr id="8" name="equation-4" descr="LaTeX: y=4x-18">
            <a:extLst xmlns:a="http://schemas.openxmlformats.org/drawingml/2006/main">
              <a:ext uri="{FF2B5EF4-FFF2-40B4-BE49-F238E27FC236}">
                <a16:creationId xmlns:a16="http://schemas.microsoft.com/office/drawing/2014/main" id="{A0683136-1285-4730-9E55-1879B7038554}"/>
              </a:ext>
            </a:extLst>
          </p:cNvPr>
          <p:cNvPicPr>
            <a:picLocks xmlns:a="http://schemas.openxmlformats.org/drawingml/2006/main" noChangeAspect="1"/>
          </p:cNvPicPr>
          <p:nvPr/>
        </p:nvPicPr>
        <p:blipFill>
          <a:blip xmlns:r="http://schemas.openxmlformats.org/officeDocument/2006/relationships" xmlns:a="http://schemas.openxmlformats.org/drawingml/2006/main" r:embed="Rc7b58bebbcf94d31">
            <a:extLst>
              <a:ext uri="{96DAC541-7B7A-43D3-8B79-37D633B846F1}">
                <asvg:svgBlip xmlns:asvg="http://schemas.microsoft.com/office/drawing/2016/SVG/main" r:embed="R1070ddb8cf6a437e"/>
              </a:ext>
            </a:extLst>
          </a:blip>
          <a:stretch xmlns:a="http://schemas.openxmlformats.org/drawingml/2006/main"/>
        </p:blipFill>
        <p:spPr>
          <a:xfrm xmlns:a="http://schemas.openxmlformats.org/drawingml/2006/main">
            <a:off x="685800" y="5452076"/>
            <a:ext cx="1890046" cy="358174"/>
          </a:xfrm>
          <a:prstGeom xmlns:a="http://schemas.openxmlformats.org/drawingml/2006/main" prst="rect">
            <a:avLst/>
          </a:prstGeom>
        </p:spPr>
      </p:pic>
    </p:spTree>
    <p:extLst>
      <p:ext uri="{BB962C8B-B14F-4D97-AF65-F5344CB8AC3E}">
        <p14:creationId xmlns:p14="http://schemas.microsoft.com/office/powerpoint/2010/main" val="3546286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F0280FA-19C8-4F44-A87D-16690CC04448}"/>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vertical line</a:t>
            </a:r>
          </a:p>
        </p:txBody>
      </p:sp>
      <p:sp>
        <p:nvSpPr>
          <p:cNvPr id="2" name="page-number">
            <a:extLst xmlns:a="http://schemas.openxmlformats.org/drawingml/2006/main">
              <a:ext uri="{FF2B5EF4-FFF2-40B4-BE49-F238E27FC236}">
                <a16:creationId xmlns:a16="http://schemas.microsoft.com/office/drawing/2014/main" id="{13537E70-4684-480B-898B-44FC5BF38169}"/>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49</a:t>
            </a:r>
          </a:p>
        </p:txBody>
      </p:sp>
      <p:sp>
        <p:nvSpPr>
          <p:cNvPr id="3" name="lead">
            <a:extLst xmlns:a="http://schemas.openxmlformats.org/drawingml/2006/main">
              <a:ext uri="{FF2B5EF4-FFF2-40B4-BE49-F238E27FC236}">
                <a16:creationId xmlns:a16="http://schemas.microsoft.com/office/drawing/2014/main" id="{1624F458-3518-4260-A363-DD96AB5B6252}"/>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zero x-component means that x stays fixed.</a:t>
            </a:r>
          </a:p>
        </p:txBody>
      </p:sp>
      <p:pic>
        <p:nvPicPr>
          <p:cNvPr id="4" name="equation-0" descr="LaTeX: \vec r=[1,4]+s[0,2]">
            <a:extLst xmlns:a="http://schemas.openxmlformats.org/drawingml/2006/main">
              <a:ext uri="{FF2B5EF4-FFF2-40B4-BE49-F238E27FC236}">
                <a16:creationId xmlns:a16="http://schemas.microsoft.com/office/drawing/2014/main" id="{15585101-6725-4E1E-BA44-C9F31032EAAA}"/>
              </a:ext>
            </a:extLst>
          </p:cNvPr>
          <p:cNvPicPr>
            <a:picLocks xmlns:a="http://schemas.openxmlformats.org/drawingml/2006/main" noChangeAspect="1"/>
          </p:cNvPicPr>
          <p:nvPr/>
        </p:nvPicPr>
        <p:blipFill>
          <a:blip xmlns:r="http://schemas.openxmlformats.org/officeDocument/2006/relationships" xmlns:a="http://schemas.openxmlformats.org/drawingml/2006/main" r:embed="Rc545c4f09e8647c8">
            <a:extLst>
              <a:ext uri="{96DAC541-7B7A-43D3-8B79-37D633B846F1}">
                <asvg:svgBlip xmlns:asvg="http://schemas.microsoft.com/office/drawing/2016/SVG/main" r:embed="R40c17a7a27cf4573"/>
              </a:ext>
            </a:extLst>
          </a:blip>
          <a:stretch xmlns:a="http://schemas.openxmlformats.org/drawingml/2006/main"/>
        </p:blipFill>
        <p:spPr>
          <a:xfrm xmlns:a="http://schemas.openxmlformats.org/drawingml/2006/main">
            <a:off x="685800" y="2530219"/>
            <a:ext cx="2811480" cy="436875"/>
          </a:xfrm>
          <a:prstGeom xmlns:a="http://schemas.openxmlformats.org/drawingml/2006/main" prst="rect">
            <a:avLst/>
          </a:prstGeom>
        </p:spPr>
      </p:pic>
      <p:pic>
        <p:nvPicPr>
          <p:cNvPr id="5" name="equation-1" descr="LaTeX: x=1+0s=1,\qquad y=4+2s">
            <a:extLst xmlns:a="http://schemas.openxmlformats.org/drawingml/2006/main">
              <a:ext uri="{FF2B5EF4-FFF2-40B4-BE49-F238E27FC236}">
                <a16:creationId xmlns:a16="http://schemas.microsoft.com/office/drawing/2014/main" id="{8CFC2682-1BF5-47B3-BB5D-5DF7CA3C1803}"/>
              </a:ext>
            </a:extLst>
          </p:cNvPr>
          <p:cNvPicPr>
            <a:picLocks xmlns:a="http://schemas.openxmlformats.org/drawingml/2006/main" noChangeAspect="1"/>
          </p:cNvPicPr>
          <p:nvPr/>
        </p:nvPicPr>
        <p:blipFill>
          <a:blip xmlns:r="http://schemas.openxmlformats.org/officeDocument/2006/relationships" xmlns:a="http://schemas.openxmlformats.org/drawingml/2006/main" r:embed="Rc0c640f19c6743af">
            <a:extLst>
              <a:ext uri="{96DAC541-7B7A-43D3-8B79-37D633B846F1}">
                <asvg:svgBlip xmlns:asvg="http://schemas.microsoft.com/office/drawing/2016/SVG/main" r:embed="R978d6cb938d646c1"/>
              </a:ext>
            </a:extLst>
          </a:blip>
          <a:stretch xmlns:a="http://schemas.openxmlformats.org/drawingml/2006/main"/>
        </p:blipFill>
        <p:spPr>
          <a:xfrm xmlns:a="http://schemas.openxmlformats.org/drawingml/2006/main">
            <a:off x="685800" y="3233794"/>
            <a:ext cx="5011150" cy="374698"/>
          </a:xfrm>
          <a:prstGeom xmlns:a="http://schemas.openxmlformats.org/drawingml/2006/main" prst="rect">
            <a:avLst/>
          </a:prstGeom>
        </p:spPr>
      </p:pic>
      <p:pic>
        <p:nvPicPr>
          <p:cNvPr id="6" name="equation-2" descr="LaTeX: \vec n=[2,0],\qquad[2,0]\cdot[0,2]=0">
            <a:extLst xmlns:a="http://schemas.openxmlformats.org/drawingml/2006/main">
              <a:ext uri="{FF2B5EF4-FFF2-40B4-BE49-F238E27FC236}">
                <a16:creationId xmlns:a16="http://schemas.microsoft.com/office/drawing/2014/main" id="{FA93B3CE-F0B9-4565-875A-FB878AA3860A}"/>
              </a:ext>
            </a:extLst>
          </p:cNvPr>
          <p:cNvPicPr>
            <a:picLocks xmlns:a="http://schemas.openxmlformats.org/drawingml/2006/main" noChangeAspect="1"/>
          </p:cNvPicPr>
          <p:nvPr/>
        </p:nvPicPr>
        <p:blipFill>
          <a:blip xmlns:r="http://schemas.openxmlformats.org/officeDocument/2006/relationships" xmlns:a="http://schemas.openxmlformats.org/drawingml/2006/main" r:embed="R2390d5d0e18d4678">
            <a:extLst>
              <a:ext uri="{96DAC541-7B7A-43D3-8B79-37D633B846F1}">
                <asvg:svgBlip xmlns:asvg="http://schemas.microsoft.com/office/drawing/2016/SVG/main" r:embed="R9179acdd3228443d"/>
              </a:ext>
            </a:extLst>
          </a:blip>
          <a:stretch xmlns:a="http://schemas.openxmlformats.org/drawingml/2006/main"/>
        </p:blipFill>
        <p:spPr>
          <a:xfrm xmlns:a="http://schemas.openxmlformats.org/drawingml/2006/main">
            <a:off x="685800" y="3875192"/>
            <a:ext cx="4793114" cy="436875"/>
          </a:xfrm>
          <a:prstGeom xmlns:a="http://schemas.openxmlformats.org/drawingml/2006/main" prst="rect">
            <a:avLst/>
          </a:prstGeom>
        </p:spPr>
      </p:pic>
      <p:pic>
        <p:nvPicPr>
          <p:cNvPr id="7" name="equation-3" descr="LaTeX: 2x+C=0,\quad2(1)+C=0\quad\Longrightarrow\quad C=-2">
            <a:extLst xmlns:a="http://schemas.openxmlformats.org/drawingml/2006/main">
              <a:ext uri="{FF2B5EF4-FFF2-40B4-BE49-F238E27FC236}">
                <a16:creationId xmlns:a16="http://schemas.microsoft.com/office/drawing/2014/main" id="{A75EDF50-4F20-452B-A02A-061BCFDF6019}"/>
              </a:ext>
            </a:extLst>
          </p:cNvPr>
          <p:cNvPicPr>
            <a:picLocks xmlns:a="http://schemas.openxmlformats.org/drawingml/2006/main" noChangeAspect="1"/>
          </p:cNvPicPr>
          <p:nvPr/>
        </p:nvPicPr>
        <p:blipFill>
          <a:blip xmlns:r="http://schemas.openxmlformats.org/officeDocument/2006/relationships" xmlns:a="http://schemas.openxmlformats.org/drawingml/2006/main" r:embed="R83d909de2caf482a">
            <a:extLst>
              <a:ext uri="{96DAC541-7B7A-43D3-8B79-37D633B846F1}">
                <asvg:svgBlip xmlns:asvg="http://schemas.microsoft.com/office/drawing/2016/SVG/main" r:embed="R67fd8f99ba57455f"/>
              </a:ext>
            </a:extLst>
          </a:blip>
          <a:stretch xmlns:a="http://schemas.openxmlformats.org/drawingml/2006/main"/>
        </p:blipFill>
        <p:spPr>
          <a:xfrm xmlns:a="http://schemas.openxmlformats.org/drawingml/2006/main">
            <a:off x="685800" y="4578767"/>
            <a:ext cx="7296138" cy="436875"/>
          </a:xfrm>
          <a:prstGeom xmlns:a="http://schemas.openxmlformats.org/drawingml/2006/main" prst="rect">
            <a:avLst/>
          </a:prstGeom>
        </p:spPr>
      </p:pic>
      <p:pic>
        <p:nvPicPr>
          <p:cNvPr id="8" name="equation-4" descr="LaTeX: 2x-2=0\quad\Longrightarrow\quad x-1=0">
            <a:extLst xmlns:a="http://schemas.openxmlformats.org/drawingml/2006/main">
              <a:ext uri="{FF2B5EF4-FFF2-40B4-BE49-F238E27FC236}">
                <a16:creationId xmlns:a16="http://schemas.microsoft.com/office/drawing/2014/main" id="{F5BB80FE-ADE0-4E77-A2B0-06956E58A3D5}"/>
              </a:ext>
            </a:extLst>
          </p:cNvPr>
          <p:cNvPicPr>
            <a:picLocks xmlns:a="http://schemas.openxmlformats.org/drawingml/2006/main" noChangeAspect="1"/>
          </p:cNvPicPr>
          <p:nvPr/>
        </p:nvPicPr>
        <p:blipFill>
          <a:blip xmlns:r="http://schemas.openxmlformats.org/officeDocument/2006/relationships" xmlns:a="http://schemas.openxmlformats.org/drawingml/2006/main" r:embed="R5a01b1eb112346e7">
            <a:extLst>
              <a:ext uri="{96DAC541-7B7A-43D3-8B79-37D633B846F1}">
                <asvg:svgBlip xmlns:asvg="http://schemas.microsoft.com/office/drawing/2016/SVG/main" r:embed="R37cfb87f172442b4"/>
              </a:ext>
            </a:extLst>
          </a:blip>
          <a:stretch xmlns:a="http://schemas.openxmlformats.org/drawingml/2006/main"/>
        </p:blipFill>
        <p:spPr>
          <a:xfrm xmlns:a="http://schemas.openxmlformats.org/drawingml/2006/main">
            <a:off x="685800" y="5282341"/>
            <a:ext cx="4867153" cy="331315"/>
          </a:xfrm>
          <a:prstGeom xmlns:a="http://schemas.openxmlformats.org/drawingml/2006/main" prst="rect">
            <a:avLst/>
          </a:prstGeom>
        </p:spPr>
      </p:pic>
    </p:spTree>
    <p:extLst>
      <p:ext uri="{BB962C8B-B14F-4D97-AF65-F5344CB8AC3E}">
        <p14:creationId xmlns:p14="http://schemas.microsoft.com/office/powerpoint/2010/main" val="99401751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7B46AF3-B817-417D-9DE7-A162BBADC6EC}"/>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Horizontal lines</a:t>
            </a:r>
          </a:p>
        </p:txBody>
      </p:sp>
      <p:sp>
        <p:nvSpPr>
          <p:cNvPr id="2" name="page-number">
            <a:extLst xmlns:a="http://schemas.openxmlformats.org/drawingml/2006/main">
              <a:ext uri="{FF2B5EF4-FFF2-40B4-BE49-F238E27FC236}">
                <a16:creationId xmlns:a16="http://schemas.microsoft.com/office/drawing/2014/main" id="{778A2A7F-9679-4F43-8A5C-E9EDA5537418}"/>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50</a:t>
            </a:r>
          </a:p>
        </p:txBody>
      </p:sp>
      <p:sp>
        <p:nvSpPr>
          <p:cNvPr id="3" name="lead">
            <a:extLst xmlns:a="http://schemas.openxmlformats.org/drawingml/2006/main">
              <a:ext uri="{FF2B5EF4-FFF2-40B4-BE49-F238E27FC236}">
                <a16:creationId xmlns:a16="http://schemas.microsoft.com/office/drawing/2014/main" id="{7439E1D0-26CA-4AFB-8722-04D8948C3E8A}"/>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zero y-direction component keeps y fixed.</a:t>
            </a:r>
          </a:p>
        </p:txBody>
      </p:sp>
      <p:pic>
        <p:nvPicPr>
          <p:cNvPr id="4" name="equation-0" descr="LaTeX: \vec r=[2,-3]+t[4,0]">
            <a:extLst xmlns:a="http://schemas.openxmlformats.org/drawingml/2006/main">
              <a:ext uri="{FF2B5EF4-FFF2-40B4-BE49-F238E27FC236}">
                <a16:creationId xmlns:a16="http://schemas.microsoft.com/office/drawing/2014/main" id="{4DF1AA93-759A-4050-8697-695912A88A36}"/>
              </a:ext>
            </a:extLst>
          </p:cNvPr>
          <p:cNvPicPr>
            <a:picLocks xmlns:a="http://schemas.openxmlformats.org/drawingml/2006/main" noChangeAspect="1"/>
          </p:cNvPicPr>
          <p:nvPr/>
        </p:nvPicPr>
        <p:blipFill>
          <a:blip xmlns:r="http://schemas.openxmlformats.org/officeDocument/2006/relationships" xmlns:a="http://schemas.openxmlformats.org/drawingml/2006/main" r:embed="Ra564cf88bdf841cd">
            <a:extLst>
              <a:ext uri="{96DAC541-7B7A-43D3-8B79-37D633B846F1}">
                <asvg:svgBlip xmlns:asvg="http://schemas.microsoft.com/office/drawing/2016/SVG/main" r:embed="Rc4266a2fa53d48f8"/>
              </a:ext>
            </a:extLst>
          </a:blip>
          <a:stretch xmlns:a="http://schemas.openxmlformats.org/drawingml/2006/main"/>
        </p:blipFill>
        <p:spPr>
          <a:xfrm xmlns:a="http://schemas.openxmlformats.org/drawingml/2006/main">
            <a:off x="685800" y="2850571"/>
            <a:ext cx="3073151" cy="436875"/>
          </a:xfrm>
          <a:prstGeom xmlns:a="http://schemas.openxmlformats.org/drawingml/2006/main" prst="rect">
            <a:avLst/>
          </a:prstGeom>
        </p:spPr>
      </p:pic>
      <p:pic>
        <p:nvPicPr>
          <p:cNvPr id="5" name="equation-1" descr="LaTeX: x=2+4t,\quad y=-3">
            <a:extLst xmlns:a="http://schemas.openxmlformats.org/drawingml/2006/main">
              <a:ext uri="{FF2B5EF4-FFF2-40B4-BE49-F238E27FC236}">
                <a16:creationId xmlns:a16="http://schemas.microsoft.com/office/drawing/2014/main" id="{6C38E767-557F-46CD-A8C0-A9243B42CAE1}"/>
              </a:ext>
            </a:extLst>
          </p:cNvPr>
          <p:cNvPicPr>
            <a:picLocks xmlns:a="http://schemas.openxmlformats.org/drawingml/2006/main" noChangeAspect="1"/>
          </p:cNvPicPr>
          <p:nvPr/>
        </p:nvPicPr>
        <p:blipFill>
          <a:blip xmlns:r="http://schemas.openxmlformats.org/officeDocument/2006/relationships" xmlns:a="http://schemas.openxmlformats.org/drawingml/2006/main" r:embed="R286f1e6f10cc4b22">
            <a:extLst>
              <a:ext uri="{96DAC541-7B7A-43D3-8B79-37D633B846F1}">
                <asvg:svgBlip xmlns:asvg="http://schemas.microsoft.com/office/drawing/2016/SVG/main" r:embed="Rb68810115549422c"/>
              </a:ext>
            </a:extLst>
          </a:blip>
          <a:stretch xmlns:a="http://schemas.openxmlformats.org/drawingml/2006/main"/>
        </p:blipFill>
        <p:spPr>
          <a:xfrm xmlns:a="http://schemas.openxmlformats.org/drawingml/2006/main">
            <a:off x="685800" y="3554146"/>
            <a:ext cx="3423811" cy="374698"/>
          </a:xfrm>
          <a:prstGeom xmlns:a="http://schemas.openxmlformats.org/drawingml/2006/main" prst="rect">
            <a:avLst/>
          </a:prstGeom>
        </p:spPr>
      </p:pic>
      <p:pic>
        <p:nvPicPr>
          <p:cNvPr id="6" name="equation-2" descr="LaTeX: y+3=0,\quad\vec n=[0,1]">
            <a:extLst xmlns:a="http://schemas.openxmlformats.org/drawingml/2006/main">
              <a:ext uri="{FF2B5EF4-FFF2-40B4-BE49-F238E27FC236}">
                <a16:creationId xmlns:a16="http://schemas.microsoft.com/office/drawing/2014/main" id="{DABE3779-4BC5-463E-898B-88EDF8E29EEF}"/>
              </a:ext>
            </a:extLst>
          </p:cNvPr>
          <p:cNvPicPr>
            <a:picLocks xmlns:a="http://schemas.openxmlformats.org/drawingml/2006/main" noChangeAspect="1"/>
          </p:cNvPicPr>
          <p:nvPr/>
        </p:nvPicPr>
        <p:blipFill>
          <a:blip xmlns:r="http://schemas.openxmlformats.org/officeDocument/2006/relationships" xmlns:a="http://schemas.openxmlformats.org/drawingml/2006/main" r:embed="R2846f9b66f8c4d3a">
            <a:extLst>
              <a:ext uri="{96DAC541-7B7A-43D3-8B79-37D633B846F1}">
                <asvg:svgBlip xmlns:asvg="http://schemas.microsoft.com/office/drawing/2016/SVG/main" r:embed="R5a007e8ae7014df0"/>
              </a:ext>
            </a:extLst>
          </a:blip>
          <a:stretch xmlns:a="http://schemas.openxmlformats.org/drawingml/2006/main"/>
        </p:blipFill>
        <p:spPr>
          <a:xfrm xmlns:a="http://schemas.openxmlformats.org/drawingml/2006/main">
            <a:off x="685800" y="4195544"/>
            <a:ext cx="3538318" cy="436875"/>
          </a:xfrm>
          <a:prstGeom xmlns:a="http://schemas.openxmlformats.org/drawingml/2006/main" prst="rect">
            <a:avLst/>
          </a:prstGeom>
        </p:spPr>
      </p:pic>
      <p:pic>
        <p:nvPicPr>
          <p:cNvPr id="7" name="equation-3" descr="LaTeX: \text{Slope }0\qquad\text{Vertical lines have undefined slope}">
            <a:extLst xmlns:a="http://schemas.openxmlformats.org/drawingml/2006/main">
              <a:ext uri="{FF2B5EF4-FFF2-40B4-BE49-F238E27FC236}">
                <a16:creationId xmlns:a16="http://schemas.microsoft.com/office/drawing/2014/main" id="{D427909E-01FF-49DB-8AB3-F7BE49E42EE8}"/>
              </a:ext>
            </a:extLst>
          </p:cNvPr>
          <p:cNvPicPr>
            <a:picLocks xmlns:a="http://schemas.openxmlformats.org/drawingml/2006/main" noChangeAspect="1"/>
          </p:cNvPicPr>
          <p:nvPr/>
        </p:nvPicPr>
        <p:blipFill>
          <a:blip xmlns:r="http://schemas.openxmlformats.org/officeDocument/2006/relationships" xmlns:a="http://schemas.openxmlformats.org/drawingml/2006/main" r:embed="R3720e666d0414422">
            <a:extLst>
              <a:ext uri="{96DAC541-7B7A-43D3-8B79-37D633B846F1}">
                <asvg:svgBlip xmlns:asvg="http://schemas.microsoft.com/office/drawing/2016/SVG/main" r:embed="R236d2f459d5846d6"/>
              </a:ext>
            </a:extLst>
          </a:blip>
          <a:stretch xmlns:a="http://schemas.openxmlformats.org/drawingml/2006/main"/>
        </p:blipFill>
        <p:spPr>
          <a:xfrm xmlns:a="http://schemas.openxmlformats.org/drawingml/2006/main">
            <a:off x="685800" y="4899119"/>
            <a:ext cx="7278699" cy="394184"/>
          </a:xfrm>
          <a:prstGeom xmlns:a="http://schemas.openxmlformats.org/drawingml/2006/main" prst="rect">
            <a:avLst/>
          </a:prstGeom>
        </p:spPr>
      </p:pic>
    </p:spTree>
    <p:extLst>
      <p:ext uri="{BB962C8B-B14F-4D97-AF65-F5344CB8AC3E}">
        <p14:creationId xmlns:p14="http://schemas.microsoft.com/office/powerpoint/2010/main" val="80552610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4D646E2-EBC9-46B2-8AB7-0C42151989AC}"/>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Parallel or coincident lines</a:t>
            </a:r>
          </a:p>
        </p:txBody>
      </p:sp>
      <p:sp>
        <p:nvSpPr>
          <p:cNvPr id="2" name="page-number">
            <a:extLst xmlns:a="http://schemas.openxmlformats.org/drawingml/2006/main">
              <a:ext uri="{FF2B5EF4-FFF2-40B4-BE49-F238E27FC236}">
                <a16:creationId xmlns:a16="http://schemas.microsoft.com/office/drawing/2014/main" id="{651CECE7-D038-43DA-94EF-F55D391AA4FE}"/>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51</a:t>
            </a:r>
          </a:p>
        </p:txBody>
      </p:sp>
      <p:sp>
        <p:nvSpPr>
          <p:cNvPr id="3" name="lead">
            <a:extLst xmlns:a="http://schemas.openxmlformats.org/drawingml/2006/main">
              <a:ext uri="{FF2B5EF4-FFF2-40B4-BE49-F238E27FC236}">
                <a16:creationId xmlns:a16="http://schemas.microsoft.com/office/drawing/2014/main" id="{C9D94485-C36D-4CB8-A483-FC6A737CB015}"/>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Parallel normals give parallel line directions in two dimensions.</a:t>
            </a:r>
          </a:p>
        </p:txBody>
      </p:sp>
      <p:pic>
        <p:nvPicPr>
          <p:cNvPr id="4" name="equation-0" descr="LaTeX: L_1:3x-4y-6=0,\quad L_2:6x-8y+12=0">
            <a:extLst xmlns:a="http://schemas.openxmlformats.org/drawingml/2006/main">
              <a:ext uri="{FF2B5EF4-FFF2-40B4-BE49-F238E27FC236}">
                <a16:creationId xmlns:a16="http://schemas.microsoft.com/office/drawing/2014/main" id="{4C586C02-5ECD-4655-A206-CBEF18302DD8}"/>
              </a:ext>
            </a:extLst>
          </p:cNvPr>
          <p:cNvPicPr>
            <a:picLocks xmlns:a="http://schemas.openxmlformats.org/drawingml/2006/main" noChangeAspect="1"/>
          </p:cNvPicPr>
          <p:nvPr/>
        </p:nvPicPr>
        <p:blipFill>
          <a:blip xmlns:r="http://schemas.openxmlformats.org/officeDocument/2006/relationships" xmlns:a="http://schemas.openxmlformats.org/drawingml/2006/main" r:embed="R6b47852ce1de4d57">
            <a:extLst>
              <a:ext uri="{96DAC541-7B7A-43D3-8B79-37D633B846F1}">
                <asvg:svgBlip xmlns:asvg="http://schemas.microsoft.com/office/drawing/2016/SVG/main" r:embed="R22b995604c784d93"/>
              </a:ext>
            </a:extLst>
          </a:blip>
          <a:stretch xmlns:a="http://schemas.openxmlformats.org/drawingml/2006/main"/>
        </p:blipFill>
        <p:spPr>
          <a:xfrm xmlns:a="http://schemas.openxmlformats.org/drawingml/2006/main">
            <a:off x="685800" y="2493231"/>
            <a:ext cx="7319405" cy="389821"/>
          </a:xfrm>
          <a:prstGeom xmlns:a="http://schemas.openxmlformats.org/drawingml/2006/main" prst="rect">
            <a:avLst/>
          </a:prstGeom>
        </p:spPr>
      </p:pic>
      <p:pic>
        <p:nvPicPr>
          <p:cNvPr id="5" name="equation-1" descr="LaTeX: \vec n_2=[6,-8]=2[3,-4]=2\vec n_1">
            <a:extLst xmlns:a="http://schemas.openxmlformats.org/drawingml/2006/main">
              <a:ext uri="{FF2B5EF4-FFF2-40B4-BE49-F238E27FC236}">
                <a16:creationId xmlns:a16="http://schemas.microsoft.com/office/drawing/2014/main" id="{4A0B3226-460C-402E-9B6B-CE185A7434C8}"/>
              </a:ext>
            </a:extLst>
          </p:cNvPr>
          <p:cNvPicPr>
            <a:picLocks xmlns:a="http://schemas.openxmlformats.org/drawingml/2006/main" noChangeAspect="1"/>
          </p:cNvPicPr>
          <p:nvPr/>
        </p:nvPicPr>
        <p:blipFill>
          <a:blip xmlns:r="http://schemas.openxmlformats.org/officeDocument/2006/relationships" xmlns:a="http://schemas.openxmlformats.org/drawingml/2006/main" r:embed="Rccfcff60395c4632">
            <a:extLst>
              <a:ext uri="{96DAC541-7B7A-43D3-8B79-37D633B846F1}">
                <asvg:svgBlip xmlns:asvg="http://schemas.microsoft.com/office/drawing/2016/SVG/main" r:embed="Rd5c8c96051eb45e4"/>
              </a:ext>
            </a:extLst>
          </a:blip>
          <a:stretch xmlns:a="http://schemas.openxmlformats.org/drawingml/2006/main"/>
        </p:blipFill>
        <p:spPr>
          <a:xfrm xmlns:a="http://schemas.openxmlformats.org/drawingml/2006/main">
            <a:off x="685800" y="3149752"/>
            <a:ext cx="4676275" cy="436875"/>
          </a:xfrm>
          <a:prstGeom xmlns:a="http://schemas.openxmlformats.org/drawingml/2006/main" prst="rect">
            <a:avLst/>
          </a:prstGeom>
        </p:spPr>
      </p:pic>
      <p:pic>
        <p:nvPicPr>
          <p:cNvPr id="6" name="equation-2" descr="LaTeX: y=0\text{ in }L_1:\quad3x-6=0\quad\Longrightarrow\quad x=2">
            <a:extLst xmlns:a="http://schemas.openxmlformats.org/drawingml/2006/main">
              <a:ext uri="{FF2B5EF4-FFF2-40B4-BE49-F238E27FC236}">
                <a16:creationId xmlns:a16="http://schemas.microsoft.com/office/drawing/2014/main" id="{FDB2A450-BD59-4884-BCCE-E13921D09942}"/>
              </a:ext>
            </a:extLst>
          </p:cNvPr>
          <p:cNvPicPr>
            <a:picLocks xmlns:a="http://schemas.openxmlformats.org/drawingml/2006/main" noChangeAspect="1"/>
          </p:cNvPicPr>
          <p:nvPr/>
        </p:nvPicPr>
        <p:blipFill>
          <a:blip xmlns:r="http://schemas.openxmlformats.org/officeDocument/2006/relationships" xmlns:a="http://schemas.openxmlformats.org/drawingml/2006/main" r:embed="R1a295ef996eb4e6a">
            <a:extLst>
              <a:ext uri="{96DAC541-7B7A-43D3-8B79-37D633B846F1}">
                <asvg:svgBlip xmlns:asvg="http://schemas.microsoft.com/office/drawing/2016/SVG/main" r:embed="Rc20f6ad236c148e0"/>
              </a:ext>
            </a:extLst>
          </a:blip>
          <a:stretch xmlns:a="http://schemas.openxmlformats.org/drawingml/2006/main"/>
        </p:blipFill>
        <p:spPr>
          <a:xfrm xmlns:a="http://schemas.openxmlformats.org/drawingml/2006/main">
            <a:off x="685800" y="3853327"/>
            <a:ext cx="6685950" cy="389821"/>
          </a:xfrm>
          <a:prstGeom xmlns:a="http://schemas.openxmlformats.org/drawingml/2006/main" prst="rect">
            <a:avLst/>
          </a:prstGeom>
        </p:spPr>
      </p:pic>
      <p:pic>
        <p:nvPicPr>
          <p:cNvPr id="7" name="equation-3" descr="LaTeX: 6(2)-8(0)+12=24\ne0">
            <a:extLst xmlns:a="http://schemas.openxmlformats.org/drawingml/2006/main">
              <a:ext uri="{FF2B5EF4-FFF2-40B4-BE49-F238E27FC236}">
                <a16:creationId xmlns:a16="http://schemas.microsoft.com/office/drawing/2014/main" id="{31293067-B85D-458A-99A2-3FFCFEBEC3C6}"/>
              </a:ext>
            </a:extLst>
          </p:cNvPr>
          <p:cNvPicPr>
            <a:picLocks xmlns:a="http://schemas.openxmlformats.org/drawingml/2006/main" noChangeAspect="1"/>
          </p:cNvPicPr>
          <p:nvPr/>
        </p:nvPicPr>
        <p:blipFill>
          <a:blip xmlns:r="http://schemas.openxmlformats.org/officeDocument/2006/relationships" xmlns:a="http://schemas.openxmlformats.org/drawingml/2006/main" r:embed="R56d3902a78844b92">
            <a:extLst>
              <a:ext uri="{96DAC541-7B7A-43D3-8B79-37D633B846F1}">
                <asvg:svgBlip xmlns:asvg="http://schemas.microsoft.com/office/drawing/2016/SVG/main" r:embed="Rf4b3b1b7540742ba"/>
              </a:ext>
            </a:extLst>
          </a:blip>
          <a:stretch xmlns:a="http://schemas.openxmlformats.org/drawingml/2006/main"/>
        </p:blipFill>
        <p:spPr>
          <a:xfrm xmlns:a="http://schemas.openxmlformats.org/drawingml/2006/main">
            <a:off x="685800" y="4509848"/>
            <a:ext cx="4139716" cy="436875"/>
          </a:xfrm>
          <a:prstGeom xmlns:a="http://schemas.openxmlformats.org/drawingml/2006/main" prst="rect">
            <a:avLst/>
          </a:prstGeom>
        </p:spPr>
      </p:pic>
      <p:pic>
        <p:nvPicPr>
          <p:cNvPr id="8" name="equation-4" descr="LaTeX: (2,0)\notin L_2\quad\Longrightarrow\quad\text{distinct parallel lines}">
            <a:extLst xmlns:a="http://schemas.openxmlformats.org/drawingml/2006/main">
              <a:ext uri="{FF2B5EF4-FFF2-40B4-BE49-F238E27FC236}">
                <a16:creationId xmlns:a16="http://schemas.microsoft.com/office/drawing/2014/main" id="{897054A0-2A4D-45D1-83B8-D6157C64B725}"/>
              </a:ext>
            </a:extLst>
          </p:cNvPr>
          <p:cNvPicPr>
            <a:picLocks xmlns:a="http://schemas.openxmlformats.org/drawingml/2006/main" noChangeAspect="1"/>
          </p:cNvPicPr>
          <p:nvPr/>
        </p:nvPicPr>
        <p:blipFill>
          <a:blip xmlns:r="http://schemas.openxmlformats.org/officeDocument/2006/relationships" xmlns:a="http://schemas.openxmlformats.org/drawingml/2006/main" r:embed="R048ae57f50924c1a">
            <a:extLst>
              <a:ext uri="{96DAC541-7B7A-43D3-8B79-37D633B846F1}">
                <asvg:svgBlip xmlns:asvg="http://schemas.microsoft.com/office/drawing/2016/SVG/main" r:embed="Re654755d6a884a6f"/>
              </a:ext>
            </a:extLst>
          </a:blip>
          <a:stretch xmlns:a="http://schemas.openxmlformats.org/drawingml/2006/main"/>
        </p:blipFill>
        <p:spPr>
          <a:xfrm xmlns:a="http://schemas.openxmlformats.org/drawingml/2006/main">
            <a:off x="685800" y="5213422"/>
            <a:ext cx="6507989" cy="437221"/>
          </a:xfrm>
          <a:prstGeom xmlns:a="http://schemas.openxmlformats.org/drawingml/2006/main" prst="rect">
            <a:avLst/>
          </a:prstGeom>
        </p:spPr>
      </p:pic>
    </p:spTree>
    <p:extLst>
      <p:ext uri="{BB962C8B-B14F-4D97-AF65-F5344CB8AC3E}">
        <p14:creationId xmlns:p14="http://schemas.microsoft.com/office/powerpoint/2010/main" val="108384766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CEF0DBBA-4AD0-4DF2-9CB5-A4D074320574}"/>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parameter for perpendicular lines</a:t>
            </a:r>
          </a:p>
        </p:txBody>
      </p:sp>
      <p:sp>
        <p:nvSpPr>
          <p:cNvPr id="2" name="page-number">
            <a:extLst xmlns:a="http://schemas.openxmlformats.org/drawingml/2006/main">
              <a:ext uri="{FF2B5EF4-FFF2-40B4-BE49-F238E27FC236}">
                <a16:creationId xmlns:a16="http://schemas.microsoft.com/office/drawing/2014/main" id="{42380200-F5AF-4FEB-9A0A-7E5122C73E5C}"/>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52</a:t>
            </a:r>
          </a:p>
        </p:txBody>
      </p:sp>
      <p:sp>
        <p:nvSpPr>
          <p:cNvPr id="3" name="lead">
            <a:extLst xmlns:a="http://schemas.openxmlformats.org/drawingml/2006/main">
              <a:ext uri="{FF2B5EF4-FFF2-40B4-BE49-F238E27FC236}">
                <a16:creationId xmlns:a16="http://schemas.microsoft.com/office/drawing/2014/main" id="{6608A9BD-81CD-402E-836E-DB0D8067DADF}"/>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For perpendicular lines in two dimensions, the normals are perpendicular.</a:t>
            </a:r>
          </a:p>
        </p:txBody>
      </p:sp>
      <p:pic>
        <p:nvPicPr>
          <p:cNvPr id="4" name="equation-0" descr="LaTeX: L_3:kx+4y-4=0,\quad L_4:3x-2y-3=0">
            <a:extLst xmlns:a="http://schemas.openxmlformats.org/drawingml/2006/main">
              <a:ext uri="{FF2B5EF4-FFF2-40B4-BE49-F238E27FC236}">
                <a16:creationId xmlns:a16="http://schemas.microsoft.com/office/drawing/2014/main" id="{43B2E1FB-2AC6-46B9-B911-F6BEDE376A87}"/>
              </a:ext>
            </a:extLst>
          </p:cNvPr>
          <p:cNvPicPr>
            <a:picLocks xmlns:a="http://schemas.openxmlformats.org/drawingml/2006/main" noChangeAspect="1"/>
          </p:cNvPicPr>
          <p:nvPr/>
        </p:nvPicPr>
        <p:blipFill>
          <a:blip xmlns:r="http://schemas.openxmlformats.org/officeDocument/2006/relationships" xmlns:a="http://schemas.openxmlformats.org/drawingml/2006/main" r:embed="R13bc689de6914aca">
            <a:extLst>
              <a:ext uri="{96DAC541-7B7A-43D3-8B79-37D633B846F1}">
                <asvg:svgBlip xmlns:asvg="http://schemas.microsoft.com/office/drawing/2016/SVG/main" r:embed="Re31741fe98704e5c"/>
              </a:ext>
            </a:extLst>
          </a:blip>
          <a:stretch xmlns:a="http://schemas.openxmlformats.org/drawingml/2006/main"/>
        </p:blipFill>
        <p:spPr>
          <a:xfrm xmlns:a="http://schemas.openxmlformats.org/drawingml/2006/main">
            <a:off x="685800" y="2333625"/>
            <a:ext cx="6817485" cy="374621"/>
          </a:xfrm>
          <a:prstGeom xmlns:a="http://schemas.openxmlformats.org/drawingml/2006/main" prst="rect">
            <a:avLst/>
          </a:prstGeom>
        </p:spPr>
      </p:pic>
      <p:pic>
        <p:nvPicPr>
          <p:cNvPr id="5" name="equation-1" descr="LaTeX: \vec n_3=[k,4],\qquad\vec n_4=[3,-2]">
            <a:extLst xmlns:a="http://schemas.openxmlformats.org/drawingml/2006/main">
              <a:ext uri="{FF2B5EF4-FFF2-40B4-BE49-F238E27FC236}">
                <a16:creationId xmlns:a16="http://schemas.microsoft.com/office/drawing/2014/main" id="{2A111362-C9AF-4D9A-84A2-7F6CCA045BE7}"/>
              </a:ext>
            </a:extLst>
          </p:cNvPr>
          <p:cNvPicPr>
            <a:picLocks xmlns:a="http://schemas.openxmlformats.org/drawingml/2006/main" noChangeAspect="1"/>
          </p:cNvPicPr>
          <p:nvPr/>
        </p:nvPicPr>
        <p:blipFill>
          <a:blip xmlns:r="http://schemas.openxmlformats.org/officeDocument/2006/relationships" xmlns:a="http://schemas.openxmlformats.org/drawingml/2006/main" r:embed="R26086a676b9c4392">
            <a:extLst>
              <a:ext uri="{96DAC541-7B7A-43D3-8B79-37D633B846F1}">
                <asvg:svgBlip xmlns:asvg="http://schemas.microsoft.com/office/drawing/2016/SVG/main" r:embed="Rd2f96cf1158b440e"/>
              </a:ext>
            </a:extLst>
          </a:blip>
          <a:stretch xmlns:a="http://schemas.openxmlformats.org/drawingml/2006/main"/>
        </p:blipFill>
        <p:spPr>
          <a:xfrm xmlns:a="http://schemas.openxmlformats.org/drawingml/2006/main">
            <a:off x="685800" y="2974946"/>
            <a:ext cx="4216861" cy="415209"/>
          </a:xfrm>
          <a:prstGeom xmlns:a="http://schemas.openxmlformats.org/drawingml/2006/main" prst="rect">
            <a:avLst/>
          </a:prstGeom>
        </p:spPr>
      </p:pic>
      <p:pic>
        <p:nvPicPr>
          <p:cNvPr id="6" name="equation-2" descr="LaTeX: [k,4]\cdot[3,-2]=0">
            <a:extLst xmlns:a="http://schemas.openxmlformats.org/drawingml/2006/main">
              <a:ext uri="{FF2B5EF4-FFF2-40B4-BE49-F238E27FC236}">
                <a16:creationId xmlns:a16="http://schemas.microsoft.com/office/drawing/2014/main" id="{F8477FD8-5B9D-4380-9122-DC4A5E86DF25}"/>
              </a:ext>
            </a:extLst>
          </p:cNvPr>
          <p:cNvPicPr>
            <a:picLocks xmlns:a="http://schemas.openxmlformats.org/drawingml/2006/main" noChangeAspect="1"/>
          </p:cNvPicPr>
          <p:nvPr/>
        </p:nvPicPr>
        <p:blipFill>
          <a:blip xmlns:r="http://schemas.openxmlformats.org/officeDocument/2006/relationships" xmlns:a="http://schemas.openxmlformats.org/drawingml/2006/main" r:embed="R75ec87fa2bf64e51">
            <a:extLst>
              <a:ext uri="{96DAC541-7B7A-43D3-8B79-37D633B846F1}">
                <asvg:svgBlip xmlns:asvg="http://schemas.microsoft.com/office/drawing/2016/SVG/main" r:embed="Rca15ba85ada14671"/>
              </a:ext>
            </a:extLst>
          </a:blip>
          <a:stretch xmlns:a="http://schemas.openxmlformats.org/drawingml/2006/main"/>
        </p:blipFill>
        <p:spPr>
          <a:xfrm xmlns:a="http://schemas.openxmlformats.org/drawingml/2006/main">
            <a:off x="685800" y="3656855"/>
            <a:ext cx="2653070" cy="415209"/>
          </a:xfrm>
          <a:prstGeom xmlns:a="http://schemas.openxmlformats.org/drawingml/2006/main" prst="rect">
            <a:avLst/>
          </a:prstGeom>
        </p:spPr>
      </p:pic>
      <p:pic>
        <p:nvPicPr>
          <p:cNvPr id="7" name="equation-3" descr="LaTeX: 3k+4(-2)=0\quad\Longrightarrow\quad3k=8">
            <a:extLst xmlns:a="http://schemas.openxmlformats.org/drawingml/2006/main">
              <a:ext uri="{FF2B5EF4-FFF2-40B4-BE49-F238E27FC236}">
                <a16:creationId xmlns:a16="http://schemas.microsoft.com/office/drawing/2014/main" id="{25C122FA-4E36-4EF0-B687-7917D7D65BFD}"/>
              </a:ext>
            </a:extLst>
          </p:cNvPr>
          <p:cNvPicPr>
            <a:picLocks xmlns:a="http://schemas.openxmlformats.org/drawingml/2006/main" noChangeAspect="1"/>
          </p:cNvPicPr>
          <p:nvPr/>
        </p:nvPicPr>
        <p:blipFill>
          <a:blip xmlns:r="http://schemas.openxmlformats.org/officeDocument/2006/relationships" xmlns:a="http://schemas.openxmlformats.org/drawingml/2006/main" r:embed="Rc84882eea1cc4429">
            <a:extLst>
              <a:ext uri="{96DAC541-7B7A-43D3-8B79-37D633B846F1}">
                <asvg:svgBlip xmlns:asvg="http://schemas.microsoft.com/office/drawing/2016/SVG/main" r:embed="R8108464eb3404b7a"/>
              </a:ext>
            </a:extLst>
          </a:blip>
          <a:stretch xmlns:a="http://schemas.openxmlformats.org/drawingml/2006/main"/>
        </p:blipFill>
        <p:spPr>
          <a:xfrm xmlns:a="http://schemas.openxmlformats.org/drawingml/2006/main">
            <a:off x="685800" y="4338765"/>
            <a:ext cx="4862289" cy="415209"/>
          </a:xfrm>
          <a:prstGeom xmlns:a="http://schemas.openxmlformats.org/drawingml/2006/main" prst="rect">
            <a:avLst/>
          </a:prstGeom>
        </p:spPr>
      </p:pic>
      <p:pic>
        <p:nvPicPr>
          <p:cNvPr id="8" name="equation-4" descr="LaTeX: k=\frac83">
            <a:extLst xmlns:a="http://schemas.openxmlformats.org/drawingml/2006/main">
              <a:ext uri="{FF2B5EF4-FFF2-40B4-BE49-F238E27FC236}">
                <a16:creationId xmlns:a16="http://schemas.microsoft.com/office/drawing/2014/main" id="{CEC8F3C5-1917-406E-933D-287AF4D40E60}"/>
              </a:ext>
            </a:extLst>
          </p:cNvPr>
          <p:cNvPicPr>
            <a:picLocks xmlns:a="http://schemas.openxmlformats.org/drawingml/2006/main" noChangeAspect="1"/>
          </p:cNvPicPr>
          <p:nvPr/>
        </p:nvPicPr>
        <p:blipFill>
          <a:blip xmlns:r="http://schemas.openxmlformats.org/officeDocument/2006/relationships" xmlns:a="http://schemas.openxmlformats.org/drawingml/2006/main" r:embed="Rf8912d0d940f40f4">
            <a:extLst>
              <a:ext uri="{96DAC541-7B7A-43D3-8B79-37D633B846F1}">
                <asvg:svgBlip xmlns:asvg="http://schemas.microsoft.com/office/drawing/2016/SVG/main" r:embed="R8e2e767a6df6419a"/>
              </a:ext>
            </a:extLst>
          </a:blip>
          <a:stretch xmlns:a="http://schemas.openxmlformats.org/drawingml/2006/main"/>
        </p:blipFill>
        <p:spPr>
          <a:xfrm xmlns:a="http://schemas.openxmlformats.org/drawingml/2006/main">
            <a:off x="685800" y="5020674"/>
            <a:ext cx="925489" cy="789576"/>
          </a:xfrm>
          <a:prstGeom xmlns:a="http://schemas.openxmlformats.org/drawingml/2006/main" prst="rect">
            <a:avLst/>
          </a:prstGeom>
        </p:spPr>
      </p:pic>
    </p:spTree>
    <p:extLst>
      <p:ext uri="{BB962C8B-B14F-4D97-AF65-F5344CB8AC3E}">
        <p14:creationId xmlns:p14="http://schemas.microsoft.com/office/powerpoint/2010/main" val="130776458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92D6501-3D5E-477D-A048-CB43F35A2193}"/>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The acute angle between two lines</a:t>
            </a:r>
          </a:p>
        </p:txBody>
      </p:sp>
      <p:sp>
        <p:nvSpPr>
          <p:cNvPr id="2" name="page-number">
            <a:extLst xmlns:a="http://schemas.openxmlformats.org/drawingml/2006/main">
              <a:ext uri="{FF2B5EF4-FFF2-40B4-BE49-F238E27FC236}">
                <a16:creationId xmlns:a16="http://schemas.microsoft.com/office/drawing/2014/main" id="{BB490E37-D276-43A7-BD5C-6A83CB1BD59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53</a:t>
            </a:r>
          </a:p>
        </p:txBody>
      </p:sp>
      <p:sp>
        <p:nvSpPr>
          <p:cNvPr id="3" name="lead">
            <a:extLst xmlns:a="http://schemas.openxmlformats.org/drawingml/2006/main">
              <a:ext uri="{FF2B5EF4-FFF2-40B4-BE49-F238E27FC236}">
                <a16:creationId xmlns:a16="http://schemas.microsoft.com/office/drawing/2014/main" id="{A66F753B-04FE-4424-A5DC-06A75ECC7795}"/>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the absolute dot product to obtain the smaller angle.</a:t>
            </a:r>
          </a:p>
        </p:txBody>
      </p:sp>
      <p:pic>
        <p:nvPicPr>
          <p:cNvPr id="4" name="equation-0" descr="LaTeX: \vec m_1=[-1,3],\qquad\vec m_2=[3,4]">
            <a:extLst xmlns:a="http://schemas.openxmlformats.org/drawingml/2006/main">
              <a:ext uri="{FF2B5EF4-FFF2-40B4-BE49-F238E27FC236}">
                <a16:creationId xmlns:a16="http://schemas.microsoft.com/office/drawing/2014/main" id="{9AE551C3-147A-4F7B-BE55-1AE00AAB6A47}"/>
              </a:ext>
            </a:extLst>
          </p:cNvPr>
          <p:cNvPicPr>
            <a:picLocks xmlns:a="http://schemas.openxmlformats.org/drawingml/2006/main" noChangeAspect="1"/>
          </p:cNvPicPr>
          <p:nvPr/>
        </p:nvPicPr>
        <p:blipFill>
          <a:blip xmlns:r="http://schemas.openxmlformats.org/officeDocument/2006/relationships" xmlns:a="http://schemas.openxmlformats.org/drawingml/2006/main" r:embed="R0a61314063404fee">
            <a:extLst>
              <a:ext uri="{96DAC541-7B7A-43D3-8B79-37D633B846F1}">
                <asvg:svgBlip xmlns:asvg="http://schemas.microsoft.com/office/drawing/2016/SVG/main" r:embed="Rd53d94de815a4133"/>
              </a:ext>
            </a:extLst>
          </a:blip>
          <a:stretch xmlns:a="http://schemas.openxmlformats.org/drawingml/2006/main"/>
        </p:blipFill>
        <p:spPr>
          <a:xfrm xmlns:a="http://schemas.openxmlformats.org/drawingml/2006/main">
            <a:off x="685800" y="2333625"/>
            <a:ext cx="3250109" cy="307573"/>
          </a:xfrm>
          <a:prstGeom xmlns:a="http://schemas.openxmlformats.org/drawingml/2006/main" prst="rect">
            <a:avLst/>
          </a:prstGeom>
        </p:spPr>
      </p:pic>
      <p:pic>
        <p:nvPicPr>
          <p:cNvPr id="5" name="equation-1" descr="LaTeX: \vec m_1\cdot\vec m_2=(-1)(3)+(3)(4)=9">
            <a:extLst xmlns:a="http://schemas.openxmlformats.org/drawingml/2006/main">
              <a:ext uri="{FF2B5EF4-FFF2-40B4-BE49-F238E27FC236}">
                <a16:creationId xmlns:a16="http://schemas.microsoft.com/office/drawing/2014/main" id="{C36DBA97-BBB5-471F-8603-1E193E459140}"/>
              </a:ext>
            </a:extLst>
          </p:cNvPr>
          <p:cNvPicPr>
            <a:picLocks xmlns:a="http://schemas.openxmlformats.org/drawingml/2006/main" noChangeAspect="1"/>
          </p:cNvPicPr>
          <p:nvPr/>
        </p:nvPicPr>
        <p:blipFill>
          <a:blip xmlns:r="http://schemas.openxmlformats.org/officeDocument/2006/relationships" xmlns:a="http://schemas.openxmlformats.org/drawingml/2006/main" r:embed="Ra54bec06f8f74fb6">
            <a:extLst>
              <a:ext uri="{96DAC541-7B7A-43D3-8B79-37D633B846F1}">
                <asvg:svgBlip xmlns:asvg="http://schemas.microsoft.com/office/drawing/2016/SVG/main" r:embed="R16a9ec4a4cde42d1"/>
              </a:ext>
            </a:extLst>
          </a:blip>
          <a:stretch xmlns:a="http://schemas.openxmlformats.org/drawingml/2006/main"/>
        </p:blipFill>
        <p:spPr>
          <a:xfrm xmlns:a="http://schemas.openxmlformats.org/drawingml/2006/main">
            <a:off x="685800" y="2907898"/>
            <a:ext cx="3533017" cy="307573"/>
          </a:xfrm>
          <a:prstGeom xmlns:a="http://schemas.openxmlformats.org/drawingml/2006/main" prst="rect">
            <a:avLst/>
          </a:prstGeom>
        </p:spPr>
      </p:pic>
      <p:pic>
        <p:nvPicPr>
          <p:cNvPr id="6" name="equation-2" descr="LaTeX: \lVert\vec m_1\rVert=\sqrt{(-1)^2+3^2}=\sqrt{10},\quad\lVert\vec m_2\rVert=\sqrt{3^2+4^2}=5">
            <a:extLst xmlns:a="http://schemas.openxmlformats.org/drawingml/2006/main">
              <a:ext uri="{FF2B5EF4-FFF2-40B4-BE49-F238E27FC236}">
                <a16:creationId xmlns:a16="http://schemas.microsoft.com/office/drawing/2014/main" id="{76BA5AD6-5CE6-4571-9B94-8722B2798BFF}"/>
              </a:ext>
            </a:extLst>
          </p:cNvPr>
          <p:cNvPicPr>
            <a:picLocks xmlns:a="http://schemas.openxmlformats.org/drawingml/2006/main" noChangeAspect="1"/>
          </p:cNvPicPr>
          <p:nvPr/>
        </p:nvPicPr>
        <p:blipFill>
          <a:blip xmlns:r="http://schemas.openxmlformats.org/officeDocument/2006/relationships" xmlns:a="http://schemas.openxmlformats.org/drawingml/2006/main" r:embed="R7d5d053b84d5438b">
            <a:extLst>
              <a:ext uri="{96DAC541-7B7A-43D3-8B79-37D633B846F1}">
                <asvg:svgBlip xmlns:asvg="http://schemas.microsoft.com/office/drawing/2016/SVG/main" r:embed="R778462a8e4fb49ed"/>
              </a:ext>
            </a:extLst>
          </a:blip>
          <a:stretch xmlns:a="http://schemas.openxmlformats.org/drawingml/2006/main"/>
        </p:blipFill>
        <p:spPr>
          <a:xfrm xmlns:a="http://schemas.openxmlformats.org/drawingml/2006/main">
            <a:off x="685800" y="3482172"/>
            <a:ext cx="6064139" cy="389377"/>
          </a:xfrm>
          <a:prstGeom xmlns:a="http://schemas.openxmlformats.org/drawingml/2006/main" prst="rect">
            <a:avLst/>
          </a:prstGeom>
        </p:spPr>
      </p:pic>
      <p:pic>
        <p:nvPicPr>
          <p:cNvPr id="7" name="equation-3" descr="LaTeX: \cos\theta=\frac{|\vec m_1\cdot\vec m_2|}{\lVert\vec m_1\rVert\lVert\vec m_2\rVert}=\frac9{5\sqrt{10}}">
            <a:extLst xmlns:a="http://schemas.openxmlformats.org/drawingml/2006/main">
              <a:ext uri="{FF2B5EF4-FFF2-40B4-BE49-F238E27FC236}">
                <a16:creationId xmlns:a16="http://schemas.microsoft.com/office/drawing/2014/main" id="{2BABECE4-38EE-4D65-AA8A-DAEF9EBBD276}"/>
              </a:ext>
            </a:extLst>
          </p:cNvPr>
          <p:cNvPicPr>
            <a:picLocks xmlns:a="http://schemas.openxmlformats.org/drawingml/2006/main" noChangeAspect="1"/>
          </p:cNvPicPr>
          <p:nvPr/>
        </p:nvPicPr>
        <p:blipFill>
          <a:blip xmlns:r="http://schemas.openxmlformats.org/officeDocument/2006/relationships" xmlns:a="http://schemas.openxmlformats.org/drawingml/2006/main" r:embed="R5df1228cf07d4ede">
            <a:extLst>
              <a:ext uri="{96DAC541-7B7A-43D3-8B79-37D633B846F1}">
                <asvg:svgBlip xmlns:asvg="http://schemas.microsoft.com/office/drawing/2016/SVG/main" r:embed="R2a53825ea9cf4e5a"/>
              </a:ext>
            </a:extLst>
          </a:blip>
          <a:stretch xmlns:a="http://schemas.openxmlformats.org/drawingml/2006/main"/>
        </p:blipFill>
        <p:spPr>
          <a:xfrm xmlns:a="http://schemas.openxmlformats.org/drawingml/2006/main">
            <a:off x="685800" y="4138249"/>
            <a:ext cx="3116879" cy="682688"/>
          </a:xfrm>
          <a:prstGeom xmlns:a="http://schemas.openxmlformats.org/drawingml/2006/main" prst="rect">
            <a:avLst/>
          </a:prstGeom>
        </p:spPr>
      </p:pic>
      <p:pic>
        <p:nvPicPr>
          <p:cNvPr id="8" name="equation-4" descr="LaTeX: \theta=\cos^{-1}\!\left(\frac9{5\sqrt{10}}\right)\approx55.3^\circ">
            <a:extLst xmlns:a="http://schemas.openxmlformats.org/drawingml/2006/main">
              <a:ext uri="{FF2B5EF4-FFF2-40B4-BE49-F238E27FC236}">
                <a16:creationId xmlns:a16="http://schemas.microsoft.com/office/drawing/2014/main" id="{20747489-E473-4C9B-9CF3-AE21DE347DDF}"/>
              </a:ext>
            </a:extLst>
          </p:cNvPr>
          <p:cNvPicPr>
            <a:picLocks xmlns:a="http://schemas.openxmlformats.org/drawingml/2006/main" noChangeAspect="1"/>
          </p:cNvPicPr>
          <p:nvPr/>
        </p:nvPicPr>
        <p:blipFill>
          <a:blip xmlns:r="http://schemas.openxmlformats.org/officeDocument/2006/relationships" xmlns:a="http://schemas.openxmlformats.org/drawingml/2006/main" r:embed="Rb6a4f9986f5f487a">
            <a:extLst>
              <a:ext uri="{96DAC541-7B7A-43D3-8B79-37D633B846F1}">
                <asvg:svgBlip xmlns:asvg="http://schemas.microsoft.com/office/drawing/2016/SVG/main" r:embed="R975f149e26eb41cf"/>
              </a:ext>
            </a:extLst>
          </a:blip>
          <a:stretch xmlns:a="http://schemas.openxmlformats.org/drawingml/2006/main"/>
        </p:blipFill>
        <p:spPr>
          <a:xfrm xmlns:a="http://schemas.openxmlformats.org/drawingml/2006/main">
            <a:off x="685800" y="5087636"/>
            <a:ext cx="3072106" cy="722614"/>
          </a:xfrm>
          <a:prstGeom xmlns:a="http://schemas.openxmlformats.org/drawingml/2006/main" prst="rect">
            <a:avLst/>
          </a:prstGeom>
        </p:spPr>
      </p:pic>
    </p:spTree>
    <p:extLst>
      <p:ext uri="{BB962C8B-B14F-4D97-AF65-F5344CB8AC3E}">
        <p14:creationId xmlns:p14="http://schemas.microsoft.com/office/powerpoint/2010/main" val="21791334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48D7A484-B128-499F-BD7E-CA2808AAFAA3}"/>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Section 8.3 Lines in three dimensions</a:t>
            </a:r>
          </a:p>
        </p:txBody>
      </p:sp>
      <p:sp>
        <p:nvSpPr>
          <p:cNvPr id="2" name="page-number">
            <a:extLst xmlns:a="http://schemas.openxmlformats.org/drawingml/2006/main">
              <a:ext uri="{FF2B5EF4-FFF2-40B4-BE49-F238E27FC236}">
                <a16:creationId xmlns:a16="http://schemas.microsoft.com/office/drawing/2014/main" id="{5633DF2C-ABFC-4382-B06A-5F40E261B74C}"/>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54</a:t>
            </a:r>
          </a:p>
        </p:txBody>
      </p:sp>
      <p:sp>
        <p:nvSpPr>
          <p:cNvPr id="3" name="lead">
            <a:extLst xmlns:a="http://schemas.openxmlformats.org/drawingml/2006/main">
              <a:ext uri="{FF2B5EF4-FFF2-40B4-BE49-F238E27FC236}">
                <a16:creationId xmlns:a16="http://schemas.microsoft.com/office/drawing/2014/main" id="{E5F0A1E4-084B-4F48-9753-C51BC7B05BE0}"/>
              </a:ext>
            </a:extLst>
          </p:cNvPr>
          <p:cNvSpPr>
            <a:spLocks xmlns:a="http://schemas.openxmlformats.org/drawingml/2006/main" noGrp="1"/>
          </p:cNvSpPr>
          <p:nvPr/>
        </p:nvSpPr>
        <p:spPr>
          <a:xfrm xmlns:a="http://schemas.openxmlformats.org/drawingml/2006/main">
            <a:off x="685800" y="1476375"/>
            <a:ext cx="538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Review all three coordinates before writing simultaneous Cartesian conditions.</a:t>
            </a:r>
          </a:p>
        </p:txBody>
      </p:sp>
      <p:pic>
        <p:nvPicPr>
          <p:cNvPr id="4" name="equation-0" descr="LaTeX: [x,y,z]=[x_0,y_0,z_0]+t[m_1,m_2,m_3]">
            <a:extLst xmlns:a="http://schemas.openxmlformats.org/drawingml/2006/main">
              <a:ext uri="{FF2B5EF4-FFF2-40B4-BE49-F238E27FC236}">
                <a16:creationId xmlns:a16="http://schemas.microsoft.com/office/drawing/2014/main" id="{8F0D7472-2087-4696-B10A-4419F7540BC5}"/>
              </a:ext>
            </a:extLst>
          </p:cNvPr>
          <p:cNvPicPr>
            <a:picLocks xmlns:a="http://schemas.openxmlformats.org/drawingml/2006/main" noChangeAspect="1"/>
          </p:cNvPicPr>
          <p:nvPr/>
        </p:nvPicPr>
        <p:blipFill>
          <a:blip xmlns:r="http://schemas.openxmlformats.org/officeDocument/2006/relationships" xmlns:a="http://schemas.openxmlformats.org/drawingml/2006/main" r:embed="R269373deea9a4249">
            <a:extLst>
              <a:ext uri="{96DAC541-7B7A-43D3-8B79-37D633B846F1}">
                <asvg:svgBlip xmlns:asvg="http://schemas.microsoft.com/office/drawing/2016/SVG/main" r:embed="Ra9555a5109d143b0"/>
              </a:ext>
            </a:extLst>
          </a:blip>
          <a:stretch xmlns:a="http://schemas.openxmlformats.org/drawingml/2006/main"/>
        </p:blipFill>
        <p:spPr>
          <a:xfrm xmlns:a="http://schemas.openxmlformats.org/drawingml/2006/main">
            <a:off x="685800" y="2571750"/>
            <a:ext cx="4939833" cy="375915"/>
          </a:xfrm>
          <a:prstGeom xmlns:a="http://schemas.openxmlformats.org/drawingml/2006/main" prst="rect">
            <a:avLst/>
          </a:prstGeom>
        </p:spPr>
      </p:pic>
      <p:pic>
        <p:nvPicPr>
          <p:cNvPr id="5" name="equation-1" descr="LaTeX: x=x_0+tm_1">
            <a:extLst xmlns:a="http://schemas.openxmlformats.org/drawingml/2006/main">
              <a:ext uri="{FF2B5EF4-FFF2-40B4-BE49-F238E27FC236}">
                <a16:creationId xmlns:a16="http://schemas.microsoft.com/office/drawing/2014/main" id="{9A195F7E-B8C5-456D-A422-0A9BE85E0718}"/>
              </a:ext>
            </a:extLst>
          </p:cNvPr>
          <p:cNvPicPr>
            <a:picLocks xmlns:a="http://schemas.openxmlformats.org/drawingml/2006/main" noChangeAspect="1"/>
          </p:cNvPicPr>
          <p:nvPr/>
        </p:nvPicPr>
        <p:blipFill>
          <a:blip xmlns:r="http://schemas.openxmlformats.org/officeDocument/2006/relationships" xmlns:a="http://schemas.openxmlformats.org/drawingml/2006/main" r:embed="R62abb43c2e204f79">
            <a:extLst>
              <a:ext uri="{96DAC541-7B7A-43D3-8B79-37D633B846F1}">
                <asvg:svgBlip xmlns:asvg="http://schemas.microsoft.com/office/drawing/2016/SVG/main" r:embed="R831f7559955d4ad1"/>
              </a:ext>
            </a:extLst>
          </a:blip>
          <a:stretch xmlns:a="http://schemas.openxmlformats.org/drawingml/2006/main"/>
        </p:blipFill>
        <p:spPr>
          <a:xfrm xmlns:a="http://schemas.openxmlformats.org/drawingml/2006/main">
            <a:off x="685800" y="3233415"/>
            <a:ext cx="1868205" cy="297569"/>
          </a:xfrm>
          <a:prstGeom xmlns:a="http://schemas.openxmlformats.org/drawingml/2006/main" prst="rect">
            <a:avLst/>
          </a:prstGeom>
        </p:spPr>
      </p:pic>
      <p:pic>
        <p:nvPicPr>
          <p:cNvPr id="6" name="equation-2" descr="LaTeX: y=y_0+tm_2">
            <a:extLst xmlns:a="http://schemas.openxmlformats.org/drawingml/2006/main">
              <a:ext uri="{FF2B5EF4-FFF2-40B4-BE49-F238E27FC236}">
                <a16:creationId xmlns:a16="http://schemas.microsoft.com/office/drawing/2014/main" id="{4AB362B8-6F32-4683-BF1D-DF51507F42B0}"/>
              </a:ext>
            </a:extLst>
          </p:cNvPr>
          <p:cNvPicPr>
            <a:picLocks xmlns:a="http://schemas.openxmlformats.org/drawingml/2006/main" noChangeAspect="1"/>
          </p:cNvPicPr>
          <p:nvPr/>
        </p:nvPicPr>
        <p:blipFill>
          <a:blip xmlns:r="http://schemas.openxmlformats.org/officeDocument/2006/relationships" xmlns:a="http://schemas.openxmlformats.org/drawingml/2006/main" r:embed="R217c6261e47f47af">
            <a:extLst>
              <a:ext uri="{96DAC541-7B7A-43D3-8B79-37D633B846F1}">
                <asvg:svgBlip xmlns:asvg="http://schemas.microsoft.com/office/drawing/2016/SVG/main" r:embed="Re41cfe1757f340b1"/>
              </a:ext>
            </a:extLst>
          </a:blip>
          <a:stretch xmlns:a="http://schemas.openxmlformats.org/drawingml/2006/main"/>
        </p:blipFill>
        <p:spPr>
          <a:xfrm xmlns:a="http://schemas.openxmlformats.org/drawingml/2006/main">
            <a:off x="685800" y="3816734"/>
            <a:ext cx="1827175" cy="312506"/>
          </a:xfrm>
          <a:prstGeom xmlns:a="http://schemas.openxmlformats.org/drawingml/2006/main" prst="rect">
            <a:avLst/>
          </a:prstGeom>
        </p:spPr>
      </p:pic>
      <p:pic>
        <p:nvPicPr>
          <p:cNvPr id="7" name="equation-3" descr="LaTeX: z=z_0+tm_3">
            <a:extLst xmlns:a="http://schemas.openxmlformats.org/drawingml/2006/main">
              <a:ext uri="{FF2B5EF4-FFF2-40B4-BE49-F238E27FC236}">
                <a16:creationId xmlns:a16="http://schemas.microsoft.com/office/drawing/2014/main" id="{25668E16-66D1-4E7C-8696-7D86B8B23889}"/>
              </a:ext>
            </a:extLst>
          </p:cNvPr>
          <p:cNvPicPr>
            <a:picLocks xmlns:a="http://schemas.openxmlformats.org/drawingml/2006/main" noChangeAspect="1"/>
          </p:cNvPicPr>
          <p:nvPr/>
        </p:nvPicPr>
        <p:blipFill>
          <a:blip xmlns:r="http://schemas.openxmlformats.org/officeDocument/2006/relationships" xmlns:a="http://schemas.openxmlformats.org/drawingml/2006/main" r:embed="Rcc7abfc7f72c4099">
            <a:extLst>
              <a:ext uri="{96DAC541-7B7A-43D3-8B79-37D633B846F1}">
                <asvg:svgBlip xmlns:asvg="http://schemas.microsoft.com/office/drawing/2016/SVG/main" r:embed="R222de00bdddb4ad2"/>
              </a:ext>
            </a:extLst>
          </a:blip>
          <a:stretch xmlns:a="http://schemas.openxmlformats.org/drawingml/2006/main"/>
        </p:blipFill>
        <p:spPr>
          <a:xfrm xmlns:a="http://schemas.openxmlformats.org/drawingml/2006/main">
            <a:off x="685800" y="4414990"/>
            <a:ext cx="1814921" cy="297569"/>
          </a:xfrm>
          <a:prstGeom xmlns:a="http://schemas.openxmlformats.org/drawingml/2006/main" prst="rect">
            <a:avLst/>
          </a:prstGeom>
        </p:spPr>
      </p:pic>
      <p:cxnSp>
        <p:nvCxnSpPr>
          <p:cNvPr id="8" name="3D-x">
            <a:extLst xmlns:a="http://schemas.openxmlformats.org/drawingml/2006/main">
              <a:ext uri="{FF2B5EF4-FFF2-40B4-BE49-F238E27FC236}">
                <a16:creationId xmlns:a16="http://schemas.microsoft.com/office/drawing/2014/main" id="{EA8D430E-CE1F-4D7A-859C-A39F597EEF77}"/>
              </a:ext>
            </a:extLst>
          </p:cNvPr>
          <p:cNvCxnSpPr/>
          <p:nvPr/>
        </p:nvCxnSpPr>
        <p:spPr>
          <a:xfrm xmlns:a="http://schemas.openxmlformats.org/drawingml/2006/main" rot="9206097">
            <a:off x="7726179" y="5119688"/>
            <a:ext cx="1597391" cy="0"/>
          </a:xfrm>
          <a:prstGeom xmlns:a="http://schemas.openxmlformats.org/drawingml/2006/main" prst="straightConnector1">
            <a:avLst/>
          </a:prstGeom>
          <a:ln xmlns:a="http://schemas.openxmlformats.org/drawingml/2006/main" w="16193">
            <a:solidFill>
              <a:srgbClr val="50565E"/>
            </a:solidFill>
            <a:prstDash val="solid"/>
            <a:tailEnd type="triangle" w="med" len="med"/>
          </a:ln>
        </p:spPr>
      </p:cxnSp>
      <p:cxnSp>
        <p:nvCxnSpPr>
          <p:cNvPr id="9" name="3D-y">
            <a:extLst xmlns:a="http://schemas.openxmlformats.org/drawingml/2006/main">
              <a:ext uri="{FF2B5EF4-FFF2-40B4-BE49-F238E27FC236}">
                <a16:creationId xmlns:a16="http://schemas.microsoft.com/office/drawing/2014/main" id="{2127FC49-AD13-46CB-BA1F-BBE892F82926}"/>
              </a:ext>
            </a:extLst>
          </p:cNvPr>
          <p:cNvCxnSpPr/>
          <p:nvPr/>
        </p:nvCxnSpPr>
        <p:spPr>
          <a:xfrm xmlns:a="http://schemas.openxmlformats.org/drawingml/2006/main" rot="1106097">
            <a:off x="9200608" y="5000625"/>
            <a:ext cx="1506035" cy="0"/>
          </a:xfrm>
          <a:prstGeom xmlns:a="http://schemas.openxmlformats.org/drawingml/2006/main" prst="straightConnector1">
            <a:avLst/>
          </a:prstGeom>
          <a:ln xmlns:a="http://schemas.openxmlformats.org/drawingml/2006/main" w="16193">
            <a:solidFill>
              <a:srgbClr val="50565E"/>
            </a:solidFill>
            <a:prstDash val="solid"/>
            <a:tailEnd type="triangle" w="med" len="med"/>
          </a:ln>
        </p:spPr>
      </p:cxnSp>
      <p:cxnSp>
        <p:nvCxnSpPr>
          <p:cNvPr id="10" name="3D-z">
            <a:extLst xmlns:a="http://schemas.openxmlformats.org/drawingml/2006/main">
              <a:ext uri="{FF2B5EF4-FFF2-40B4-BE49-F238E27FC236}">
                <a16:creationId xmlns:a16="http://schemas.microsoft.com/office/drawing/2014/main" id="{4914563A-D785-45B8-B337-2F3A93669112}"/>
              </a:ext>
            </a:extLst>
          </p:cNvPr>
          <p:cNvCxnSpPr/>
          <p:nvPr/>
        </p:nvCxnSpPr>
        <p:spPr>
          <a:xfrm xmlns:a="http://schemas.openxmlformats.org/drawingml/2006/main" rot="-5400000">
            <a:off x="8305800" y="3829050"/>
            <a:ext cx="1866900" cy="0"/>
          </a:xfrm>
          <a:prstGeom xmlns:a="http://schemas.openxmlformats.org/drawingml/2006/main" prst="straightConnector1">
            <a:avLst/>
          </a:prstGeom>
          <a:ln xmlns:a="http://schemas.openxmlformats.org/drawingml/2006/main" w="16193">
            <a:solidFill>
              <a:srgbClr val="50565E"/>
            </a:solidFill>
            <a:prstDash val="solid"/>
            <a:tailEnd type="triangle" w="med" len="med"/>
          </a:ln>
        </p:spPr>
      </p:cxnSp>
      <p:sp>
        <p:nvSpPr>
          <p:cNvPr id="11" name="axis-x">
            <a:extLst xmlns:a="http://schemas.openxmlformats.org/drawingml/2006/main">
              <a:ext uri="{FF2B5EF4-FFF2-40B4-BE49-F238E27FC236}">
                <a16:creationId xmlns:a16="http://schemas.microsoft.com/office/drawing/2014/main" id="{E46213D5-4276-416F-B784-2B57469963E0}"/>
              </a:ext>
            </a:extLst>
          </p:cNvPr>
          <p:cNvSpPr>
            <a:spLocks xmlns:a="http://schemas.openxmlformats.org/drawingml/2006/main" noGrp="1"/>
          </p:cNvSpPr>
          <p:nvPr/>
        </p:nvSpPr>
        <p:spPr>
          <a:xfrm xmlns:a="http://schemas.openxmlformats.org/drawingml/2006/main">
            <a:off x="7477125" y="54102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12" name="axis-y">
            <a:extLst xmlns:a="http://schemas.openxmlformats.org/drawingml/2006/main">
              <a:ext uri="{FF2B5EF4-FFF2-40B4-BE49-F238E27FC236}">
                <a16:creationId xmlns:a16="http://schemas.microsoft.com/office/drawing/2014/main" id="{E7E86D78-5E32-41BB-BD06-3768A4873931}"/>
              </a:ext>
            </a:extLst>
          </p:cNvPr>
          <p:cNvSpPr>
            <a:spLocks xmlns:a="http://schemas.openxmlformats.org/drawingml/2006/main" noGrp="1"/>
          </p:cNvSpPr>
          <p:nvPr/>
        </p:nvSpPr>
        <p:spPr>
          <a:xfrm xmlns:a="http://schemas.openxmlformats.org/drawingml/2006/main">
            <a:off x="10429875" y="5314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sp>
        <p:nvSpPr>
          <p:cNvPr id="13" name="axis-z">
            <a:extLst xmlns:a="http://schemas.openxmlformats.org/drawingml/2006/main">
              <a:ext uri="{FF2B5EF4-FFF2-40B4-BE49-F238E27FC236}">
                <a16:creationId xmlns:a16="http://schemas.microsoft.com/office/drawing/2014/main" id="{F02FD0D5-145C-4614-82F9-B6ABD40A5F76}"/>
              </a:ext>
            </a:extLst>
          </p:cNvPr>
          <p:cNvSpPr>
            <a:spLocks xmlns:a="http://schemas.openxmlformats.org/drawingml/2006/main" noGrp="1"/>
          </p:cNvSpPr>
          <p:nvPr/>
        </p:nvSpPr>
        <p:spPr>
          <a:xfrm xmlns:a="http://schemas.openxmlformats.org/drawingml/2006/main">
            <a:off x="8953500" y="2457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z</a:t>
            </a:r>
          </a:p>
        </p:txBody>
      </p:sp>
      <p:sp>
        <p:nvSpPr>
          <p:cNvPr id="14" name="origin">
            <a:extLst xmlns:a="http://schemas.openxmlformats.org/drawingml/2006/main">
              <a:ext uri="{FF2B5EF4-FFF2-40B4-BE49-F238E27FC236}">
                <a16:creationId xmlns:a16="http://schemas.microsoft.com/office/drawing/2014/main" id="{5C38F0C7-1840-4F79-AB7C-558CC678EF4B}"/>
              </a:ext>
            </a:extLst>
          </p:cNvPr>
          <p:cNvSpPr>
            <a:spLocks xmlns:a="http://schemas.openxmlformats.org/drawingml/2006/main" noGrp="1"/>
          </p:cNvSpPr>
          <p:nvPr/>
        </p:nvSpPr>
        <p:spPr>
          <a:xfrm xmlns:a="http://schemas.openxmlformats.org/drawingml/2006/main">
            <a:off x="8991600" y="47339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cxnSp>
        <p:nvCxnSpPr>
          <p:cNvPr id="15" name="R3-line">
            <a:extLst xmlns:a="http://schemas.openxmlformats.org/drawingml/2006/main">
              <a:ext uri="{FF2B5EF4-FFF2-40B4-BE49-F238E27FC236}">
                <a16:creationId xmlns:a16="http://schemas.microsoft.com/office/drawing/2014/main" id="{67CCCDBF-F6AE-4DFA-9B6F-96B53730A969}"/>
              </a:ext>
            </a:extLst>
          </p:cNvPr>
          <p:cNvCxnSpPr/>
          <p:nvPr/>
        </p:nvCxnSpPr>
        <p:spPr>
          <a:xfrm xmlns:a="http://schemas.openxmlformats.org/drawingml/2006/main" rot="-1560201">
            <a:off x="7304819" y="3676650"/>
            <a:ext cx="4345112" cy="0"/>
          </a:xfrm>
          <a:prstGeom xmlns:a="http://schemas.openxmlformats.org/drawingml/2006/main" prst="straightConnector1">
            <a:avLst/>
          </a:prstGeom>
          <a:ln xmlns:a="http://schemas.openxmlformats.org/drawingml/2006/main" w="23813">
            <a:solidFill>
              <a:srgbClr val="F5F5F5"/>
            </a:solidFill>
            <a:prstDash val="solid"/>
          </a:ln>
        </p:spPr>
      </p:cxnSp>
      <p:cxnSp>
        <p:nvCxnSpPr>
          <p:cNvPr id="16" name="position-r0">
            <a:extLst xmlns:a="http://schemas.openxmlformats.org/drawingml/2006/main">
              <a:ext uri="{FF2B5EF4-FFF2-40B4-BE49-F238E27FC236}">
                <a16:creationId xmlns:a16="http://schemas.microsoft.com/office/drawing/2014/main" id="{570C01AB-DDAE-46D5-8F2F-91B55BF0D48D}"/>
              </a:ext>
            </a:extLst>
          </p:cNvPr>
          <p:cNvCxnSpPr/>
          <p:nvPr/>
        </p:nvCxnSpPr>
        <p:spPr>
          <a:xfrm xmlns:a="http://schemas.openxmlformats.org/drawingml/2006/main" rot="-8345137">
            <a:off x="8409398" y="4452938"/>
            <a:ext cx="945329" cy="0"/>
          </a:xfrm>
          <a:prstGeom xmlns:a="http://schemas.openxmlformats.org/drawingml/2006/main" prst="straightConnector1">
            <a:avLst/>
          </a:prstGeom>
          <a:ln xmlns:a="http://schemas.openxmlformats.org/drawingml/2006/main" w="28575">
            <a:solidFill>
              <a:srgbClr val="7DD3FC"/>
            </a:solidFill>
            <a:prstDash val="solid"/>
            <a:tailEnd type="triangle" w="med" len="med"/>
          </a:ln>
        </p:spPr>
      </p:cxnSp>
      <p:cxnSp>
        <p:nvCxnSpPr>
          <p:cNvPr id="17" name="position-r">
            <a:extLst xmlns:a="http://schemas.openxmlformats.org/drawingml/2006/main">
              <a:ext uri="{FF2B5EF4-FFF2-40B4-BE49-F238E27FC236}">
                <a16:creationId xmlns:a16="http://schemas.microsoft.com/office/drawing/2014/main" id="{7B92A6DD-8DEA-4241-8BB2-9A4C1D760503}"/>
              </a:ext>
            </a:extLst>
          </p:cNvPr>
          <p:cNvCxnSpPr/>
          <p:nvPr/>
        </p:nvCxnSpPr>
        <p:spPr>
          <a:xfrm xmlns:a="http://schemas.openxmlformats.org/drawingml/2006/main" rot="-2901988">
            <a:off x="8854288" y="3905250"/>
            <a:ext cx="2293924" cy="0"/>
          </a:xfrm>
          <a:prstGeom xmlns:a="http://schemas.openxmlformats.org/drawingml/2006/main" prst="straightConnector1">
            <a:avLst/>
          </a:prstGeom>
          <a:ln xmlns:a="http://schemas.openxmlformats.org/drawingml/2006/main" w="28575">
            <a:solidFill>
              <a:srgbClr val="C4B5FD"/>
            </a:solidFill>
            <a:prstDash val="solid"/>
            <a:tailEnd type="triangle" w="med" len="med"/>
          </a:ln>
        </p:spPr>
      </p:cxnSp>
      <p:cxnSp>
        <p:nvCxnSpPr>
          <p:cNvPr id="18" name="displacement">
            <a:extLst xmlns:a="http://schemas.openxmlformats.org/drawingml/2006/main">
              <a:ext uri="{FF2B5EF4-FFF2-40B4-BE49-F238E27FC236}">
                <a16:creationId xmlns:a16="http://schemas.microsoft.com/office/drawing/2014/main" id="{E7D353D5-30B8-4EC3-AC99-2EC53A75A60A}"/>
              </a:ext>
            </a:extLst>
          </p:cNvPr>
          <p:cNvCxnSpPr/>
          <p:nvPr/>
        </p:nvCxnSpPr>
        <p:spPr>
          <a:xfrm xmlns:a="http://schemas.openxmlformats.org/drawingml/2006/main" rot="-1564521">
            <a:off x="8398052" y="3595688"/>
            <a:ext cx="2492021"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sp>
        <p:nvSpPr>
          <p:cNvPr id="19" name="P0">
            <a:extLst xmlns:a="http://schemas.openxmlformats.org/drawingml/2006/main">
              <a:ext uri="{FF2B5EF4-FFF2-40B4-BE49-F238E27FC236}">
                <a16:creationId xmlns:a16="http://schemas.microsoft.com/office/drawing/2014/main" id="{F1E53634-A168-4388-8FC5-D8AFA1F78764}"/>
              </a:ext>
            </a:extLst>
          </p:cNvPr>
          <p:cNvSpPr>
            <a:spLocks xmlns:a="http://schemas.openxmlformats.org/drawingml/2006/main" noGrp="1"/>
          </p:cNvSpPr>
          <p:nvPr/>
        </p:nvSpPr>
        <p:spPr>
          <a:xfrm xmlns:a="http://schemas.openxmlformats.org/drawingml/2006/main">
            <a:off x="8486775" y="4105275"/>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20" name="P">
            <a:extLst xmlns:a="http://schemas.openxmlformats.org/drawingml/2006/main">
              <a:ext uri="{FF2B5EF4-FFF2-40B4-BE49-F238E27FC236}">
                <a16:creationId xmlns:a16="http://schemas.microsoft.com/office/drawing/2014/main" id="{FBC73CAD-9BCA-44BB-91E0-4D4699743722}"/>
              </a:ext>
            </a:extLst>
          </p:cNvPr>
          <p:cNvSpPr>
            <a:spLocks xmlns:a="http://schemas.openxmlformats.org/drawingml/2006/main" noGrp="1"/>
          </p:cNvSpPr>
          <p:nvPr/>
        </p:nvSpPr>
        <p:spPr>
          <a:xfrm xmlns:a="http://schemas.openxmlformats.org/drawingml/2006/main">
            <a:off x="10725150" y="3009900"/>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21" name="P0-label">
            <a:extLst xmlns:a="http://schemas.openxmlformats.org/drawingml/2006/main">
              <a:ext uri="{FF2B5EF4-FFF2-40B4-BE49-F238E27FC236}">
                <a16:creationId xmlns:a16="http://schemas.microsoft.com/office/drawing/2014/main" id="{093B48B1-74A6-4E25-AA6F-2018D8E752D6}"/>
              </a:ext>
            </a:extLst>
          </p:cNvPr>
          <p:cNvSpPr>
            <a:spLocks xmlns:a="http://schemas.openxmlformats.org/drawingml/2006/main" noGrp="1"/>
          </p:cNvSpPr>
          <p:nvPr/>
        </p:nvSpPr>
        <p:spPr>
          <a:xfrm xmlns:a="http://schemas.openxmlformats.org/drawingml/2006/main">
            <a:off x="8096250" y="3743325"/>
            <a:ext cx="71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7DD3FC"/>
                </a:solidFill>
                <a:latin typeface="DejaVu Sans"/>
                <a:ea typeface="DejaVu Sans"/>
                <a:cs typeface="DejaVu Sans"/>
              </a:defRPr>
            </a:defPPr>
            <a:lvl1pPr>
              <a:buNone/>
              <a:defRPr sz="2025" b="0">
                <a:solidFill>
                  <a:srgbClr val="7DD3FC"/>
                </a:solidFill>
                <a:latin typeface="DejaVu Sans"/>
                <a:ea typeface="DejaVu Sans"/>
                <a:cs typeface="DejaVu Sans"/>
              </a:defRPr>
            </a:lvl1pPr>
            <a:lvl2pPr>
              <a:buNone/>
              <a:defRPr sz="2025" b="0">
                <a:solidFill>
                  <a:srgbClr val="7DD3FC"/>
                </a:solidFill>
                <a:latin typeface="DejaVu Sans"/>
                <a:ea typeface="DejaVu Sans"/>
                <a:cs typeface="DejaVu Sans"/>
              </a:defRPr>
            </a:lvl2pPr>
            <a:lvl3pPr>
              <a:buNone/>
              <a:defRPr sz="2025" b="0">
                <a:solidFill>
                  <a:srgbClr val="7DD3FC"/>
                </a:solidFill>
                <a:latin typeface="DejaVu Sans"/>
                <a:ea typeface="DejaVu Sans"/>
                <a:cs typeface="DejaVu Sans"/>
              </a:defRPr>
            </a:lvl3pPr>
            <a:lvl4pPr>
              <a:buNone/>
              <a:defRPr sz="2025" b="0">
                <a:solidFill>
                  <a:srgbClr val="7DD3FC"/>
                </a:solidFill>
                <a:latin typeface="DejaVu Sans"/>
                <a:ea typeface="DejaVu Sans"/>
                <a:cs typeface="DejaVu Sans"/>
              </a:defRPr>
            </a:lvl4pPr>
            <a:lvl5pPr>
              <a:buNone/>
              <a:defRPr sz="2025" b="0">
                <a:solidFill>
                  <a:srgbClr val="7DD3FC"/>
                </a:solidFill>
                <a:latin typeface="DejaVu Sans"/>
                <a:ea typeface="DejaVu Sans"/>
                <a:cs typeface="DejaVu Sans"/>
              </a:defRPr>
            </a:lvl5pPr>
            <a:lvl6pPr>
              <a:buNone/>
              <a:defRPr sz="2025" b="0">
                <a:solidFill>
                  <a:srgbClr val="7DD3FC"/>
                </a:solidFill>
                <a:latin typeface="DejaVu Sans"/>
                <a:ea typeface="DejaVu Sans"/>
                <a:cs typeface="DejaVu Sans"/>
              </a:defRPr>
            </a:lvl6pPr>
            <a:lvl7pPr>
              <a:buNone/>
              <a:defRPr sz="2025" b="0">
                <a:solidFill>
                  <a:srgbClr val="7DD3FC"/>
                </a:solidFill>
                <a:latin typeface="DejaVu Sans"/>
                <a:ea typeface="DejaVu Sans"/>
                <a:cs typeface="DejaVu Sans"/>
              </a:defRPr>
            </a:lvl7pPr>
            <a:lvl8pPr>
              <a:buNone/>
              <a:defRPr sz="2025" b="0">
                <a:solidFill>
                  <a:srgbClr val="7DD3FC"/>
                </a:solidFill>
                <a:latin typeface="DejaVu Sans"/>
                <a:ea typeface="DejaVu Sans"/>
                <a:cs typeface="DejaVu Sans"/>
              </a:defRPr>
            </a:lvl8pPr>
            <a:lvl9pPr>
              <a:buNone/>
              <a:defRPr sz="2025" b="0">
                <a:solidFill>
                  <a:srgbClr val="7DD3FC"/>
                </a:solidFill>
                <a:latin typeface="DejaVu Sans"/>
                <a:ea typeface="DejaVu Sans"/>
                <a:cs typeface="DejaVu Sans"/>
              </a:defRPr>
            </a:lvl9pPr>
          </a:lstStyle>
          <a:p xmlns:a="http://schemas.openxmlformats.org/drawingml/2006/main">
            <a:pPr>
              <a:buNone/>
              <a:defRPr sz="2025" b="0">
                <a:solidFill>
                  <a:srgbClr val="7DD3FC"/>
                </a:solidFill>
                <a:latin typeface="DejaVu Sans"/>
                <a:ea typeface="DejaVu Sans"/>
                <a:cs typeface="DejaVu Sans"/>
              </a:defRPr>
            </a:pPr>
            <a:r>
              <a:rPr sz="2025" b="0">
                <a:solidFill>
                  <a:srgbClr val="7DD3FC"/>
                </a:solidFill>
                <a:latin typeface="DejaVu Sans"/>
                <a:ea typeface="DejaVu Sans"/>
                <a:cs typeface="DejaVu Sans"/>
              </a:rPr>
              <a:t>P₀</a:t>
            </a:r>
          </a:p>
        </p:txBody>
      </p:sp>
      <p:sp>
        <p:nvSpPr>
          <p:cNvPr id="22" name="P-label">
            <a:extLst xmlns:a="http://schemas.openxmlformats.org/drawingml/2006/main">
              <a:ext uri="{FF2B5EF4-FFF2-40B4-BE49-F238E27FC236}">
                <a16:creationId xmlns:a16="http://schemas.microsoft.com/office/drawing/2014/main" id="{562FBD0C-B2DA-41CE-893A-8A95F3924E74}"/>
              </a:ext>
            </a:extLst>
          </p:cNvPr>
          <p:cNvSpPr>
            <a:spLocks xmlns:a="http://schemas.openxmlformats.org/drawingml/2006/main" noGrp="1"/>
          </p:cNvSpPr>
          <p:nvPr/>
        </p:nvSpPr>
        <p:spPr>
          <a:xfrm xmlns:a="http://schemas.openxmlformats.org/drawingml/2006/main">
            <a:off x="10829925" y="260985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C4B5FD"/>
                </a:solidFill>
                <a:latin typeface="DejaVu Sans"/>
                <a:ea typeface="DejaVu Sans"/>
                <a:cs typeface="DejaVu Sans"/>
              </a:defRPr>
            </a:defPPr>
            <a:lvl1pPr>
              <a:buNone/>
              <a:defRPr sz="2025" b="0">
                <a:solidFill>
                  <a:srgbClr val="C4B5FD"/>
                </a:solidFill>
                <a:latin typeface="DejaVu Sans"/>
                <a:ea typeface="DejaVu Sans"/>
                <a:cs typeface="DejaVu Sans"/>
              </a:defRPr>
            </a:lvl1pPr>
            <a:lvl2pPr>
              <a:buNone/>
              <a:defRPr sz="2025" b="0">
                <a:solidFill>
                  <a:srgbClr val="C4B5FD"/>
                </a:solidFill>
                <a:latin typeface="DejaVu Sans"/>
                <a:ea typeface="DejaVu Sans"/>
                <a:cs typeface="DejaVu Sans"/>
              </a:defRPr>
            </a:lvl2pPr>
            <a:lvl3pPr>
              <a:buNone/>
              <a:defRPr sz="2025" b="0">
                <a:solidFill>
                  <a:srgbClr val="C4B5FD"/>
                </a:solidFill>
                <a:latin typeface="DejaVu Sans"/>
                <a:ea typeface="DejaVu Sans"/>
                <a:cs typeface="DejaVu Sans"/>
              </a:defRPr>
            </a:lvl3pPr>
            <a:lvl4pPr>
              <a:buNone/>
              <a:defRPr sz="2025" b="0">
                <a:solidFill>
                  <a:srgbClr val="C4B5FD"/>
                </a:solidFill>
                <a:latin typeface="DejaVu Sans"/>
                <a:ea typeface="DejaVu Sans"/>
                <a:cs typeface="DejaVu Sans"/>
              </a:defRPr>
            </a:lvl4pPr>
            <a:lvl5pPr>
              <a:buNone/>
              <a:defRPr sz="2025" b="0">
                <a:solidFill>
                  <a:srgbClr val="C4B5FD"/>
                </a:solidFill>
                <a:latin typeface="DejaVu Sans"/>
                <a:ea typeface="DejaVu Sans"/>
                <a:cs typeface="DejaVu Sans"/>
              </a:defRPr>
            </a:lvl5pPr>
            <a:lvl6pPr>
              <a:buNone/>
              <a:defRPr sz="2025" b="0">
                <a:solidFill>
                  <a:srgbClr val="C4B5FD"/>
                </a:solidFill>
                <a:latin typeface="DejaVu Sans"/>
                <a:ea typeface="DejaVu Sans"/>
                <a:cs typeface="DejaVu Sans"/>
              </a:defRPr>
            </a:lvl6pPr>
            <a:lvl7pPr>
              <a:buNone/>
              <a:defRPr sz="2025" b="0">
                <a:solidFill>
                  <a:srgbClr val="C4B5FD"/>
                </a:solidFill>
                <a:latin typeface="DejaVu Sans"/>
                <a:ea typeface="DejaVu Sans"/>
                <a:cs typeface="DejaVu Sans"/>
              </a:defRPr>
            </a:lvl7pPr>
            <a:lvl8pPr>
              <a:buNone/>
              <a:defRPr sz="2025" b="0">
                <a:solidFill>
                  <a:srgbClr val="C4B5FD"/>
                </a:solidFill>
                <a:latin typeface="DejaVu Sans"/>
                <a:ea typeface="DejaVu Sans"/>
                <a:cs typeface="DejaVu Sans"/>
              </a:defRPr>
            </a:lvl8pPr>
            <a:lvl9pPr>
              <a:buNone/>
              <a:defRPr sz="2025" b="0">
                <a:solidFill>
                  <a:srgbClr val="C4B5FD"/>
                </a:solidFill>
                <a:latin typeface="DejaVu Sans"/>
                <a:ea typeface="DejaVu Sans"/>
                <a:cs typeface="DejaVu Sans"/>
              </a:defRPr>
            </a:lvl9pPr>
          </a:lstStyle>
          <a:p xmlns:a="http://schemas.openxmlformats.org/drawingml/2006/main">
            <a:pPr>
              <a:buNone/>
              <a:defRPr sz="2025" b="0">
                <a:solidFill>
                  <a:srgbClr val="C4B5FD"/>
                </a:solidFill>
                <a:latin typeface="DejaVu Sans"/>
                <a:ea typeface="DejaVu Sans"/>
                <a:cs typeface="DejaVu Sans"/>
              </a:defRPr>
            </a:pPr>
            <a:r>
              <a:rPr sz="2025" b="0">
                <a:solidFill>
                  <a:srgbClr val="C4B5FD"/>
                </a:solidFill>
                <a:latin typeface="DejaVu Sans"/>
                <a:ea typeface="DejaVu Sans"/>
                <a:cs typeface="DejaVu Sans"/>
              </a:rPr>
              <a:t>P</a:t>
            </a:r>
          </a:p>
        </p:txBody>
      </p:sp>
    </p:spTree>
    <p:extLst>
      <p:ext uri="{BB962C8B-B14F-4D97-AF65-F5344CB8AC3E}">
        <p14:creationId xmlns:p14="http://schemas.microsoft.com/office/powerpoint/2010/main" val="41521297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97864D9-EB2F-428A-9569-4E91A15B61C9}"/>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Class example  Symmetric form with three changes</a:t>
            </a:r>
          </a:p>
        </p:txBody>
      </p:sp>
      <p:sp>
        <p:nvSpPr>
          <p:cNvPr id="2" name="page-number">
            <a:extLst xmlns:a="http://schemas.openxmlformats.org/drawingml/2006/main">
              <a:ext uri="{FF2B5EF4-FFF2-40B4-BE49-F238E27FC236}">
                <a16:creationId xmlns:a16="http://schemas.microsoft.com/office/drawing/2014/main" id="{7F2ED275-5273-4331-B283-F3AC3289D2B2}"/>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55</a:t>
            </a:r>
          </a:p>
        </p:txBody>
      </p:sp>
      <p:sp>
        <p:nvSpPr>
          <p:cNvPr id="3" name="lead">
            <a:extLst xmlns:a="http://schemas.openxmlformats.org/drawingml/2006/main">
              <a:ext uri="{FF2B5EF4-FFF2-40B4-BE49-F238E27FC236}">
                <a16:creationId xmlns:a16="http://schemas.microsoft.com/office/drawing/2014/main" id="{095668C8-31AC-40B9-8866-C15DD495DED3}"/>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Write the symmetric equations through the two given points.</a:t>
            </a:r>
          </a:p>
        </p:txBody>
      </p:sp>
      <p:pic>
        <p:nvPicPr>
          <p:cNvPr id="4" name="equation-0" descr="LaTeX: A(-1,5,7),\quad B(3,-4,8)">
            <a:extLst xmlns:a="http://schemas.openxmlformats.org/drawingml/2006/main">
              <a:ext uri="{FF2B5EF4-FFF2-40B4-BE49-F238E27FC236}">
                <a16:creationId xmlns:a16="http://schemas.microsoft.com/office/drawing/2014/main" id="{3D7B76F2-F508-40DB-A8F8-567F2A94598A}"/>
              </a:ext>
            </a:extLst>
          </p:cNvPr>
          <p:cNvPicPr>
            <a:picLocks xmlns:a="http://schemas.openxmlformats.org/drawingml/2006/main" noChangeAspect="1"/>
          </p:cNvPicPr>
          <p:nvPr/>
        </p:nvPicPr>
        <p:blipFill>
          <a:blip xmlns:r="http://schemas.openxmlformats.org/officeDocument/2006/relationships" xmlns:a="http://schemas.openxmlformats.org/drawingml/2006/main" r:embed="Rf13d78604bef4b88">
            <a:extLst>
              <a:ext uri="{96DAC541-7B7A-43D3-8B79-37D633B846F1}">
                <asvg:svgBlip xmlns:asvg="http://schemas.microsoft.com/office/drawing/2016/SVG/main" r:embed="R89d4275e6ab34fb9"/>
              </a:ext>
            </a:extLst>
          </a:blip>
          <a:stretch xmlns:a="http://schemas.openxmlformats.org/drawingml/2006/main"/>
        </p:blipFill>
        <p:spPr>
          <a:xfrm xmlns:a="http://schemas.openxmlformats.org/drawingml/2006/main">
            <a:off x="685800" y="2557221"/>
            <a:ext cx="4093356" cy="436875"/>
          </a:xfrm>
          <a:prstGeom xmlns:a="http://schemas.openxmlformats.org/drawingml/2006/main" prst="rect">
            <a:avLst/>
          </a:prstGeom>
        </p:spPr>
      </p:pic>
      <p:pic>
        <p:nvPicPr>
          <p:cNvPr id="5" name="equation-1" descr="LaTeX: \overrightarrow{AB}=[4,-9,1]">
            <a:extLst xmlns:a="http://schemas.openxmlformats.org/drawingml/2006/main">
              <a:ext uri="{FF2B5EF4-FFF2-40B4-BE49-F238E27FC236}">
                <a16:creationId xmlns:a16="http://schemas.microsoft.com/office/drawing/2014/main" id="{A76C3B68-DAC5-4023-859E-5F3C3F920840}"/>
              </a:ext>
            </a:extLst>
          </p:cNvPr>
          <p:cNvPicPr>
            <a:picLocks xmlns:a="http://schemas.openxmlformats.org/drawingml/2006/main" noChangeAspect="1"/>
          </p:cNvPicPr>
          <p:nvPr/>
        </p:nvPicPr>
        <p:blipFill>
          <a:blip xmlns:r="http://schemas.openxmlformats.org/officeDocument/2006/relationships" xmlns:a="http://schemas.openxmlformats.org/drawingml/2006/main" r:embed="R0f70f42b825e430b">
            <a:extLst>
              <a:ext uri="{96DAC541-7B7A-43D3-8B79-37D633B846F1}">
                <asvg:svgBlip xmlns:asvg="http://schemas.microsoft.com/office/drawing/2016/SVG/main" r:embed="R20b9bf6ca42648c6"/>
              </a:ext>
            </a:extLst>
          </a:blip>
          <a:stretch xmlns:a="http://schemas.openxmlformats.org/drawingml/2006/main"/>
        </p:blipFill>
        <p:spPr>
          <a:xfrm xmlns:a="http://schemas.openxmlformats.org/drawingml/2006/main">
            <a:off x="685800" y="3260796"/>
            <a:ext cx="2520288" cy="554439"/>
          </a:xfrm>
          <a:prstGeom xmlns:a="http://schemas.openxmlformats.org/drawingml/2006/main" prst="rect">
            <a:avLst/>
          </a:prstGeom>
        </p:spPr>
      </p:pic>
      <p:pic>
        <p:nvPicPr>
          <p:cNvPr id="6" name="equation-2" descr="LaTeX: x=-1+4t,\quad y=5-9t,\quad z=7+t">
            <a:extLst xmlns:a="http://schemas.openxmlformats.org/drawingml/2006/main">
              <a:ext uri="{FF2B5EF4-FFF2-40B4-BE49-F238E27FC236}">
                <a16:creationId xmlns:a16="http://schemas.microsoft.com/office/drawing/2014/main" id="{D2D4771C-7A79-4074-B58E-31891193AB68}"/>
              </a:ext>
            </a:extLst>
          </p:cNvPr>
          <p:cNvPicPr>
            <a:picLocks xmlns:a="http://schemas.openxmlformats.org/drawingml/2006/main" noChangeAspect="1"/>
          </p:cNvPicPr>
          <p:nvPr/>
        </p:nvPicPr>
        <p:blipFill>
          <a:blip xmlns:r="http://schemas.openxmlformats.org/officeDocument/2006/relationships" xmlns:a="http://schemas.openxmlformats.org/drawingml/2006/main" r:embed="Ra68e79a50aa44deb">
            <a:extLst>
              <a:ext uri="{96DAC541-7B7A-43D3-8B79-37D633B846F1}">
                <asvg:svgBlip xmlns:asvg="http://schemas.microsoft.com/office/drawing/2016/SVG/main" r:embed="Rce230d2c8fac461a"/>
              </a:ext>
            </a:extLst>
          </a:blip>
          <a:stretch xmlns:a="http://schemas.openxmlformats.org/drawingml/2006/main"/>
        </p:blipFill>
        <p:spPr>
          <a:xfrm xmlns:a="http://schemas.openxmlformats.org/drawingml/2006/main">
            <a:off x="685800" y="4081935"/>
            <a:ext cx="6212371" cy="374698"/>
          </a:xfrm>
          <a:prstGeom xmlns:a="http://schemas.openxmlformats.org/drawingml/2006/main" prst="rect">
            <a:avLst/>
          </a:prstGeom>
        </p:spPr>
      </p:pic>
      <p:pic>
        <p:nvPicPr>
          <p:cNvPr id="7" name="equation-3" descr="LaTeX: \frac{x+1}{4}=\frac{y-5}{-9}=\frac{z-7}{1}">
            <a:extLst xmlns:a="http://schemas.openxmlformats.org/drawingml/2006/main">
              <a:ext uri="{FF2B5EF4-FFF2-40B4-BE49-F238E27FC236}">
                <a16:creationId xmlns:a16="http://schemas.microsoft.com/office/drawing/2014/main" id="{68AFFBA8-134D-4B50-A9A1-0002FF9D5468}"/>
              </a:ext>
            </a:extLst>
          </p:cNvPr>
          <p:cNvPicPr>
            <a:picLocks xmlns:a="http://schemas.openxmlformats.org/drawingml/2006/main" noChangeAspect="1"/>
          </p:cNvPicPr>
          <p:nvPr/>
        </p:nvPicPr>
        <p:blipFill>
          <a:blip xmlns:r="http://schemas.openxmlformats.org/officeDocument/2006/relationships" xmlns:a="http://schemas.openxmlformats.org/drawingml/2006/main" r:embed="R0ee8782f219d45cd">
            <a:extLst>
              <a:ext uri="{96DAC541-7B7A-43D3-8B79-37D633B846F1}">
                <asvg:svgBlip xmlns:asvg="http://schemas.microsoft.com/office/drawing/2016/SVG/main" r:embed="R3ed6849d03054a47"/>
              </a:ext>
            </a:extLst>
          </a:blip>
          <a:stretch xmlns:a="http://schemas.openxmlformats.org/drawingml/2006/main"/>
        </p:blipFill>
        <p:spPr>
          <a:xfrm xmlns:a="http://schemas.openxmlformats.org/drawingml/2006/main">
            <a:off x="685800" y="4723333"/>
            <a:ext cx="3715097" cy="863321"/>
          </a:xfrm>
          <a:prstGeom xmlns:a="http://schemas.openxmlformats.org/drawingml/2006/main" prst="rect">
            <a:avLst/>
          </a:prstGeom>
        </p:spPr>
      </p:pic>
    </p:spTree>
    <p:extLst>
      <p:ext uri="{BB962C8B-B14F-4D97-AF65-F5344CB8AC3E}">
        <p14:creationId xmlns:p14="http://schemas.microsoft.com/office/powerpoint/2010/main" val="6531077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D4F1847-7011-44A3-9FD4-0C32BADB9726}"/>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Class example  Symmetric form with negative signs</a:t>
            </a:r>
          </a:p>
        </p:txBody>
      </p:sp>
      <p:sp>
        <p:nvSpPr>
          <p:cNvPr id="2" name="page-number">
            <a:extLst xmlns:a="http://schemas.openxmlformats.org/drawingml/2006/main">
              <a:ext uri="{FF2B5EF4-FFF2-40B4-BE49-F238E27FC236}">
                <a16:creationId xmlns:a16="http://schemas.microsoft.com/office/drawing/2014/main" id="{A5A1A236-E00F-4D1F-AFA5-6A7A57CBAB7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56</a:t>
            </a:r>
          </a:p>
        </p:txBody>
      </p:sp>
      <p:sp>
        <p:nvSpPr>
          <p:cNvPr id="3" name="lead">
            <a:extLst xmlns:a="http://schemas.openxmlformats.org/drawingml/2006/main">
              <a:ext uri="{FF2B5EF4-FFF2-40B4-BE49-F238E27FC236}">
                <a16:creationId xmlns:a16="http://schemas.microsoft.com/office/drawing/2014/main" id="{CF60C2E3-95C4-463D-B053-77022DA53AD7}"/>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Write the symmetric equations through the two given points.</a:t>
            </a:r>
          </a:p>
        </p:txBody>
      </p:sp>
      <p:pic>
        <p:nvPicPr>
          <p:cNvPr id="4" name="equation-0" descr="LaTeX: P(-2,3,1),\quad Q(4,3,-5)">
            <a:extLst xmlns:a="http://schemas.openxmlformats.org/drawingml/2006/main">
              <a:ext uri="{FF2B5EF4-FFF2-40B4-BE49-F238E27FC236}">
                <a16:creationId xmlns:a16="http://schemas.microsoft.com/office/drawing/2014/main" id="{C97CFB7C-ED33-41EF-8AC1-EE5FC31C5360}"/>
              </a:ext>
            </a:extLst>
          </p:cNvPr>
          <p:cNvPicPr>
            <a:picLocks xmlns:a="http://schemas.openxmlformats.org/drawingml/2006/main" noChangeAspect="1"/>
          </p:cNvPicPr>
          <p:nvPr/>
        </p:nvPicPr>
        <p:blipFill>
          <a:blip xmlns:r="http://schemas.openxmlformats.org/officeDocument/2006/relationships" xmlns:a="http://schemas.openxmlformats.org/drawingml/2006/main" r:embed="Rce24cb6b249a440c">
            <a:extLst>
              <a:ext uri="{96DAC541-7B7A-43D3-8B79-37D633B846F1}">
                <asvg:svgBlip xmlns:asvg="http://schemas.microsoft.com/office/drawing/2016/SVG/main" r:embed="Rd339363010c444bf"/>
              </a:ext>
            </a:extLst>
          </a:blip>
          <a:stretch xmlns:a="http://schemas.openxmlformats.org/drawingml/2006/main"/>
        </p:blipFill>
        <p:spPr>
          <a:xfrm xmlns:a="http://schemas.openxmlformats.org/drawingml/2006/main">
            <a:off x="685800" y="2557221"/>
            <a:ext cx="4098932" cy="436875"/>
          </a:xfrm>
          <a:prstGeom xmlns:a="http://schemas.openxmlformats.org/drawingml/2006/main" prst="rect">
            <a:avLst/>
          </a:prstGeom>
        </p:spPr>
      </p:pic>
      <p:pic>
        <p:nvPicPr>
          <p:cNvPr id="5" name="equation-1" descr="LaTeX: \overrightarrow{PQ}=[6,0,-6]=6[1,0,-1]">
            <a:extLst xmlns:a="http://schemas.openxmlformats.org/drawingml/2006/main">
              <a:ext uri="{FF2B5EF4-FFF2-40B4-BE49-F238E27FC236}">
                <a16:creationId xmlns:a16="http://schemas.microsoft.com/office/drawing/2014/main" id="{6C785759-149A-4A36-A6DF-DFBDD6A94C52}"/>
              </a:ext>
            </a:extLst>
          </p:cNvPr>
          <p:cNvPicPr>
            <a:picLocks xmlns:a="http://schemas.openxmlformats.org/drawingml/2006/main" noChangeAspect="1"/>
          </p:cNvPicPr>
          <p:nvPr/>
        </p:nvPicPr>
        <p:blipFill>
          <a:blip xmlns:r="http://schemas.openxmlformats.org/officeDocument/2006/relationships" xmlns:a="http://schemas.openxmlformats.org/drawingml/2006/main" r:embed="R1571a0f5db4c44cf">
            <a:extLst>
              <a:ext uri="{96DAC541-7B7A-43D3-8B79-37D633B846F1}">
                <asvg:svgBlip xmlns:asvg="http://schemas.microsoft.com/office/drawing/2016/SVG/main" r:embed="R1f62484ff0a24c8b"/>
              </a:ext>
            </a:extLst>
          </a:blip>
          <a:stretch xmlns:a="http://schemas.openxmlformats.org/drawingml/2006/main"/>
        </p:blipFill>
        <p:spPr>
          <a:xfrm xmlns:a="http://schemas.openxmlformats.org/drawingml/2006/main">
            <a:off x="685800" y="3260796"/>
            <a:ext cx="4581380" cy="554439"/>
          </a:xfrm>
          <a:prstGeom xmlns:a="http://schemas.openxmlformats.org/drawingml/2006/main" prst="rect">
            <a:avLst/>
          </a:prstGeom>
        </p:spPr>
      </p:pic>
      <p:pic>
        <p:nvPicPr>
          <p:cNvPr id="6" name="equation-2" descr="LaTeX: x=-2+t,\quad y=3,\quad z=1-t">
            <a:extLst xmlns:a="http://schemas.openxmlformats.org/drawingml/2006/main">
              <a:ext uri="{FF2B5EF4-FFF2-40B4-BE49-F238E27FC236}">
                <a16:creationId xmlns:a16="http://schemas.microsoft.com/office/drawing/2014/main" id="{8C7E050B-CBB1-4E47-A6A3-A972B67ABE8A}"/>
              </a:ext>
            </a:extLst>
          </p:cNvPr>
          <p:cNvPicPr>
            <a:picLocks xmlns:a="http://schemas.openxmlformats.org/drawingml/2006/main" noChangeAspect="1"/>
          </p:cNvPicPr>
          <p:nvPr/>
        </p:nvPicPr>
        <p:blipFill>
          <a:blip xmlns:r="http://schemas.openxmlformats.org/officeDocument/2006/relationships" xmlns:a="http://schemas.openxmlformats.org/drawingml/2006/main" r:embed="R6132ed79c7ef4ad0">
            <a:extLst>
              <a:ext uri="{96DAC541-7B7A-43D3-8B79-37D633B846F1}">
                <asvg:svgBlip xmlns:asvg="http://schemas.microsoft.com/office/drawing/2016/SVG/main" r:embed="R6b43207b5da24755"/>
              </a:ext>
            </a:extLst>
          </a:blip>
          <a:stretch xmlns:a="http://schemas.openxmlformats.org/drawingml/2006/main"/>
        </p:blipFill>
        <p:spPr>
          <a:xfrm xmlns:a="http://schemas.openxmlformats.org/drawingml/2006/main">
            <a:off x="685800" y="4081935"/>
            <a:ext cx="5261542" cy="374698"/>
          </a:xfrm>
          <a:prstGeom xmlns:a="http://schemas.openxmlformats.org/drawingml/2006/main" prst="rect">
            <a:avLst/>
          </a:prstGeom>
        </p:spPr>
      </p:pic>
      <p:pic>
        <p:nvPicPr>
          <p:cNvPr id="7" name="equation-3" descr="LaTeX: y=3,\qquad\frac{x+2}{1}=\frac{z-1}{-1}">
            <a:extLst xmlns:a="http://schemas.openxmlformats.org/drawingml/2006/main">
              <a:ext uri="{FF2B5EF4-FFF2-40B4-BE49-F238E27FC236}">
                <a16:creationId xmlns:a16="http://schemas.microsoft.com/office/drawing/2014/main" id="{7DD84C5D-EB6F-4D40-88D8-978FD7CBF82E}"/>
              </a:ext>
            </a:extLst>
          </p:cNvPr>
          <p:cNvPicPr>
            <a:picLocks xmlns:a="http://schemas.openxmlformats.org/drawingml/2006/main" noChangeAspect="1"/>
          </p:cNvPicPr>
          <p:nvPr/>
        </p:nvPicPr>
        <p:blipFill>
          <a:blip xmlns:r="http://schemas.openxmlformats.org/officeDocument/2006/relationships" xmlns:a="http://schemas.openxmlformats.org/drawingml/2006/main" r:embed="R9dcc4f73109f4e25">
            <a:extLst>
              <a:ext uri="{96DAC541-7B7A-43D3-8B79-37D633B846F1}">
                <asvg:svgBlip xmlns:asvg="http://schemas.microsoft.com/office/drawing/2016/SVG/main" r:embed="Rc35bb49336d4444e"/>
              </a:ext>
            </a:extLst>
          </a:blip>
          <a:stretch xmlns:a="http://schemas.openxmlformats.org/drawingml/2006/main"/>
        </p:blipFill>
        <p:spPr>
          <a:xfrm xmlns:a="http://schemas.openxmlformats.org/drawingml/2006/main">
            <a:off x="685800" y="4723333"/>
            <a:ext cx="4087763" cy="863321"/>
          </a:xfrm>
          <a:prstGeom xmlns:a="http://schemas.openxmlformats.org/drawingml/2006/main" prst="rect">
            <a:avLst/>
          </a:prstGeom>
        </p:spPr>
      </p:pic>
    </p:spTree>
    <p:extLst>
      <p:ext uri="{BB962C8B-B14F-4D97-AF65-F5344CB8AC3E}">
        <p14:creationId xmlns:p14="http://schemas.microsoft.com/office/powerpoint/2010/main" val="213397007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300781C-2B88-4E0E-938B-A66D6EB49BF2}"/>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Class example  Another fixed coordinate</a:t>
            </a:r>
          </a:p>
        </p:txBody>
      </p:sp>
      <p:sp>
        <p:nvSpPr>
          <p:cNvPr id="2" name="page-number">
            <a:extLst xmlns:a="http://schemas.openxmlformats.org/drawingml/2006/main">
              <a:ext uri="{FF2B5EF4-FFF2-40B4-BE49-F238E27FC236}">
                <a16:creationId xmlns:a16="http://schemas.microsoft.com/office/drawing/2014/main" id="{53550510-5B75-4EB8-BAB5-F85906C79F42}"/>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57</a:t>
            </a:r>
          </a:p>
        </p:txBody>
      </p:sp>
      <p:sp>
        <p:nvSpPr>
          <p:cNvPr id="3" name="lead">
            <a:extLst xmlns:a="http://schemas.openxmlformats.org/drawingml/2006/main">
              <a:ext uri="{FF2B5EF4-FFF2-40B4-BE49-F238E27FC236}">
                <a16:creationId xmlns:a16="http://schemas.microsoft.com/office/drawing/2014/main" id="{1CB17B33-70FF-45B4-8A22-D652C7A3186E}"/>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Write the symmetric equations through the two given points.</a:t>
            </a:r>
          </a:p>
        </p:txBody>
      </p:sp>
      <p:pic>
        <p:nvPicPr>
          <p:cNvPr id="4" name="equation-0" descr="LaTeX: X(-1,2,5),\quad Y(-1,3,9)">
            <a:extLst xmlns:a="http://schemas.openxmlformats.org/drawingml/2006/main">
              <a:ext uri="{FF2B5EF4-FFF2-40B4-BE49-F238E27FC236}">
                <a16:creationId xmlns:a16="http://schemas.microsoft.com/office/drawing/2014/main" id="{0BB4D327-13C2-4376-90C8-61F5FA7DF4D0}"/>
              </a:ext>
            </a:extLst>
          </p:cNvPr>
          <p:cNvPicPr>
            <a:picLocks xmlns:a="http://schemas.openxmlformats.org/drawingml/2006/main" noChangeAspect="1"/>
          </p:cNvPicPr>
          <p:nvPr/>
        </p:nvPicPr>
        <p:blipFill>
          <a:blip xmlns:r="http://schemas.openxmlformats.org/officeDocument/2006/relationships" xmlns:a="http://schemas.openxmlformats.org/drawingml/2006/main" r:embed="R35044738a38f4884">
            <a:extLst>
              <a:ext uri="{96DAC541-7B7A-43D3-8B79-37D633B846F1}">
                <asvg:svgBlip xmlns:asvg="http://schemas.microsoft.com/office/drawing/2016/SVG/main" r:embed="R49ec58982a314b44"/>
              </a:ext>
            </a:extLst>
          </a:blip>
          <a:stretch xmlns:a="http://schemas.openxmlformats.org/drawingml/2006/main"/>
        </p:blipFill>
        <p:spPr>
          <a:xfrm xmlns:a="http://schemas.openxmlformats.org/drawingml/2006/main">
            <a:off x="685800" y="2573494"/>
            <a:ext cx="4151389" cy="436875"/>
          </a:xfrm>
          <a:prstGeom xmlns:a="http://schemas.openxmlformats.org/drawingml/2006/main" prst="rect">
            <a:avLst/>
          </a:prstGeom>
        </p:spPr>
      </p:pic>
      <p:pic>
        <p:nvPicPr>
          <p:cNvPr id="5" name="equation-1" descr="LaTeX: \overrightarrow{XY}=[0,1,4]">
            <a:extLst xmlns:a="http://schemas.openxmlformats.org/drawingml/2006/main">
              <a:ext uri="{FF2B5EF4-FFF2-40B4-BE49-F238E27FC236}">
                <a16:creationId xmlns:a16="http://schemas.microsoft.com/office/drawing/2014/main" id="{5757A5A0-FE3E-4F2D-99A5-F6043AB89D19}"/>
              </a:ext>
            </a:extLst>
          </p:cNvPr>
          <p:cNvPicPr>
            <a:picLocks xmlns:a="http://schemas.openxmlformats.org/drawingml/2006/main" noChangeAspect="1"/>
          </p:cNvPicPr>
          <p:nvPr/>
        </p:nvPicPr>
        <p:blipFill>
          <a:blip xmlns:r="http://schemas.openxmlformats.org/officeDocument/2006/relationships" xmlns:a="http://schemas.openxmlformats.org/drawingml/2006/main" r:embed="R5910d535d3354a34">
            <a:extLst>
              <a:ext uri="{96DAC541-7B7A-43D3-8B79-37D633B846F1}">
                <asvg:svgBlip xmlns:asvg="http://schemas.microsoft.com/office/drawing/2016/SVG/main" r:embed="R386e73299a4f4042"/>
              </a:ext>
            </a:extLst>
          </a:blip>
          <a:stretch xmlns:a="http://schemas.openxmlformats.org/drawingml/2006/main"/>
        </p:blipFill>
        <p:spPr>
          <a:xfrm xmlns:a="http://schemas.openxmlformats.org/drawingml/2006/main">
            <a:off x="685800" y="3277069"/>
            <a:ext cx="2274622" cy="554439"/>
          </a:xfrm>
          <a:prstGeom xmlns:a="http://schemas.openxmlformats.org/drawingml/2006/main" prst="rect">
            <a:avLst/>
          </a:prstGeom>
        </p:spPr>
      </p:pic>
      <p:pic>
        <p:nvPicPr>
          <p:cNvPr id="6" name="equation-2" descr="LaTeX: x=-1,\quad y=2+t,\quad z=5+4t">
            <a:extLst xmlns:a="http://schemas.openxmlformats.org/drawingml/2006/main">
              <a:ext uri="{FF2B5EF4-FFF2-40B4-BE49-F238E27FC236}">
                <a16:creationId xmlns:a16="http://schemas.microsoft.com/office/drawing/2014/main" id="{0232DED1-78F7-46F0-9F7F-003F878944EB}"/>
              </a:ext>
            </a:extLst>
          </p:cNvPr>
          <p:cNvPicPr>
            <a:picLocks xmlns:a="http://schemas.openxmlformats.org/drawingml/2006/main" noChangeAspect="1"/>
          </p:cNvPicPr>
          <p:nvPr/>
        </p:nvPicPr>
        <p:blipFill>
          <a:blip xmlns:r="http://schemas.openxmlformats.org/officeDocument/2006/relationships" xmlns:a="http://schemas.openxmlformats.org/drawingml/2006/main" r:embed="R34fd00cde6f54b3e">
            <a:extLst>
              <a:ext uri="{96DAC541-7B7A-43D3-8B79-37D633B846F1}">
                <asvg:svgBlip xmlns:asvg="http://schemas.microsoft.com/office/drawing/2016/SVG/main" r:embed="Rf915ab49595e42a6"/>
              </a:ext>
            </a:extLst>
          </a:blip>
          <a:stretch xmlns:a="http://schemas.openxmlformats.org/drawingml/2006/main"/>
        </p:blipFill>
        <p:spPr>
          <a:xfrm xmlns:a="http://schemas.openxmlformats.org/drawingml/2006/main">
            <a:off x="685800" y="4098207"/>
            <a:ext cx="5418000" cy="374698"/>
          </a:xfrm>
          <a:prstGeom xmlns:a="http://schemas.openxmlformats.org/drawingml/2006/main" prst="rect">
            <a:avLst/>
          </a:prstGeom>
        </p:spPr>
      </p:pic>
      <p:pic>
        <p:nvPicPr>
          <p:cNvPr id="7" name="equation-3" descr="LaTeX: x=-1,\qquad\frac{y-2}{1}=\frac{z-5}{4}">
            <a:extLst xmlns:a="http://schemas.openxmlformats.org/drawingml/2006/main">
              <a:ext uri="{FF2B5EF4-FFF2-40B4-BE49-F238E27FC236}">
                <a16:creationId xmlns:a16="http://schemas.microsoft.com/office/drawing/2014/main" id="{5FBC3EA9-7133-45C5-B901-F5B008855C5A}"/>
              </a:ext>
            </a:extLst>
          </p:cNvPr>
          <p:cNvPicPr>
            <a:picLocks xmlns:a="http://schemas.openxmlformats.org/drawingml/2006/main" noChangeAspect="1"/>
          </p:cNvPicPr>
          <p:nvPr/>
        </p:nvPicPr>
        <p:blipFill>
          <a:blip xmlns:r="http://schemas.openxmlformats.org/officeDocument/2006/relationships" xmlns:a="http://schemas.openxmlformats.org/drawingml/2006/main" r:embed="R7952e43f50db4897">
            <a:extLst>
              <a:ext uri="{96DAC541-7B7A-43D3-8B79-37D633B846F1}">
                <asvg:svgBlip xmlns:asvg="http://schemas.microsoft.com/office/drawing/2016/SVG/main" r:embed="Racaf951cc12b424b"/>
              </a:ext>
            </a:extLst>
          </a:blip>
          <a:stretch xmlns:a="http://schemas.openxmlformats.org/drawingml/2006/main"/>
        </p:blipFill>
        <p:spPr>
          <a:xfrm xmlns:a="http://schemas.openxmlformats.org/drawingml/2006/main">
            <a:off x="685800" y="4739605"/>
            <a:ext cx="4414100" cy="830776"/>
          </a:xfrm>
          <a:prstGeom xmlns:a="http://schemas.openxmlformats.org/drawingml/2006/main" prst="rect">
            <a:avLst/>
          </a:prstGeom>
        </p:spPr>
      </p:pic>
    </p:spTree>
    <p:extLst>
      <p:ext uri="{BB962C8B-B14F-4D97-AF65-F5344CB8AC3E}">
        <p14:creationId xmlns:p14="http://schemas.microsoft.com/office/powerpoint/2010/main" val="36413256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280835C-E38D-488B-96DD-2305FC1982FB}"/>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Eliminating the parameter in space</a:t>
            </a:r>
          </a:p>
        </p:txBody>
      </p:sp>
      <p:sp>
        <p:nvSpPr>
          <p:cNvPr id="2" name="page-number">
            <a:extLst xmlns:a="http://schemas.openxmlformats.org/drawingml/2006/main">
              <a:ext uri="{FF2B5EF4-FFF2-40B4-BE49-F238E27FC236}">
                <a16:creationId xmlns:a16="http://schemas.microsoft.com/office/drawing/2014/main" id="{8AD6EC9E-7BB8-4E5B-9255-D356F8CD40E0}"/>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58</a:t>
            </a:r>
          </a:p>
        </p:txBody>
      </p:sp>
      <p:sp>
        <p:nvSpPr>
          <p:cNvPr id="3" name="lead">
            <a:extLst xmlns:a="http://schemas.openxmlformats.org/drawingml/2006/main">
              <a:ext uri="{FF2B5EF4-FFF2-40B4-BE49-F238E27FC236}">
                <a16:creationId xmlns:a16="http://schemas.microsoft.com/office/drawing/2014/main" id="{485EC611-DB7D-48D8-BAF8-A561F515D905}"/>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Eliminate t twice so that both equations describe the same line.</a:t>
            </a:r>
          </a:p>
        </p:txBody>
      </p:sp>
      <p:pic>
        <p:nvPicPr>
          <p:cNvPr id="4" name="equation-0" descr="LaTeX: x=1+2t,\quad y=3-5t,\quad z=6+4t">
            <a:extLst xmlns:a="http://schemas.openxmlformats.org/drawingml/2006/main">
              <a:ext uri="{FF2B5EF4-FFF2-40B4-BE49-F238E27FC236}">
                <a16:creationId xmlns:a16="http://schemas.microsoft.com/office/drawing/2014/main" id="{5734CC98-F71B-4DFD-A488-199ABDE62530}"/>
              </a:ext>
            </a:extLst>
          </p:cNvPr>
          <p:cNvPicPr>
            <a:picLocks xmlns:a="http://schemas.openxmlformats.org/drawingml/2006/main" noChangeAspect="1"/>
          </p:cNvPicPr>
          <p:nvPr/>
        </p:nvPicPr>
        <p:blipFill>
          <a:blip xmlns:r="http://schemas.openxmlformats.org/officeDocument/2006/relationships" xmlns:a="http://schemas.openxmlformats.org/drawingml/2006/main" r:embed="R51bf2873f1ba4c99">
            <a:extLst>
              <a:ext uri="{96DAC541-7B7A-43D3-8B79-37D633B846F1}">
                <asvg:svgBlip xmlns:asvg="http://schemas.microsoft.com/office/drawing/2016/SVG/main" r:embed="Rbc98e7118b5a412c"/>
              </a:ext>
            </a:extLst>
          </a:blip>
          <a:stretch xmlns:a="http://schemas.openxmlformats.org/drawingml/2006/main"/>
        </p:blipFill>
        <p:spPr>
          <a:xfrm xmlns:a="http://schemas.openxmlformats.org/drawingml/2006/main">
            <a:off x="685800" y="2770840"/>
            <a:ext cx="6087750" cy="374698"/>
          </a:xfrm>
          <a:prstGeom xmlns:a="http://schemas.openxmlformats.org/drawingml/2006/main" prst="rect">
            <a:avLst/>
          </a:prstGeom>
        </p:spPr>
      </p:pic>
      <p:pic>
        <p:nvPicPr>
          <p:cNvPr id="5" name="equation-1" descr="LaTeX: \frac{x-1}{2}=\frac{y-3}{-5}\quad\Longrightarrow\quad5(x-1)=-2(y-3)">
            <a:extLst xmlns:a="http://schemas.openxmlformats.org/drawingml/2006/main">
              <a:ext uri="{FF2B5EF4-FFF2-40B4-BE49-F238E27FC236}">
                <a16:creationId xmlns:a16="http://schemas.microsoft.com/office/drawing/2014/main" id="{12C717CE-CB7A-4D30-BD17-B81190540A8B}"/>
              </a:ext>
            </a:extLst>
          </p:cNvPr>
          <p:cNvPicPr>
            <a:picLocks xmlns:a="http://schemas.openxmlformats.org/drawingml/2006/main" noChangeAspect="1"/>
          </p:cNvPicPr>
          <p:nvPr/>
        </p:nvPicPr>
        <p:blipFill>
          <a:blip xmlns:r="http://schemas.openxmlformats.org/officeDocument/2006/relationships" xmlns:a="http://schemas.openxmlformats.org/drawingml/2006/main" r:embed="R8b96636bf6ef44df">
            <a:extLst>
              <a:ext uri="{96DAC541-7B7A-43D3-8B79-37D633B846F1}">
                <asvg:svgBlip xmlns:asvg="http://schemas.microsoft.com/office/drawing/2016/SVG/main" r:embed="R6586f31b5f7549f8"/>
              </a:ext>
            </a:extLst>
          </a:blip>
          <a:stretch xmlns:a="http://schemas.openxmlformats.org/drawingml/2006/main"/>
        </p:blipFill>
        <p:spPr>
          <a:xfrm xmlns:a="http://schemas.openxmlformats.org/drawingml/2006/main">
            <a:off x="685800" y="3412238"/>
            <a:ext cx="7333692" cy="863321"/>
          </a:xfrm>
          <a:prstGeom xmlns:a="http://schemas.openxmlformats.org/drawingml/2006/main" prst="rect">
            <a:avLst/>
          </a:prstGeom>
        </p:spPr>
      </p:pic>
      <p:pic>
        <p:nvPicPr>
          <p:cNvPr id="6" name="equation-2" descr="LaTeX: \frac{x-1}{2}=\frac{z-6}{4}\quad\Longrightarrow\quad2(x-1)=z-6">
            <a:extLst xmlns:a="http://schemas.openxmlformats.org/drawingml/2006/main">
              <a:ext uri="{FF2B5EF4-FFF2-40B4-BE49-F238E27FC236}">
                <a16:creationId xmlns:a16="http://schemas.microsoft.com/office/drawing/2014/main" id="{AB1ED818-BDBD-4181-BABF-4783A1824D04}"/>
              </a:ext>
            </a:extLst>
          </p:cNvPr>
          <p:cNvPicPr>
            <a:picLocks xmlns:a="http://schemas.openxmlformats.org/drawingml/2006/main" noChangeAspect="1"/>
          </p:cNvPicPr>
          <p:nvPr/>
        </p:nvPicPr>
        <p:blipFill>
          <a:blip xmlns:r="http://schemas.openxmlformats.org/officeDocument/2006/relationships" xmlns:a="http://schemas.openxmlformats.org/drawingml/2006/main" r:embed="R6facc05262fb461e">
            <a:extLst>
              <a:ext uri="{96DAC541-7B7A-43D3-8B79-37D633B846F1}">
                <asvg:svgBlip xmlns:asvg="http://schemas.microsoft.com/office/drawing/2016/SVG/main" r:embed="R0dbbe94cec5d4a06"/>
              </a:ext>
            </a:extLst>
          </a:blip>
          <a:stretch xmlns:a="http://schemas.openxmlformats.org/drawingml/2006/main"/>
        </p:blipFill>
        <p:spPr>
          <a:xfrm xmlns:a="http://schemas.openxmlformats.org/drawingml/2006/main">
            <a:off x="685800" y="4542259"/>
            <a:ext cx="6563518" cy="830776"/>
          </a:xfrm>
          <a:prstGeom xmlns:a="http://schemas.openxmlformats.org/drawingml/2006/main" prst="rect">
            <a:avLst/>
          </a:prstGeom>
        </p:spPr>
      </p:pic>
      <p:sp>
        <p:nvSpPr>
          <p:cNvPr id="7" name="condition">
            <a:extLst xmlns:a="http://schemas.openxmlformats.org/drawingml/2006/main">
              <a:ext uri="{FF2B5EF4-FFF2-40B4-BE49-F238E27FC236}">
                <a16:creationId xmlns:a16="http://schemas.microsoft.com/office/drawing/2014/main" id="{15BDB292-0C69-4C56-B6FF-50152EFB200C}"/>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Both relationships come from the same parameter.</a:t>
            </a:r>
          </a:p>
        </p:txBody>
      </p:sp>
    </p:spTree>
    <p:extLst>
      <p:ext uri="{BB962C8B-B14F-4D97-AF65-F5344CB8AC3E}">
        <p14:creationId xmlns:p14="http://schemas.microsoft.com/office/powerpoint/2010/main" val="99932157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E16A649-6529-42E9-98D5-69970B9A64EF}"/>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Cartesian equations of a line in space</a:t>
            </a:r>
          </a:p>
        </p:txBody>
      </p:sp>
      <p:sp>
        <p:nvSpPr>
          <p:cNvPr id="2" name="page-number">
            <a:extLst xmlns:a="http://schemas.openxmlformats.org/drawingml/2006/main">
              <a:ext uri="{FF2B5EF4-FFF2-40B4-BE49-F238E27FC236}">
                <a16:creationId xmlns:a16="http://schemas.microsoft.com/office/drawing/2014/main" id="{E77A04D5-659A-45DE-80AC-82D2D9F7E5E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59</a:t>
            </a:r>
          </a:p>
        </p:txBody>
      </p:sp>
      <p:sp>
        <p:nvSpPr>
          <p:cNvPr id="3" name="lead">
            <a:extLst xmlns:a="http://schemas.openxmlformats.org/drawingml/2006/main">
              <a:ext uri="{FF2B5EF4-FFF2-40B4-BE49-F238E27FC236}">
                <a16:creationId xmlns:a16="http://schemas.microsoft.com/office/drawing/2014/main" id="{472B52DE-2ABE-4FE7-B129-589221A0082E}"/>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Expand the brackets and use both equations together.</a:t>
            </a:r>
          </a:p>
        </p:txBody>
      </p:sp>
      <p:pic>
        <p:nvPicPr>
          <p:cNvPr id="4" name="equation-0" descr="LaTeX: 5x-5=-2y+6\quad\Longrightarrow\quad5x+2y-11=0">
            <a:extLst xmlns:a="http://schemas.openxmlformats.org/drawingml/2006/main">
              <a:ext uri="{FF2B5EF4-FFF2-40B4-BE49-F238E27FC236}">
                <a16:creationId xmlns:a16="http://schemas.microsoft.com/office/drawing/2014/main" id="{E971FBD0-7082-4F30-A078-55AD81A75811}"/>
              </a:ext>
            </a:extLst>
          </p:cNvPr>
          <p:cNvPicPr>
            <a:picLocks xmlns:a="http://schemas.openxmlformats.org/drawingml/2006/main" noChangeAspect="1"/>
          </p:cNvPicPr>
          <p:nvPr/>
        </p:nvPicPr>
        <p:blipFill>
          <a:blip xmlns:r="http://schemas.openxmlformats.org/officeDocument/2006/relationships" xmlns:a="http://schemas.openxmlformats.org/drawingml/2006/main" r:embed="Rb0491aa65718453c">
            <a:extLst>
              <a:ext uri="{96DAC541-7B7A-43D3-8B79-37D633B846F1}">
                <asvg:svgBlip xmlns:asvg="http://schemas.microsoft.com/office/drawing/2016/SVG/main" r:embed="R674e7d2ace964b0c"/>
              </a:ext>
            </a:extLst>
          </a:blip>
          <a:stretch xmlns:a="http://schemas.openxmlformats.org/drawingml/2006/main"/>
        </p:blipFill>
        <p:spPr>
          <a:xfrm xmlns:a="http://schemas.openxmlformats.org/drawingml/2006/main">
            <a:off x="685800" y="2464831"/>
            <a:ext cx="7197241" cy="374698"/>
          </a:xfrm>
          <a:prstGeom xmlns:a="http://schemas.openxmlformats.org/drawingml/2006/main" prst="rect">
            <a:avLst/>
          </a:prstGeom>
        </p:spPr>
      </p:pic>
      <p:pic>
        <p:nvPicPr>
          <p:cNvPr id="5" name="equation-1" descr="LaTeX: 2x-2=z-6\quad\Longrightarrow\quad2x-z+4=0">
            <a:extLst xmlns:a="http://schemas.openxmlformats.org/drawingml/2006/main">
              <a:ext uri="{FF2B5EF4-FFF2-40B4-BE49-F238E27FC236}">
                <a16:creationId xmlns:a16="http://schemas.microsoft.com/office/drawing/2014/main" id="{DAF41884-D636-4DAC-A60F-585613ED2F23}"/>
              </a:ext>
            </a:extLst>
          </p:cNvPr>
          <p:cNvPicPr>
            <a:picLocks xmlns:a="http://schemas.openxmlformats.org/drawingml/2006/main" noChangeAspect="1"/>
          </p:cNvPicPr>
          <p:nvPr/>
        </p:nvPicPr>
        <p:blipFill>
          <a:blip xmlns:r="http://schemas.openxmlformats.org/officeDocument/2006/relationships" xmlns:a="http://schemas.openxmlformats.org/drawingml/2006/main" r:embed="R5ee258646c974cda">
            <a:extLst>
              <a:ext uri="{96DAC541-7B7A-43D3-8B79-37D633B846F1}">
                <asvg:svgBlip xmlns:asvg="http://schemas.microsoft.com/office/drawing/2016/SVG/main" r:embed="R3038d698a3f740ea"/>
              </a:ext>
            </a:extLst>
          </a:blip>
          <a:stretch xmlns:a="http://schemas.openxmlformats.org/drawingml/2006/main"/>
        </p:blipFill>
        <p:spPr>
          <a:xfrm xmlns:a="http://schemas.openxmlformats.org/drawingml/2006/main">
            <a:off x="685800" y="3106229"/>
            <a:ext cx="6368088" cy="331315"/>
          </a:xfrm>
          <a:prstGeom xmlns:a="http://schemas.openxmlformats.org/drawingml/2006/main" prst="rect">
            <a:avLst/>
          </a:prstGeom>
        </p:spPr>
      </p:pic>
      <p:pic>
        <p:nvPicPr>
          <p:cNvPr id="6" name="equation-2" descr="LaTeX: \begin{cases}5x+2y-11=0\\2x-z+4=0\end{cases}">
            <a:extLst xmlns:a="http://schemas.openxmlformats.org/drawingml/2006/main">
              <a:ext uri="{FF2B5EF4-FFF2-40B4-BE49-F238E27FC236}">
                <a16:creationId xmlns:a16="http://schemas.microsoft.com/office/drawing/2014/main" id="{0FA16A3B-7034-4221-AA57-61A21CDA014F}"/>
              </a:ext>
            </a:extLst>
          </p:cNvPr>
          <p:cNvPicPr>
            <a:picLocks xmlns:a="http://schemas.openxmlformats.org/drawingml/2006/main" noChangeAspect="1"/>
          </p:cNvPicPr>
          <p:nvPr/>
        </p:nvPicPr>
        <p:blipFill>
          <a:blip xmlns:r="http://schemas.openxmlformats.org/officeDocument/2006/relationships" xmlns:a="http://schemas.openxmlformats.org/drawingml/2006/main" r:embed="Rb625987bc91a4e97">
            <a:extLst>
              <a:ext uri="{96DAC541-7B7A-43D3-8B79-37D633B846F1}">
                <asvg:svgBlip xmlns:asvg="http://schemas.microsoft.com/office/drawing/2016/SVG/main" r:embed="R6ee8789fc98d49f2"/>
              </a:ext>
            </a:extLst>
          </a:blip>
          <a:stretch xmlns:a="http://schemas.openxmlformats.org/drawingml/2006/main"/>
        </p:blipFill>
        <p:spPr>
          <a:xfrm xmlns:a="http://schemas.openxmlformats.org/drawingml/2006/main">
            <a:off x="685800" y="3704243"/>
            <a:ext cx="3495691" cy="1271226"/>
          </a:xfrm>
          <a:prstGeom xmlns:a="http://schemas.openxmlformats.org/drawingml/2006/main" prst="rect">
            <a:avLst/>
          </a:prstGeom>
        </p:spPr>
      </p:pic>
      <p:pic>
        <p:nvPicPr>
          <p:cNvPr id="7" name="equation-3" descr="LaTeX: P(3,-2,10):\quad15-4-11=0,\quad6-10+4=0">
            <a:extLst xmlns:a="http://schemas.openxmlformats.org/drawingml/2006/main">
              <a:ext uri="{FF2B5EF4-FFF2-40B4-BE49-F238E27FC236}">
                <a16:creationId xmlns:a16="http://schemas.microsoft.com/office/drawing/2014/main" id="{39EB1DD6-776C-4C40-B0FF-C1ABB3B2959A}"/>
              </a:ext>
            </a:extLst>
          </p:cNvPr>
          <p:cNvPicPr>
            <a:picLocks xmlns:a="http://schemas.openxmlformats.org/drawingml/2006/main" noChangeAspect="1"/>
          </p:cNvPicPr>
          <p:nvPr/>
        </p:nvPicPr>
        <p:blipFill>
          <a:blip xmlns:r="http://schemas.openxmlformats.org/officeDocument/2006/relationships" xmlns:a="http://schemas.openxmlformats.org/drawingml/2006/main" r:embed="Rdd3ea3caf2e74ca8">
            <a:extLst>
              <a:ext uri="{96DAC541-7B7A-43D3-8B79-37D633B846F1}">
                <asvg:svgBlip xmlns:asvg="http://schemas.microsoft.com/office/drawing/2016/SVG/main" r:embed="Rd2684eaec9f44861"/>
              </a:ext>
            </a:extLst>
          </a:blip>
          <a:stretch xmlns:a="http://schemas.openxmlformats.org/drawingml/2006/main"/>
        </p:blipFill>
        <p:spPr>
          <a:xfrm xmlns:a="http://schemas.openxmlformats.org/drawingml/2006/main">
            <a:off x="685800" y="5242170"/>
            <a:ext cx="8039878" cy="436875"/>
          </a:xfrm>
          <a:prstGeom xmlns:a="http://schemas.openxmlformats.org/drawingml/2006/main" prst="rect">
            <a:avLst/>
          </a:prstGeom>
        </p:spPr>
      </p:pic>
      <p:sp>
        <p:nvSpPr>
          <p:cNvPr id="8" name="condition">
            <a:extLst xmlns:a="http://schemas.openxmlformats.org/drawingml/2006/main">
              <a:ext uri="{FF2B5EF4-FFF2-40B4-BE49-F238E27FC236}">
                <a16:creationId xmlns:a16="http://schemas.microsoft.com/office/drawing/2014/main" id="{0771A679-6C51-4033-BF19-E7FD27D6EF49}"/>
              </a:ext>
            </a:extLst>
          </p:cNvPr>
          <p:cNvSpPr>
            <a:spLocks xmlns:a="http://schemas.openxmlformats.org/drawingml/2006/main" noGrp="1"/>
          </p:cNvSpPr>
          <p:nvPr/>
        </p:nvSpPr>
        <p:spPr>
          <a:xfrm xmlns:a="http://schemas.openxmlformats.org/drawingml/2006/main">
            <a:off x="685800" y="59340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Both equations must hold. Each equation alone describes a plane.</a:t>
            </a:r>
          </a:p>
        </p:txBody>
      </p:sp>
    </p:spTree>
    <p:extLst>
      <p:ext uri="{BB962C8B-B14F-4D97-AF65-F5344CB8AC3E}">
        <p14:creationId xmlns:p14="http://schemas.microsoft.com/office/powerpoint/2010/main" val="37045452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26997DF-1BDD-471D-830A-C31FEA176A23}"/>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Homework for Sections 8.1 to 8.3</a:t>
            </a:r>
          </a:p>
        </p:txBody>
      </p:sp>
      <p:sp>
        <p:nvSpPr>
          <p:cNvPr id="2" name="page-number">
            <a:extLst xmlns:a="http://schemas.openxmlformats.org/drawingml/2006/main">
              <a:ext uri="{FF2B5EF4-FFF2-40B4-BE49-F238E27FC236}">
                <a16:creationId xmlns:a16="http://schemas.microsoft.com/office/drawing/2014/main" id="{48C3A0F7-4627-4C74-8C7A-DD644BFF9EE7}"/>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60</a:t>
            </a:r>
          </a:p>
        </p:txBody>
      </p:sp>
      <p:sp>
        <p:nvSpPr>
          <p:cNvPr id="3" name="lead">
            <a:extLst xmlns:a="http://schemas.openxmlformats.org/drawingml/2006/main">
              <a:ext uri="{FF2B5EF4-FFF2-40B4-BE49-F238E27FC236}">
                <a16:creationId xmlns:a16="http://schemas.microsoft.com/office/drawing/2014/main" id="{70C46E78-7FF3-417E-ABE5-E7AE28CCAD4D}"/>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the assigned textbook questions after completing the practice examples.</a:t>
            </a:r>
          </a:p>
        </p:txBody>
      </p:sp>
      <p:pic>
        <p:nvPicPr>
          <p:cNvPr id="4" name="equation-0" descr="LaTeX: \text{8.1 Page 433: }2,3,4,5,8,9,10,13(a),14">
            <a:extLst xmlns:a="http://schemas.openxmlformats.org/drawingml/2006/main">
              <a:ext uri="{FF2B5EF4-FFF2-40B4-BE49-F238E27FC236}">
                <a16:creationId xmlns:a16="http://schemas.microsoft.com/office/drawing/2014/main" id="{08979260-A280-4B22-A53D-CDFC8A325C1A}"/>
              </a:ext>
            </a:extLst>
          </p:cNvPr>
          <p:cNvPicPr>
            <a:picLocks xmlns:a="http://schemas.openxmlformats.org/drawingml/2006/main" noChangeAspect="1"/>
          </p:cNvPicPr>
          <p:nvPr/>
        </p:nvPicPr>
        <p:blipFill>
          <a:blip xmlns:r="http://schemas.openxmlformats.org/officeDocument/2006/relationships" xmlns:a="http://schemas.openxmlformats.org/drawingml/2006/main" r:embed="Rfb39423d9f3745b8">
            <a:extLst>
              <a:ext uri="{96DAC541-7B7A-43D3-8B79-37D633B846F1}">
                <asvg:svgBlip xmlns:asvg="http://schemas.microsoft.com/office/drawing/2016/SVG/main" r:embed="R8cc855fed1b64ddc"/>
              </a:ext>
            </a:extLst>
          </a:blip>
          <a:stretch xmlns:a="http://schemas.openxmlformats.org/drawingml/2006/main"/>
        </p:blipFill>
        <p:spPr>
          <a:xfrm xmlns:a="http://schemas.openxmlformats.org/drawingml/2006/main">
            <a:off x="685800" y="3149925"/>
            <a:ext cx="6280171" cy="436875"/>
          </a:xfrm>
          <a:prstGeom xmlns:a="http://schemas.openxmlformats.org/drawingml/2006/main" prst="rect">
            <a:avLst/>
          </a:prstGeom>
        </p:spPr>
      </p:pic>
      <p:pic>
        <p:nvPicPr>
          <p:cNvPr id="5" name="equation-1" descr="LaTeX: \text{8.2 Page 443: }1(a,b,e),3,4,5,6,7,8,9(b),10(a,b),11(b)">
            <a:extLst xmlns:a="http://schemas.openxmlformats.org/drawingml/2006/main">
              <a:ext uri="{FF2B5EF4-FFF2-40B4-BE49-F238E27FC236}">
                <a16:creationId xmlns:a16="http://schemas.microsoft.com/office/drawing/2014/main" id="{060E665F-B1A2-4D3F-8777-FE5CA65CEB68}"/>
              </a:ext>
            </a:extLst>
          </p:cNvPr>
          <p:cNvPicPr>
            <a:picLocks xmlns:a="http://schemas.openxmlformats.org/drawingml/2006/main" noChangeAspect="1"/>
          </p:cNvPicPr>
          <p:nvPr/>
        </p:nvPicPr>
        <p:blipFill>
          <a:blip xmlns:r="http://schemas.openxmlformats.org/officeDocument/2006/relationships" xmlns:a="http://schemas.openxmlformats.org/drawingml/2006/main" r:embed="R4ad30ee452004599">
            <a:extLst>
              <a:ext uri="{96DAC541-7B7A-43D3-8B79-37D633B846F1}">
                <asvg:svgBlip xmlns:asvg="http://schemas.microsoft.com/office/drawing/2016/SVG/main" r:embed="R167039a65f17490e"/>
              </a:ext>
            </a:extLst>
          </a:blip>
          <a:stretch xmlns:a="http://schemas.openxmlformats.org/drawingml/2006/main"/>
        </p:blipFill>
        <p:spPr>
          <a:xfrm xmlns:a="http://schemas.openxmlformats.org/drawingml/2006/main">
            <a:off x="685800" y="3853500"/>
            <a:ext cx="8823080" cy="436875"/>
          </a:xfrm>
          <a:prstGeom xmlns:a="http://schemas.openxmlformats.org/drawingml/2006/main" prst="rect">
            <a:avLst/>
          </a:prstGeom>
        </p:spPr>
      </p:pic>
      <p:pic>
        <p:nvPicPr>
          <p:cNvPr id="6" name="equation-2" descr="LaTeX: \text{8.3 Page 449: }1(a,b,c),3,5(a,e,f),6,8(a),9,10(a,b),15">
            <a:extLst xmlns:a="http://schemas.openxmlformats.org/drawingml/2006/main">
              <a:ext uri="{FF2B5EF4-FFF2-40B4-BE49-F238E27FC236}">
                <a16:creationId xmlns:a16="http://schemas.microsoft.com/office/drawing/2014/main" id="{643ED397-431A-44FB-B828-B15847290524}"/>
              </a:ext>
            </a:extLst>
          </p:cNvPr>
          <p:cNvPicPr>
            <a:picLocks xmlns:a="http://schemas.openxmlformats.org/drawingml/2006/main" noChangeAspect="1"/>
          </p:cNvPicPr>
          <p:nvPr/>
        </p:nvPicPr>
        <p:blipFill>
          <a:blip xmlns:r="http://schemas.openxmlformats.org/officeDocument/2006/relationships" xmlns:a="http://schemas.openxmlformats.org/drawingml/2006/main" r:embed="R3b0b69b0e739430c">
            <a:extLst>
              <a:ext uri="{96DAC541-7B7A-43D3-8B79-37D633B846F1}">
                <asvg:svgBlip xmlns:asvg="http://schemas.microsoft.com/office/drawing/2016/SVG/main" r:embed="R196ddef282aa47a5"/>
              </a:ext>
            </a:extLst>
          </a:blip>
          <a:stretch xmlns:a="http://schemas.openxmlformats.org/drawingml/2006/main"/>
        </p:blipFill>
        <p:spPr>
          <a:xfrm xmlns:a="http://schemas.openxmlformats.org/drawingml/2006/main">
            <a:off x="685800" y="4557075"/>
            <a:ext cx="8935903" cy="436875"/>
          </a:xfrm>
          <a:prstGeom xmlns:a="http://schemas.openxmlformats.org/drawingml/2006/main" prst="rect">
            <a:avLst/>
          </a:prstGeom>
        </p:spPr>
      </p:pic>
    </p:spTree>
    <p:extLst>
      <p:ext uri="{BB962C8B-B14F-4D97-AF65-F5344CB8AC3E}">
        <p14:creationId xmlns:p14="http://schemas.microsoft.com/office/powerpoint/2010/main" val="202617654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E7F75D16-2E8C-41EE-8EAE-884F6EE13958}"/>
              </a:ext>
            </a:extLst>
          </p:cNvPr>
          <p:cNvSpPr>
            <a:spLocks xmlns:a="http://schemas.openxmlformats.org/drawingml/2006/main" noGrp="1"/>
          </p:cNvSpPr>
          <p:nvPr/>
        </p:nvSpPr>
        <p:spPr>
          <a:xfrm xmlns:a="http://schemas.openxmlformats.org/drawingml/2006/main">
            <a:off x="685800" y="46672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Choosing a useful form</a:t>
            </a:r>
          </a:p>
        </p:txBody>
      </p:sp>
      <p:sp>
        <p:nvSpPr>
          <p:cNvPr id="2" name="page-number">
            <a:extLst xmlns:a="http://schemas.openxmlformats.org/drawingml/2006/main">
              <a:ext uri="{FF2B5EF4-FFF2-40B4-BE49-F238E27FC236}">
                <a16:creationId xmlns:a16="http://schemas.microsoft.com/office/drawing/2014/main" id="{691A3AEB-368A-47E1-9642-2A6D2A123ABA}"/>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61</a:t>
            </a:r>
          </a:p>
        </p:txBody>
      </p:sp>
      <p:sp>
        <p:nvSpPr>
          <p:cNvPr id="3" name="lead">
            <a:extLst xmlns:a="http://schemas.openxmlformats.org/drawingml/2006/main">
              <a:ext uri="{FF2B5EF4-FFF2-40B4-BE49-F238E27FC236}">
                <a16:creationId xmlns:a16="http://schemas.microsoft.com/office/drawing/2014/main" id="{70C0020C-3D75-4DD2-A549-07442CDF9B6E}"/>
              </a:ext>
            </a:extLst>
          </p:cNvPr>
          <p:cNvSpPr>
            <a:spLocks xmlns:a="http://schemas.openxmlformats.org/drawingml/2006/main" noGrp="1"/>
          </p:cNvSpPr>
          <p:nvPr/>
        </p:nvSpPr>
        <p:spPr>
          <a:xfrm xmlns:a="http://schemas.openxmlformats.org/drawingml/2006/main">
            <a:off x="685800" y="14763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Every line begins with a known point and a nonzero direction.</a:t>
            </a:r>
          </a:p>
        </p:txBody>
      </p:sp>
      <p:pic>
        <p:nvPicPr>
          <p:cNvPr id="4" name="summary-equation" descr="LaTeX: \vec r=\vec r_0+t\vec m">
            <a:extLst xmlns:a="http://schemas.openxmlformats.org/drawingml/2006/main">
              <a:ext uri="{FF2B5EF4-FFF2-40B4-BE49-F238E27FC236}">
                <a16:creationId xmlns:a16="http://schemas.microsoft.com/office/drawing/2014/main" id="{A39F3A8D-3294-46C6-AB55-0FB9777ACA12}"/>
              </a:ext>
            </a:extLst>
          </p:cNvPr>
          <p:cNvPicPr>
            <a:picLocks xmlns:a="http://schemas.openxmlformats.org/drawingml/2006/main" noChangeAspect="1"/>
          </p:cNvPicPr>
          <p:nvPr/>
        </p:nvPicPr>
        <p:blipFill>
          <a:blip xmlns:r="http://schemas.openxmlformats.org/officeDocument/2006/relationships" xmlns:a="http://schemas.openxmlformats.org/drawingml/2006/main" r:embed="Rb61dc49be7714f50">
            <a:extLst>
              <a:ext uri="{96DAC541-7B7A-43D3-8B79-37D633B846F1}">
                <asvg:svgBlip xmlns:asvg="http://schemas.microsoft.com/office/drawing/2016/SVG/main" r:embed="R001f01ca5d47406c"/>
              </a:ext>
            </a:extLst>
          </a:blip>
          <a:stretch xmlns:a="http://schemas.openxmlformats.org/drawingml/2006/main"/>
        </p:blipFill>
        <p:spPr>
          <a:xfrm xmlns:a="http://schemas.openxmlformats.org/drawingml/2006/main">
            <a:off x="685800" y="2333625"/>
            <a:ext cx="2187473" cy="428607"/>
          </a:xfrm>
          <a:prstGeom xmlns:a="http://schemas.openxmlformats.org/drawingml/2006/main" prst="rect">
            <a:avLst/>
          </a:prstGeom>
        </p:spPr>
      </p:pic>
      <p:sp>
        <p:nvSpPr>
          <p:cNvPr id="5" name="form-0">
            <a:extLst xmlns:a="http://schemas.openxmlformats.org/drawingml/2006/main">
              <a:ext uri="{FF2B5EF4-FFF2-40B4-BE49-F238E27FC236}">
                <a16:creationId xmlns:a16="http://schemas.microsoft.com/office/drawing/2014/main" id="{D158B8E7-5602-4B7C-A03E-331EDD4E195A}"/>
              </a:ext>
            </a:extLst>
          </p:cNvPr>
          <p:cNvSpPr>
            <a:spLocks xmlns:a="http://schemas.openxmlformats.org/drawingml/2006/main" noGrp="1"/>
          </p:cNvSpPr>
          <p:nvPr/>
        </p:nvSpPr>
        <p:spPr>
          <a:xfrm xmlns:a="http://schemas.openxmlformats.org/drawingml/2006/main">
            <a:off x="685800" y="319087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1">
                <a:solidFill>
                  <a:srgbClr val="7DD3FC"/>
                </a:solidFill>
                <a:latin typeface="DejaVu Sans"/>
                <a:ea typeface="DejaVu Sans"/>
                <a:cs typeface="DejaVu Sans"/>
              </a:defRPr>
            </a:defPPr>
            <a:lvl1pPr>
              <a:buNone/>
              <a:defRPr sz="1950" b="1">
                <a:solidFill>
                  <a:srgbClr val="7DD3FC"/>
                </a:solidFill>
                <a:latin typeface="DejaVu Sans"/>
                <a:ea typeface="DejaVu Sans"/>
                <a:cs typeface="DejaVu Sans"/>
              </a:defRPr>
            </a:lvl1pPr>
            <a:lvl2pPr>
              <a:buNone/>
              <a:defRPr sz="1950" b="1">
                <a:solidFill>
                  <a:srgbClr val="7DD3FC"/>
                </a:solidFill>
                <a:latin typeface="DejaVu Sans"/>
                <a:ea typeface="DejaVu Sans"/>
                <a:cs typeface="DejaVu Sans"/>
              </a:defRPr>
            </a:lvl2pPr>
            <a:lvl3pPr>
              <a:buNone/>
              <a:defRPr sz="1950" b="1">
                <a:solidFill>
                  <a:srgbClr val="7DD3FC"/>
                </a:solidFill>
                <a:latin typeface="DejaVu Sans"/>
                <a:ea typeface="DejaVu Sans"/>
                <a:cs typeface="DejaVu Sans"/>
              </a:defRPr>
            </a:lvl3pPr>
            <a:lvl4pPr>
              <a:buNone/>
              <a:defRPr sz="1950" b="1">
                <a:solidFill>
                  <a:srgbClr val="7DD3FC"/>
                </a:solidFill>
                <a:latin typeface="DejaVu Sans"/>
                <a:ea typeface="DejaVu Sans"/>
                <a:cs typeface="DejaVu Sans"/>
              </a:defRPr>
            </a:lvl4pPr>
            <a:lvl5pPr>
              <a:buNone/>
              <a:defRPr sz="1950" b="1">
                <a:solidFill>
                  <a:srgbClr val="7DD3FC"/>
                </a:solidFill>
                <a:latin typeface="DejaVu Sans"/>
                <a:ea typeface="DejaVu Sans"/>
                <a:cs typeface="DejaVu Sans"/>
              </a:defRPr>
            </a:lvl5pPr>
            <a:lvl6pPr>
              <a:buNone/>
              <a:defRPr sz="1950" b="1">
                <a:solidFill>
                  <a:srgbClr val="7DD3FC"/>
                </a:solidFill>
                <a:latin typeface="DejaVu Sans"/>
                <a:ea typeface="DejaVu Sans"/>
                <a:cs typeface="DejaVu Sans"/>
              </a:defRPr>
            </a:lvl6pPr>
            <a:lvl7pPr>
              <a:buNone/>
              <a:defRPr sz="1950" b="1">
                <a:solidFill>
                  <a:srgbClr val="7DD3FC"/>
                </a:solidFill>
                <a:latin typeface="DejaVu Sans"/>
                <a:ea typeface="DejaVu Sans"/>
                <a:cs typeface="DejaVu Sans"/>
              </a:defRPr>
            </a:lvl7pPr>
            <a:lvl8pPr>
              <a:buNone/>
              <a:defRPr sz="1950" b="1">
                <a:solidFill>
                  <a:srgbClr val="7DD3FC"/>
                </a:solidFill>
                <a:latin typeface="DejaVu Sans"/>
                <a:ea typeface="DejaVu Sans"/>
                <a:cs typeface="DejaVu Sans"/>
              </a:defRPr>
            </a:lvl8pPr>
            <a:lvl9pPr>
              <a:buNone/>
              <a:defRPr sz="1950" b="1">
                <a:solidFill>
                  <a:srgbClr val="7DD3FC"/>
                </a:solidFill>
                <a:latin typeface="DejaVu Sans"/>
                <a:ea typeface="DejaVu Sans"/>
                <a:cs typeface="DejaVu Sans"/>
              </a:defRPr>
            </a:lvl9pPr>
          </a:lstStyle>
          <a:p xmlns:a="http://schemas.openxmlformats.org/drawingml/2006/main">
            <a:pPr>
              <a:buNone/>
              <a:defRPr sz="1950" b="1">
                <a:solidFill>
                  <a:srgbClr val="7DD3FC"/>
                </a:solidFill>
                <a:latin typeface="DejaVu Sans"/>
                <a:ea typeface="DejaVu Sans"/>
                <a:cs typeface="DejaVu Sans"/>
              </a:defRPr>
            </a:pPr>
            <a:r>
              <a:rPr sz="1950" b="1">
                <a:solidFill>
                  <a:srgbClr val="7DD3FC"/>
                </a:solidFill>
                <a:latin typeface="DejaVu Sans"/>
                <a:ea typeface="DejaVu Sans"/>
                <a:cs typeface="DejaVu Sans"/>
              </a:rPr>
              <a:t>Vector</a:t>
            </a:r>
          </a:p>
        </p:txBody>
      </p:sp>
      <p:sp>
        <p:nvSpPr>
          <p:cNvPr id="6" name="purpose-0">
            <a:extLst xmlns:a="http://schemas.openxmlformats.org/drawingml/2006/main">
              <a:ext uri="{FF2B5EF4-FFF2-40B4-BE49-F238E27FC236}">
                <a16:creationId xmlns:a16="http://schemas.microsoft.com/office/drawing/2014/main" id="{A3F1423B-6057-4AD9-A365-2B189B769732}"/>
              </a:ext>
            </a:extLst>
          </p:cNvPr>
          <p:cNvSpPr>
            <a:spLocks xmlns:a="http://schemas.openxmlformats.org/drawingml/2006/main" noGrp="1"/>
          </p:cNvSpPr>
          <p:nvPr/>
        </p:nvSpPr>
        <p:spPr>
          <a:xfrm xmlns:a="http://schemas.openxmlformats.org/drawingml/2006/main">
            <a:off x="5286375" y="319087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F5F5F5"/>
                </a:solidFill>
                <a:latin typeface="DejaVu Sans"/>
                <a:ea typeface="DejaVu Sans"/>
                <a:cs typeface="DejaVu Sans"/>
              </a:defRPr>
            </a:defPPr>
            <a:lvl1pPr>
              <a:buNone/>
              <a:defRPr sz="1950" b="0">
                <a:solidFill>
                  <a:srgbClr val="F5F5F5"/>
                </a:solidFill>
                <a:latin typeface="DejaVu Sans"/>
                <a:ea typeface="DejaVu Sans"/>
                <a:cs typeface="DejaVu Sans"/>
              </a:defRPr>
            </a:lvl1pPr>
            <a:lvl2pPr>
              <a:buNone/>
              <a:defRPr sz="1950" b="0">
                <a:solidFill>
                  <a:srgbClr val="F5F5F5"/>
                </a:solidFill>
                <a:latin typeface="DejaVu Sans"/>
                <a:ea typeface="DejaVu Sans"/>
                <a:cs typeface="DejaVu Sans"/>
              </a:defRPr>
            </a:lvl2pPr>
            <a:lvl3pPr>
              <a:buNone/>
              <a:defRPr sz="1950" b="0">
                <a:solidFill>
                  <a:srgbClr val="F5F5F5"/>
                </a:solidFill>
                <a:latin typeface="DejaVu Sans"/>
                <a:ea typeface="DejaVu Sans"/>
                <a:cs typeface="DejaVu Sans"/>
              </a:defRPr>
            </a:lvl3pPr>
            <a:lvl4pPr>
              <a:buNone/>
              <a:defRPr sz="1950" b="0">
                <a:solidFill>
                  <a:srgbClr val="F5F5F5"/>
                </a:solidFill>
                <a:latin typeface="DejaVu Sans"/>
                <a:ea typeface="DejaVu Sans"/>
                <a:cs typeface="DejaVu Sans"/>
              </a:defRPr>
            </a:lvl4pPr>
            <a:lvl5pPr>
              <a:buNone/>
              <a:defRPr sz="1950" b="0">
                <a:solidFill>
                  <a:srgbClr val="F5F5F5"/>
                </a:solidFill>
                <a:latin typeface="DejaVu Sans"/>
                <a:ea typeface="DejaVu Sans"/>
                <a:cs typeface="DejaVu Sans"/>
              </a:defRPr>
            </a:lvl5pPr>
            <a:lvl6pPr>
              <a:buNone/>
              <a:defRPr sz="1950" b="0">
                <a:solidFill>
                  <a:srgbClr val="F5F5F5"/>
                </a:solidFill>
                <a:latin typeface="DejaVu Sans"/>
                <a:ea typeface="DejaVu Sans"/>
                <a:cs typeface="DejaVu Sans"/>
              </a:defRPr>
            </a:lvl6pPr>
            <a:lvl7pPr>
              <a:buNone/>
              <a:defRPr sz="1950" b="0">
                <a:solidFill>
                  <a:srgbClr val="F5F5F5"/>
                </a:solidFill>
                <a:latin typeface="DejaVu Sans"/>
                <a:ea typeface="DejaVu Sans"/>
                <a:cs typeface="DejaVu Sans"/>
              </a:defRPr>
            </a:lvl7pPr>
            <a:lvl8pPr>
              <a:buNone/>
              <a:defRPr sz="1950" b="0">
                <a:solidFill>
                  <a:srgbClr val="F5F5F5"/>
                </a:solidFill>
                <a:latin typeface="DejaVu Sans"/>
                <a:ea typeface="DejaVu Sans"/>
                <a:cs typeface="DejaVu Sans"/>
              </a:defRPr>
            </a:lvl8pPr>
            <a:lvl9pPr>
              <a:buNone/>
              <a:defRPr sz="1950" b="0">
                <a:solidFill>
                  <a:srgbClr val="F5F5F5"/>
                </a:solidFill>
                <a:latin typeface="DejaVu Sans"/>
                <a:ea typeface="DejaVu Sans"/>
                <a:cs typeface="DejaVu Sans"/>
              </a:defRPr>
            </a:lvl9pPr>
          </a:lstStyle>
          <a:p xmlns:a="http://schemas.openxmlformats.org/drawingml/2006/main">
            <a:pPr>
              <a:buNone/>
              <a:defRPr sz="1950" b="0">
                <a:solidFill>
                  <a:srgbClr val="F5F5F5"/>
                </a:solidFill>
                <a:latin typeface="DejaVu Sans"/>
                <a:ea typeface="DejaVu Sans"/>
                <a:cs typeface="DejaVu Sans"/>
              </a:defRPr>
            </a:pPr>
            <a:r>
              <a:rPr sz="1950" b="0">
                <a:solidFill>
                  <a:srgbClr val="F5F5F5"/>
                </a:solidFill>
                <a:latin typeface="DejaVu Sans"/>
                <a:ea typeface="DejaVu Sans"/>
                <a:cs typeface="DejaVu Sans"/>
              </a:rPr>
              <a:t>A point and a direction</a:t>
            </a:r>
          </a:p>
        </p:txBody>
      </p:sp>
      <p:sp>
        <p:nvSpPr>
          <p:cNvPr id="7" name="form-1">
            <a:extLst xmlns:a="http://schemas.openxmlformats.org/drawingml/2006/main">
              <a:ext uri="{FF2B5EF4-FFF2-40B4-BE49-F238E27FC236}">
                <a16:creationId xmlns:a16="http://schemas.microsoft.com/office/drawing/2014/main" id="{9E9463A7-9FF9-4A13-80DB-65A1FE1F13EF}"/>
              </a:ext>
            </a:extLst>
          </p:cNvPr>
          <p:cNvSpPr>
            <a:spLocks xmlns:a="http://schemas.openxmlformats.org/drawingml/2006/main" noGrp="1"/>
          </p:cNvSpPr>
          <p:nvPr/>
        </p:nvSpPr>
        <p:spPr>
          <a:xfrm xmlns:a="http://schemas.openxmlformats.org/drawingml/2006/main">
            <a:off x="685800" y="380047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1">
                <a:solidFill>
                  <a:srgbClr val="7DD3FC"/>
                </a:solidFill>
                <a:latin typeface="DejaVu Sans"/>
                <a:ea typeface="DejaVu Sans"/>
                <a:cs typeface="DejaVu Sans"/>
              </a:defRPr>
            </a:defPPr>
            <a:lvl1pPr>
              <a:buNone/>
              <a:defRPr sz="1950" b="1">
                <a:solidFill>
                  <a:srgbClr val="7DD3FC"/>
                </a:solidFill>
                <a:latin typeface="DejaVu Sans"/>
                <a:ea typeface="DejaVu Sans"/>
                <a:cs typeface="DejaVu Sans"/>
              </a:defRPr>
            </a:lvl1pPr>
            <a:lvl2pPr>
              <a:buNone/>
              <a:defRPr sz="1950" b="1">
                <a:solidFill>
                  <a:srgbClr val="7DD3FC"/>
                </a:solidFill>
                <a:latin typeface="DejaVu Sans"/>
                <a:ea typeface="DejaVu Sans"/>
                <a:cs typeface="DejaVu Sans"/>
              </a:defRPr>
            </a:lvl2pPr>
            <a:lvl3pPr>
              <a:buNone/>
              <a:defRPr sz="1950" b="1">
                <a:solidFill>
                  <a:srgbClr val="7DD3FC"/>
                </a:solidFill>
                <a:latin typeface="DejaVu Sans"/>
                <a:ea typeface="DejaVu Sans"/>
                <a:cs typeface="DejaVu Sans"/>
              </a:defRPr>
            </a:lvl3pPr>
            <a:lvl4pPr>
              <a:buNone/>
              <a:defRPr sz="1950" b="1">
                <a:solidFill>
                  <a:srgbClr val="7DD3FC"/>
                </a:solidFill>
                <a:latin typeface="DejaVu Sans"/>
                <a:ea typeface="DejaVu Sans"/>
                <a:cs typeface="DejaVu Sans"/>
              </a:defRPr>
            </a:lvl4pPr>
            <a:lvl5pPr>
              <a:buNone/>
              <a:defRPr sz="1950" b="1">
                <a:solidFill>
                  <a:srgbClr val="7DD3FC"/>
                </a:solidFill>
                <a:latin typeface="DejaVu Sans"/>
                <a:ea typeface="DejaVu Sans"/>
                <a:cs typeface="DejaVu Sans"/>
              </a:defRPr>
            </a:lvl5pPr>
            <a:lvl6pPr>
              <a:buNone/>
              <a:defRPr sz="1950" b="1">
                <a:solidFill>
                  <a:srgbClr val="7DD3FC"/>
                </a:solidFill>
                <a:latin typeface="DejaVu Sans"/>
                <a:ea typeface="DejaVu Sans"/>
                <a:cs typeface="DejaVu Sans"/>
              </a:defRPr>
            </a:lvl6pPr>
            <a:lvl7pPr>
              <a:buNone/>
              <a:defRPr sz="1950" b="1">
                <a:solidFill>
                  <a:srgbClr val="7DD3FC"/>
                </a:solidFill>
                <a:latin typeface="DejaVu Sans"/>
                <a:ea typeface="DejaVu Sans"/>
                <a:cs typeface="DejaVu Sans"/>
              </a:defRPr>
            </a:lvl7pPr>
            <a:lvl8pPr>
              <a:buNone/>
              <a:defRPr sz="1950" b="1">
                <a:solidFill>
                  <a:srgbClr val="7DD3FC"/>
                </a:solidFill>
                <a:latin typeface="DejaVu Sans"/>
                <a:ea typeface="DejaVu Sans"/>
                <a:cs typeface="DejaVu Sans"/>
              </a:defRPr>
            </a:lvl8pPr>
            <a:lvl9pPr>
              <a:buNone/>
              <a:defRPr sz="1950" b="1">
                <a:solidFill>
                  <a:srgbClr val="7DD3FC"/>
                </a:solidFill>
                <a:latin typeface="DejaVu Sans"/>
                <a:ea typeface="DejaVu Sans"/>
                <a:cs typeface="DejaVu Sans"/>
              </a:defRPr>
            </a:lvl9pPr>
          </a:lstStyle>
          <a:p xmlns:a="http://schemas.openxmlformats.org/drawingml/2006/main">
            <a:pPr>
              <a:buNone/>
              <a:defRPr sz="1950" b="1">
                <a:solidFill>
                  <a:srgbClr val="7DD3FC"/>
                </a:solidFill>
                <a:latin typeface="DejaVu Sans"/>
                <a:ea typeface="DejaVu Sans"/>
                <a:cs typeface="DejaVu Sans"/>
              </a:defRPr>
            </a:pPr>
            <a:r>
              <a:rPr sz="1950" b="1">
                <a:solidFill>
                  <a:srgbClr val="7DD3FC"/>
                </a:solidFill>
                <a:latin typeface="DejaVu Sans"/>
                <a:ea typeface="DejaVu Sans"/>
                <a:cs typeface="DejaVu Sans"/>
              </a:rPr>
              <a:t>Parametric</a:t>
            </a:r>
          </a:p>
        </p:txBody>
      </p:sp>
      <p:sp>
        <p:nvSpPr>
          <p:cNvPr id="8" name="purpose-1">
            <a:extLst xmlns:a="http://schemas.openxmlformats.org/drawingml/2006/main">
              <a:ext uri="{FF2B5EF4-FFF2-40B4-BE49-F238E27FC236}">
                <a16:creationId xmlns:a16="http://schemas.microsoft.com/office/drawing/2014/main" id="{564E4536-872F-466A-93F8-55E8262F9EE4}"/>
              </a:ext>
            </a:extLst>
          </p:cNvPr>
          <p:cNvSpPr>
            <a:spLocks xmlns:a="http://schemas.openxmlformats.org/drawingml/2006/main" noGrp="1"/>
          </p:cNvSpPr>
          <p:nvPr/>
        </p:nvSpPr>
        <p:spPr>
          <a:xfrm xmlns:a="http://schemas.openxmlformats.org/drawingml/2006/main">
            <a:off x="5286375" y="380047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F5F5F5"/>
                </a:solidFill>
                <a:latin typeface="DejaVu Sans"/>
                <a:ea typeface="DejaVu Sans"/>
                <a:cs typeface="DejaVu Sans"/>
              </a:defRPr>
            </a:defPPr>
            <a:lvl1pPr>
              <a:buNone/>
              <a:defRPr sz="1950" b="0">
                <a:solidFill>
                  <a:srgbClr val="F5F5F5"/>
                </a:solidFill>
                <a:latin typeface="DejaVu Sans"/>
                <a:ea typeface="DejaVu Sans"/>
                <a:cs typeface="DejaVu Sans"/>
              </a:defRPr>
            </a:lvl1pPr>
            <a:lvl2pPr>
              <a:buNone/>
              <a:defRPr sz="1950" b="0">
                <a:solidFill>
                  <a:srgbClr val="F5F5F5"/>
                </a:solidFill>
                <a:latin typeface="DejaVu Sans"/>
                <a:ea typeface="DejaVu Sans"/>
                <a:cs typeface="DejaVu Sans"/>
              </a:defRPr>
            </a:lvl2pPr>
            <a:lvl3pPr>
              <a:buNone/>
              <a:defRPr sz="1950" b="0">
                <a:solidFill>
                  <a:srgbClr val="F5F5F5"/>
                </a:solidFill>
                <a:latin typeface="DejaVu Sans"/>
                <a:ea typeface="DejaVu Sans"/>
                <a:cs typeface="DejaVu Sans"/>
              </a:defRPr>
            </a:lvl3pPr>
            <a:lvl4pPr>
              <a:buNone/>
              <a:defRPr sz="1950" b="0">
                <a:solidFill>
                  <a:srgbClr val="F5F5F5"/>
                </a:solidFill>
                <a:latin typeface="DejaVu Sans"/>
                <a:ea typeface="DejaVu Sans"/>
                <a:cs typeface="DejaVu Sans"/>
              </a:defRPr>
            </a:lvl4pPr>
            <a:lvl5pPr>
              <a:buNone/>
              <a:defRPr sz="1950" b="0">
                <a:solidFill>
                  <a:srgbClr val="F5F5F5"/>
                </a:solidFill>
                <a:latin typeface="DejaVu Sans"/>
                <a:ea typeface="DejaVu Sans"/>
                <a:cs typeface="DejaVu Sans"/>
              </a:defRPr>
            </a:lvl5pPr>
            <a:lvl6pPr>
              <a:buNone/>
              <a:defRPr sz="1950" b="0">
                <a:solidFill>
                  <a:srgbClr val="F5F5F5"/>
                </a:solidFill>
                <a:latin typeface="DejaVu Sans"/>
                <a:ea typeface="DejaVu Sans"/>
                <a:cs typeface="DejaVu Sans"/>
              </a:defRPr>
            </a:lvl6pPr>
            <a:lvl7pPr>
              <a:buNone/>
              <a:defRPr sz="1950" b="0">
                <a:solidFill>
                  <a:srgbClr val="F5F5F5"/>
                </a:solidFill>
                <a:latin typeface="DejaVu Sans"/>
                <a:ea typeface="DejaVu Sans"/>
                <a:cs typeface="DejaVu Sans"/>
              </a:defRPr>
            </a:lvl7pPr>
            <a:lvl8pPr>
              <a:buNone/>
              <a:defRPr sz="1950" b="0">
                <a:solidFill>
                  <a:srgbClr val="F5F5F5"/>
                </a:solidFill>
                <a:latin typeface="DejaVu Sans"/>
                <a:ea typeface="DejaVu Sans"/>
                <a:cs typeface="DejaVu Sans"/>
              </a:defRPr>
            </a:lvl8pPr>
            <a:lvl9pPr>
              <a:buNone/>
              <a:defRPr sz="1950" b="0">
                <a:solidFill>
                  <a:srgbClr val="F5F5F5"/>
                </a:solidFill>
                <a:latin typeface="DejaVu Sans"/>
                <a:ea typeface="DejaVu Sans"/>
                <a:cs typeface="DejaVu Sans"/>
              </a:defRPr>
            </a:lvl9pPr>
          </a:lstStyle>
          <a:p xmlns:a="http://schemas.openxmlformats.org/drawingml/2006/main">
            <a:pPr>
              <a:buNone/>
              <a:defRPr sz="1950" b="0">
                <a:solidFill>
                  <a:srgbClr val="F5F5F5"/>
                </a:solidFill>
                <a:latin typeface="DejaVu Sans"/>
                <a:ea typeface="DejaVu Sans"/>
                <a:cs typeface="DejaVu Sans"/>
              </a:defRPr>
            </a:pPr>
            <a:r>
              <a:rPr sz="1950" b="0">
                <a:solidFill>
                  <a:srgbClr val="F5F5F5"/>
                </a:solidFill>
                <a:latin typeface="DejaVu Sans"/>
                <a:ea typeface="DejaVu Sans"/>
                <a:cs typeface="DejaVu Sans"/>
              </a:rPr>
              <a:t>One shared parameter in every coordinate</a:t>
            </a:r>
          </a:p>
        </p:txBody>
      </p:sp>
      <p:sp>
        <p:nvSpPr>
          <p:cNvPr id="9" name="form-2">
            <a:extLst xmlns:a="http://schemas.openxmlformats.org/drawingml/2006/main">
              <a:ext uri="{FF2B5EF4-FFF2-40B4-BE49-F238E27FC236}">
                <a16:creationId xmlns:a16="http://schemas.microsoft.com/office/drawing/2014/main" id="{C6DC0B57-B8FC-42F9-9CBA-07E2E9C04B9F}"/>
              </a:ext>
            </a:extLst>
          </p:cNvPr>
          <p:cNvSpPr>
            <a:spLocks xmlns:a="http://schemas.openxmlformats.org/drawingml/2006/main" noGrp="1"/>
          </p:cNvSpPr>
          <p:nvPr/>
        </p:nvSpPr>
        <p:spPr>
          <a:xfrm xmlns:a="http://schemas.openxmlformats.org/drawingml/2006/main">
            <a:off x="685800" y="441007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1">
                <a:solidFill>
                  <a:srgbClr val="7DD3FC"/>
                </a:solidFill>
                <a:latin typeface="DejaVu Sans"/>
                <a:ea typeface="DejaVu Sans"/>
                <a:cs typeface="DejaVu Sans"/>
              </a:defRPr>
            </a:defPPr>
            <a:lvl1pPr>
              <a:buNone/>
              <a:defRPr sz="1950" b="1">
                <a:solidFill>
                  <a:srgbClr val="7DD3FC"/>
                </a:solidFill>
                <a:latin typeface="DejaVu Sans"/>
                <a:ea typeface="DejaVu Sans"/>
                <a:cs typeface="DejaVu Sans"/>
              </a:defRPr>
            </a:lvl1pPr>
            <a:lvl2pPr>
              <a:buNone/>
              <a:defRPr sz="1950" b="1">
                <a:solidFill>
                  <a:srgbClr val="7DD3FC"/>
                </a:solidFill>
                <a:latin typeface="DejaVu Sans"/>
                <a:ea typeface="DejaVu Sans"/>
                <a:cs typeface="DejaVu Sans"/>
              </a:defRPr>
            </a:lvl2pPr>
            <a:lvl3pPr>
              <a:buNone/>
              <a:defRPr sz="1950" b="1">
                <a:solidFill>
                  <a:srgbClr val="7DD3FC"/>
                </a:solidFill>
                <a:latin typeface="DejaVu Sans"/>
                <a:ea typeface="DejaVu Sans"/>
                <a:cs typeface="DejaVu Sans"/>
              </a:defRPr>
            </a:lvl3pPr>
            <a:lvl4pPr>
              <a:buNone/>
              <a:defRPr sz="1950" b="1">
                <a:solidFill>
                  <a:srgbClr val="7DD3FC"/>
                </a:solidFill>
                <a:latin typeface="DejaVu Sans"/>
                <a:ea typeface="DejaVu Sans"/>
                <a:cs typeface="DejaVu Sans"/>
              </a:defRPr>
            </a:lvl4pPr>
            <a:lvl5pPr>
              <a:buNone/>
              <a:defRPr sz="1950" b="1">
                <a:solidFill>
                  <a:srgbClr val="7DD3FC"/>
                </a:solidFill>
                <a:latin typeface="DejaVu Sans"/>
                <a:ea typeface="DejaVu Sans"/>
                <a:cs typeface="DejaVu Sans"/>
              </a:defRPr>
            </a:lvl5pPr>
            <a:lvl6pPr>
              <a:buNone/>
              <a:defRPr sz="1950" b="1">
                <a:solidFill>
                  <a:srgbClr val="7DD3FC"/>
                </a:solidFill>
                <a:latin typeface="DejaVu Sans"/>
                <a:ea typeface="DejaVu Sans"/>
                <a:cs typeface="DejaVu Sans"/>
              </a:defRPr>
            </a:lvl6pPr>
            <a:lvl7pPr>
              <a:buNone/>
              <a:defRPr sz="1950" b="1">
                <a:solidFill>
                  <a:srgbClr val="7DD3FC"/>
                </a:solidFill>
                <a:latin typeface="DejaVu Sans"/>
                <a:ea typeface="DejaVu Sans"/>
                <a:cs typeface="DejaVu Sans"/>
              </a:defRPr>
            </a:lvl7pPr>
            <a:lvl8pPr>
              <a:buNone/>
              <a:defRPr sz="1950" b="1">
                <a:solidFill>
                  <a:srgbClr val="7DD3FC"/>
                </a:solidFill>
                <a:latin typeface="DejaVu Sans"/>
                <a:ea typeface="DejaVu Sans"/>
                <a:cs typeface="DejaVu Sans"/>
              </a:defRPr>
            </a:lvl8pPr>
            <a:lvl9pPr>
              <a:buNone/>
              <a:defRPr sz="1950" b="1">
                <a:solidFill>
                  <a:srgbClr val="7DD3FC"/>
                </a:solidFill>
                <a:latin typeface="DejaVu Sans"/>
                <a:ea typeface="DejaVu Sans"/>
                <a:cs typeface="DejaVu Sans"/>
              </a:defRPr>
            </a:lvl9pPr>
          </a:lstStyle>
          <a:p xmlns:a="http://schemas.openxmlformats.org/drawingml/2006/main">
            <a:pPr>
              <a:buNone/>
              <a:defRPr sz="1950" b="1">
                <a:solidFill>
                  <a:srgbClr val="7DD3FC"/>
                </a:solidFill>
                <a:latin typeface="DejaVu Sans"/>
                <a:ea typeface="DejaVu Sans"/>
                <a:cs typeface="DejaVu Sans"/>
              </a:defRPr>
            </a:pPr>
            <a:r>
              <a:rPr sz="1950" b="1">
                <a:solidFill>
                  <a:srgbClr val="7DD3FC"/>
                </a:solidFill>
                <a:latin typeface="DejaVu Sans"/>
                <a:ea typeface="DejaVu Sans"/>
                <a:cs typeface="DejaVu Sans"/>
              </a:rPr>
              <a:t>Symmetric</a:t>
            </a:r>
          </a:p>
        </p:txBody>
      </p:sp>
      <p:sp>
        <p:nvSpPr>
          <p:cNvPr id="10" name="purpose-2">
            <a:extLst xmlns:a="http://schemas.openxmlformats.org/drawingml/2006/main">
              <a:ext uri="{FF2B5EF4-FFF2-40B4-BE49-F238E27FC236}">
                <a16:creationId xmlns:a16="http://schemas.microsoft.com/office/drawing/2014/main" id="{BCF08E98-0FE6-4931-AD45-8DE05E4E0959}"/>
              </a:ext>
            </a:extLst>
          </p:cNvPr>
          <p:cNvSpPr>
            <a:spLocks xmlns:a="http://schemas.openxmlformats.org/drawingml/2006/main" noGrp="1"/>
          </p:cNvSpPr>
          <p:nvPr/>
        </p:nvSpPr>
        <p:spPr>
          <a:xfrm xmlns:a="http://schemas.openxmlformats.org/drawingml/2006/main">
            <a:off x="5286375" y="441007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F5F5F5"/>
                </a:solidFill>
                <a:latin typeface="DejaVu Sans"/>
                <a:ea typeface="DejaVu Sans"/>
                <a:cs typeface="DejaVu Sans"/>
              </a:defRPr>
            </a:defPPr>
            <a:lvl1pPr>
              <a:buNone/>
              <a:defRPr sz="1950" b="0">
                <a:solidFill>
                  <a:srgbClr val="F5F5F5"/>
                </a:solidFill>
                <a:latin typeface="DejaVu Sans"/>
                <a:ea typeface="DejaVu Sans"/>
                <a:cs typeface="DejaVu Sans"/>
              </a:defRPr>
            </a:lvl1pPr>
            <a:lvl2pPr>
              <a:buNone/>
              <a:defRPr sz="1950" b="0">
                <a:solidFill>
                  <a:srgbClr val="F5F5F5"/>
                </a:solidFill>
                <a:latin typeface="DejaVu Sans"/>
                <a:ea typeface="DejaVu Sans"/>
                <a:cs typeface="DejaVu Sans"/>
              </a:defRPr>
            </a:lvl2pPr>
            <a:lvl3pPr>
              <a:buNone/>
              <a:defRPr sz="1950" b="0">
                <a:solidFill>
                  <a:srgbClr val="F5F5F5"/>
                </a:solidFill>
                <a:latin typeface="DejaVu Sans"/>
                <a:ea typeface="DejaVu Sans"/>
                <a:cs typeface="DejaVu Sans"/>
              </a:defRPr>
            </a:lvl3pPr>
            <a:lvl4pPr>
              <a:buNone/>
              <a:defRPr sz="1950" b="0">
                <a:solidFill>
                  <a:srgbClr val="F5F5F5"/>
                </a:solidFill>
                <a:latin typeface="DejaVu Sans"/>
                <a:ea typeface="DejaVu Sans"/>
                <a:cs typeface="DejaVu Sans"/>
              </a:defRPr>
            </a:lvl4pPr>
            <a:lvl5pPr>
              <a:buNone/>
              <a:defRPr sz="1950" b="0">
                <a:solidFill>
                  <a:srgbClr val="F5F5F5"/>
                </a:solidFill>
                <a:latin typeface="DejaVu Sans"/>
                <a:ea typeface="DejaVu Sans"/>
                <a:cs typeface="DejaVu Sans"/>
              </a:defRPr>
            </a:lvl5pPr>
            <a:lvl6pPr>
              <a:buNone/>
              <a:defRPr sz="1950" b="0">
                <a:solidFill>
                  <a:srgbClr val="F5F5F5"/>
                </a:solidFill>
                <a:latin typeface="DejaVu Sans"/>
                <a:ea typeface="DejaVu Sans"/>
                <a:cs typeface="DejaVu Sans"/>
              </a:defRPr>
            </a:lvl6pPr>
            <a:lvl7pPr>
              <a:buNone/>
              <a:defRPr sz="1950" b="0">
                <a:solidFill>
                  <a:srgbClr val="F5F5F5"/>
                </a:solidFill>
                <a:latin typeface="DejaVu Sans"/>
                <a:ea typeface="DejaVu Sans"/>
                <a:cs typeface="DejaVu Sans"/>
              </a:defRPr>
            </a:lvl7pPr>
            <a:lvl8pPr>
              <a:buNone/>
              <a:defRPr sz="1950" b="0">
                <a:solidFill>
                  <a:srgbClr val="F5F5F5"/>
                </a:solidFill>
                <a:latin typeface="DejaVu Sans"/>
                <a:ea typeface="DejaVu Sans"/>
                <a:cs typeface="DejaVu Sans"/>
              </a:defRPr>
            </a:lvl8pPr>
            <a:lvl9pPr>
              <a:buNone/>
              <a:defRPr sz="1950" b="0">
                <a:solidFill>
                  <a:srgbClr val="F5F5F5"/>
                </a:solidFill>
                <a:latin typeface="DejaVu Sans"/>
                <a:ea typeface="DejaVu Sans"/>
                <a:cs typeface="DejaVu Sans"/>
              </a:defRPr>
            </a:lvl9pPr>
          </a:lstStyle>
          <a:p xmlns:a="http://schemas.openxmlformats.org/drawingml/2006/main">
            <a:pPr>
              <a:buNone/>
              <a:defRPr sz="1950" b="0">
                <a:solidFill>
                  <a:srgbClr val="F5F5F5"/>
                </a:solidFill>
                <a:latin typeface="DejaVu Sans"/>
                <a:ea typeface="DejaVu Sans"/>
                <a:cs typeface="DejaVu Sans"/>
              </a:defRPr>
            </a:pPr>
            <a:r>
              <a:rPr sz="1950" b="0">
                <a:solidFill>
                  <a:srgbClr val="F5F5F5"/>
                </a:solidFill>
                <a:latin typeface="DejaVu Sans"/>
                <a:ea typeface="DejaVu Sans"/>
                <a:cs typeface="DejaVu Sans"/>
              </a:rPr>
              <a:t>Equal expressions for the parameter</a:t>
            </a:r>
          </a:p>
        </p:txBody>
      </p:sp>
      <p:sp>
        <p:nvSpPr>
          <p:cNvPr id="11" name="form-3">
            <a:extLst xmlns:a="http://schemas.openxmlformats.org/drawingml/2006/main">
              <a:ext uri="{FF2B5EF4-FFF2-40B4-BE49-F238E27FC236}">
                <a16:creationId xmlns:a16="http://schemas.microsoft.com/office/drawing/2014/main" id="{43369E30-F19A-4DD4-AA64-9B218B434514}"/>
              </a:ext>
            </a:extLst>
          </p:cNvPr>
          <p:cNvSpPr>
            <a:spLocks xmlns:a="http://schemas.openxmlformats.org/drawingml/2006/main" noGrp="1"/>
          </p:cNvSpPr>
          <p:nvPr/>
        </p:nvSpPr>
        <p:spPr>
          <a:xfrm xmlns:a="http://schemas.openxmlformats.org/drawingml/2006/main">
            <a:off x="685800" y="501967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1">
                <a:solidFill>
                  <a:srgbClr val="7DD3FC"/>
                </a:solidFill>
                <a:latin typeface="DejaVu Sans"/>
                <a:ea typeface="DejaVu Sans"/>
                <a:cs typeface="DejaVu Sans"/>
              </a:defRPr>
            </a:defPPr>
            <a:lvl1pPr>
              <a:buNone/>
              <a:defRPr sz="1950" b="1">
                <a:solidFill>
                  <a:srgbClr val="7DD3FC"/>
                </a:solidFill>
                <a:latin typeface="DejaVu Sans"/>
                <a:ea typeface="DejaVu Sans"/>
                <a:cs typeface="DejaVu Sans"/>
              </a:defRPr>
            </a:lvl1pPr>
            <a:lvl2pPr>
              <a:buNone/>
              <a:defRPr sz="1950" b="1">
                <a:solidFill>
                  <a:srgbClr val="7DD3FC"/>
                </a:solidFill>
                <a:latin typeface="DejaVu Sans"/>
                <a:ea typeface="DejaVu Sans"/>
                <a:cs typeface="DejaVu Sans"/>
              </a:defRPr>
            </a:lvl2pPr>
            <a:lvl3pPr>
              <a:buNone/>
              <a:defRPr sz="1950" b="1">
                <a:solidFill>
                  <a:srgbClr val="7DD3FC"/>
                </a:solidFill>
                <a:latin typeface="DejaVu Sans"/>
                <a:ea typeface="DejaVu Sans"/>
                <a:cs typeface="DejaVu Sans"/>
              </a:defRPr>
            </a:lvl3pPr>
            <a:lvl4pPr>
              <a:buNone/>
              <a:defRPr sz="1950" b="1">
                <a:solidFill>
                  <a:srgbClr val="7DD3FC"/>
                </a:solidFill>
                <a:latin typeface="DejaVu Sans"/>
                <a:ea typeface="DejaVu Sans"/>
                <a:cs typeface="DejaVu Sans"/>
              </a:defRPr>
            </a:lvl4pPr>
            <a:lvl5pPr>
              <a:buNone/>
              <a:defRPr sz="1950" b="1">
                <a:solidFill>
                  <a:srgbClr val="7DD3FC"/>
                </a:solidFill>
                <a:latin typeface="DejaVu Sans"/>
                <a:ea typeface="DejaVu Sans"/>
                <a:cs typeface="DejaVu Sans"/>
              </a:defRPr>
            </a:lvl5pPr>
            <a:lvl6pPr>
              <a:buNone/>
              <a:defRPr sz="1950" b="1">
                <a:solidFill>
                  <a:srgbClr val="7DD3FC"/>
                </a:solidFill>
                <a:latin typeface="DejaVu Sans"/>
                <a:ea typeface="DejaVu Sans"/>
                <a:cs typeface="DejaVu Sans"/>
              </a:defRPr>
            </a:lvl6pPr>
            <a:lvl7pPr>
              <a:buNone/>
              <a:defRPr sz="1950" b="1">
                <a:solidFill>
                  <a:srgbClr val="7DD3FC"/>
                </a:solidFill>
                <a:latin typeface="DejaVu Sans"/>
                <a:ea typeface="DejaVu Sans"/>
                <a:cs typeface="DejaVu Sans"/>
              </a:defRPr>
            </a:lvl7pPr>
            <a:lvl8pPr>
              <a:buNone/>
              <a:defRPr sz="1950" b="1">
                <a:solidFill>
                  <a:srgbClr val="7DD3FC"/>
                </a:solidFill>
                <a:latin typeface="DejaVu Sans"/>
                <a:ea typeface="DejaVu Sans"/>
                <a:cs typeface="DejaVu Sans"/>
              </a:defRPr>
            </a:lvl8pPr>
            <a:lvl9pPr>
              <a:buNone/>
              <a:defRPr sz="1950" b="1">
                <a:solidFill>
                  <a:srgbClr val="7DD3FC"/>
                </a:solidFill>
                <a:latin typeface="DejaVu Sans"/>
                <a:ea typeface="DejaVu Sans"/>
                <a:cs typeface="DejaVu Sans"/>
              </a:defRPr>
            </a:lvl9pPr>
          </a:lstStyle>
          <a:p xmlns:a="http://schemas.openxmlformats.org/drawingml/2006/main">
            <a:pPr>
              <a:buNone/>
              <a:defRPr sz="1950" b="1">
                <a:solidFill>
                  <a:srgbClr val="7DD3FC"/>
                </a:solidFill>
                <a:latin typeface="DejaVu Sans"/>
                <a:ea typeface="DejaVu Sans"/>
                <a:cs typeface="DejaVu Sans"/>
              </a:defRPr>
            </a:pPr>
            <a:r>
              <a:rPr sz="1950" b="1">
                <a:solidFill>
                  <a:srgbClr val="7DD3FC"/>
                </a:solidFill>
                <a:latin typeface="DejaVu Sans"/>
                <a:ea typeface="DejaVu Sans"/>
                <a:cs typeface="DejaVu Sans"/>
              </a:rPr>
              <a:t>Cartesian in two dimensions</a:t>
            </a:r>
          </a:p>
        </p:txBody>
      </p:sp>
      <p:sp>
        <p:nvSpPr>
          <p:cNvPr id="12" name="purpose-3">
            <a:extLst xmlns:a="http://schemas.openxmlformats.org/drawingml/2006/main">
              <a:ext uri="{FF2B5EF4-FFF2-40B4-BE49-F238E27FC236}">
                <a16:creationId xmlns:a16="http://schemas.microsoft.com/office/drawing/2014/main" id="{2C94B2EF-530A-45A3-B8F5-1C53108B1422}"/>
              </a:ext>
            </a:extLst>
          </p:cNvPr>
          <p:cNvSpPr>
            <a:spLocks xmlns:a="http://schemas.openxmlformats.org/drawingml/2006/main" noGrp="1"/>
          </p:cNvSpPr>
          <p:nvPr/>
        </p:nvSpPr>
        <p:spPr>
          <a:xfrm xmlns:a="http://schemas.openxmlformats.org/drawingml/2006/main">
            <a:off x="5286375" y="501967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F5F5F5"/>
                </a:solidFill>
                <a:latin typeface="DejaVu Sans"/>
                <a:ea typeface="DejaVu Sans"/>
                <a:cs typeface="DejaVu Sans"/>
              </a:defRPr>
            </a:defPPr>
            <a:lvl1pPr>
              <a:buNone/>
              <a:defRPr sz="1950" b="0">
                <a:solidFill>
                  <a:srgbClr val="F5F5F5"/>
                </a:solidFill>
                <a:latin typeface="DejaVu Sans"/>
                <a:ea typeface="DejaVu Sans"/>
                <a:cs typeface="DejaVu Sans"/>
              </a:defRPr>
            </a:lvl1pPr>
            <a:lvl2pPr>
              <a:buNone/>
              <a:defRPr sz="1950" b="0">
                <a:solidFill>
                  <a:srgbClr val="F5F5F5"/>
                </a:solidFill>
                <a:latin typeface="DejaVu Sans"/>
                <a:ea typeface="DejaVu Sans"/>
                <a:cs typeface="DejaVu Sans"/>
              </a:defRPr>
            </a:lvl2pPr>
            <a:lvl3pPr>
              <a:buNone/>
              <a:defRPr sz="1950" b="0">
                <a:solidFill>
                  <a:srgbClr val="F5F5F5"/>
                </a:solidFill>
                <a:latin typeface="DejaVu Sans"/>
                <a:ea typeface="DejaVu Sans"/>
                <a:cs typeface="DejaVu Sans"/>
              </a:defRPr>
            </a:lvl3pPr>
            <a:lvl4pPr>
              <a:buNone/>
              <a:defRPr sz="1950" b="0">
                <a:solidFill>
                  <a:srgbClr val="F5F5F5"/>
                </a:solidFill>
                <a:latin typeface="DejaVu Sans"/>
                <a:ea typeface="DejaVu Sans"/>
                <a:cs typeface="DejaVu Sans"/>
              </a:defRPr>
            </a:lvl4pPr>
            <a:lvl5pPr>
              <a:buNone/>
              <a:defRPr sz="1950" b="0">
                <a:solidFill>
                  <a:srgbClr val="F5F5F5"/>
                </a:solidFill>
                <a:latin typeface="DejaVu Sans"/>
                <a:ea typeface="DejaVu Sans"/>
                <a:cs typeface="DejaVu Sans"/>
              </a:defRPr>
            </a:lvl5pPr>
            <a:lvl6pPr>
              <a:buNone/>
              <a:defRPr sz="1950" b="0">
                <a:solidFill>
                  <a:srgbClr val="F5F5F5"/>
                </a:solidFill>
                <a:latin typeface="DejaVu Sans"/>
                <a:ea typeface="DejaVu Sans"/>
                <a:cs typeface="DejaVu Sans"/>
              </a:defRPr>
            </a:lvl6pPr>
            <a:lvl7pPr>
              <a:buNone/>
              <a:defRPr sz="1950" b="0">
                <a:solidFill>
                  <a:srgbClr val="F5F5F5"/>
                </a:solidFill>
                <a:latin typeface="DejaVu Sans"/>
                <a:ea typeface="DejaVu Sans"/>
                <a:cs typeface="DejaVu Sans"/>
              </a:defRPr>
            </a:lvl7pPr>
            <a:lvl8pPr>
              <a:buNone/>
              <a:defRPr sz="1950" b="0">
                <a:solidFill>
                  <a:srgbClr val="F5F5F5"/>
                </a:solidFill>
                <a:latin typeface="DejaVu Sans"/>
                <a:ea typeface="DejaVu Sans"/>
                <a:cs typeface="DejaVu Sans"/>
              </a:defRPr>
            </a:lvl8pPr>
            <a:lvl9pPr>
              <a:buNone/>
              <a:defRPr sz="1950" b="0">
                <a:solidFill>
                  <a:srgbClr val="F5F5F5"/>
                </a:solidFill>
                <a:latin typeface="DejaVu Sans"/>
                <a:ea typeface="DejaVu Sans"/>
                <a:cs typeface="DejaVu Sans"/>
              </a:defRPr>
            </a:lvl9pPr>
          </a:lstStyle>
          <a:p xmlns:a="http://schemas.openxmlformats.org/drawingml/2006/main">
            <a:pPr>
              <a:buNone/>
              <a:defRPr sz="1950" b="0">
                <a:solidFill>
                  <a:srgbClr val="F5F5F5"/>
                </a:solidFill>
                <a:latin typeface="DejaVu Sans"/>
                <a:ea typeface="DejaVu Sans"/>
                <a:cs typeface="DejaVu Sans"/>
              </a:defRPr>
            </a:pPr>
            <a:r>
              <a:rPr sz="1950" b="0">
                <a:solidFill>
                  <a:srgbClr val="F5F5F5"/>
                </a:solidFill>
                <a:latin typeface="DejaVu Sans"/>
                <a:ea typeface="DejaVu Sans"/>
                <a:cs typeface="DejaVu Sans"/>
              </a:rPr>
              <a:t>Coefficients give a normal</a:t>
            </a:r>
          </a:p>
        </p:txBody>
      </p:sp>
      <p:sp>
        <p:nvSpPr>
          <p:cNvPr id="13" name="R3-caveat">
            <a:extLst xmlns:a="http://schemas.openxmlformats.org/drawingml/2006/main">
              <a:ext uri="{FF2B5EF4-FFF2-40B4-BE49-F238E27FC236}">
                <a16:creationId xmlns:a16="http://schemas.microsoft.com/office/drawing/2014/main" id="{9BE016C5-BEF3-4D8C-96CD-988E9E252C88}"/>
              </a:ext>
            </a:extLst>
          </p:cNvPr>
          <p:cNvSpPr>
            <a:spLocks xmlns:a="http://schemas.openxmlformats.org/drawingml/2006/main" noGrp="1"/>
          </p:cNvSpPr>
          <p:nvPr/>
        </p:nvSpPr>
        <p:spPr>
          <a:xfrm xmlns:a="http://schemas.openxmlformats.org/drawingml/2006/main">
            <a:off x="685800" y="5762625"/>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ADB5BF"/>
                </a:solidFill>
                <a:latin typeface="DejaVu Sans"/>
                <a:ea typeface="DejaVu Sans"/>
                <a:cs typeface="DejaVu Sans"/>
              </a:defRPr>
            </a:defPPr>
            <a:lvl1pPr>
              <a:buNone/>
              <a:defRPr sz="1575" b="0">
                <a:solidFill>
                  <a:srgbClr val="ADB5BF"/>
                </a:solidFill>
                <a:latin typeface="DejaVu Sans"/>
                <a:ea typeface="DejaVu Sans"/>
                <a:cs typeface="DejaVu Sans"/>
              </a:defRPr>
            </a:lvl1pPr>
            <a:lvl2pPr>
              <a:buNone/>
              <a:defRPr sz="1575" b="0">
                <a:solidFill>
                  <a:srgbClr val="ADB5BF"/>
                </a:solidFill>
                <a:latin typeface="DejaVu Sans"/>
                <a:ea typeface="DejaVu Sans"/>
                <a:cs typeface="DejaVu Sans"/>
              </a:defRPr>
            </a:lvl2pPr>
            <a:lvl3pPr>
              <a:buNone/>
              <a:defRPr sz="1575" b="0">
                <a:solidFill>
                  <a:srgbClr val="ADB5BF"/>
                </a:solidFill>
                <a:latin typeface="DejaVu Sans"/>
                <a:ea typeface="DejaVu Sans"/>
                <a:cs typeface="DejaVu Sans"/>
              </a:defRPr>
            </a:lvl3pPr>
            <a:lvl4pPr>
              <a:buNone/>
              <a:defRPr sz="1575" b="0">
                <a:solidFill>
                  <a:srgbClr val="ADB5BF"/>
                </a:solidFill>
                <a:latin typeface="DejaVu Sans"/>
                <a:ea typeface="DejaVu Sans"/>
                <a:cs typeface="DejaVu Sans"/>
              </a:defRPr>
            </a:lvl4pPr>
            <a:lvl5pPr>
              <a:buNone/>
              <a:defRPr sz="1575" b="0">
                <a:solidFill>
                  <a:srgbClr val="ADB5BF"/>
                </a:solidFill>
                <a:latin typeface="DejaVu Sans"/>
                <a:ea typeface="DejaVu Sans"/>
                <a:cs typeface="DejaVu Sans"/>
              </a:defRPr>
            </a:lvl5pPr>
            <a:lvl6pPr>
              <a:buNone/>
              <a:defRPr sz="1575" b="0">
                <a:solidFill>
                  <a:srgbClr val="ADB5BF"/>
                </a:solidFill>
                <a:latin typeface="DejaVu Sans"/>
                <a:ea typeface="DejaVu Sans"/>
                <a:cs typeface="DejaVu Sans"/>
              </a:defRPr>
            </a:lvl6pPr>
            <a:lvl7pPr>
              <a:buNone/>
              <a:defRPr sz="1575" b="0">
                <a:solidFill>
                  <a:srgbClr val="ADB5BF"/>
                </a:solidFill>
                <a:latin typeface="DejaVu Sans"/>
                <a:ea typeface="DejaVu Sans"/>
                <a:cs typeface="DejaVu Sans"/>
              </a:defRPr>
            </a:lvl7pPr>
            <a:lvl8pPr>
              <a:buNone/>
              <a:defRPr sz="1575" b="0">
                <a:solidFill>
                  <a:srgbClr val="ADB5BF"/>
                </a:solidFill>
                <a:latin typeface="DejaVu Sans"/>
                <a:ea typeface="DejaVu Sans"/>
                <a:cs typeface="DejaVu Sans"/>
              </a:defRPr>
            </a:lvl8pPr>
            <a:lvl9pPr>
              <a:buNone/>
              <a:defRPr sz="1575" b="0">
                <a:solidFill>
                  <a:srgbClr val="ADB5BF"/>
                </a:solidFill>
                <a:latin typeface="DejaVu Sans"/>
                <a:ea typeface="DejaVu Sans"/>
                <a:cs typeface="DejaVu Sans"/>
              </a:defRPr>
            </a:lvl9pPr>
          </a:lstStyle>
          <a:p xmlns:a="http://schemas.openxmlformats.org/drawingml/2006/main">
            <a:pPr>
              <a:buNone/>
              <a:defRPr sz="1575" b="0">
                <a:solidFill>
                  <a:srgbClr val="ADB5BF"/>
                </a:solidFill>
                <a:latin typeface="DejaVu Sans"/>
                <a:ea typeface="DejaVu Sans"/>
                <a:cs typeface="DejaVu Sans"/>
              </a:defRPr>
            </a:pPr>
            <a:r>
              <a:rPr sz="1575" b="0">
                <a:solidFill>
                  <a:srgbClr val="ADB5BF"/>
                </a:solidFill>
                <a:latin typeface="DejaVu Sans"/>
                <a:ea typeface="DejaVu Sans"/>
                <a:cs typeface="DejaVu Sans"/>
              </a:rPr>
              <a:t>In three dimensions, one nondegenerate linear Cartesian equation describes a plane</a:t>
            </a:r>
          </a:p>
        </p:txBody>
      </p:sp>
    </p:spTree>
    <p:extLst>
      <p:ext uri="{BB962C8B-B14F-4D97-AF65-F5344CB8AC3E}">
        <p14:creationId xmlns:p14="http://schemas.microsoft.com/office/powerpoint/2010/main" val="40152133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0"/>
                                  </p:stCondLst>
                                  <p:childTnLst>
                                    <p:set>
                                      <p:cBhvr>
                                        <p:cTn id="9" dur="1" fill="hold"/>
                                        <p:tgtEl>
                                          <p:spTgt spid="6"/>
                                        </p:tgtEl>
                                        <p:attrNameLst>
                                          <p:attrName>style.visibility</p:attrName>
                                        </p:attrNameLst>
                                      </p:cBhvr>
                                      <p:to>
                                        <p:strVal val="visible"/>
                                      </p:to>
                                    </p:set>
                                    <p:animEffect transition="in" filter="fade">
                                      <p:cBhvr>
                                        <p:cTn id="10" dur="400" fill="hold"/>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7"/>
                                        </p:tgtEl>
                                        <p:attrNameLst>
                                          <p:attrName>style.visibility</p:attrName>
                                        </p:attrNameLst>
                                      </p:cBhvr>
                                      <p:to>
                                        <p:strVal val="visible"/>
                                      </p:to>
                                    </p:set>
                                    <p:animEffect transition="in" filter="fade">
                                      <p:cBhvr>
                                        <p:cTn id="15" dur="400" fill="hold"/>
                                        <p:tgtEl>
                                          <p:spTgt spid="7"/>
                                        </p:tgtEl>
                                      </p:cBhvr>
                                    </p:animEffect>
                                  </p:childTnLst>
                                </p:cTn>
                              </p:par>
                              <p:par>
                                <p:cTn id="16" presetID="10" presetClass="entr" presetSubtype="0" fill="hold" grpId="0" nodeType="withEffect">
                                  <p:stCondLst>
                                    <p:cond delay="0"/>
                                  </p:stCondLst>
                                  <p:childTnLst>
                                    <p:set>
                                      <p:cBhvr>
                                        <p:cTn id="17" dur="1" fill="hold"/>
                                        <p:tgtEl>
                                          <p:spTgt spid="8"/>
                                        </p:tgtEl>
                                        <p:attrNameLst>
                                          <p:attrName>style.visibility</p:attrName>
                                        </p:attrNameLst>
                                      </p:cBhvr>
                                      <p:to>
                                        <p:strVal val="visible"/>
                                      </p:to>
                                    </p:set>
                                    <p:animEffect transition="in" filter="fade">
                                      <p:cBhvr>
                                        <p:cTn id="18" dur="400" fill="hold"/>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9"/>
                                        </p:tgtEl>
                                        <p:attrNameLst>
                                          <p:attrName>style.visibility</p:attrName>
                                        </p:attrNameLst>
                                      </p:cBhvr>
                                      <p:to>
                                        <p:strVal val="visible"/>
                                      </p:to>
                                    </p:set>
                                    <p:animEffect transition="in" filter="fade">
                                      <p:cBhvr>
                                        <p:cTn id="23" dur="400" fill="hold"/>
                                        <p:tgtEl>
                                          <p:spTgt spid="9"/>
                                        </p:tgtEl>
                                      </p:cBhvr>
                                    </p:animEffect>
                                  </p:childTnLst>
                                </p:cTn>
                              </p:par>
                              <p:par>
                                <p:cTn id="24" presetID="10" presetClass="entr" presetSubtype="0" fill="hold" grpId="0" nodeType="withEffect">
                                  <p:stCondLst>
                                    <p:cond delay="0"/>
                                  </p:stCondLst>
                                  <p:childTnLst>
                                    <p:set>
                                      <p:cBhvr>
                                        <p:cTn id="25" dur="1" fill="hold"/>
                                        <p:tgtEl>
                                          <p:spTgt spid="10"/>
                                        </p:tgtEl>
                                        <p:attrNameLst>
                                          <p:attrName>style.visibility</p:attrName>
                                        </p:attrNameLst>
                                      </p:cBhvr>
                                      <p:to>
                                        <p:strVal val="visible"/>
                                      </p:to>
                                    </p:set>
                                    <p:animEffect transition="in" filter="fade">
                                      <p:cBhvr>
                                        <p:cTn id="26" dur="400" fill="hold"/>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tgtEl>
                                          <p:spTgt spid="11"/>
                                        </p:tgtEl>
                                        <p:attrNameLst>
                                          <p:attrName>style.visibility</p:attrName>
                                        </p:attrNameLst>
                                      </p:cBhvr>
                                      <p:to>
                                        <p:strVal val="visible"/>
                                      </p:to>
                                    </p:set>
                                    <p:animEffect transition="in" filter="fade">
                                      <p:cBhvr>
                                        <p:cTn id="31" dur="400" fill="hold"/>
                                        <p:tgtEl>
                                          <p:spTgt spid="11"/>
                                        </p:tgtEl>
                                      </p:cBhvr>
                                    </p:animEffect>
                                  </p:childTnLst>
                                </p:cTn>
                              </p:par>
                              <p:par>
                                <p:cTn id="32" presetID="10" presetClass="entr" presetSubtype="0" fill="hold" grpId="0" nodeType="withEffect">
                                  <p:stCondLst>
                                    <p:cond delay="0"/>
                                  </p:stCondLst>
                                  <p:childTnLst>
                                    <p:set>
                                      <p:cBhvr>
                                        <p:cTn id="33" dur="1" fill="hold"/>
                                        <p:tgtEl>
                                          <p:spTgt spid="12"/>
                                        </p:tgtEl>
                                        <p:attrNameLst>
                                          <p:attrName>style.visibility</p:attrName>
                                        </p:attrNameLst>
                                      </p:cBhvr>
                                      <p:to>
                                        <p:strVal val="visible"/>
                                      </p:to>
                                    </p:set>
                                    <p:animEffect transition="in" filter="fade">
                                      <p:cBhvr>
                                        <p:cTn id="34" dur="400" fill="hold"/>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tgtEl>
                                          <p:spTgt spid="13"/>
                                        </p:tgtEl>
                                        <p:attrNameLst>
                                          <p:attrName>style.visibility</p:attrName>
                                        </p:attrNameLst>
                                      </p:cBhvr>
                                      <p:to>
                                        <p:strVal val="visible"/>
                                      </p:to>
                                    </p:set>
                                    <p:animEffect transition="in" filter="fade">
                                      <p:cBhvr>
                                        <p:cTn id="39" dur="400" fill="hold"/>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2026-10-24T10:13:25.5230000Z</dcterms:created>
  <dcterms:modified xsi:type="dcterms:W3CDTF">2026-10-24T10:13:25.5230000Z</dcterms:modified>
</coreProperties>
</file>